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Arial Bold" charset="1" panose="020B0704020202020204"/>
      <p:regular r:id="rId29"/>
    </p:embeddedFont>
    <p:embeddedFont>
      <p:font typeface="Arial Italics" charset="1" panose="020B0604020202090204"/>
      <p:regular r:id="rId30"/>
    </p:embeddedFont>
    <p:embeddedFont>
      <p:font typeface="Arial" charset="1" panose="020B0604020202020204"/>
      <p:regular r:id="rId31"/>
    </p:embeddedFont>
    <p:embeddedFont>
      <p:font typeface="Arial Bold Italics" charset="1" panose="020B0704020202090204"/>
      <p:regular r:id="rId33"/>
    </p:embeddedFont>
    <p:embeddedFont>
      <p:font typeface="Liberation Sans Bold" charset="1" panose="020B0704020202020204"/>
      <p:regular r:id="rId43"/>
    </p:embeddedFont>
    <p:embeddedFont>
      <p:font typeface="Liberation Sans Italics" charset="1" panose="020B0604020202090204"/>
      <p:regular r:id="rId51"/>
    </p:embeddedFont>
    <p:embeddedFont>
      <p:font typeface="Liberation Sans" charset="1" panose="020B0604020202020204"/>
      <p:regular r:id="rId52"/>
    </p:embeddedFont>
    <p:embeddedFont>
      <p:font typeface="Liberation Sans Bold Italics" charset="1" panose="020B0704020202090204"/>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2.xml" Type="http://schemas.openxmlformats.org/officeDocument/2006/relationships/notesSlide"/><Relationship Id="rId33" Target="fonts/font33.fntdata" Type="http://schemas.openxmlformats.org/officeDocument/2006/relationships/font"/><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theme/theme1.xml" Type="http://schemas.openxmlformats.org/officeDocument/2006/relationships/theme"/><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fonts/font43.fntdata" Type="http://schemas.openxmlformats.org/officeDocument/2006/relationships/font"/><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notesSlides/notesSlide17.xml" Type="http://schemas.openxmlformats.org/officeDocument/2006/relationships/notesSlide"/><Relationship Id="rId5" Target="tableStyles.xml" Type="http://schemas.openxmlformats.org/officeDocument/2006/relationships/tableStyles"/><Relationship Id="rId50" Target="notesSlides/notesSlide18.xml" Type="http://schemas.openxmlformats.org/officeDocument/2006/relationships/notesSlide"/><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notesSlides/notesSlide19.xml" Type="http://schemas.openxmlformats.org/officeDocument/2006/relationships/notesSlide"/><Relationship Id="rId55" Target="notesSlides/notesSlide20.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Bonjour, je m'appelle Tommy Jouhans, je suis actuellement en formation Développeur Web et Web Mobile à Holberton School Dijon. </a:t>
            </a:r>
          </a:p>
          <a:p>
            <a:r>
              <a:rPr lang="en-US"/>
              <a:t/>
            </a:r>
          </a:p>
          <a:p>
            <a:r>
              <a:rPr lang="en-US"/>
              <a:t>Je vais vous présenter mon projet de certification, CyberAudit &amp; Solutions, une plateforme de gestion d'audits de cybersécurité pour les PME, réalisée en binôme avec James Roussel dans le cadre du concours Les Entrep' Bourgogne.</a:t>
            </a:r>
          </a:p>
          <a:p>
            <a:r>
              <a:rPr lang="en-US"/>
              <a:t/>
            </a:r>
          </a:p>
          <a:p>
            <a:r>
              <a:rPr lang="en-US"/>
              <a:t> J'ai développé l'intégralité de la partie front-end ; James a développé la partie back-end. </a:t>
            </a:r>
          </a:p>
          <a:p>
            <a:r>
              <a:rPr lang="en-US"/>
              <a:t/>
            </a:r>
          </a:p>
          <a:p>
            <a:r>
              <a:rPr lang="en-US"/>
              <a:t>Une démonstration en ligne est disponible à l'adresse affichée à l'écran, que je vous montrerai en cours de présentation.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point de départ du projet est un constat simple : selon le baromètre de la cybersécurité CESIN 2024, 60 % des PME ont été touchées par une cyberattaque. </a:t>
            </a:r>
          </a:p>
          <a:p>
            <a:r>
              <a:rPr lang="en-US"/>
              <a:t>Or la plupart des petites entreprises n'ont ni équipe ni budget dédié à la cybersécurité. </a:t>
            </a:r>
          </a:p>
          <a:p>
            <a:r>
              <a:rPr lang="en-US"/>
              <a:t/>
            </a:r>
          </a:p>
          <a:p>
            <a:r>
              <a:rPr lang="en-US"/>
              <a:t>Quand elles font appel à un prestataire pour un audit, le parcours actuel pose quatre problèmes : les demandes sont traitées par e-mail, sans suivi ni traçabilité ; le client n'a aucune visibilité en temps réel sur l'avancement de sa demande ; et les rapports de vulnérabilité, envoyés en pièce jointe, deviennent impossibles à gérer dès que le volume augmente.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Face à ce constat, nous avons conçu une plateforme web unifiée qui connecte les clients PME et les opérateurs CyberAudit autour de six briques : un formulaire de demande d'audit avec confirmation instantanée par e-mail ; </a:t>
            </a:r>
          </a:p>
          <a:p>
            <a:r>
              <a:rPr lang="en-US"/>
              <a:t/>
            </a:r>
          </a:p>
          <a:p>
            <a:r>
              <a:rPr lang="en-US"/>
              <a:t>un tableau de bord en temps réel pour suivre le statut de chaque demande ; une interface de gestion pour les opérateurs administrateurs ; la génération automatique de rapports PDF ; </a:t>
            </a:r>
          </a:p>
          <a:p>
            <a:r>
              <a:rPr lang="en-US"/>
              <a:t/>
            </a:r>
          </a:p>
          <a:p>
            <a:r>
              <a:rPr lang="en-US"/>
              <a:t>des modules de sensibilisation à la cybersécurité pour les équipes du client ; et une authentification sécurisée basée sur les rôles.</a:t>
            </a:r>
          </a:p>
          <a:p>
            <a:r>
              <a:rPr lang="en-US"/>
              <a:t/>
            </a:r>
          </a:p>
          <a:p>
            <a:r>
              <a:rPr lang="en-US"/>
              <a:t> C'est cette chaîne complète, de la demande au rapport téléchargeable, que je vais détailler dans les slides suivants.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projet a été mené en binôme sur douze semaines, du 27 avril au 17 juillet 2026. J'ai pris en charge l'ensemble du front-end : les composants d'interface et le système de design, les tableaux de bord client et administrateur, et les flux de connexion et d'inscription. James s'est occupé du back-end : l'API, la base de données, l'authentification, la sécurité et le déploiement continu.</a:t>
            </a:r>
          </a:p>
          <a:p>
            <a:r>
              <a:rPr lang="en-US"/>
              <a:t/>
            </a:r>
          </a:p>
          <a:p>
            <a:r>
              <a:rPr lang="en-US"/>
              <a:t> Le projet s'est déroulé en cinq temps forts : cadrage du besoin, conception et maquettage, développement en binôme, sécurisation et tests, puis mise en production.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Côté front-end, j'ai utilisé React avec Vite pour l'outillage et Tailwind CSS pour le système de design. Côté back-end, James a utilisé Django, PostgreSQL comme base de données relationnelle, et Celery avec Redis pour les tâches asynchrones comme l'envoi d'e-mails. Le tout est déployé nativement dans le cloud, sur Railway pour le back et Vercel pour le front, avec une intégration continue GitHub Actions. Cette stack est validée par 74 tests back-end, avec 91 % de couverture de code, et 62 tests front-end.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Voici l'architecture en couches du projet. Le client React communique en HTTPS avec deux destinations distinctes : les ressources statiques sont servies par Vercel via un CDN, et les appels d'API transitent en HTTPS avec authentification JWT vers le back-end Django hébergé sur Railway. Le framework Django expose l'API REST, un worker Celery traite les tâches asynchrones — envoi d'e-mails, génération de PDF — en s'appuyant sur Redis comme broker de messages. Enfin, la couche de données repose sur PostgreSQL pour les données opérationnelles et un espace de stockage pour les rapports PDF, et le service externe EmailJS relaie les notifications transactionnelles.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Je vous propose maintenant de voir l'application en fonctionnement.</a:t>
            </a:r>
          </a:p>
          <a:p>
            <a:r>
              <a:rPr lang="en-US"/>
              <a:t/>
            </a:r>
          </a:p>
          <a:p>
            <a:r>
              <a:rPr lang="en-US"/>
              <a:t>[Ouvrir le lien de démonstration : portfolio-kappa-dun-65.vercel.app]</a:t>
            </a:r>
          </a:p>
          <a:p>
            <a:r>
              <a:rPr lang="en-US"/>
              <a:t/>
            </a:r>
          </a:p>
          <a:p>
            <a:r>
              <a:rPr lang="en-US"/>
              <a:t>Je me connecte ici avec un compte client. Je vais soumettre une nouvelle demande d'audit.</a:t>
            </a:r>
          </a:p>
          <a:p>
            <a:r>
              <a:rPr lang="en-US"/>
              <a:t/>
            </a:r>
          </a:p>
          <a:p>
            <a:r>
              <a:rPr lang="en-US"/>
              <a:t>Je choisis un pack  par exemple, le pack Audit. Et je remplis les notes de périmètre : par exemple, « audit du serveur de fichiers et de douze postes Windows ». Je valide.</a:t>
            </a:r>
          </a:p>
          <a:p>
            <a:r>
              <a:rPr lang="en-US"/>
              <a:t/>
            </a:r>
          </a:p>
          <a:p>
            <a:r>
              <a:rPr lang="en-US"/>
              <a:t>Vous voyez que la demande apparaît immédiatement dans mon tableau de bord, avec le statut « en attente ». Vous remarquerez aussi la confirmation reçue par email, envoyée instantanément via EmailJS.</a:t>
            </a:r>
          </a:p>
          <a:p>
            <a:r>
              <a:rPr lang="en-US"/>
              <a:t/>
            </a:r>
          </a:p>
          <a:p>
            <a:r>
              <a:rPr lang="en-US"/>
              <a:t>Et elle reçoit une référence unique, au format DOSSIER, année, numéro, j'y reviendrai dans quelques minutes, quand je vous montrerai comment cette référence est générée dans le code.</a:t>
            </a:r>
          </a:p>
          <a:p>
            <a:r>
              <a:rPr lang="en-US"/>
              <a:t/>
            </a:r>
          </a:p>
          <a:p>
            <a:r>
              <a:rPr lang="en-US"/>
              <a:t>Je bascule maintenant côté administrateur. [Se déconnecter, se reconnecter avec un compte admin]</a:t>
            </a:r>
          </a:p>
          <a:p>
            <a:r>
              <a:rPr lang="en-US"/>
              <a:t/>
            </a:r>
          </a:p>
          <a:p>
            <a:r>
              <a:rPr lang="en-US"/>
              <a:t>La demande apparaît dans la file de traitement. Je peux l'assigner à un opérateur, changer son statut par exemple « en attente » vers « en cours »  et ajouter une note interne.</a:t>
            </a:r>
          </a:p>
          <a:p>
            <a:r>
              <a:rPr lang="en-US"/>
              <a:t/>
            </a:r>
          </a:p>
          <a:p>
            <a:r>
              <a:rPr lang="en-US"/>
              <a:t>Je déclenche la génération du rapport PDF. Cette génération est traitée de façon asynchrone, par le worker Celery. Ça veut dire que je peux continuer à travailler pendant que le PDF se génère en arrière-plan.</a:t>
            </a:r>
          </a:p>
          <a:p>
            <a:r>
              <a:rPr lang="en-US"/>
              <a:t/>
            </a:r>
          </a:p>
          <a:p>
            <a:r>
              <a:rPr lang="en-US"/>
              <a:t>Une fois le rapport prêt, le client reçoit une notification par email, et peut le télécharger directement depuis son tableau de bord. [Revenir sur le compte client, télécharger le rapport]</a:t>
            </a:r>
          </a:p>
          <a:p>
            <a:r>
              <a:rPr lang="en-US"/>
              <a:t> </a:t>
            </a:r>
          </a:p>
          <a:p>
            <a:r>
              <a:rPr lang="en-US"/>
              <a:t>Voilà : vous venez de voir le parcours complet, de la demande initiale du client, jusqu'à la remise du rapport final et à la formation des équipes.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Je vous montre maintenant deux extraits de code, représentatifs de mon travail côté front-end , ceux qui ont rendu possible ce que vous venez de voir.</a:t>
            </a:r>
          </a:p>
          <a:p>
            <a:r>
              <a:rPr lang="en-US"/>
              <a:t/>
            </a:r>
          </a:p>
          <a:p>
            <a:r>
              <a:rPr lang="en-US"/>
              <a:t>Le premier, à gauche, c'est le composant ProtectedRoute. C'est lui qui protège l'accès aux pages selon le rôle de l'utilisateur.</a:t>
            </a:r>
          </a:p>
          <a:p>
            <a:r>
              <a:rPr lang="en-US"/>
              <a:t/>
            </a:r>
          </a:p>
          <a:p>
            <a:r>
              <a:rPr lang="en-US"/>
              <a:t>Si la personne n'est pas connectée, elle est redirigée vers la page de connexion. Si elle n'a pas le bon rôle par exemple, un client qui tente d'accéder à une page réservée à l'administrateur, elle est redirigée vers l'accueil.</a:t>
            </a:r>
          </a:p>
          <a:p>
            <a:r>
              <a:rPr lang="en-US"/>
              <a:t/>
            </a:r>
          </a:p>
          <a:p>
            <a:r>
              <a:rPr lang="en-US"/>
              <a:t>Cette redirection intervient avant même l'affichage de la page. C'est une protection côté client, en complément du contrôle serveur, je ne me repose jamais uniquement sur le front-end pour la sécurité.</a:t>
            </a:r>
          </a:p>
          <a:p>
            <a:r>
              <a:rPr lang="en-US"/>
              <a:t/>
            </a:r>
          </a:p>
          <a:p>
            <a:r>
              <a:rPr lang="en-US"/>
              <a:t>Le deuxième extrait, à droite, c'est la fonction sanitize. Elle s'appuie sur la bibliothèque DOMPurify.</a:t>
            </a:r>
          </a:p>
          <a:p>
            <a:r>
              <a:rPr lang="en-US"/>
              <a:t/>
            </a:r>
          </a:p>
          <a:p>
            <a:r>
              <a:rPr lang="en-US"/>
              <a:t>Chaque donnée saisie par un utilisateur, et réaffichée ailleurs dans l'application — une note de périmètre, un contenu de formation  passe par cette fonction avant d'être insérée dans la page.</a:t>
            </a:r>
          </a:p>
          <a:p>
            <a:r>
              <a:rPr lang="en-US"/>
              <a:t/>
            </a:r>
          </a:p>
          <a:p>
            <a:r>
              <a:rPr lang="en-US"/>
              <a:t>Et la configuration est volontairement stricte : aucune balise HTML, aucun attribut n'est conservé.</a:t>
            </a:r>
          </a:p>
          <a:p>
            <a:r>
              <a:rPr lang="en-US"/>
              <a:t/>
            </a:r>
          </a:p>
          <a:p>
            <a:r>
              <a:rPr lang="en-US"/>
              <a:t>C'est ce mécanisme qui a neutralisé, sans aucun problème, la tentative d'injection XSS que nous avons testée dans notre jeu d'essai.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Côté back-end, voici deux extraits que je trouve particulièrement représentatifs.</a:t>
            </a:r>
          </a:p>
          <a:p>
            <a:r>
              <a:rPr lang="en-US"/>
              <a:t/>
            </a:r>
          </a:p>
          <a:p>
            <a:r>
              <a:rPr lang="en-US"/>
              <a:t>en haut, la méthode qui génère la référence unique d'une demande d'audit celle que je vous ai montrée à l'écran pendant la démonstration , au format DOSSIER, année, numéro.</a:t>
            </a:r>
          </a:p>
          <a:p>
            <a:r>
              <a:rPr lang="en-US"/>
              <a:t/>
            </a:r>
          </a:p>
          <a:p>
            <a:r>
              <a:rPr lang="en-US"/>
              <a:t>Elle utilise select_for_update, pour verrouiller la ligne pendant toute la transaction. Ça garantit que deux demandes, soumises à la même seconde, ne pourront jamais recevoir la même référence.</a:t>
            </a:r>
          </a:p>
          <a:p>
            <a:r>
              <a:rPr lang="en-US"/>
              <a:t/>
            </a:r>
          </a:p>
          <a:p>
            <a:r>
              <a:rPr lang="en-US"/>
              <a:t>en bas, la classe de permission IsAdminOrOwner. C'est elle qui gère le contrôle d'accès par rôle, côté serveur.</a:t>
            </a:r>
          </a:p>
          <a:p>
            <a:r>
              <a:rPr lang="en-US"/>
              <a:t/>
            </a:r>
          </a:p>
          <a:p>
            <a:r>
              <a:rPr lang="en-US"/>
              <a:t>Un administrateur a accès à tout. Un client, uniquement à ses propres demandes.</a:t>
            </a:r>
          </a:p>
          <a:p>
            <a:r>
              <a:rPr lang="en-US"/>
              <a:t/>
            </a:r>
          </a:p>
          <a:p>
            <a:r>
              <a:rPr lang="en-US"/>
              <a:t>Et surtout, si l'accès est refusé, la vue renvoie un code 404, et non 403.</a:t>
            </a:r>
          </a:p>
          <a:p>
            <a:r>
              <a:rPr lang="en-US"/>
              <a:t/>
            </a:r>
          </a:p>
          <a:p>
            <a:r>
              <a:rPr lang="en-US"/>
              <a:t>L'objectif, c'est de ne jamais révéler à un attaquant qu'une ressource existe, même s'il n'a pas le droit d'y accéder.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Voici le modèle de données de l'application.</a:t>
            </a:r>
          </a:p>
          <a:p>
            <a:r>
              <a:rPr lang="en-US"/>
              <a:t/>
            </a:r>
          </a:p>
          <a:p>
            <a:r>
              <a:rPr lang="en-US"/>
              <a:t>La base PostgreSQL s'organise autour de sept entités principales.</a:t>
            </a:r>
          </a:p>
          <a:p>
            <a:r>
              <a:rPr lang="en-US"/>
              <a:t/>
            </a:r>
          </a:p>
          <a:p>
            <a:r>
              <a:rPr lang="en-US"/>
              <a:t>L'utilisateur, qui peut être client ou administrateur. Le catalogue des formules d'audit. La demande d'audit elle-même, avec sa référence unique, générée de façon automatique, comme je viens de vous le montrer.</a:t>
            </a:r>
          </a:p>
          <a:p>
            <a:r>
              <a:rPr lang="en-US"/>
              <a:t/>
            </a:r>
          </a:p>
          <a:p>
            <a:r>
              <a:rPr lang="en-US"/>
              <a:t>Le rapport d'audit, avec son score de sécurité, et la liste des vulnérabilités, au format JSON. Les modules de formation, et la progression de chaque utilisateur sur ces modules. Et enfin, les notifications.</a:t>
            </a:r>
          </a:p>
          <a:p>
            <a:r>
              <a:rPr lang="en-US"/>
              <a:t/>
            </a:r>
          </a:p>
          <a:p>
            <a:r>
              <a:rPr lang="en-US"/>
              <a:t>Un choix que je veux souligner : toutes les clés primaires sont des UUID, et non des entiers auto-incrémentés.</a:t>
            </a:r>
          </a:p>
          <a:p>
            <a:r>
              <a:rPr lang="en-US"/>
              <a:t/>
            </a:r>
          </a:p>
          <a:p>
            <a:r>
              <a:rPr lang="en-US"/>
              <a:t>C'est un choix de sécurité délibéré. Ça empêche un attaquant de deviner l'existence d'autres ressources, simplement en incrémentant un identifiant dans l'URL.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Je vais maintenant vous présenter le diagramme des composants React de CyberAudit &amp; Solutions.</a:t>
            </a:r>
          </a:p>
          <a:p>
            <a:r>
              <a:rPr lang="en-US"/>
              <a:t/>
            </a:r>
          </a:p>
          <a:p>
            <a:r>
              <a:rPr lang="en-US"/>
              <a:t>L’application commence par le composant App, qui englobe un ErrorBoundary. Son rôle est de gérer les erreurs React afin d’éviter qu’une erreur sur un composant fasse planter toute l’application.</a:t>
            </a:r>
          </a:p>
          <a:p>
            <a:r>
              <a:rPr lang="en-US"/>
              <a:t/>
            </a:r>
          </a:p>
          <a:p>
            <a:r>
              <a:rPr lang="en-US"/>
              <a:t>Ensuite, le Router gère la navigation entre les différentes pages. On distingue d’abord les pages publiques : la page d’accueil, la page de connexion avec son LoginForm, et la page d’inscription avec son RegisterForm.</a:t>
            </a:r>
          </a:p>
          <a:p>
            <a:r>
              <a:rPr lang="en-US"/>
              <a:t/>
            </a:r>
          </a:p>
          <a:p>
            <a:r>
              <a:rPr lang="en-US"/>
              <a:t>Une fois l’utilisateur connecté, l’accès aux pages sensibles passe par le composant ProtectedRoute. Il vérifie que l’utilisateur est authentifié et contrôle également son rôle, notamment client ou administrateur.</a:t>
            </a:r>
          </a:p>
          <a:p>
            <a:r>
              <a:rPr lang="en-US"/>
              <a:t/>
            </a:r>
          </a:p>
          <a:p>
            <a:r>
              <a:rPr lang="en-US"/>
              <a:t>Pour le client, on retrouve le DashboardPage qui affiche le ClientDashboard. Celui-ci permet notamment de consulter les demandes d’audit. Les demandes sont représentées par AuditRequestCard et leur état par le composant réutilisable StatusBadge.</a:t>
            </a:r>
          </a:p>
          <a:p>
            <a:r>
              <a:rPr lang="en-US"/>
              <a:t/>
            </a:r>
          </a:p>
          <a:p>
            <a:r>
              <a:rPr lang="en-US"/>
              <a:t>Pour l’administrateur, le principe est similaire, mais avec un AdminDashboard. Il peut consulter et gérer les demandes, notamment modifier leur statut et gérer le traitement des audits.</a:t>
            </a:r>
          </a:p>
          <a:p>
            <a:r>
              <a:rPr lang="en-US"/>
              <a:t/>
            </a:r>
          </a:p>
          <a:p>
            <a:r>
              <a:rPr lang="en-US"/>
              <a:t>Enfin, le diagramme présente les autres fonctionnalités protégées : NewAuditPage pour créer une demande, AuditDetailPage pour consulter son détail, et TrainingPage pour les modules de sensibilisation.</a:t>
            </a:r>
          </a:p>
          <a:p>
            <a:r>
              <a:rPr lang="en-US"/>
              <a:t/>
            </a:r>
          </a:p>
          <a:p>
            <a:r>
              <a:rPr lang="en-US"/>
              <a:t>L’intérêt principal de cette architecture est donc de séparer les responsabilités et de favoriser la réutilisation des composants. Par exemple, StatusBadge est utilisé à plusieurs endroits, ce qui évite la duplication de code et garantit une interface cohérente.</a:t>
            </a:r>
          </a:p>
          <a:p>
            <a:r>
              <a:rPr lang="en-US"/>
              <a:t/>
            </a:r>
          </a:p>
          <a:p>
            <a:r>
              <a:rPr lang="en-US"/>
              <a:t>Cette organisation rend finalement le front-end plus clair, maintenable et sécurisé, notamment grâce à la gestion centralisée des routes et des rôles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parcours côté client a été pensé pour rester simple, pour un utilisateur non technicien.</a:t>
            </a:r>
          </a:p>
          <a:p>
            <a:r>
              <a:rPr lang="en-US"/>
              <a:t/>
            </a:r>
          </a:p>
          <a:p>
            <a:r>
              <a:rPr lang="en-US"/>
              <a:t>C'est le persona principal du projet : Marie, dirigeante de PME, peu à l'aise avec l'informatique.</a:t>
            </a:r>
          </a:p>
          <a:p>
            <a:r>
              <a:rPr lang="en-US"/>
              <a:t/>
            </a:r>
          </a:p>
          <a:p>
            <a:r>
              <a:rPr lang="en-US"/>
              <a:t>Depuis la page publique, elle s'inscrit, ou se connecte.</a:t>
            </a:r>
          </a:p>
          <a:p>
            <a:r>
              <a:rPr lang="en-US"/>
              <a:t/>
            </a:r>
          </a:p>
          <a:p>
            <a:r>
              <a:rPr lang="en-US"/>
              <a:t>Elle arrive sur un tableau de bord qui liste ses demandes, avec un statut coloré.</a:t>
            </a:r>
          </a:p>
          <a:p>
            <a:r>
              <a:rPr lang="en-US"/>
              <a:t/>
            </a:r>
          </a:p>
          <a:p>
            <a:r>
              <a:rPr lang="en-US"/>
              <a:t>Elle peut soumettre une nouvelle demande en choisissant une formule et en indiquant ses notes de périmètre, consulter l'historique et le statut en temps réel d'une demande existante, et télécharger son rapport dès qu'il est généré.</a:t>
            </a:r>
          </a:p>
          <a:p>
            <a:r>
              <a:rPr lang="en-US"/>
              <a:t/>
            </a:r>
          </a:p>
          <a:p>
            <a:r>
              <a:rPr lang="en-US"/>
              <a:t>Ce parcours a été validé avant même le début du développement des interfaces.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Côté administrateur, l'application propose un tableau de bord global.</a:t>
            </a:r>
          </a:p>
          <a:p>
            <a:r>
              <a:rPr lang="en-US"/>
              <a:t/>
            </a:r>
          </a:p>
          <a:p>
            <a:r>
              <a:rPr lang="en-US"/>
              <a:t>On peut filtrer l'ensemble des demandes par statut, et ouvrir le détail d'une demande pour consulter les informations du client.</a:t>
            </a:r>
          </a:p>
          <a:p>
            <a:r>
              <a:rPr lang="en-US"/>
              <a:t/>
            </a:r>
          </a:p>
          <a:p>
            <a:r>
              <a:rPr lang="en-US"/>
              <a:t>Changer le statut, assigner la demande à un opérateur, ajouter des notes internes.</a:t>
            </a:r>
          </a:p>
          <a:p>
            <a:r>
              <a:rPr lang="en-US"/>
              <a:t/>
            </a:r>
          </a:p>
          <a:p>
            <a:r>
              <a:rPr lang="en-US"/>
              <a:t>Déclencher la génération du rapport PDF en un clic, envoyer une notification au client, et archiver une demande une fois qu'elle est traitée.</a:t>
            </a:r>
          </a:p>
          <a:p>
            <a:r>
              <a:rPr lang="en-US"/>
              <a:t/>
            </a:r>
          </a:p>
          <a:p>
            <a:r>
              <a:rPr lang="en-US"/>
              <a:t>Un point que je veux souligner : chaque action est consignée dans un historique immuable. Ça garantit la traçabilité, exigée par le RGPD.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déploiement suit une démarche d'intégration et de livraison continues.</a:t>
            </a:r>
          </a:p>
          <a:p>
            <a:r>
              <a:rPr lang="en-US"/>
              <a:t/>
            </a:r>
          </a:p>
          <a:p>
            <a:r>
              <a:rPr lang="en-US"/>
              <a:t>À chaque poussée de code, GitHub Actions exécute l'analyse statique du code, la suite de tests, et déclenche le déploiement.</a:t>
            </a:r>
          </a:p>
          <a:p>
            <a:r>
              <a:rPr lang="en-US"/>
              <a:t/>
            </a:r>
          </a:p>
          <a:p>
            <a:r>
              <a:rPr lang="en-US"/>
              <a:t>Le front-end est reconstruit et publié sur le CDN (Content Delivery Network) mondial de Vercel.</a:t>
            </a:r>
          </a:p>
          <a:p>
            <a:r>
              <a:rPr lang="en-US"/>
              <a:t/>
            </a:r>
          </a:p>
          <a:p>
            <a:r>
              <a:rPr lang="en-US"/>
              <a:t>Le back-end est déployé sur Railway, à partir d'un conteneur Docker. Les migrations de base de données sont appliquées automatiquement, et un processus séparé exécute le worker Celery.</a:t>
            </a:r>
          </a:p>
          <a:p>
            <a:r>
              <a:rPr lang="en-US"/>
              <a:t/>
            </a:r>
          </a:p>
          <a:p>
            <a:r>
              <a:rPr lang="en-US"/>
              <a:t>Les identifiants sensibles ne figurent jamais dans le dépôt de code. Et une sauvegarde manuelle de la base de production est déclenchée avant chaque mise en production majeure, avec une rétention de quatorze jours.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sécurité a été traitée comme une exigence transversale, présente dès la conception.</a:t>
            </a:r>
          </a:p>
          <a:p>
            <a:r>
              <a:rPr lang="en-US"/>
              <a:t/>
            </a:r>
          </a:p>
          <a:p>
            <a:r>
              <a:rPr lang="en-US"/>
              <a:t>Vous venez de voir deux extraits de code qui l'illustrent très concrètement.</a:t>
            </a:r>
          </a:p>
          <a:p>
            <a:r>
              <a:rPr lang="en-US"/>
              <a:t/>
            </a:r>
          </a:p>
          <a:p>
            <a:r>
              <a:rPr lang="en-US"/>
              <a:t>Côté front-end : assainissement systématique contre les attaques XSS, en-têtes de sécurité HTTP sur chaque réponse, et jetons stockés en sessionStorage.</a:t>
            </a:r>
          </a:p>
          <a:p>
            <a:r>
              <a:rPr lang="en-US"/>
              <a:t/>
            </a:r>
          </a:p>
          <a:p>
            <a:r>
              <a:rPr lang="en-US"/>
              <a:t>Côté back-end : l'ORM Django élimine par construction le risque d'injection SQL. Le contrôle d'accès par rôle renvoie un 404, plutôt qu'un 403. Et les points d'entrée sensibles sont protégés par une limitation de débit.</a:t>
            </a:r>
          </a:p>
          <a:p>
            <a:r>
              <a:rPr lang="en-US"/>
              <a:t/>
            </a:r>
          </a:p>
          <a:p>
            <a:r>
              <a:rPr lang="en-US"/>
              <a:t>Pour vérifier concrètement l'efficacité de toutes ces mesures, nous avons mené un audit manuel de sécurité.</a:t>
            </a:r>
          </a:p>
          <a:p>
            <a:r>
              <a:rPr lang="en-US"/>
              <a:t/>
            </a:r>
          </a:p>
          <a:p>
            <a:r>
              <a:rPr lang="en-US"/>
              <a:t>Six scénarios d'attaque testés : injection XSS, injection SQL, force brute, falsification de jeton, élévation de privilège, et énumération de ressources.</a:t>
            </a:r>
          </a:p>
          <a:p>
            <a:r>
              <a:rPr lang="en-US"/>
              <a:t/>
            </a:r>
          </a:p>
          <a:p>
            <a:r>
              <a:rPr lang="en-US"/>
              <a:t>Résultat : aucune faille exploitable n'a été identifiée.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fiabilité du projet repose sur 74 tests automatisés côté back-end avec pytest, pour 91 % de couverture de code, et 62 tests côté front-end avec Vitest, exécutés automatiquement à chaque push via l'intégration continue GitHub Actions.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Tout au long des douze semaines, nous avons maintenu une veille active sur le classement OWASP Top 10, les bulletins de sécurité de Django et de DRF, et les changelogs de React et Vite, afin d'intégrer les correctifs et bonnes pratiques dès leur publication plutôt qu'en fin de projet. Concrètement, l'onglet Sécurité de GitHub ne signale aujourd'hui aucune alerte Dependabot ouverte, et l'audit npm du front-end recense 14 signalements sur des dépendances de développement, pour lesquels des correctifs sont déjà identifiés.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Nous avons dû relever plusieurs défis.</a:t>
            </a:r>
          </a:p>
          <a:p>
            <a:r>
              <a:rPr lang="en-US"/>
              <a:t/>
            </a:r>
          </a:p>
          <a:p>
            <a:r>
              <a:rPr lang="en-US"/>
              <a:t>Railway effaçait nos fichiers PDF à chaque déploiement en raison de son système de fichiers éphémère ; nous avons résolu ce problème en utilisant un volume persistant.</a:t>
            </a:r>
          </a:p>
          <a:p>
            <a:r>
              <a:rPr lang="en-US"/>
              <a:t/>
            </a:r>
          </a:p>
          <a:p>
            <a:r>
              <a:rPr lang="en-US"/>
              <a:t>Nous avons également rencontré un problème de session lié à l'utilisation de plusieurs onglets : le `localStorage` entrait en conflit avec les connexions simultanées des clients et des administrateurs. Nous sommes donc passés au `sessionStorage`, qui est isolé par onglet.</a:t>
            </a:r>
          </a:p>
          <a:p>
            <a:r>
              <a:rPr lang="en-US"/>
              <a:t/>
            </a:r>
          </a:p>
          <a:p>
            <a:r>
              <a:rPr lang="en-US"/>
              <a:t>La leçon principale :</a:t>
            </a:r>
          </a:p>
          <a:p>
            <a:r>
              <a:rPr lang="en-US"/>
              <a:t>l'association de React et DOMPurify pour se protéger contre les failles XSS, et la nécessité de traiter de manière asynchrone, via Celery et Redis, toute tâche dont l'exécution dépasse une seconde.</a:t>
            </a:r>
          </a:p>
          <a:p>
            <a:r>
              <a:rPr lang="en-US"/>
              <a:t/>
            </a:r>
          </a:p>
          <a:p>
            <a:r>
              <a:rPr lang="en-US"/>
              <a:t>En quatre semaines, nous avons mis en œuvre plus de 20 améliorations,</a:t>
            </a:r>
          </a:p>
          <a:p>
            <a:r>
              <a:rPr lang="en-US"/>
              <a:t>aboutissant au déploiement d'un véritable MVP en production.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conclure sur la méthode, je voudrais partager notre rétrospective d'équipe. Nous faisions ce point chaque vendredi avec James.</a:t>
            </a:r>
          </a:p>
          <a:p>
            <a:r>
              <a:rPr lang="en-US"/>
              <a:t/>
            </a:r>
          </a:p>
          <a:p>
            <a:r>
              <a:rPr lang="en-US"/>
              <a:t>Ce que nous avons choisi de continuer : les revues de code croisées sur chaque pull request, la veille sécurité</a:t>
            </a:r>
          </a:p>
          <a:p>
            <a:r>
              <a:rPr lang="en-US"/>
              <a:t>hebdomadaire, et le réflexe d'intégrer la sécurité dès la conception, plutôt qu'à la fin.</a:t>
            </a:r>
          </a:p>
          <a:p>
            <a:r>
              <a:rPr lang="en-US"/>
              <a:t/>
            </a:r>
          </a:p>
          <a:p>
            <a:r>
              <a:rPr lang="en-US"/>
              <a:t>Ce que nous avons choisi d'arrêter : discuter les contrats d'interface entre le front et le back uniquement à l'oral, sans les tracer par écrit  ça nous a coûté des allers-retours évitables. </a:t>
            </a:r>
          </a:p>
          <a:p>
            <a:r>
              <a:rPr lang="en-US"/>
              <a:t/>
            </a:r>
          </a:p>
          <a:p>
            <a:r>
              <a:rPr lang="en-US"/>
              <a:t>Et sous-estimer le temps que prennent réellement les tests</a:t>
            </a:r>
          </a:p>
          <a:p>
            <a:r>
              <a:rPr lang="en-US"/>
              <a:t>de bout en bout  c'est d'ailleurs pour ça que nous avons reporté les deux points de tests Cypress à une itération suivante..</a:t>
            </a:r>
          </a:p>
          <a:p>
            <a:r>
              <a:rPr lang="en-US"/>
              <a:t/>
            </a:r>
          </a:p>
          <a:p>
            <a:r>
              <a:rPr lang="en-US"/>
              <a:t>Et ce que nous ferions différemment, sur un prochain projet : documenter chaque contrat d'interface par écrit avant de commencer à coder, et provisionner du temps pour les tests de bout en bout dès la planification du sprint.</a:t>
            </a:r>
          </a:p>
          <a:p>
            <a:r>
              <a:rPr lang="en-US"/>
              <a:t/>
            </a:r>
          </a:p>
          <a:p>
            <a:r>
              <a:rPr lang="en-US"/>
              <a:t>Au final, sur ces douze semaines : 95 pourcent du périmètre livré, et zéro bogue ouvert à l'issue de chaque sprint.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la suite, plusieurs évolutions sont envisagées : un tableau de bord en temps réel par WebSocket, une application mobile native, un score de sécurité assisté par intelligence artificielle, l'authentification déléguée via OAuth2, la gamification des modules de sensibilisation, et un journal d'audit applicatif complet pour la conformité RGPD. Je vous remercie pour votre attention et je suis à votre disposition pour vos questions.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https://portfolio-kappa-dun-65.vercel.app" TargetMode="External" Type="http://schemas.openxmlformats.org/officeDocument/2006/relationships/hyperlink"/><Relationship Id="rId5" Target="../media/image2.png" Type="http://schemas.openxmlformats.org/officeDocument/2006/relationships/image"/><Relationship Id="rId6"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png" Type="http://schemas.openxmlformats.org/officeDocument/2006/relationships/image"/><Relationship Id="rId12" Target="../media/image14.png" Type="http://schemas.openxmlformats.org/officeDocument/2006/relationships/image"/><Relationship Id="rId13" Target="../media/image15.png" Type="http://schemas.openxmlformats.org/officeDocument/2006/relationships/image"/><Relationship Id="rId14" Target="../media/image16.png" Type="http://schemas.openxmlformats.org/officeDocument/2006/relationships/image"/><Relationship Id="rId15" Target="../media/image17.png" Type="http://schemas.openxmlformats.org/officeDocument/2006/relationships/image"/><Relationship Id="rId2" Target="../notesSlides/notesSlide5.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https://portfolio-kappa-dun-65.vercel.app"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9.png" Type="http://schemas.openxmlformats.org/officeDocument/2006/relationships/image"/><Relationship Id="rId4"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1.png" Type="http://schemas.openxmlformats.org/officeDocument/2006/relationships/image"/><Relationship Id="rId4"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 Id="rId8" Target="../media/image2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3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32.png" Type="http://schemas.openxmlformats.org/officeDocument/2006/relationships/image"/><Relationship Id="rId4" Target="../media/image1.jpe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3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3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11" Target="../media/image46.png" Type="http://schemas.openxmlformats.org/officeDocument/2006/relationships/image"/><Relationship Id="rId12" Target="../media/image47.png" Type="http://schemas.openxmlformats.org/officeDocument/2006/relationships/image"/><Relationship Id="rId13" Target="../media/image48.svg" Type="http://schemas.openxmlformats.org/officeDocument/2006/relationships/image"/><Relationship Id="rId14" Target="../media/image49.png" Type="http://schemas.openxmlformats.org/officeDocument/2006/relationships/image"/><Relationship Id="rId15" Target="../media/image50.png" Type="http://schemas.openxmlformats.org/officeDocument/2006/relationships/image"/><Relationship Id="rId16" Target="../media/image51.svg" Type="http://schemas.openxmlformats.org/officeDocument/2006/relationships/image"/><Relationship Id="rId17" Target="../media/image52.png" Type="http://schemas.openxmlformats.org/officeDocument/2006/relationships/image"/><Relationship Id="rId18" Target="../media/image53.png" Type="http://schemas.openxmlformats.org/officeDocument/2006/relationships/image"/><Relationship Id="rId19" Target="../media/image54.png" Type="http://schemas.openxmlformats.org/officeDocument/2006/relationships/image"/><Relationship Id="rId2" Target="../notesSlides/notesSlide18.xml" Type="http://schemas.openxmlformats.org/officeDocument/2006/relationships/notesSlide"/><Relationship Id="rId20" Target="../media/image55.sv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5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 Id="rId4" Target="../media/image5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097280" y="2834640"/>
            <a:ext cx="4754880" cy="2194560"/>
            <a:chOff x="0" y="0"/>
            <a:chExt cx="6339840" cy="2926080"/>
          </a:xfrm>
        </p:grpSpPr>
        <p:sp>
          <p:nvSpPr>
            <p:cNvPr name="Freeform 3" id="3"/>
            <p:cNvSpPr/>
            <p:nvPr/>
          </p:nvSpPr>
          <p:spPr>
            <a:xfrm flipH="false" flipV="false" rot="0">
              <a:off x="0" y="0"/>
              <a:ext cx="6339840" cy="2926080"/>
            </a:xfrm>
            <a:custGeom>
              <a:avLst/>
              <a:gdLst/>
              <a:ahLst/>
              <a:cxnLst/>
              <a:rect r="r" b="b" t="t" l="l"/>
              <a:pathLst>
                <a:path h="2926080" w="6339840">
                  <a:moveTo>
                    <a:pt x="0" y="0"/>
                  </a:moveTo>
                  <a:lnTo>
                    <a:pt x="6339840" y="0"/>
                  </a:lnTo>
                  <a:lnTo>
                    <a:pt x="6339840" y="2926080"/>
                  </a:lnTo>
                  <a:lnTo>
                    <a:pt x="0" y="2926080"/>
                  </a:lnTo>
                  <a:close/>
                </a:path>
              </a:pathLst>
            </a:custGeom>
            <a:blipFill>
              <a:blip r:embed="rId3">
                <a:alphaModFix amt="0"/>
              </a:blip>
              <a:stretch>
                <a:fillRect l="-9217" t="0" r="-9217" b="0"/>
              </a:stretch>
            </a:blipFill>
          </p:spPr>
        </p:sp>
        <p:sp>
          <p:nvSpPr>
            <p:cNvPr name="TextBox 4" id="4"/>
            <p:cNvSpPr txBox="true"/>
            <p:nvPr/>
          </p:nvSpPr>
          <p:spPr>
            <a:xfrm>
              <a:off x="0" y="-28575"/>
              <a:ext cx="6339840" cy="2954655"/>
            </a:xfrm>
            <a:prstGeom prst="rect">
              <a:avLst/>
            </a:prstGeom>
          </p:spPr>
          <p:txBody>
            <a:bodyPr anchor="ctr" rtlCol="false" tIns="0" lIns="0" bIns="0" rIns="0"/>
            <a:lstStyle/>
            <a:p>
              <a:pPr algn="ctr">
                <a:lnSpc>
                  <a:spcPts val="7679"/>
                </a:lnSpc>
              </a:pPr>
              <a:r>
                <a:rPr lang="en-US" b="true" sz="6399">
                  <a:solidFill>
                    <a:srgbClr val="1E2761"/>
                  </a:solidFill>
                  <a:latin typeface="Arial Bold"/>
                  <a:ea typeface="Arial Bold"/>
                  <a:cs typeface="Arial Bold"/>
                  <a:sym typeface="Arial Bold"/>
                </a:rPr>
                <a:t>Cyber</a:t>
              </a:r>
            </a:p>
            <a:p>
              <a:pPr algn="ctr">
                <a:lnSpc>
                  <a:spcPts val="7679"/>
                </a:lnSpc>
              </a:pPr>
              <a:r>
                <a:rPr lang="en-US" b="true" sz="6399">
                  <a:solidFill>
                    <a:srgbClr val="1E2761"/>
                  </a:solidFill>
                  <a:latin typeface="Arial Bold"/>
                  <a:ea typeface="Arial Bold"/>
                  <a:cs typeface="Arial Bold"/>
                  <a:sym typeface="Arial Bold"/>
                </a:rPr>
                <a:t>Audit</a:t>
              </a:r>
            </a:p>
          </p:txBody>
        </p:sp>
      </p:grpSp>
      <p:grpSp>
        <p:nvGrpSpPr>
          <p:cNvPr name="Group 5" id="5"/>
          <p:cNvGrpSpPr/>
          <p:nvPr/>
        </p:nvGrpSpPr>
        <p:grpSpPr>
          <a:xfrm rot="0">
            <a:off x="8034820" y="1965960"/>
            <a:ext cx="10607040" cy="1737360"/>
            <a:chOff x="0" y="0"/>
            <a:chExt cx="14142720" cy="2316480"/>
          </a:xfrm>
        </p:grpSpPr>
        <p:sp>
          <p:nvSpPr>
            <p:cNvPr name="Freeform 6" id="6"/>
            <p:cNvSpPr/>
            <p:nvPr/>
          </p:nvSpPr>
          <p:spPr>
            <a:xfrm flipH="false" flipV="false" rot="0">
              <a:off x="0" y="0"/>
              <a:ext cx="14142720" cy="2316480"/>
            </a:xfrm>
            <a:custGeom>
              <a:avLst/>
              <a:gdLst/>
              <a:ahLst/>
              <a:cxnLst/>
              <a:rect r="r" b="b" t="t" l="l"/>
              <a:pathLst>
                <a:path h="2316480" w="14142720">
                  <a:moveTo>
                    <a:pt x="0" y="0"/>
                  </a:moveTo>
                  <a:lnTo>
                    <a:pt x="14142720" y="0"/>
                  </a:lnTo>
                  <a:lnTo>
                    <a:pt x="14142720" y="2316480"/>
                  </a:lnTo>
                  <a:lnTo>
                    <a:pt x="0" y="2316480"/>
                  </a:lnTo>
                  <a:close/>
                </a:path>
              </a:pathLst>
            </a:custGeom>
            <a:blipFill>
              <a:blip r:embed="rId3">
                <a:alphaModFix amt="0"/>
              </a:blip>
              <a:stretch>
                <a:fillRect l="0" t="-68961" r="0" b="-68961"/>
              </a:stretch>
            </a:blipFill>
          </p:spPr>
        </p:sp>
        <p:sp>
          <p:nvSpPr>
            <p:cNvPr name="TextBox 7" id="7"/>
            <p:cNvSpPr txBox="true"/>
            <p:nvPr/>
          </p:nvSpPr>
          <p:spPr>
            <a:xfrm>
              <a:off x="0" y="-47625"/>
              <a:ext cx="14142720" cy="2364105"/>
            </a:xfrm>
            <a:prstGeom prst="rect">
              <a:avLst/>
            </a:prstGeom>
          </p:spPr>
          <p:txBody>
            <a:bodyPr anchor="ctr" rtlCol="false" tIns="0" lIns="0" bIns="0" rIns="0"/>
            <a:lstStyle/>
            <a:p>
              <a:pPr algn="l">
                <a:lnSpc>
                  <a:spcPts val="12960"/>
                </a:lnSpc>
              </a:pPr>
              <a:r>
                <a:rPr lang="en-US" b="true" sz="10800">
                  <a:solidFill>
                    <a:srgbClr val="FFFFFF"/>
                  </a:solidFill>
                  <a:latin typeface="Arial Bold"/>
                  <a:ea typeface="Arial Bold"/>
                  <a:cs typeface="Arial Bold"/>
                  <a:sym typeface="Arial Bold"/>
                </a:rPr>
                <a:t>CyberAudit</a:t>
              </a:r>
            </a:p>
          </p:txBody>
        </p:sp>
      </p:grpSp>
      <p:grpSp>
        <p:nvGrpSpPr>
          <p:cNvPr name="Group 8" id="8"/>
          <p:cNvGrpSpPr/>
          <p:nvPr/>
        </p:nvGrpSpPr>
        <p:grpSpPr>
          <a:xfrm rot="0">
            <a:off x="9702348" y="3504251"/>
            <a:ext cx="10607040" cy="1280160"/>
            <a:chOff x="0" y="0"/>
            <a:chExt cx="14142720" cy="1706880"/>
          </a:xfrm>
        </p:grpSpPr>
        <p:sp>
          <p:nvSpPr>
            <p:cNvPr name="Freeform 9" id="9"/>
            <p:cNvSpPr/>
            <p:nvPr/>
          </p:nvSpPr>
          <p:spPr>
            <a:xfrm flipH="false" flipV="false" rot="0">
              <a:off x="0" y="0"/>
              <a:ext cx="14142720" cy="1706880"/>
            </a:xfrm>
            <a:custGeom>
              <a:avLst/>
              <a:gdLst/>
              <a:ahLst/>
              <a:cxnLst/>
              <a:rect r="r" b="b" t="t" l="l"/>
              <a:pathLst>
                <a:path h="1706880" w="14142720">
                  <a:moveTo>
                    <a:pt x="0" y="0"/>
                  </a:moveTo>
                  <a:lnTo>
                    <a:pt x="14142720" y="0"/>
                  </a:lnTo>
                  <a:lnTo>
                    <a:pt x="14142720" y="1706880"/>
                  </a:lnTo>
                  <a:lnTo>
                    <a:pt x="0" y="1706880"/>
                  </a:lnTo>
                  <a:close/>
                </a:path>
              </a:pathLst>
            </a:custGeom>
            <a:blipFill>
              <a:blip r:embed="rId3">
                <a:alphaModFix amt="0"/>
              </a:blip>
              <a:stretch>
                <a:fillRect l="0" t="-111447" r="0" b="-111447"/>
              </a:stretch>
            </a:blipFill>
          </p:spPr>
        </p:sp>
        <p:sp>
          <p:nvSpPr>
            <p:cNvPr name="TextBox 10" id="10"/>
            <p:cNvSpPr txBox="true"/>
            <p:nvPr/>
          </p:nvSpPr>
          <p:spPr>
            <a:xfrm>
              <a:off x="0" y="-28575"/>
              <a:ext cx="14142720" cy="1735455"/>
            </a:xfrm>
            <a:prstGeom prst="rect">
              <a:avLst/>
            </a:prstGeom>
          </p:spPr>
          <p:txBody>
            <a:bodyPr anchor="ctr" rtlCol="false" tIns="0" lIns="0" bIns="0" rIns="0"/>
            <a:lstStyle/>
            <a:p>
              <a:pPr algn="l">
                <a:lnSpc>
                  <a:spcPts val="7679"/>
                </a:lnSpc>
              </a:pPr>
              <a:r>
                <a:rPr lang="en-US" sz="6399" i="true">
                  <a:solidFill>
                    <a:srgbClr val="00C2D7"/>
                  </a:solidFill>
                  <a:latin typeface="Arial Italics"/>
                  <a:ea typeface="Arial Italics"/>
                  <a:cs typeface="Arial Italics"/>
                  <a:sym typeface="Arial Italics"/>
                </a:rPr>
                <a:t>&amp; Solutions</a:t>
              </a:r>
            </a:p>
          </p:txBody>
        </p:sp>
      </p:grpSp>
      <p:grpSp>
        <p:nvGrpSpPr>
          <p:cNvPr name="Group 11" id="11"/>
          <p:cNvGrpSpPr/>
          <p:nvPr/>
        </p:nvGrpSpPr>
        <p:grpSpPr>
          <a:xfrm rot="0">
            <a:off x="7255331" y="5044820"/>
            <a:ext cx="10607040" cy="1147167"/>
            <a:chOff x="0" y="0"/>
            <a:chExt cx="14142720" cy="1529556"/>
          </a:xfrm>
        </p:grpSpPr>
        <p:sp>
          <p:nvSpPr>
            <p:cNvPr name="Freeform 12" id="12"/>
            <p:cNvSpPr/>
            <p:nvPr/>
          </p:nvSpPr>
          <p:spPr>
            <a:xfrm flipH="false" flipV="false" rot="0">
              <a:off x="0" y="0"/>
              <a:ext cx="14142720" cy="1529556"/>
            </a:xfrm>
            <a:custGeom>
              <a:avLst/>
              <a:gdLst/>
              <a:ahLst/>
              <a:cxnLst/>
              <a:rect r="r" b="b" t="t" l="l"/>
              <a:pathLst>
                <a:path h="1529556" w="14142720">
                  <a:moveTo>
                    <a:pt x="0" y="0"/>
                  </a:moveTo>
                  <a:lnTo>
                    <a:pt x="14142720" y="0"/>
                  </a:lnTo>
                  <a:lnTo>
                    <a:pt x="14142720" y="1529556"/>
                  </a:lnTo>
                  <a:lnTo>
                    <a:pt x="0" y="1529556"/>
                  </a:lnTo>
                  <a:close/>
                </a:path>
              </a:pathLst>
            </a:custGeom>
            <a:blipFill>
              <a:blip r:embed="rId3">
                <a:alphaModFix amt="0"/>
              </a:blip>
              <a:stretch>
                <a:fillRect l="0" t="-148280" r="0" b="-112048"/>
              </a:stretch>
            </a:blipFill>
          </p:spPr>
        </p:sp>
        <p:sp>
          <p:nvSpPr>
            <p:cNvPr name="TextBox 13" id="13"/>
            <p:cNvSpPr txBox="true"/>
            <p:nvPr/>
          </p:nvSpPr>
          <p:spPr>
            <a:xfrm>
              <a:off x="0" y="-28575"/>
              <a:ext cx="14142720" cy="1558131"/>
            </a:xfrm>
            <a:prstGeom prst="rect">
              <a:avLst/>
            </a:prstGeom>
          </p:spPr>
          <p:txBody>
            <a:bodyPr anchor="ctr" rtlCol="false" tIns="0" lIns="0" bIns="0" rIns="0"/>
            <a:lstStyle/>
            <a:p>
              <a:pPr algn="l">
                <a:lnSpc>
                  <a:spcPts val="3840"/>
                </a:lnSpc>
              </a:pPr>
              <a:r>
                <a:rPr lang="en-US" sz="3200">
                  <a:solidFill>
                    <a:srgbClr val="E8EEFC"/>
                  </a:solidFill>
                  <a:latin typeface="Arial"/>
                  <a:ea typeface="Arial"/>
                  <a:cs typeface="Arial"/>
                  <a:sym typeface="Arial"/>
                </a:rPr>
                <a:t>Plat</a:t>
              </a:r>
              <a:r>
                <a:rPr lang="en-US" sz="3200">
                  <a:solidFill>
                    <a:srgbClr val="E8EEFC"/>
                  </a:solidFill>
                  <a:latin typeface="Arial"/>
                  <a:ea typeface="Arial"/>
                  <a:cs typeface="Arial"/>
                  <a:sym typeface="Arial"/>
                </a:rPr>
                <a:t>eforme de gestion d'audits de cybersécurité pour PME</a:t>
              </a:r>
            </a:p>
            <a:p>
              <a:pPr algn="l">
                <a:lnSpc>
                  <a:spcPts val="3840"/>
                </a:lnSpc>
              </a:pPr>
            </a:p>
          </p:txBody>
        </p:sp>
      </p:grpSp>
      <p:sp>
        <p:nvSpPr>
          <p:cNvPr name="AutoShape 14" id="14"/>
          <p:cNvSpPr/>
          <p:nvPr/>
        </p:nvSpPr>
        <p:spPr>
          <a:xfrm>
            <a:off x="7217232" y="5925506"/>
            <a:ext cx="10645139" cy="38088"/>
          </a:xfrm>
          <a:prstGeom prst="line">
            <a:avLst/>
          </a:prstGeom>
          <a:ln cap="rnd" w="19050">
            <a:solidFill>
              <a:srgbClr val="00C2D7"/>
            </a:solidFill>
            <a:prstDash val="solid"/>
            <a:headEnd type="none" len="sm" w="sm"/>
            <a:tailEnd type="none" len="sm" w="sm"/>
          </a:ln>
        </p:spPr>
      </p:sp>
      <p:sp>
        <p:nvSpPr>
          <p:cNvPr name="TextBox 15" id="15"/>
          <p:cNvSpPr txBox="true"/>
          <p:nvPr/>
        </p:nvSpPr>
        <p:spPr>
          <a:xfrm rot="0">
            <a:off x="7870416" y="6433346"/>
            <a:ext cx="10283657" cy="1346272"/>
          </a:xfrm>
          <a:prstGeom prst="rect">
            <a:avLst/>
          </a:prstGeom>
        </p:spPr>
        <p:txBody>
          <a:bodyPr anchor="t" rtlCol="false" tIns="0" lIns="0" bIns="0" rIns="0">
            <a:spAutoFit/>
          </a:bodyPr>
          <a:lstStyle/>
          <a:p>
            <a:pPr algn="l">
              <a:lnSpc>
                <a:spcPts val="3534"/>
              </a:lnSpc>
            </a:pPr>
            <a:r>
              <a:rPr lang="en-US" b="true" sz="2945">
                <a:solidFill>
                  <a:srgbClr val="E8EEFC"/>
                </a:solidFill>
                <a:latin typeface="Arial Bold"/>
                <a:ea typeface="Arial Bold"/>
                <a:cs typeface="Arial Bold"/>
                <a:sym typeface="Arial Bold"/>
              </a:rPr>
              <a:t>Holberton School Dijon </a:t>
            </a:r>
          </a:p>
          <a:p>
            <a:pPr algn="l">
              <a:lnSpc>
                <a:spcPts val="3534"/>
              </a:lnSpc>
            </a:pPr>
            <a:r>
              <a:rPr lang="en-US" b="true" sz="2945">
                <a:solidFill>
                  <a:srgbClr val="E8EEFC"/>
                </a:solidFill>
                <a:latin typeface="Arial Bold"/>
                <a:ea typeface="Arial Bold"/>
                <a:cs typeface="Arial Bold"/>
                <a:sym typeface="Arial Bold"/>
              </a:rPr>
              <a:t>Titre RCNP de niveau 5 Développeur web et web mobile</a:t>
            </a:r>
          </a:p>
          <a:p>
            <a:pPr algn="l">
              <a:lnSpc>
                <a:spcPts val="3534"/>
              </a:lnSpc>
            </a:pPr>
            <a:r>
              <a:rPr lang="en-US" b="true" sz="2945">
                <a:solidFill>
                  <a:srgbClr val="FFFFFF"/>
                </a:solidFill>
                <a:latin typeface="Arial Bold"/>
                <a:ea typeface="Arial Bold"/>
                <a:cs typeface="Arial Bold"/>
                <a:sym typeface="Arial Bold"/>
              </a:rPr>
              <a:t>Tommy JOUHANS  </a:t>
            </a:r>
          </a:p>
        </p:txBody>
      </p:sp>
      <p:grpSp>
        <p:nvGrpSpPr>
          <p:cNvPr name="Group 16" id="16"/>
          <p:cNvGrpSpPr/>
          <p:nvPr/>
        </p:nvGrpSpPr>
        <p:grpSpPr>
          <a:xfrm rot="0">
            <a:off x="7612959" y="8698276"/>
            <a:ext cx="9224707" cy="1031243"/>
            <a:chOff x="0" y="0"/>
            <a:chExt cx="12299610" cy="1374991"/>
          </a:xfrm>
        </p:grpSpPr>
        <p:sp>
          <p:nvSpPr>
            <p:cNvPr name="Freeform 17" id="17"/>
            <p:cNvSpPr/>
            <p:nvPr/>
          </p:nvSpPr>
          <p:spPr>
            <a:xfrm flipH="false" flipV="false" rot="0">
              <a:off x="0" y="0"/>
              <a:ext cx="12299648" cy="1375029"/>
            </a:xfrm>
            <a:custGeom>
              <a:avLst/>
              <a:gdLst/>
              <a:ahLst/>
              <a:cxnLst/>
              <a:rect r="r" b="b" t="t" l="l"/>
              <a:pathLst>
                <a:path h="1375029" w="12299648">
                  <a:moveTo>
                    <a:pt x="0" y="200025"/>
                  </a:moveTo>
                  <a:cubicBezTo>
                    <a:pt x="0" y="89535"/>
                    <a:pt x="81907" y="0"/>
                    <a:pt x="182984" y="0"/>
                  </a:cubicBezTo>
                  <a:lnTo>
                    <a:pt x="12116662" y="0"/>
                  </a:lnTo>
                  <a:cubicBezTo>
                    <a:pt x="12217738" y="0"/>
                    <a:pt x="12299648" y="89535"/>
                    <a:pt x="12299648" y="200025"/>
                  </a:cubicBezTo>
                  <a:lnTo>
                    <a:pt x="12299648" y="1175004"/>
                  </a:lnTo>
                  <a:cubicBezTo>
                    <a:pt x="12299648" y="1285494"/>
                    <a:pt x="12217738" y="1375029"/>
                    <a:pt x="12116662" y="1375029"/>
                  </a:cubicBezTo>
                  <a:lnTo>
                    <a:pt x="182984" y="1375029"/>
                  </a:lnTo>
                  <a:cubicBezTo>
                    <a:pt x="81907" y="1375029"/>
                    <a:pt x="0" y="1285494"/>
                    <a:pt x="0" y="1175004"/>
                  </a:cubicBezTo>
                  <a:close/>
                </a:path>
              </a:pathLst>
            </a:custGeom>
            <a:solidFill>
              <a:srgbClr val="00C2D7"/>
            </a:solidFill>
            <a:ln w="25400" cap="sq">
              <a:solidFill>
                <a:srgbClr val="00C2D7"/>
              </a:solidFill>
              <a:prstDash val="solid"/>
              <a:miter/>
            </a:ln>
          </p:spPr>
        </p:sp>
      </p:grpSp>
      <p:grpSp>
        <p:nvGrpSpPr>
          <p:cNvPr name="Group 18" id="18"/>
          <p:cNvGrpSpPr/>
          <p:nvPr/>
        </p:nvGrpSpPr>
        <p:grpSpPr>
          <a:xfrm rot="0">
            <a:off x="7063035" y="8778247"/>
            <a:ext cx="10058400" cy="1005840"/>
            <a:chOff x="0" y="0"/>
            <a:chExt cx="13411200" cy="1341120"/>
          </a:xfrm>
        </p:grpSpPr>
        <p:sp>
          <p:nvSpPr>
            <p:cNvPr name="Freeform 19" id="19"/>
            <p:cNvSpPr/>
            <p:nvPr/>
          </p:nvSpPr>
          <p:spPr>
            <a:xfrm flipH="false" flipV="false" rot="0">
              <a:off x="0" y="0"/>
              <a:ext cx="13411200" cy="1341120"/>
            </a:xfrm>
            <a:custGeom>
              <a:avLst/>
              <a:gdLst/>
              <a:ahLst/>
              <a:cxnLst/>
              <a:rect r="r" b="b" t="t" l="l"/>
              <a:pathLst>
                <a:path h="1341120" w="13411200">
                  <a:moveTo>
                    <a:pt x="0" y="0"/>
                  </a:moveTo>
                  <a:lnTo>
                    <a:pt x="13411200" y="0"/>
                  </a:lnTo>
                  <a:lnTo>
                    <a:pt x="13411200" y="1341120"/>
                  </a:lnTo>
                  <a:lnTo>
                    <a:pt x="0" y="1341120"/>
                  </a:lnTo>
                  <a:close/>
                </a:path>
              </a:pathLst>
            </a:custGeom>
            <a:blipFill>
              <a:blip r:embed="rId3">
                <a:alphaModFix amt="0"/>
              </a:blip>
              <a:stretch>
                <a:fillRect l="0" t="-144850" r="0" b="-144850"/>
              </a:stretch>
            </a:blipFill>
          </p:spPr>
        </p:sp>
        <p:sp>
          <p:nvSpPr>
            <p:cNvPr name="TextBox 20" id="20"/>
            <p:cNvSpPr txBox="true"/>
            <p:nvPr/>
          </p:nvSpPr>
          <p:spPr>
            <a:xfrm>
              <a:off x="0" y="-19050"/>
              <a:ext cx="13411200" cy="1360170"/>
            </a:xfrm>
            <a:prstGeom prst="rect">
              <a:avLst/>
            </a:prstGeom>
          </p:spPr>
          <p:txBody>
            <a:bodyPr anchor="ctr" rtlCol="false" tIns="0" lIns="0" bIns="0" rIns="0"/>
            <a:lstStyle/>
            <a:p>
              <a:pPr algn="ctr">
                <a:lnSpc>
                  <a:spcPts val="3359"/>
                </a:lnSpc>
              </a:pPr>
              <a:r>
                <a:rPr lang="en-US" b="true" sz="2799">
                  <a:solidFill>
                    <a:srgbClr val="1E2761"/>
                  </a:solidFill>
                  <a:latin typeface="Arial Bold"/>
                  <a:ea typeface="Arial Bold"/>
                  <a:cs typeface="Arial Bold"/>
                  <a:sym typeface="Arial Bold"/>
                </a:rPr>
                <a:t>🌐  Live demo: </a:t>
              </a:r>
              <a:r>
                <a:rPr lang="en-US" b="true" sz="2799" u="sng">
                  <a:solidFill>
                    <a:srgbClr val="1E2761"/>
                  </a:solidFill>
                  <a:latin typeface="Arial Bold"/>
                  <a:ea typeface="Arial Bold"/>
                  <a:cs typeface="Arial Bold"/>
                  <a:sym typeface="Arial Bold"/>
                  <a:hlinkClick r:id="rId4" tooltip="https://portfolio-kappa-dun-65.vercel.app"/>
                </a:rPr>
                <a:t>portfolio-kappa-dun-65.vercel.app</a:t>
              </a:r>
            </a:p>
          </p:txBody>
        </p:sp>
      </p:grpSp>
      <p:sp>
        <p:nvSpPr>
          <p:cNvPr name="Freeform 21" id="21"/>
          <p:cNvSpPr/>
          <p:nvPr/>
        </p:nvSpPr>
        <p:spPr>
          <a:xfrm flipH="false" flipV="false" rot="0">
            <a:off x="0" y="-19243"/>
            <a:ext cx="7063035" cy="6356960"/>
          </a:xfrm>
          <a:custGeom>
            <a:avLst/>
            <a:gdLst/>
            <a:ahLst/>
            <a:cxnLst/>
            <a:rect r="r" b="b" t="t" l="l"/>
            <a:pathLst>
              <a:path h="6356960" w="7063035">
                <a:moveTo>
                  <a:pt x="0" y="0"/>
                </a:moveTo>
                <a:lnTo>
                  <a:pt x="7063035" y="0"/>
                </a:lnTo>
                <a:lnTo>
                  <a:pt x="7063035" y="6356960"/>
                </a:lnTo>
                <a:lnTo>
                  <a:pt x="0" y="6356960"/>
                </a:lnTo>
                <a:lnTo>
                  <a:pt x="0" y="0"/>
                </a:lnTo>
                <a:close/>
              </a:path>
            </a:pathLst>
          </a:custGeom>
          <a:blipFill>
            <a:blip r:embed="rId5"/>
            <a:stretch>
              <a:fillRect l="-2166" t="0" r="-2166" b="0"/>
            </a:stretch>
          </a:blipFill>
        </p:spPr>
      </p:sp>
      <p:sp>
        <p:nvSpPr>
          <p:cNvPr name="Freeform 22" id="22"/>
          <p:cNvSpPr/>
          <p:nvPr/>
        </p:nvSpPr>
        <p:spPr>
          <a:xfrm flipH="false" flipV="false" rot="0">
            <a:off x="0" y="6337717"/>
            <a:ext cx="7063035" cy="1650687"/>
          </a:xfrm>
          <a:custGeom>
            <a:avLst/>
            <a:gdLst/>
            <a:ahLst/>
            <a:cxnLst/>
            <a:rect r="r" b="b" t="t" l="l"/>
            <a:pathLst>
              <a:path h="1650687" w="7063035">
                <a:moveTo>
                  <a:pt x="0" y="0"/>
                </a:moveTo>
                <a:lnTo>
                  <a:pt x="7063035" y="0"/>
                </a:lnTo>
                <a:lnTo>
                  <a:pt x="7063035" y="1650687"/>
                </a:lnTo>
                <a:lnTo>
                  <a:pt x="0" y="1650687"/>
                </a:lnTo>
                <a:lnTo>
                  <a:pt x="0" y="0"/>
                </a:lnTo>
                <a:close/>
              </a:path>
            </a:pathLst>
          </a:custGeom>
          <a:blipFill>
            <a:blip r:embed="rId6"/>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8EE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79883"/>
            <a:chOff x="0" y="0"/>
            <a:chExt cx="24417871" cy="2106511"/>
          </a:xfrm>
        </p:grpSpPr>
        <p:sp>
          <p:nvSpPr>
            <p:cNvPr name="Freeform 3" id="3"/>
            <p:cNvSpPr/>
            <p:nvPr/>
          </p:nvSpPr>
          <p:spPr>
            <a:xfrm flipH="false" flipV="false" rot="0">
              <a:off x="0" y="0"/>
              <a:ext cx="24417910" cy="2106549"/>
            </a:xfrm>
            <a:custGeom>
              <a:avLst/>
              <a:gdLst/>
              <a:ahLst/>
              <a:cxnLst/>
              <a:rect r="r" b="b" t="t" l="l"/>
              <a:pathLst>
                <a:path h="2106549" w="24417910">
                  <a:moveTo>
                    <a:pt x="0" y="0"/>
                  </a:moveTo>
                  <a:lnTo>
                    <a:pt x="24417910" y="0"/>
                  </a:lnTo>
                  <a:lnTo>
                    <a:pt x="24417910" y="2106549"/>
                  </a:lnTo>
                  <a:lnTo>
                    <a:pt x="0" y="2106549"/>
                  </a:lnTo>
                  <a:close/>
                </a:path>
              </a:pathLst>
            </a:custGeom>
            <a:solidFill>
              <a:srgbClr val="1E2761"/>
            </a:solidFill>
            <a:ln w="25400" cap="sq">
              <a:solidFill>
                <a:srgbClr val="1E2761"/>
              </a:solidFill>
              <a:prstDash val="solid"/>
              <a:miter/>
            </a:ln>
          </p:spPr>
        </p:sp>
      </p:grpSp>
      <p:grpSp>
        <p:nvGrpSpPr>
          <p:cNvPr name="Group 4" id="4"/>
          <p:cNvGrpSpPr/>
          <p:nvPr/>
        </p:nvGrpSpPr>
        <p:grpSpPr>
          <a:xfrm rot="0">
            <a:off x="0" y="0"/>
            <a:ext cx="18288000" cy="1554480"/>
            <a:chOff x="0" y="0"/>
            <a:chExt cx="24384000" cy="2072640"/>
          </a:xfrm>
        </p:grpSpPr>
        <p:sp>
          <p:nvSpPr>
            <p:cNvPr name="Freeform 5" id="5"/>
            <p:cNvSpPr/>
            <p:nvPr/>
          </p:nvSpPr>
          <p:spPr>
            <a:xfrm flipH="false" flipV="false" rot="0">
              <a:off x="0" y="0"/>
              <a:ext cx="24384000" cy="2072640"/>
            </a:xfrm>
            <a:custGeom>
              <a:avLst/>
              <a:gdLst/>
              <a:ahLst/>
              <a:cxnLst/>
              <a:rect r="r" b="b" t="t" l="l"/>
              <a:pathLst>
                <a:path h="2072640" w="24384000">
                  <a:moveTo>
                    <a:pt x="0" y="0"/>
                  </a:moveTo>
                  <a:lnTo>
                    <a:pt x="24384000" y="0"/>
                  </a:lnTo>
                  <a:lnTo>
                    <a:pt x="24384000" y="2072640"/>
                  </a:lnTo>
                  <a:lnTo>
                    <a:pt x="0" y="2072640"/>
                  </a:lnTo>
                  <a:close/>
                </a:path>
              </a:pathLst>
            </a:custGeom>
            <a:blipFill>
              <a:blip r:embed="rId3">
                <a:alphaModFix amt="0"/>
              </a:blip>
              <a:stretch>
                <a:fillRect l="0" t="-179235" r="0" b="-179235"/>
              </a:stretch>
            </a:blipFill>
          </p:spPr>
        </p:sp>
        <p:sp>
          <p:nvSpPr>
            <p:cNvPr name="TextBox 6" id="6"/>
            <p:cNvSpPr txBox="true"/>
            <p:nvPr/>
          </p:nvSpPr>
          <p:spPr>
            <a:xfrm>
              <a:off x="0" y="-19050"/>
              <a:ext cx="24384000" cy="2091690"/>
            </a:xfrm>
            <a:prstGeom prst="rect">
              <a:avLst/>
            </a:prstGeom>
          </p:spPr>
          <p:txBody>
            <a:bodyPr anchor="ctr" rtlCol="false" tIns="0" lIns="0" bIns="0" rIns="0"/>
            <a:lstStyle/>
            <a:p>
              <a:pPr algn="ctr">
                <a:lnSpc>
                  <a:spcPts val="6239"/>
                </a:lnSpc>
              </a:pPr>
              <a:r>
                <a:rPr lang="en-US" b="true" sz="5199">
                  <a:solidFill>
                    <a:srgbClr val="FFFFFF"/>
                  </a:solidFill>
                  <a:latin typeface="Arial Bold"/>
                  <a:ea typeface="Arial Bold"/>
                  <a:cs typeface="Arial Bold"/>
                  <a:sym typeface="Arial Bold"/>
                </a:rPr>
                <a:t>L</a:t>
              </a:r>
              <a:r>
                <a:rPr lang="en-US" b="true" sz="5199">
                  <a:solidFill>
                    <a:srgbClr val="FFFFFF"/>
                  </a:solidFill>
                  <a:latin typeface="Arial Bold"/>
                  <a:ea typeface="Arial Bold"/>
                  <a:cs typeface="Arial Bold"/>
                  <a:sym typeface="Arial Bold"/>
                </a:rPr>
                <a:t>e Problème</a:t>
              </a:r>
            </a:p>
          </p:txBody>
        </p:sp>
      </p:grpSp>
      <p:grpSp>
        <p:nvGrpSpPr>
          <p:cNvPr name="Group 7" id="7"/>
          <p:cNvGrpSpPr/>
          <p:nvPr/>
        </p:nvGrpSpPr>
        <p:grpSpPr>
          <a:xfrm rot="0">
            <a:off x="914400" y="1920240"/>
            <a:ext cx="16459200" cy="914400"/>
            <a:chOff x="0" y="0"/>
            <a:chExt cx="21945600" cy="1219200"/>
          </a:xfrm>
        </p:grpSpPr>
        <p:sp>
          <p:nvSpPr>
            <p:cNvPr name="Freeform 8" id="8"/>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730" r="0" b="-300730"/>
              </a:stretch>
            </a:blipFill>
          </p:spPr>
        </p:sp>
        <p:sp>
          <p:nvSpPr>
            <p:cNvPr name="TextBox 9" id="9"/>
            <p:cNvSpPr txBox="true"/>
            <p:nvPr/>
          </p:nvSpPr>
          <p:spPr>
            <a:xfrm>
              <a:off x="0" y="-28575"/>
              <a:ext cx="21945600" cy="1247775"/>
            </a:xfrm>
            <a:prstGeom prst="rect">
              <a:avLst/>
            </a:prstGeom>
          </p:spPr>
          <p:txBody>
            <a:bodyPr anchor="ctr" rtlCol="false" tIns="0" lIns="0" bIns="0" rIns="0"/>
            <a:lstStyle/>
            <a:p>
              <a:pPr algn="ctr">
                <a:lnSpc>
                  <a:spcPts val="4320"/>
                </a:lnSpc>
              </a:pPr>
              <a:r>
                <a:rPr lang="en-US" b="true" sz="3600" i="true">
                  <a:solidFill>
                    <a:srgbClr val="1E2761"/>
                  </a:solidFill>
                  <a:latin typeface="Arial Bold Italics"/>
                  <a:ea typeface="Arial Bold Italics"/>
                  <a:cs typeface="Arial Bold Italics"/>
                  <a:sym typeface="Arial Bold Italics"/>
                </a:rPr>
                <a:t>60 % des PME touchées par des cyberattaques en 2024</a:t>
              </a:r>
            </a:p>
          </p:txBody>
        </p:sp>
      </p:grpSp>
      <p:grpSp>
        <p:nvGrpSpPr>
          <p:cNvPr name="Group 10" id="10"/>
          <p:cNvGrpSpPr/>
          <p:nvPr/>
        </p:nvGrpSpPr>
        <p:grpSpPr>
          <a:xfrm rot="0">
            <a:off x="914400" y="2743200"/>
            <a:ext cx="16459200" cy="548640"/>
            <a:chOff x="0" y="0"/>
            <a:chExt cx="21945600" cy="731520"/>
          </a:xfrm>
        </p:grpSpPr>
        <p:sp>
          <p:nvSpPr>
            <p:cNvPr name="Freeform 11" id="11"/>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12" id="12"/>
            <p:cNvSpPr txBox="true"/>
            <p:nvPr/>
          </p:nvSpPr>
          <p:spPr>
            <a:xfrm>
              <a:off x="0" y="-9525"/>
              <a:ext cx="21945600" cy="741045"/>
            </a:xfrm>
            <a:prstGeom prst="rect">
              <a:avLst/>
            </a:prstGeom>
          </p:spPr>
          <p:txBody>
            <a:bodyPr anchor="ctr" rtlCol="false" tIns="0" lIns="0" bIns="0" rIns="0"/>
            <a:lstStyle/>
            <a:p>
              <a:pPr algn="ctr">
                <a:lnSpc>
                  <a:spcPts val="2400"/>
                </a:lnSpc>
              </a:pPr>
              <a:r>
                <a:rPr lang="en-US" sz="2000" i="true">
                  <a:solidFill>
                    <a:srgbClr val="64748B"/>
                  </a:solidFill>
                  <a:latin typeface="Arial Italics"/>
                  <a:ea typeface="Arial Italics"/>
                  <a:cs typeface="Arial Italics"/>
                  <a:sym typeface="Arial Italics"/>
                </a:rPr>
                <a:t>Source : Baromètre de la cybersécurité CESIN 2024</a:t>
              </a:r>
            </a:p>
          </p:txBody>
        </p:sp>
      </p:grpSp>
      <p:grpSp>
        <p:nvGrpSpPr>
          <p:cNvPr name="Group 13" id="13"/>
          <p:cNvGrpSpPr/>
          <p:nvPr/>
        </p:nvGrpSpPr>
        <p:grpSpPr>
          <a:xfrm rot="0">
            <a:off x="904875" y="3648075"/>
            <a:ext cx="7882890" cy="2762250"/>
            <a:chOff x="0" y="0"/>
            <a:chExt cx="10510520" cy="3683000"/>
          </a:xfrm>
        </p:grpSpPr>
        <p:sp>
          <p:nvSpPr>
            <p:cNvPr name="Freeform 14" id="14"/>
            <p:cNvSpPr/>
            <p:nvPr/>
          </p:nvSpPr>
          <p:spPr>
            <a:xfrm flipH="false" flipV="false" rot="0">
              <a:off x="0" y="0"/>
              <a:ext cx="10510520" cy="3683000"/>
            </a:xfrm>
            <a:custGeom>
              <a:avLst/>
              <a:gdLst/>
              <a:ahLst/>
              <a:cxnLst/>
              <a:rect r="r" b="b" t="t" l="l"/>
              <a:pathLst>
                <a:path h="3683000" w="10510520">
                  <a:moveTo>
                    <a:pt x="0" y="196469"/>
                  </a:moveTo>
                  <a:cubicBezTo>
                    <a:pt x="0" y="87884"/>
                    <a:pt x="87884" y="0"/>
                    <a:pt x="196469" y="0"/>
                  </a:cubicBezTo>
                  <a:lnTo>
                    <a:pt x="10314051" y="0"/>
                  </a:lnTo>
                  <a:cubicBezTo>
                    <a:pt x="10422509" y="0"/>
                    <a:pt x="10510520" y="87884"/>
                    <a:pt x="10510520" y="196469"/>
                  </a:cubicBezTo>
                  <a:lnTo>
                    <a:pt x="10510520" y="3486531"/>
                  </a:lnTo>
                  <a:cubicBezTo>
                    <a:pt x="10510520" y="3594989"/>
                    <a:pt x="10422636" y="3683000"/>
                    <a:pt x="10314051" y="3683000"/>
                  </a:cubicBezTo>
                  <a:lnTo>
                    <a:pt x="196469" y="3683000"/>
                  </a:lnTo>
                  <a:cubicBezTo>
                    <a:pt x="87884" y="3683000"/>
                    <a:pt x="0" y="3595116"/>
                    <a:pt x="0" y="3486531"/>
                  </a:cubicBezTo>
                  <a:close/>
                </a:path>
              </a:pathLst>
            </a:custGeom>
            <a:solidFill>
              <a:srgbClr val="FFFFFF"/>
            </a:solidFill>
            <a:ln w="19050" cap="sq">
              <a:solidFill>
                <a:srgbClr val="94A3B8"/>
              </a:solidFill>
              <a:prstDash val="solid"/>
              <a:miter/>
            </a:ln>
          </p:spPr>
        </p:sp>
      </p:grpSp>
      <p:grpSp>
        <p:nvGrpSpPr>
          <p:cNvPr name="Group 15" id="15"/>
          <p:cNvGrpSpPr/>
          <p:nvPr/>
        </p:nvGrpSpPr>
        <p:grpSpPr>
          <a:xfrm rot="0">
            <a:off x="901703" y="3644903"/>
            <a:ext cx="171707" cy="2768603"/>
            <a:chOff x="0" y="0"/>
            <a:chExt cx="228943" cy="3691471"/>
          </a:xfrm>
        </p:grpSpPr>
        <p:sp>
          <p:nvSpPr>
            <p:cNvPr name="Freeform 16" id="16"/>
            <p:cNvSpPr/>
            <p:nvPr/>
          </p:nvSpPr>
          <p:spPr>
            <a:xfrm flipH="false" flipV="false" rot="0">
              <a:off x="0" y="0"/>
              <a:ext cx="228981" cy="3691509"/>
            </a:xfrm>
            <a:custGeom>
              <a:avLst/>
              <a:gdLst/>
              <a:ahLst/>
              <a:cxnLst/>
              <a:rect r="r" b="b" t="t" l="l"/>
              <a:pathLst>
                <a:path h="3691509" w="228981">
                  <a:moveTo>
                    <a:pt x="0" y="0"/>
                  </a:moveTo>
                  <a:lnTo>
                    <a:pt x="228981" y="0"/>
                  </a:lnTo>
                  <a:lnTo>
                    <a:pt x="228981" y="3691509"/>
                  </a:lnTo>
                  <a:lnTo>
                    <a:pt x="0" y="3691509"/>
                  </a:lnTo>
                  <a:close/>
                </a:path>
              </a:pathLst>
            </a:custGeom>
            <a:solidFill>
              <a:srgbClr val="DC2626"/>
            </a:solidFill>
            <a:ln w="25400" cap="sq">
              <a:solidFill>
                <a:srgbClr val="DC2626"/>
              </a:solidFill>
              <a:prstDash val="solid"/>
              <a:miter/>
            </a:ln>
          </p:spPr>
        </p:sp>
      </p:grpSp>
      <p:grpSp>
        <p:nvGrpSpPr>
          <p:cNvPr name="Group 17" id="17"/>
          <p:cNvGrpSpPr/>
          <p:nvPr/>
        </p:nvGrpSpPr>
        <p:grpSpPr>
          <a:xfrm rot="0">
            <a:off x="2286000" y="3840480"/>
            <a:ext cx="6309360" cy="822960"/>
            <a:chOff x="0" y="0"/>
            <a:chExt cx="8412480" cy="1097280"/>
          </a:xfrm>
        </p:grpSpPr>
        <p:sp>
          <p:nvSpPr>
            <p:cNvPr name="Freeform 18" id="18"/>
            <p:cNvSpPr/>
            <p:nvPr/>
          </p:nvSpPr>
          <p:spPr>
            <a:xfrm flipH="false" flipV="false" rot="0">
              <a:off x="0" y="0"/>
              <a:ext cx="8412480" cy="1097280"/>
            </a:xfrm>
            <a:custGeom>
              <a:avLst/>
              <a:gdLst/>
              <a:ahLst/>
              <a:cxnLst/>
              <a:rect r="r" b="b" t="t" l="l"/>
              <a:pathLst>
                <a:path h="1097280" w="8412480">
                  <a:moveTo>
                    <a:pt x="0" y="0"/>
                  </a:moveTo>
                  <a:lnTo>
                    <a:pt x="8412480" y="0"/>
                  </a:lnTo>
                  <a:lnTo>
                    <a:pt x="8412480" y="1097280"/>
                  </a:lnTo>
                  <a:lnTo>
                    <a:pt x="0" y="1097280"/>
                  </a:lnTo>
                  <a:close/>
                </a:path>
              </a:pathLst>
            </a:custGeom>
            <a:blipFill>
              <a:blip r:embed="rId4">
                <a:alphaModFix amt="0"/>
              </a:blip>
              <a:stretch>
                <a:fillRect l="0" t="-319883" r="0" b="-319883"/>
              </a:stretch>
            </a:blipFill>
          </p:spPr>
        </p:sp>
        <p:sp>
          <p:nvSpPr>
            <p:cNvPr name="TextBox 19" id="19"/>
            <p:cNvSpPr txBox="true"/>
            <p:nvPr/>
          </p:nvSpPr>
          <p:spPr>
            <a:xfrm>
              <a:off x="0" y="-28575"/>
              <a:ext cx="8412480" cy="1125855"/>
            </a:xfrm>
            <a:prstGeom prst="rect">
              <a:avLst/>
            </a:prstGeom>
          </p:spPr>
          <p:txBody>
            <a:bodyPr anchor="ctr" rtlCol="false" tIns="0" lIns="0" bIns="0" rIns="0"/>
            <a:lstStyle/>
            <a:p>
              <a:pPr algn="l">
                <a:lnSpc>
                  <a:spcPts val="3840"/>
                </a:lnSpc>
              </a:pPr>
              <a:r>
                <a:rPr lang="en-US" b="true" sz="3200">
                  <a:solidFill>
                    <a:srgbClr val="1E2761"/>
                  </a:solidFill>
                  <a:latin typeface="Arial Bold"/>
                  <a:ea typeface="Arial Bold"/>
                  <a:cs typeface="Arial Bold"/>
                  <a:sym typeface="Arial Bold"/>
                </a:rPr>
                <a:t>Pas</a:t>
              </a:r>
              <a:r>
                <a:rPr lang="en-US" b="true" sz="3200">
                  <a:solidFill>
                    <a:srgbClr val="1E2761"/>
                  </a:solidFill>
                  <a:latin typeface="Arial Bold"/>
                  <a:ea typeface="Arial Bold"/>
                  <a:cs typeface="Arial Bold"/>
                  <a:sym typeface="Arial Bold"/>
                </a:rPr>
                <a:t> de sécurité informatique</a:t>
              </a:r>
            </a:p>
          </p:txBody>
        </p:sp>
      </p:grpSp>
      <p:grpSp>
        <p:nvGrpSpPr>
          <p:cNvPr name="Group 20" id="20"/>
          <p:cNvGrpSpPr/>
          <p:nvPr/>
        </p:nvGrpSpPr>
        <p:grpSpPr>
          <a:xfrm rot="0">
            <a:off x="9500235" y="3648075"/>
            <a:ext cx="7882890" cy="2762250"/>
            <a:chOff x="0" y="0"/>
            <a:chExt cx="10510520" cy="3683000"/>
          </a:xfrm>
        </p:grpSpPr>
        <p:sp>
          <p:nvSpPr>
            <p:cNvPr name="Freeform 21" id="21"/>
            <p:cNvSpPr/>
            <p:nvPr/>
          </p:nvSpPr>
          <p:spPr>
            <a:xfrm flipH="false" flipV="false" rot="0">
              <a:off x="0" y="0"/>
              <a:ext cx="10510520" cy="3683000"/>
            </a:xfrm>
            <a:custGeom>
              <a:avLst/>
              <a:gdLst/>
              <a:ahLst/>
              <a:cxnLst/>
              <a:rect r="r" b="b" t="t" l="l"/>
              <a:pathLst>
                <a:path h="3683000" w="10510520">
                  <a:moveTo>
                    <a:pt x="0" y="196469"/>
                  </a:moveTo>
                  <a:cubicBezTo>
                    <a:pt x="0" y="87884"/>
                    <a:pt x="87884" y="0"/>
                    <a:pt x="196469" y="0"/>
                  </a:cubicBezTo>
                  <a:lnTo>
                    <a:pt x="10314051" y="0"/>
                  </a:lnTo>
                  <a:cubicBezTo>
                    <a:pt x="10422509" y="0"/>
                    <a:pt x="10510520" y="87884"/>
                    <a:pt x="10510520" y="196469"/>
                  </a:cubicBezTo>
                  <a:lnTo>
                    <a:pt x="10510520" y="3486531"/>
                  </a:lnTo>
                  <a:cubicBezTo>
                    <a:pt x="10510520" y="3594989"/>
                    <a:pt x="10422636" y="3683000"/>
                    <a:pt x="10314051" y="3683000"/>
                  </a:cubicBezTo>
                  <a:lnTo>
                    <a:pt x="196469" y="3683000"/>
                  </a:lnTo>
                  <a:cubicBezTo>
                    <a:pt x="87884" y="3683000"/>
                    <a:pt x="0" y="3595116"/>
                    <a:pt x="0" y="3486531"/>
                  </a:cubicBezTo>
                  <a:close/>
                </a:path>
              </a:pathLst>
            </a:custGeom>
            <a:solidFill>
              <a:srgbClr val="FFFFFF"/>
            </a:solidFill>
            <a:ln w="19050" cap="sq">
              <a:solidFill>
                <a:srgbClr val="94A3B8"/>
              </a:solidFill>
              <a:prstDash val="solid"/>
              <a:miter/>
            </a:ln>
          </p:spPr>
        </p:sp>
      </p:grpSp>
      <p:grpSp>
        <p:nvGrpSpPr>
          <p:cNvPr name="Group 22" id="22"/>
          <p:cNvGrpSpPr/>
          <p:nvPr/>
        </p:nvGrpSpPr>
        <p:grpSpPr>
          <a:xfrm rot="0">
            <a:off x="9497063" y="3644903"/>
            <a:ext cx="171707" cy="2768603"/>
            <a:chOff x="0" y="0"/>
            <a:chExt cx="228943" cy="3691471"/>
          </a:xfrm>
        </p:grpSpPr>
        <p:sp>
          <p:nvSpPr>
            <p:cNvPr name="Freeform 23" id="23"/>
            <p:cNvSpPr/>
            <p:nvPr/>
          </p:nvSpPr>
          <p:spPr>
            <a:xfrm flipH="false" flipV="false" rot="0">
              <a:off x="0" y="0"/>
              <a:ext cx="228981" cy="3691509"/>
            </a:xfrm>
            <a:custGeom>
              <a:avLst/>
              <a:gdLst/>
              <a:ahLst/>
              <a:cxnLst/>
              <a:rect r="r" b="b" t="t" l="l"/>
              <a:pathLst>
                <a:path h="3691509" w="228981">
                  <a:moveTo>
                    <a:pt x="0" y="0"/>
                  </a:moveTo>
                  <a:lnTo>
                    <a:pt x="228981" y="0"/>
                  </a:lnTo>
                  <a:lnTo>
                    <a:pt x="228981" y="3691509"/>
                  </a:lnTo>
                  <a:lnTo>
                    <a:pt x="0" y="3691509"/>
                  </a:lnTo>
                  <a:close/>
                </a:path>
              </a:pathLst>
            </a:custGeom>
            <a:solidFill>
              <a:srgbClr val="F59E0B"/>
            </a:solidFill>
            <a:ln w="25400" cap="sq">
              <a:solidFill>
                <a:srgbClr val="F59E0B"/>
              </a:solidFill>
              <a:prstDash val="solid"/>
              <a:miter/>
            </a:ln>
          </p:spPr>
        </p:sp>
      </p:grpSp>
      <p:grpSp>
        <p:nvGrpSpPr>
          <p:cNvPr name="Group 24" id="24"/>
          <p:cNvGrpSpPr/>
          <p:nvPr/>
        </p:nvGrpSpPr>
        <p:grpSpPr>
          <a:xfrm rot="0">
            <a:off x="10881360" y="3840480"/>
            <a:ext cx="6309360" cy="822960"/>
            <a:chOff x="0" y="0"/>
            <a:chExt cx="8412480" cy="1097280"/>
          </a:xfrm>
        </p:grpSpPr>
        <p:sp>
          <p:nvSpPr>
            <p:cNvPr name="Freeform 25" id="25"/>
            <p:cNvSpPr/>
            <p:nvPr/>
          </p:nvSpPr>
          <p:spPr>
            <a:xfrm flipH="false" flipV="false" rot="0">
              <a:off x="0" y="0"/>
              <a:ext cx="8412480" cy="1097280"/>
            </a:xfrm>
            <a:custGeom>
              <a:avLst/>
              <a:gdLst/>
              <a:ahLst/>
              <a:cxnLst/>
              <a:rect r="r" b="b" t="t" l="l"/>
              <a:pathLst>
                <a:path h="1097280" w="8412480">
                  <a:moveTo>
                    <a:pt x="0" y="0"/>
                  </a:moveTo>
                  <a:lnTo>
                    <a:pt x="8412480" y="0"/>
                  </a:lnTo>
                  <a:lnTo>
                    <a:pt x="8412480" y="1097280"/>
                  </a:lnTo>
                  <a:lnTo>
                    <a:pt x="0" y="1097280"/>
                  </a:lnTo>
                  <a:close/>
                </a:path>
              </a:pathLst>
            </a:custGeom>
            <a:blipFill>
              <a:blip r:embed="rId3">
                <a:alphaModFix amt="0"/>
              </a:blip>
              <a:stretch>
                <a:fillRect l="0" t="-99385" r="0" b="-99385"/>
              </a:stretch>
            </a:blipFill>
          </p:spPr>
        </p:sp>
        <p:sp>
          <p:nvSpPr>
            <p:cNvPr name="TextBox 26" id="26"/>
            <p:cNvSpPr txBox="true"/>
            <p:nvPr/>
          </p:nvSpPr>
          <p:spPr>
            <a:xfrm>
              <a:off x="0" y="-28575"/>
              <a:ext cx="8412480" cy="1125855"/>
            </a:xfrm>
            <a:prstGeom prst="rect">
              <a:avLst/>
            </a:prstGeom>
          </p:spPr>
          <p:txBody>
            <a:bodyPr anchor="ctr" rtlCol="false" tIns="0" lIns="0" bIns="0" rIns="0"/>
            <a:lstStyle/>
            <a:p>
              <a:pPr algn="l">
                <a:lnSpc>
                  <a:spcPts val="3840"/>
                </a:lnSpc>
              </a:pPr>
              <a:r>
                <a:rPr lang="en-US" b="true" sz="3200">
                  <a:solidFill>
                    <a:srgbClr val="1E2761"/>
                  </a:solidFill>
                  <a:latin typeface="Arial Bold"/>
                  <a:ea typeface="Arial Bold"/>
                  <a:cs typeface="Arial Bold"/>
                  <a:sym typeface="Arial Bold"/>
                </a:rPr>
                <a:t>P</a:t>
              </a:r>
              <a:r>
                <a:rPr lang="en-US" b="true" sz="3200">
                  <a:solidFill>
                    <a:srgbClr val="1E2761"/>
                  </a:solidFill>
                  <a:latin typeface="Arial Bold"/>
                  <a:ea typeface="Arial Bold"/>
                  <a:cs typeface="Arial Bold"/>
                  <a:sym typeface="Arial Bold"/>
                </a:rPr>
                <a:t>rocessus manuels</a:t>
              </a:r>
            </a:p>
          </p:txBody>
        </p:sp>
      </p:grpSp>
      <p:grpSp>
        <p:nvGrpSpPr>
          <p:cNvPr name="Group 27" id="27"/>
          <p:cNvGrpSpPr/>
          <p:nvPr/>
        </p:nvGrpSpPr>
        <p:grpSpPr>
          <a:xfrm rot="0">
            <a:off x="904875" y="6665595"/>
            <a:ext cx="7882890" cy="2762250"/>
            <a:chOff x="0" y="0"/>
            <a:chExt cx="10510520" cy="3683000"/>
          </a:xfrm>
        </p:grpSpPr>
        <p:sp>
          <p:nvSpPr>
            <p:cNvPr name="Freeform 28" id="28"/>
            <p:cNvSpPr/>
            <p:nvPr/>
          </p:nvSpPr>
          <p:spPr>
            <a:xfrm flipH="false" flipV="false" rot="0">
              <a:off x="0" y="0"/>
              <a:ext cx="10510520" cy="3683000"/>
            </a:xfrm>
            <a:custGeom>
              <a:avLst/>
              <a:gdLst/>
              <a:ahLst/>
              <a:cxnLst/>
              <a:rect r="r" b="b" t="t" l="l"/>
              <a:pathLst>
                <a:path h="3683000" w="10510520">
                  <a:moveTo>
                    <a:pt x="0" y="196469"/>
                  </a:moveTo>
                  <a:cubicBezTo>
                    <a:pt x="0" y="87884"/>
                    <a:pt x="87884" y="0"/>
                    <a:pt x="196469" y="0"/>
                  </a:cubicBezTo>
                  <a:lnTo>
                    <a:pt x="10314051" y="0"/>
                  </a:lnTo>
                  <a:cubicBezTo>
                    <a:pt x="10422509" y="0"/>
                    <a:pt x="10510520" y="87884"/>
                    <a:pt x="10510520" y="196469"/>
                  </a:cubicBezTo>
                  <a:lnTo>
                    <a:pt x="10510520" y="3486531"/>
                  </a:lnTo>
                  <a:cubicBezTo>
                    <a:pt x="10510520" y="3594989"/>
                    <a:pt x="10422636" y="3683000"/>
                    <a:pt x="10314051" y="3683000"/>
                  </a:cubicBezTo>
                  <a:lnTo>
                    <a:pt x="196469" y="3683000"/>
                  </a:lnTo>
                  <a:cubicBezTo>
                    <a:pt x="87884" y="3683000"/>
                    <a:pt x="0" y="3595116"/>
                    <a:pt x="0" y="3486531"/>
                  </a:cubicBezTo>
                  <a:close/>
                </a:path>
              </a:pathLst>
            </a:custGeom>
            <a:solidFill>
              <a:srgbClr val="FFFFFF"/>
            </a:solidFill>
            <a:ln w="19050" cap="sq">
              <a:solidFill>
                <a:srgbClr val="94A3B8"/>
              </a:solidFill>
              <a:prstDash val="solid"/>
              <a:miter/>
            </a:ln>
          </p:spPr>
        </p:sp>
      </p:grpSp>
      <p:grpSp>
        <p:nvGrpSpPr>
          <p:cNvPr name="Group 29" id="29"/>
          <p:cNvGrpSpPr/>
          <p:nvPr/>
        </p:nvGrpSpPr>
        <p:grpSpPr>
          <a:xfrm rot="0">
            <a:off x="901703" y="6662423"/>
            <a:ext cx="171707" cy="2768603"/>
            <a:chOff x="0" y="0"/>
            <a:chExt cx="228943" cy="3691471"/>
          </a:xfrm>
        </p:grpSpPr>
        <p:sp>
          <p:nvSpPr>
            <p:cNvPr name="Freeform 30" id="30"/>
            <p:cNvSpPr/>
            <p:nvPr/>
          </p:nvSpPr>
          <p:spPr>
            <a:xfrm flipH="false" flipV="false" rot="0">
              <a:off x="0" y="0"/>
              <a:ext cx="228981" cy="3691509"/>
            </a:xfrm>
            <a:custGeom>
              <a:avLst/>
              <a:gdLst/>
              <a:ahLst/>
              <a:cxnLst/>
              <a:rect r="r" b="b" t="t" l="l"/>
              <a:pathLst>
                <a:path h="3691509" w="228981">
                  <a:moveTo>
                    <a:pt x="0" y="0"/>
                  </a:moveTo>
                  <a:lnTo>
                    <a:pt x="228981" y="0"/>
                  </a:lnTo>
                  <a:lnTo>
                    <a:pt x="228981" y="3691509"/>
                  </a:lnTo>
                  <a:lnTo>
                    <a:pt x="0" y="3691509"/>
                  </a:lnTo>
                  <a:close/>
                </a:path>
              </a:pathLst>
            </a:custGeom>
            <a:solidFill>
              <a:srgbClr val="8B5CF6"/>
            </a:solidFill>
            <a:ln w="25400" cap="sq">
              <a:solidFill>
                <a:srgbClr val="8B5CF6"/>
              </a:solidFill>
              <a:prstDash val="solid"/>
              <a:miter/>
            </a:ln>
          </p:spPr>
        </p:sp>
      </p:grpSp>
      <p:grpSp>
        <p:nvGrpSpPr>
          <p:cNvPr name="Group 31" id="31"/>
          <p:cNvGrpSpPr/>
          <p:nvPr/>
        </p:nvGrpSpPr>
        <p:grpSpPr>
          <a:xfrm rot="0">
            <a:off x="2286000" y="6858000"/>
            <a:ext cx="6309360" cy="822960"/>
            <a:chOff x="0" y="0"/>
            <a:chExt cx="8412480" cy="1097280"/>
          </a:xfrm>
        </p:grpSpPr>
        <p:sp>
          <p:nvSpPr>
            <p:cNvPr name="Freeform 32" id="32"/>
            <p:cNvSpPr/>
            <p:nvPr/>
          </p:nvSpPr>
          <p:spPr>
            <a:xfrm flipH="false" flipV="false" rot="0">
              <a:off x="0" y="0"/>
              <a:ext cx="8412480" cy="1097280"/>
            </a:xfrm>
            <a:custGeom>
              <a:avLst/>
              <a:gdLst/>
              <a:ahLst/>
              <a:cxnLst/>
              <a:rect r="r" b="b" t="t" l="l"/>
              <a:pathLst>
                <a:path h="1097280" w="8412480">
                  <a:moveTo>
                    <a:pt x="0" y="0"/>
                  </a:moveTo>
                  <a:lnTo>
                    <a:pt x="8412480" y="0"/>
                  </a:lnTo>
                  <a:lnTo>
                    <a:pt x="8412480" y="1097280"/>
                  </a:lnTo>
                  <a:lnTo>
                    <a:pt x="0" y="1097280"/>
                  </a:lnTo>
                  <a:close/>
                </a:path>
              </a:pathLst>
            </a:custGeom>
            <a:blipFill>
              <a:blip r:embed="rId3">
                <a:alphaModFix amt="0"/>
              </a:blip>
              <a:stretch>
                <a:fillRect l="0" t="-99385" r="0" b="-99385"/>
              </a:stretch>
            </a:blipFill>
          </p:spPr>
        </p:sp>
        <p:sp>
          <p:nvSpPr>
            <p:cNvPr name="TextBox 33" id="33"/>
            <p:cNvSpPr txBox="true"/>
            <p:nvPr/>
          </p:nvSpPr>
          <p:spPr>
            <a:xfrm>
              <a:off x="0" y="-28575"/>
              <a:ext cx="8412480" cy="1125855"/>
            </a:xfrm>
            <a:prstGeom prst="rect">
              <a:avLst/>
            </a:prstGeom>
          </p:spPr>
          <p:txBody>
            <a:bodyPr anchor="ctr" rtlCol="false" tIns="0" lIns="0" bIns="0" rIns="0"/>
            <a:lstStyle/>
            <a:p>
              <a:pPr algn="l">
                <a:lnSpc>
                  <a:spcPts val="3840"/>
                </a:lnSpc>
              </a:pPr>
              <a:r>
                <a:rPr lang="en-US" b="true" sz="3200">
                  <a:solidFill>
                    <a:srgbClr val="1E2761"/>
                  </a:solidFill>
                  <a:latin typeface="Arial Bold"/>
                  <a:ea typeface="Arial Bold"/>
                  <a:cs typeface="Arial Bold"/>
                  <a:sym typeface="Arial Bold"/>
                </a:rPr>
                <a:t>Ré</a:t>
              </a:r>
              <a:r>
                <a:rPr lang="en-US" b="true" sz="3200">
                  <a:solidFill>
                    <a:srgbClr val="1E2761"/>
                  </a:solidFill>
                  <a:latin typeface="Arial Bold"/>
                  <a:ea typeface="Arial Bold"/>
                  <a:cs typeface="Arial Bold"/>
                  <a:sym typeface="Arial Bold"/>
                </a:rPr>
                <a:t>ponse lente</a:t>
              </a:r>
            </a:p>
          </p:txBody>
        </p:sp>
      </p:grpSp>
      <p:grpSp>
        <p:nvGrpSpPr>
          <p:cNvPr name="Group 34" id="34"/>
          <p:cNvGrpSpPr/>
          <p:nvPr/>
        </p:nvGrpSpPr>
        <p:grpSpPr>
          <a:xfrm rot="0">
            <a:off x="9500235" y="6665595"/>
            <a:ext cx="7882890" cy="2762250"/>
            <a:chOff x="0" y="0"/>
            <a:chExt cx="10510520" cy="3683000"/>
          </a:xfrm>
        </p:grpSpPr>
        <p:sp>
          <p:nvSpPr>
            <p:cNvPr name="Freeform 35" id="35"/>
            <p:cNvSpPr/>
            <p:nvPr/>
          </p:nvSpPr>
          <p:spPr>
            <a:xfrm flipH="false" flipV="false" rot="0">
              <a:off x="0" y="0"/>
              <a:ext cx="10510520" cy="3683000"/>
            </a:xfrm>
            <a:custGeom>
              <a:avLst/>
              <a:gdLst/>
              <a:ahLst/>
              <a:cxnLst/>
              <a:rect r="r" b="b" t="t" l="l"/>
              <a:pathLst>
                <a:path h="3683000" w="10510520">
                  <a:moveTo>
                    <a:pt x="0" y="196469"/>
                  </a:moveTo>
                  <a:cubicBezTo>
                    <a:pt x="0" y="87884"/>
                    <a:pt x="87884" y="0"/>
                    <a:pt x="196469" y="0"/>
                  </a:cubicBezTo>
                  <a:lnTo>
                    <a:pt x="10314051" y="0"/>
                  </a:lnTo>
                  <a:cubicBezTo>
                    <a:pt x="10422509" y="0"/>
                    <a:pt x="10510520" y="87884"/>
                    <a:pt x="10510520" y="196469"/>
                  </a:cubicBezTo>
                  <a:lnTo>
                    <a:pt x="10510520" y="3486531"/>
                  </a:lnTo>
                  <a:cubicBezTo>
                    <a:pt x="10510520" y="3594989"/>
                    <a:pt x="10422636" y="3683000"/>
                    <a:pt x="10314051" y="3683000"/>
                  </a:cubicBezTo>
                  <a:lnTo>
                    <a:pt x="196469" y="3683000"/>
                  </a:lnTo>
                  <a:cubicBezTo>
                    <a:pt x="87884" y="3683000"/>
                    <a:pt x="0" y="3595116"/>
                    <a:pt x="0" y="3486531"/>
                  </a:cubicBezTo>
                  <a:close/>
                </a:path>
              </a:pathLst>
            </a:custGeom>
            <a:solidFill>
              <a:srgbClr val="FFFFFF"/>
            </a:solidFill>
            <a:ln w="19050" cap="sq">
              <a:solidFill>
                <a:srgbClr val="94A3B8"/>
              </a:solidFill>
              <a:prstDash val="solid"/>
              <a:miter/>
            </a:ln>
          </p:spPr>
        </p:sp>
      </p:grpSp>
      <p:grpSp>
        <p:nvGrpSpPr>
          <p:cNvPr name="Group 36" id="36"/>
          <p:cNvGrpSpPr/>
          <p:nvPr/>
        </p:nvGrpSpPr>
        <p:grpSpPr>
          <a:xfrm rot="0">
            <a:off x="9497063" y="6662423"/>
            <a:ext cx="171707" cy="2768603"/>
            <a:chOff x="0" y="0"/>
            <a:chExt cx="228943" cy="3691471"/>
          </a:xfrm>
        </p:grpSpPr>
        <p:sp>
          <p:nvSpPr>
            <p:cNvPr name="Freeform 37" id="37"/>
            <p:cNvSpPr/>
            <p:nvPr/>
          </p:nvSpPr>
          <p:spPr>
            <a:xfrm flipH="false" flipV="false" rot="0">
              <a:off x="0" y="0"/>
              <a:ext cx="228981" cy="3691509"/>
            </a:xfrm>
            <a:custGeom>
              <a:avLst/>
              <a:gdLst/>
              <a:ahLst/>
              <a:cxnLst/>
              <a:rect r="r" b="b" t="t" l="l"/>
              <a:pathLst>
                <a:path h="3691509" w="228981">
                  <a:moveTo>
                    <a:pt x="0" y="0"/>
                  </a:moveTo>
                  <a:lnTo>
                    <a:pt x="228981" y="0"/>
                  </a:lnTo>
                  <a:lnTo>
                    <a:pt x="228981" y="3691509"/>
                  </a:lnTo>
                  <a:lnTo>
                    <a:pt x="0" y="3691509"/>
                  </a:lnTo>
                  <a:close/>
                </a:path>
              </a:pathLst>
            </a:custGeom>
            <a:solidFill>
              <a:srgbClr val="3B82F6"/>
            </a:solidFill>
            <a:ln w="25400" cap="sq">
              <a:solidFill>
                <a:srgbClr val="3B82F6"/>
              </a:solidFill>
              <a:prstDash val="solid"/>
              <a:miter/>
            </a:ln>
          </p:spPr>
        </p:sp>
      </p:grpSp>
      <p:grpSp>
        <p:nvGrpSpPr>
          <p:cNvPr name="Group 38" id="38"/>
          <p:cNvGrpSpPr/>
          <p:nvPr/>
        </p:nvGrpSpPr>
        <p:grpSpPr>
          <a:xfrm rot="0">
            <a:off x="10881360" y="6858000"/>
            <a:ext cx="6309360" cy="822960"/>
            <a:chOff x="0" y="0"/>
            <a:chExt cx="8412480" cy="1097280"/>
          </a:xfrm>
        </p:grpSpPr>
        <p:sp>
          <p:nvSpPr>
            <p:cNvPr name="Freeform 39" id="39"/>
            <p:cNvSpPr/>
            <p:nvPr/>
          </p:nvSpPr>
          <p:spPr>
            <a:xfrm flipH="false" flipV="false" rot="0">
              <a:off x="0" y="0"/>
              <a:ext cx="8412480" cy="1097280"/>
            </a:xfrm>
            <a:custGeom>
              <a:avLst/>
              <a:gdLst/>
              <a:ahLst/>
              <a:cxnLst/>
              <a:rect r="r" b="b" t="t" l="l"/>
              <a:pathLst>
                <a:path h="1097280" w="8412480">
                  <a:moveTo>
                    <a:pt x="0" y="0"/>
                  </a:moveTo>
                  <a:lnTo>
                    <a:pt x="8412480" y="0"/>
                  </a:lnTo>
                  <a:lnTo>
                    <a:pt x="8412480" y="1097280"/>
                  </a:lnTo>
                  <a:lnTo>
                    <a:pt x="0" y="1097280"/>
                  </a:lnTo>
                  <a:close/>
                </a:path>
              </a:pathLst>
            </a:custGeom>
            <a:blipFill>
              <a:blip r:embed="rId3">
                <a:alphaModFix amt="0"/>
              </a:blip>
              <a:stretch>
                <a:fillRect l="0" t="-99385" r="0" b="-99385"/>
              </a:stretch>
            </a:blipFill>
          </p:spPr>
        </p:sp>
        <p:sp>
          <p:nvSpPr>
            <p:cNvPr name="TextBox 40" id="40"/>
            <p:cNvSpPr txBox="true"/>
            <p:nvPr/>
          </p:nvSpPr>
          <p:spPr>
            <a:xfrm>
              <a:off x="0" y="-28575"/>
              <a:ext cx="8412480" cy="1125855"/>
            </a:xfrm>
            <a:prstGeom prst="rect">
              <a:avLst/>
            </a:prstGeom>
          </p:spPr>
          <p:txBody>
            <a:bodyPr anchor="ctr" rtlCol="false" tIns="0" lIns="0" bIns="0" rIns="0"/>
            <a:lstStyle/>
            <a:p>
              <a:pPr algn="l">
                <a:lnSpc>
                  <a:spcPts val="3840"/>
                </a:lnSpc>
              </a:pPr>
              <a:r>
                <a:rPr lang="en-US" b="true" sz="3200">
                  <a:solidFill>
                    <a:srgbClr val="1E2761"/>
                  </a:solidFill>
                  <a:latin typeface="Arial Bold"/>
                  <a:ea typeface="Arial Bold"/>
                  <a:cs typeface="Arial Bold"/>
                  <a:sym typeface="Arial Bold"/>
                </a:rPr>
                <a:t>Pas</a:t>
              </a:r>
              <a:r>
                <a:rPr lang="en-US" b="true" sz="3200">
                  <a:solidFill>
                    <a:srgbClr val="1E2761"/>
                  </a:solidFill>
                  <a:latin typeface="Arial Bold"/>
                  <a:ea typeface="Arial Bold"/>
                  <a:cs typeface="Arial Bold"/>
                  <a:sym typeface="Arial Bold"/>
                </a:rPr>
                <a:t> de rapport</a:t>
              </a:r>
            </a:p>
          </p:txBody>
        </p:sp>
      </p:grpSp>
      <p:grpSp>
        <p:nvGrpSpPr>
          <p:cNvPr name="Group 41" id="41"/>
          <p:cNvGrpSpPr/>
          <p:nvPr/>
        </p:nvGrpSpPr>
        <p:grpSpPr>
          <a:xfrm rot="0">
            <a:off x="0" y="9784080"/>
            <a:ext cx="18288000" cy="457200"/>
            <a:chOff x="0" y="0"/>
            <a:chExt cx="24384000" cy="609600"/>
          </a:xfrm>
        </p:grpSpPr>
        <p:sp>
          <p:nvSpPr>
            <p:cNvPr name="Freeform 42" id="42"/>
            <p:cNvSpPr/>
            <p:nvPr/>
          </p:nvSpPr>
          <p:spPr>
            <a:xfrm flipH="false" flipV="false" rot="0">
              <a:off x="0" y="0"/>
              <a:ext cx="24384000" cy="609600"/>
            </a:xfrm>
            <a:custGeom>
              <a:avLst/>
              <a:gdLst/>
              <a:ahLst/>
              <a:cxnLst/>
              <a:rect r="r" b="b" t="t" l="l"/>
              <a:pathLst>
                <a:path h="609600" w="24384000">
                  <a:moveTo>
                    <a:pt x="0" y="0"/>
                  </a:moveTo>
                  <a:lnTo>
                    <a:pt x="24384000" y="0"/>
                  </a:lnTo>
                  <a:lnTo>
                    <a:pt x="24384000" y="609600"/>
                  </a:lnTo>
                  <a:lnTo>
                    <a:pt x="0" y="609600"/>
                  </a:lnTo>
                  <a:close/>
                </a:path>
              </a:pathLst>
            </a:custGeom>
            <a:blipFill>
              <a:blip r:embed="rId3">
                <a:alphaModFix amt="0"/>
              </a:blip>
              <a:stretch>
                <a:fillRect l="0" t="-729401" r="0" b="-729401"/>
              </a:stretch>
            </a:blipFill>
          </p:spPr>
        </p:sp>
        <p:sp>
          <p:nvSpPr>
            <p:cNvPr name="TextBox 43" id="43"/>
            <p:cNvSpPr txBox="true"/>
            <p:nvPr/>
          </p:nvSpPr>
          <p:spPr>
            <a:xfrm>
              <a:off x="0" y="-19050"/>
              <a:ext cx="24384000" cy="628650"/>
            </a:xfrm>
            <a:prstGeom prst="rect">
              <a:avLst/>
            </a:prstGeom>
          </p:spPr>
          <p:txBody>
            <a:bodyPr anchor="ctr" rtlCol="false" tIns="0" lIns="0" bIns="0" rIns="0"/>
            <a:lstStyle/>
            <a:p>
              <a:pPr algn="ctr">
                <a:lnSpc>
                  <a:spcPts val="2160"/>
                </a:lnSpc>
              </a:pPr>
            </a:p>
          </p:txBody>
        </p:sp>
      </p:grpSp>
      <p:sp>
        <p:nvSpPr>
          <p:cNvPr name="TextBox 44" id="44"/>
          <p:cNvSpPr txBox="true"/>
          <p:nvPr/>
        </p:nvSpPr>
        <p:spPr>
          <a:xfrm rot="0">
            <a:off x="1371600" y="4735830"/>
            <a:ext cx="7223760" cy="685800"/>
          </a:xfrm>
          <a:prstGeom prst="rect">
            <a:avLst/>
          </a:prstGeom>
        </p:spPr>
        <p:txBody>
          <a:bodyPr anchor="t" rtlCol="false" tIns="0" lIns="0" bIns="0" rIns="0">
            <a:spAutoFit/>
          </a:bodyPr>
          <a:lstStyle/>
          <a:p>
            <a:pPr algn="l">
              <a:lnSpc>
                <a:spcPts val="2639"/>
              </a:lnSpc>
            </a:pPr>
            <a:r>
              <a:rPr lang="en-US" sz="2199">
                <a:solidFill>
                  <a:srgbClr val="64748B"/>
                </a:solidFill>
                <a:latin typeface="Arial"/>
                <a:ea typeface="Arial"/>
                <a:cs typeface="Arial"/>
                <a:sym typeface="Arial"/>
              </a:rPr>
              <a:t>La plupart des P</a:t>
            </a:r>
            <a:r>
              <a:rPr lang="en-US" sz="2199">
                <a:solidFill>
                  <a:srgbClr val="64748B"/>
                </a:solidFill>
                <a:latin typeface="Arial"/>
                <a:ea typeface="Arial"/>
                <a:cs typeface="Arial"/>
                <a:sym typeface="Arial"/>
              </a:rPr>
              <a:t>ME n'ont pas d'équipe ou de budget dédié à la cybersécurité pour protéger leur infrastructure.</a:t>
            </a:r>
          </a:p>
        </p:txBody>
      </p:sp>
      <p:sp>
        <p:nvSpPr>
          <p:cNvPr name="TextBox 45" id="45"/>
          <p:cNvSpPr txBox="true"/>
          <p:nvPr/>
        </p:nvSpPr>
        <p:spPr>
          <a:xfrm rot="0">
            <a:off x="9966960" y="4735830"/>
            <a:ext cx="7223760" cy="685800"/>
          </a:xfrm>
          <a:prstGeom prst="rect">
            <a:avLst/>
          </a:prstGeom>
        </p:spPr>
        <p:txBody>
          <a:bodyPr anchor="t" rtlCol="false" tIns="0" lIns="0" bIns="0" rIns="0">
            <a:spAutoFit/>
          </a:bodyPr>
          <a:lstStyle/>
          <a:p>
            <a:pPr algn="l">
              <a:lnSpc>
                <a:spcPts val="2639"/>
              </a:lnSpc>
            </a:pPr>
            <a:r>
              <a:rPr lang="en-US" sz="2199">
                <a:solidFill>
                  <a:srgbClr val="64748B"/>
                </a:solidFill>
                <a:latin typeface="Arial"/>
                <a:ea typeface="Arial"/>
                <a:cs typeface="Arial"/>
                <a:sym typeface="Arial"/>
              </a:rPr>
              <a:t>L</a:t>
            </a:r>
            <a:r>
              <a:rPr lang="en-US" sz="2199">
                <a:solidFill>
                  <a:srgbClr val="64748B"/>
                </a:solidFill>
                <a:latin typeface="Arial"/>
                <a:ea typeface="Arial"/>
                <a:cs typeface="Arial"/>
                <a:sym typeface="Arial"/>
              </a:rPr>
              <a:t>es demandes d'audit traitées par email, pas de suivi, pas de traçabilité.</a:t>
            </a:r>
          </a:p>
        </p:txBody>
      </p:sp>
      <p:sp>
        <p:nvSpPr>
          <p:cNvPr name="TextBox 46" id="46"/>
          <p:cNvSpPr txBox="true"/>
          <p:nvPr/>
        </p:nvSpPr>
        <p:spPr>
          <a:xfrm rot="0">
            <a:off x="1371600" y="7753350"/>
            <a:ext cx="7223760" cy="685800"/>
          </a:xfrm>
          <a:prstGeom prst="rect">
            <a:avLst/>
          </a:prstGeom>
        </p:spPr>
        <p:txBody>
          <a:bodyPr anchor="t" rtlCol="false" tIns="0" lIns="0" bIns="0" rIns="0">
            <a:spAutoFit/>
          </a:bodyPr>
          <a:lstStyle/>
          <a:p>
            <a:pPr algn="l">
              <a:lnSpc>
                <a:spcPts val="2639"/>
              </a:lnSpc>
            </a:pPr>
            <a:r>
              <a:rPr lang="en-US" sz="2199">
                <a:solidFill>
                  <a:srgbClr val="64748B"/>
                </a:solidFill>
                <a:latin typeface="Arial"/>
                <a:ea typeface="Arial"/>
                <a:cs typeface="Arial"/>
                <a:sym typeface="Arial"/>
              </a:rPr>
              <a:t>Pas</a:t>
            </a:r>
            <a:r>
              <a:rPr lang="en-US" sz="2199">
                <a:solidFill>
                  <a:srgbClr val="64748B"/>
                </a:solidFill>
                <a:latin typeface="Arial"/>
                <a:ea typeface="Arial"/>
                <a:cs typeface="Arial"/>
                <a:sym typeface="Arial"/>
              </a:rPr>
              <a:t> de mises à jour en temps réel. Les clients restent dans le flou après avoir envoyé une demande.</a:t>
            </a:r>
          </a:p>
        </p:txBody>
      </p:sp>
      <p:sp>
        <p:nvSpPr>
          <p:cNvPr name="TextBox 47" id="47"/>
          <p:cNvSpPr txBox="true"/>
          <p:nvPr/>
        </p:nvSpPr>
        <p:spPr>
          <a:xfrm rot="0">
            <a:off x="9966960" y="7753350"/>
            <a:ext cx="7223760" cy="685800"/>
          </a:xfrm>
          <a:prstGeom prst="rect">
            <a:avLst/>
          </a:prstGeom>
        </p:spPr>
        <p:txBody>
          <a:bodyPr anchor="t" rtlCol="false" tIns="0" lIns="0" bIns="0" rIns="0">
            <a:spAutoFit/>
          </a:bodyPr>
          <a:lstStyle/>
          <a:p>
            <a:pPr algn="l">
              <a:lnSpc>
                <a:spcPts val="2639"/>
              </a:lnSpc>
            </a:pPr>
            <a:r>
              <a:rPr lang="en-US" sz="2199">
                <a:solidFill>
                  <a:srgbClr val="64748B"/>
                </a:solidFill>
                <a:latin typeface="Arial"/>
                <a:ea typeface="Arial"/>
                <a:cs typeface="Arial"/>
                <a:sym typeface="Arial"/>
              </a:rPr>
              <a:t>Les rapports de v</a:t>
            </a:r>
            <a:r>
              <a:rPr lang="en-US" sz="2199">
                <a:solidFill>
                  <a:srgbClr val="64748B"/>
                </a:solidFill>
                <a:latin typeface="Arial"/>
                <a:ea typeface="Arial"/>
                <a:cs typeface="Arial"/>
                <a:sym typeface="Arial"/>
              </a:rPr>
              <a:t>ulnérabilité envoyés en pièces jointes d'e-mail sont impossibles à gérer à grande échelle.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0" y="457200"/>
            <a:ext cx="18288000" cy="1243682"/>
            <a:chOff x="0" y="0"/>
            <a:chExt cx="24384000" cy="1658243"/>
          </a:xfrm>
        </p:grpSpPr>
        <p:sp>
          <p:nvSpPr>
            <p:cNvPr name="Freeform 3" id="3"/>
            <p:cNvSpPr/>
            <p:nvPr/>
          </p:nvSpPr>
          <p:spPr>
            <a:xfrm flipH="false" flipV="false" rot="0">
              <a:off x="0" y="0"/>
              <a:ext cx="24384000" cy="1658243"/>
            </a:xfrm>
            <a:custGeom>
              <a:avLst/>
              <a:gdLst/>
              <a:ahLst/>
              <a:cxnLst/>
              <a:rect r="r" b="b" t="t" l="l"/>
              <a:pathLst>
                <a:path h="1658243" w="24384000">
                  <a:moveTo>
                    <a:pt x="0" y="0"/>
                  </a:moveTo>
                  <a:lnTo>
                    <a:pt x="24384000" y="0"/>
                  </a:lnTo>
                  <a:lnTo>
                    <a:pt x="24384000" y="1658243"/>
                  </a:lnTo>
                  <a:lnTo>
                    <a:pt x="0" y="1658243"/>
                  </a:lnTo>
                  <a:close/>
                </a:path>
              </a:pathLst>
            </a:custGeom>
            <a:blipFill>
              <a:blip r:embed="rId3">
                <a:alphaModFix amt="0"/>
              </a:blip>
              <a:stretch>
                <a:fillRect l="0" t="-246084" r="0" b="-226960"/>
              </a:stretch>
            </a:blipFill>
          </p:spPr>
        </p:sp>
        <p:sp>
          <p:nvSpPr>
            <p:cNvPr name="TextBox 4" id="4"/>
            <p:cNvSpPr txBox="true"/>
            <p:nvPr/>
          </p:nvSpPr>
          <p:spPr>
            <a:xfrm>
              <a:off x="0" y="-28575"/>
              <a:ext cx="24384000" cy="1686818"/>
            </a:xfrm>
            <a:prstGeom prst="rect">
              <a:avLst/>
            </a:prstGeom>
          </p:spPr>
          <p:txBody>
            <a:bodyPr anchor="ctr" rtlCol="false" tIns="0" lIns="0" bIns="0" rIns="0"/>
            <a:lstStyle/>
            <a:p>
              <a:pPr algn="ctr">
                <a:lnSpc>
                  <a:spcPts val="7200"/>
                </a:lnSpc>
              </a:pPr>
              <a:r>
                <a:rPr lang="en-US" b="true" sz="6000">
                  <a:solidFill>
                    <a:srgbClr val="FFFFFF"/>
                  </a:solidFill>
                  <a:latin typeface="Arial Bold"/>
                  <a:ea typeface="Arial Bold"/>
                  <a:cs typeface="Arial Bold"/>
                  <a:sym typeface="Arial Bold"/>
                </a:rPr>
                <a:t>Not</a:t>
              </a:r>
              <a:r>
                <a:rPr lang="en-US" b="true" sz="6000">
                  <a:solidFill>
                    <a:srgbClr val="FFFFFF"/>
                  </a:solidFill>
                  <a:latin typeface="Arial Bold"/>
                  <a:ea typeface="Arial Bold"/>
                  <a:cs typeface="Arial Bold"/>
                  <a:sym typeface="Arial Bold"/>
                </a:rPr>
                <a:t>re solution</a:t>
              </a:r>
            </a:p>
          </p:txBody>
        </p:sp>
      </p:grpSp>
      <p:grpSp>
        <p:nvGrpSpPr>
          <p:cNvPr name="Group 5" id="5"/>
          <p:cNvGrpSpPr/>
          <p:nvPr/>
        </p:nvGrpSpPr>
        <p:grpSpPr>
          <a:xfrm rot="0">
            <a:off x="914400" y="1554480"/>
            <a:ext cx="16459200" cy="640080"/>
            <a:chOff x="0" y="0"/>
            <a:chExt cx="21945600" cy="853440"/>
          </a:xfrm>
        </p:grpSpPr>
        <p:sp>
          <p:nvSpPr>
            <p:cNvPr name="Freeform 6" id="6"/>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7" id="7"/>
            <p:cNvSpPr txBox="true"/>
            <p:nvPr/>
          </p:nvSpPr>
          <p:spPr>
            <a:xfrm>
              <a:off x="0" y="-19050"/>
              <a:ext cx="21945600" cy="872490"/>
            </a:xfrm>
            <a:prstGeom prst="rect">
              <a:avLst/>
            </a:prstGeom>
          </p:spPr>
          <p:txBody>
            <a:bodyPr anchor="ctr" rtlCol="false" tIns="0" lIns="0" bIns="0" rIns="0"/>
            <a:lstStyle/>
            <a:p>
              <a:pPr algn="ctr">
                <a:lnSpc>
                  <a:spcPts val="3120"/>
                </a:lnSpc>
              </a:pPr>
              <a:r>
                <a:rPr lang="en-US" sz="2600" i="true">
                  <a:solidFill>
                    <a:srgbClr val="00C2D7"/>
                  </a:solidFill>
                  <a:latin typeface="Arial Italics"/>
                  <a:ea typeface="Arial Italics"/>
                  <a:cs typeface="Arial Italics"/>
                  <a:sym typeface="Arial Italics"/>
                </a:rPr>
                <a:t>U</a:t>
              </a:r>
              <a:r>
                <a:rPr lang="en-US" sz="2600" i="true">
                  <a:solidFill>
                    <a:srgbClr val="00C2D7"/>
                  </a:solidFill>
                  <a:latin typeface="Arial Italics"/>
                  <a:ea typeface="Arial Italics"/>
                  <a:cs typeface="Arial Italics"/>
                  <a:sym typeface="Arial Italics"/>
                </a:rPr>
                <a:t>ne plateforme web unifiée connectant les clients PME et les opérateurs CyberAudit</a:t>
              </a:r>
            </a:p>
          </p:txBody>
        </p:sp>
      </p:grpSp>
      <p:grpSp>
        <p:nvGrpSpPr>
          <p:cNvPr name="Group 8" id="8"/>
          <p:cNvGrpSpPr/>
          <p:nvPr/>
        </p:nvGrpSpPr>
        <p:grpSpPr>
          <a:xfrm rot="0">
            <a:off x="767715" y="2550795"/>
            <a:ext cx="5414010" cy="3402330"/>
            <a:chOff x="0" y="0"/>
            <a:chExt cx="7218680" cy="4536440"/>
          </a:xfrm>
        </p:grpSpPr>
        <p:sp>
          <p:nvSpPr>
            <p:cNvPr name="Freeform 9" id="9"/>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10" id="10"/>
          <p:cNvGrpSpPr/>
          <p:nvPr/>
        </p:nvGrpSpPr>
        <p:grpSpPr>
          <a:xfrm rot="0">
            <a:off x="1051560" y="2834640"/>
            <a:ext cx="1463040" cy="640080"/>
            <a:chOff x="0" y="0"/>
            <a:chExt cx="1950720" cy="853440"/>
          </a:xfrm>
        </p:grpSpPr>
        <p:sp>
          <p:nvSpPr>
            <p:cNvPr name="Freeform 11" id="11"/>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12" id="12"/>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01</a:t>
              </a:r>
            </a:p>
          </p:txBody>
        </p:sp>
      </p:grpSp>
      <p:grpSp>
        <p:nvGrpSpPr>
          <p:cNvPr name="Group 13" id="13"/>
          <p:cNvGrpSpPr/>
          <p:nvPr/>
        </p:nvGrpSpPr>
        <p:grpSpPr>
          <a:xfrm rot="0">
            <a:off x="1590675" y="2834640"/>
            <a:ext cx="4846320" cy="1079041"/>
            <a:chOff x="0" y="0"/>
            <a:chExt cx="6461760" cy="1438721"/>
          </a:xfrm>
        </p:grpSpPr>
        <p:sp>
          <p:nvSpPr>
            <p:cNvPr name="Freeform 14" id="14"/>
            <p:cNvSpPr/>
            <p:nvPr/>
          </p:nvSpPr>
          <p:spPr>
            <a:xfrm flipH="false" flipV="false" rot="0">
              <a:off x="0" y="0"/>
              <a:ext cx="6461760" cy="1438721"/>
            </a:xfrm>
            <a:custGeom>
              <a:avLst/>
              <a:gdLst/>
              <a:ahLst/>
              <a:cxnLst/>
              <a:rect r="r" b="b" t="t" l="l"/>
              <a:pathLst>
                <a:path h="1438721" w="6461760">
                  <a:moveTo>
                    <a:pt x="0" y="0"/>
                  </a:moveTo>
                  <a:lnTo>
                    <a:pt x="6461760" y="0"/>
                  </a:lnTo>
                  <a:lnTo>
                    <a:pt x="6461760" y="1438721"/>
                  </a:lnTo>
                  <a:lnTo>
                    <a:pt x="0" y="1438721"/>
                  </a:lnTo>
                  <a:close/>
                </a:path>
              </a:pathLst>
            </a:custGeom>
            <a:blipFill>
              <a:blip r:embed="rId3">
                <a:alphaModFix amt="0"/>
              </a:blip>
              <a:stretch>
                <a:fillRect l="0" t="-49379" r="0" b="-25647"/>
              </a:stretch>
            </a:blipFill>
          </p:spPr>
        </p:sp>
        <p:sp>
          <p:nvSpPr>
            <p:cNvPr name="TextBox 15" id="15"/>
            <p:cNvSpPr txBox="true"/>
            <p:nvPr/>
          </p:nvSpPr>
          <p:spPr>
            <a:xfrm>
              <a:off x="0" y="-19050"/>
              <a:ext cx="6461760" cy="1457771"/>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Form</a:t>
              </a:r>
              <a:r>
                <a:rPr lang="en-US" b="true" sz="3000">
                  <a:solidFill>
                    <a:srgbClr val="FFFFFF"/>
                  </a:solidFill>
                  <a:latin typeface="Arial Bold"/>
                  <a:ea typeface="Arial Bold"/>
                  <a:cs typeface="Arial Bold"/>
                  <a:sym typeface="Arial Bold"/>
                </a:rPr>
                <a:t>ulaire de demande d'audit</a:t>
              </a:r>
            </a:p>
          </p:txBody>
        </p:sp>
      </p:grpSp>
      <p:sp>
        <p:nvSpPr>
          <p:cNvPr name="TextBox 16" id="16"/>
          <p:cNvSpPr txBox="true"/>
          <p:nvPr/>
        </p:nvSpPr>
        <p:spPr>
          <a:xfrm rot="0">
            <a:off x="1051560" y="4191000"/>
            <a:ext cx="4846320" cy="1266825"/>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Les c</a:t>
            </a:r>
            <a:r>
              <a:rPr lang="en-US" sz="2100">
                <a:solidFill>
                  <a:srgbClr val="E8EEFC"/>
                </a:solidFill>
                <a:latin typeface="Arial"/>
                <a:ea typeface="Arial"/>
                <a:cs typeface="Arial"/>
                <a:sym typeface="Arial"/>
              </a:rPr>
              <a:t>lients choisissent un pack, remplissent un formulaire, et reçoivent une confirmation par email instantanée via EmailJS.</a:t>
            </a:r>
          </a:p>
        </p:txBody>
      </p:sp>
      <p:grpSp>
        <p:nvGrpSpPr>
          <p:cNvPr name="Group 17" id="17"/>
          <p:cNvGrpSpPr/>
          <p:nvPr/>
        </p:nvGrpSpPr>
        <p:grpSpPr>
          <a:xfrm rot="0">
            <a:off x="6436995" y="2550795"/>
            <a:ext cx="5414010" cy="3402330"/>
            <a:chOff x="0" y="0"/>
            <a:chExt cx="7218680" cy="4536440"/>
          </a:xfrm>
        </p:grpSpPr>
        <p:sp>
          <p:nvSpPr>
            <p:cNvPr name="Freeform 18" id="18"/>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19" id="19"/>
          <p:cNvGrpSpPr/>
          <p:nvPr/>
        </p:nvGrpSpPr>
        <p:grpSpPr>
          <a:xfrm rot="0">
            <a:off x="6720840" y="2834640"/>
            <a:ext cx="1463040" cy="640080"/>
            <a:chOff x="0" y="0"/>
            <a:chExt cx="1950720" cy="853440"/>
          </a:xfrm>
        </p:grpSpPr>
        <p:sp>
          <p:nvSpPr>
            <p:cNvPr name="Freeform 20" id="20"/>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21" id="21"/>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02</a:t>
              </a:r>
            </a:p>
          </p:txBody>
        </p:sp>
      </p:grpSp>
      <p:grpSp>
        <p:nvGrpSpPr>
          <p:cNvPr name="Group 22" id="22"/>
          <p:cNvGrpSpPr/>
          <p:nvPr/>
        </p:nvGrpSpPr>
        <p:grpSpPr>
          <a:xfrm rot="0">
            <a:off x="7259955" y="2834640"/>
            <a:ext cx="4591050" cy="1079041"/>
            <a:chOff x="0" y="0"/>
            <a:chExt cx="6121400" cy="1438721"/>
          </a:xfrm>
        </p:grpSpPr>
        <p:sp>
          <p:nvSpPr>
            <p:cNvPr name="Freeform 23" id="23"/>
            <p:cNvSpPr/>
            <p:nvPr/>
          </p:nvSpPr>
          <p:spPr>
            <a:xfrm flipH="false" flipV="false" rot="0">
              <a:off x="0" y="0"/>
              <a:ext cx="6121400" cy="1438721"/>
            </a:xfrm>
            <a:custGeom>
              <a:avLst/>
              <a:gdLst/>
              <a:ahLst/>
              <a:cxnLst/>
              <a:rect r="r" b="b" t="t" l="l"/>
              <a:pathLst>
                <a:path h="1438721" w="6121400">
                  <a:moveTo>
                    <a:pt x="0" y="0"/>
                  </a:moveTo>
                  <a:lnTo>
                    <a:pt x="6121400" y="0"/>
                  </a:lnTo>
                  <a:lnTo>
                    <a:pt x="6121400" y="1438721"/>
                  </a:lnTo>
                  <a:lnTo>
                    <a:pt x="0" y="1438721"/>
                  </a:lnTo>
                  <a:close/>
                </a:path>
              </a:pathLst>
            </a:custGeom>
            <a:blipFill>
              <a:blip r:embed="rId3">
                <a:alphaModFix amt="0"/>
              </a:blip>
              <a:stretch>
                <a:fillRect l="0" t="-49379" r="-5560" b="-25647"/>
              </a:stretch>
            </a:blipFill>
          </p:spPr>
        </p:sp>
        <p:sp>
          <p:nvSpPr>
            <p:cNvPr name="TextBox 24" id="24"/>
            <p:cNvSpPr txBox="true"/>
            <p:nvPr/>
          </p:nvSpPr>
          <p:spPr>
            <a:xfrm>
              <a:off x="0" y="-19050"/>
              <a:ext cx="6121400" cy="1457771"/>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T</a:t>
              </a:r>
              <a:r>
                <a:rPr lang="en-US" b="true" sz="3000">
                  <a:solidFill>
                    <a:srgbClr val="FFFFFF"/>
                  </a:solidFill>
                  <a:latin typeface="Arial Bold"/>
                  <a:ea typeface="Arial Bold"/>
                  <a:cs typeface="Arial Bold"/>
                  <a:sym typeface="Arial Bold"/>
                </a:rPr>
                <a:t>ableau de bord en temps réel</a:t>
              </a:r>
            </a:p>
          </p:txBody>
        </p:sp>
      </p:grpSp>
      <p:sp>
        <p:nvSpPr>
          <p:cNvPr name="TextBox 25" id="25"/>
          <p:cNvSpPr txBox="true"/>
          <p:nvPr/>
        </p:nvSpPr>
        <p:spPr>
          <a:xfrm rot="0">
            <a:off x="6931342" y="4191000"/>
            <a:ext cx="4846320" cy="638175"/>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Sui</a:t>
            </a:r>
            <a:r>
              <a:rPr lang="en-US" sz="2100">
                <a:solidFill>
                  <a:srgbClr val="E8EEFC"/>
                </a:solidFill>
                <a:latin typeface="Arial"/>
                <a:ea typeface="Arial"/>
                <a:cs typeface="Arial"/>
                <a:sym typeface="Arial"/>
              </a:rPr>
              <a:t>vez chaque demande : En attente, En cours, Terminée, Archivées.</a:t>
            </a:r>
          </a:p>
        </p:txBody>
      </p:sp>
      <p:grpSp>
        <p:nvGrpSpPr>
          <p:cNvPr name="Group 26" id="26"/>
          <p:cNvGrpSpPr/>
          <p:nvPr/>
        </p:nvGrpSpPr>
        <p:grpSpPr>
          <a:xfrm rot="0">
            <a:off x="12106275" y="2550795"/>
            <a:ext cx="5414010" cy="3402330"/>
            <a:chOff x="0" y="0"/>
            <a:chExt cx="7218680" cy="4536440"/>
          </a:xfrm>
        </p:grpSpPr>
        <p:sp>
          <p:nvSpPr>
            <p:cNvPr name="Freeform 27" id="27"/>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28" id="28"/>
          <p:cNvGrpSpPr/>
          <p:nvPr/>
        </p:nvGrpSpPr>
        <p:grpSpPr>
          <a:xfrm rot="0">
            <a:off x="12390120" y="2834640"/>
            <a:ext cx="1463040" cy="640080"/>
            <a:chOff x="0" y="0"/>
            <a:chExt cx="1950720" cy="853440"/>
          </a:xfrm>
        </p:grpSpPr>
        <p:sp>
          <p:nvSpPr>
            <p:cNvPr name="Freeform 29" id="29"/>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30" id="30"/>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03</a:t>
              </a:r>
            </a:p>
          </p:txBody>
        </p:sp>
      </p:grpSp>
      <p:grpSp>
        <p:nvGrpSpPr>
          <p:cNvPr name="Group 31" id="31"/>
          <p:cNvGrpSpPr/>
          <p:nvPr/>
        </p:nvGrpSpPr>
        <p:grpSpPr>
          <a:xfrm rot="0">
            <a:off x="12927330" y="2743200"/>
            <a:ext cx="4846320" cy="822960"/>
            <a:chOff x="0" y="0"/>
            <a:chExt cx="6461760" cy="1097280"/>
          </a:xfrm>
        </p:grpSpPr>
        <p:sp>
          <p:nvSpPr>
            <p:cNvPr name="Freeform 32" id="32"/>
            <p:cNvSpPr/>
            <p:nvPr/>
          </p:nvSpPr>
          <p:spPr>
            <a:xfrm flipH="false" flipV="false" rot="0">
              <a:off x="0" y="0"/>
              <a:ext cx="6461760" cy="1097280"/>
            </a:xfrm>
            <a:custGeom>
              <a:avLst/>
              <a:gdLst/>
              <a:ahLst/>
              <a:cxnLst/>
              <a:rect r="r" b="b" t="t" l="l"/>
              <a:pathLst>
                <a:path h="1097280" w="6461760">
                  <a:moveTo>
                    <a:pt x="0" y="0"/>
                  </a:moveTo>
                  <a:lnTo>
                    <a:pt x="6461760" y="0"/>
                  </a:lnTo>
                  <a:lnTo>
                    <a:pt x="6461760" y="1097280"/>
                  </a:lnTo>
                  <a:lnTo>
                    <a:pt x="0" y="1097280"/>
                  </a:lnTo>
                  <a:close/>
                </a:path>
              </a:pathLst>
            </a:custGeom>
            <a:blipFill>
              <a:blip r:embed="rId3">
                <a:alphaModFix amt="0"/>
              </a:blip>
              <a:stretch>
                <a:fillRect l="0" t="-64745" r="0" b="-64745"/>
              </a:stretch>
            </a:blipFill>
          </p:spPr>
        </p:sp>
        <p:sp>
          <p:nvSpPr>
            <p:cNvPr name="TextBox 33" id="33"/>
            <p:cNvSpPr txBox="true"/>
            <p:nvPr/>
          </p:nvSpPr>
          <p:spPr>
            <a:xfrm>
              <a:off x="0" y="-19050"/>
              <a:ext cx="6461760" cy="11163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Gestion </a:t>
              </a:r>
              <a:r>
                <a:rPr lang="en-US" b="true" sz="3000">
                  <a:solidFill>
                    <a:srgbClr val="FFFFFF"/>
                  </a:solidFill>
                  <a:latin typeface="Arial Bold"/>
                  <a:ea typeface="Arial Bold"/>
                  <a:cs typeface="Arial Bold"/>
                  <a:sym typeface="Arial Bold"/>
                </a:rPr>
                <a:t>Admin</a:t>
              </a:r>
            </a:p>
          </p:txBody>
        </p:sp>
      </p:grpSp>
      <p:sp>
        <p:nvSpPr>
          <p:cNvPr name="TextBox 34" id="34"/>
          <p:cNvSpPr txBox="true"/>
          <p:nvPr/>
        </p:nvSpPr>
        <p:spPr>
          <a:xfrm rot="0">
            <a:off x="12527280" y="4191000"/>
            <a:ext cx="4846320" cy="952500"/>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Les o</a:t>
            </a:r>
            <a:r>
              <a:rPr lang="en-US" sz="2100">
                <a:solidFill>
                  <a:srgbClr val="E8EEFC"/>
                </a:solidFill>
                <a:latin typeface="Arial"/>
                <a:ea typeface="Arial"/>
                <a:cs typeface="Arial"/>
                <a:sym typeface="Arial"/>
              </a:rPr>
              <a:t>pérateurs gèrent toutes les demandes, mettent à jour le statut, assignent des membres de l'équipe.</a:t>
            </a:r>
          </a:p>
        </p:txBody>
      </p:sp>
      <p:grpSp>
        <p:nvGrpSpPr>
          <p:cNvPr name="Group 35" id="35"/>
          <p:cNvGrpSpPr/>
          <p:nvPr/>
        </p:nvGrpSpPr>
        <p:grpSpPr>
          <a:xfrm rot="0">
            <a:off x="767715" y="6299835"/>
            <a:ext cx="5414010" cy="3402330"/>
            <a:chOff x="0" y="0"/>
            <a:chExt cx="7218680" cy="4536440"/>
          </a:xfrm>
        </p:grpSpPr>
        <p:sp>
          <p:nvSpPr>
            <p:cNvPr name="Freeform 36" id="36"/>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37" id="37"/>
          <p:cNvGrpSpPr/>
          <p:nvPr/>
        </p:nvGrpSpPr>
        <p:grpSpPr>
          <a:xfrm rot="0">
            <a:off x="1051560" y="6583680"/>
            <a:ext cx="1463040" cy="640080"/>
            <a:chOff x="0" y="0"/>
            <a:chExt cx="1950720" cy="853440"/>
          </a:xfrm>
        </p:grpSpPr>
        <p:sp>
          <p:nvSpPr>
            <p:cNvPr name="Freeform 38" id="38"/>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39" id="39"/>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04</a:t>
              </a:r>
            </a:p>
          </p:txBody>
        </p:sp>
      </p:grpSp>
      <p:grpSp>
        <p:nvGrpSpPr>
          <p:cNvPr name="Group 40" id="40"/>
          <p:cNvGrpSpPr/>
          <p:nvPr/>
        </p:nvGrpSpPr>
        <p:grpSpPr>
          <a:xfrm rot="0">
            <a:off x="1590675" y="6492240"/>
            <a:ext cx="4846320" cy="822960"/>
            <a:chOff x="0" y="0"/>
            <a:chExt cx="6461760" cy="1097280"/>
          </a:xfrm>
        </p:grpSpPr>
        <p:sp>
          <p:nvSpPr>
            <p:cNvPr name="Freeform 41" id="41"/>
            <p:cNvSpPr/>
            <p:nvPr/>
          </p:nvSpPr>
          <p:spPr>
            <a:xfrm flipH="false" flipV="false" rot="0">
              <a:off x="0" y="0"/>
              <a:ext cx="6461760" cy="1097280"/>
            </a:xfrm>
            <a:custGeom>
              <a:avLst/>
              <a:gdLst/>
              <a:ahLst/>
              <a:cxnLst/>
              <a:rect r="r" b="b" t="t" l="l"/>
              <a:pathLst>
                <a:path h="1097280" w="6461760">
                  <a:moveTo>
                    <a:pt x="0" y="0"/>
                  </a:moveTo>
                  <a:lnTo>
                    <a:pt x="6461760" y="0"/>
                  </a:lnTo>
                  <a:lnTo>
                    <a:pt x="6461760" y="1097280"/>
                  </a:lnTo>
                  <a:lnTo>
                    <a:pt x="0" y="1097280"/>
                  </a:lnTo>
                  <a:close/>
                </a:path>
              </a:pathLst>
            </a:custGeom>
            <a:blipFill>
              <a:blip r:embed="rId3">
                <a:alphaModFix amt="0"/>
              </a:blip>
              <a:stretch>
                <a:fillRect l="0" t="-64745" r="0" b="-64745"/>
              </a:stretch>
            </a:blipFill>
          </p:spPr>
        </p:sp>
        <p:sp>
          <p:nvSpPr>
            <p:cNvPr name="TextBox 42" id="42"/>
            <p:cNvSpPr txBox="true"/>
            <p:nvPr/>
          </p:nvSpPr>
          <p:spPr>
            <a:xfrm>
              <a:off x="0" y="-19050"/>
              <a:ext cx="6461760" cy="11163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Rapports PDF</a:t>
              </a:r>
            </a:p>
          </p:txBody>
        </p:sp>
      </p:grpSp>
      <p:sp>
        <p:nvSpPr>
          <p:cNvPr name="TextBox 43" id="43"/>
          <p:cNvSpPr txBox="true"/>
          <p:nvPr/>
        </p:nvSpPr>
        <p:spPr>
          <a:xfrm rot="0">
            <a:off x="1051560" y="7658100"/>
            <a:ext cx="4846320" cy="952500"/>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Rapp</a:t>
            </a:r>
            <a:r>
              <a:rPr lang="en-US" sz="2100">
                <a:solidFill>
                  <a:srgbClr val="E8EEFC"/>
                </a:solidFill>
                <a:latin typeface="Arial"/>
                <a:ea typeface="Arial"/>
                <a:cs typeface="Arial"/>
                <a:sym typeface="Arial"/>
              </a:rPr>
              <a:t>orts de vulnérabilité générés automatiquement via WeasyPrint + tâches asynchrones Celery.</a:t>
            </a:r>
          </a:p>
        </p:txBody>
      </p:sp>
      <p:grpSp>
        <p:nvGrpSpPr>
          <p:cNvPr name="Group 44" id="44"/>
          <p:cNvGrpSpPr/>
          <p:nvPr/>
        </p:nvGrpSpPr>
        <p:grpSpPr>
          <a:xfrm rot="0">
            <a:off x="6436995" y="6299835"/>
            <a:ext cx="5414010" cy="3402330"/>
            <a:chOff x="0" y="0"/>
            <a:chExt cx="7218680" cy="4536440"/>
          </a:xfrm>
        </p:grpSpPr>
        <p:sp>
          <p:nvSpPr>
            <p:cNvPr name="Freeform 45" id="45"/>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46" id="46"/>
          <p:cNvGrpSpPr/>
          <p:nvPr/>
        </p:nvGrpSpPr>
        <p:grpSpPr>
          <a:xfrm rot="0">
            <a:off x="6720840" y="6583680"/>
            <a:ext cx="1463040" cy="640080"/>
            <a:chOff x="0" y="0"/>
            <a:chExt cx="1950720" cy="853440"/>
          </a:xfrm>
        </p:grpSpPr>
        <p:sp>
          <p:nvSpPr>
            <p:cNvPr name="Freeform 47" id="47"/>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48" id="48"/>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05</a:t>
              </a:r>
            </a:p>
          </p:txBody>
        </p:sp>
      </p:grpSp>
      <p:grpSp>
        <p:nvGrpSpPr>
          <p:cNvPr name="Group 49" id="49"/>
          <p:cNvGrpSpPr/>
          <p:nvPr/>
        </p:nvGrpSpPr>
        <p:grpSpPr>
          <a:xfrm rot="0">
            <a:off x="7259955" y="6492240"/>
            <a:ext cx="4846320" cy="822960"/>
            <a:chOff x="0" y="0"/>
            <a:chExt cx="6461760" cy="1097280"/>
          </a:xfrm>
        </p:grpSpPr>
        <p:sp>
          <p:nvSpPr>
            <p:cNvPr name="Freeform 50" id="50"/>
            <p:cNvSpPr/>
            <p:nvPr/>
          </p:nvSpPr>
          <p:spPr>
            <a:xfrm flipH="false" flipV="false" rot="0">
              <a:off x="0" y="0"/>
              <a:ext cx="6461760" cy="1097280"/>
            </a:xfrm>
            <a:custGeom>
              <a:avLst/>
              <a:gdLst/>
              <a:ahLst/>
              <a:cxnLst/>
              <a:rect r="r" b="b" t="t" l="l"/>
              <a:pathLst>
                <a:path h="1097280" w="6461760">
                  <a:moveTo>
                    <a:pt x="0" y="0"/>
                  </a:moveTo>
                  <a:lnTo>
                    <a:pt x="6461760" y="0"/>
                  </a:lnTo>
                  <a:lnTo>
                    <a:pt x="6461760" y="1097280"/>
                  </a:lnTo>
                  <a:lnTo>
                    <a:pt x="0" y="1097280"/>
                  </a:lnTo>
                  <a:close/>
                </a:path>
              </a:pathLst>
            </a:custGeom>
            <a:blipFill>
              <a:blip r:embed="rId3">
                <a:alphaModFix amt="0"/>
              </a:blip>
              <a:stretch>
                <a:fillRect l="0" t="-64745" r="0" b="-64745"/>
              </a:stretch>
            </a:blipFill>
          </p:spPr>
        </p:sp>
        <p:sp>
          <p:nvSpPr>
            <p:cNvPr name="TextBox 51" id="51"/>
            <p:cNvSpPr txBox="true"/>
            <p:nvPr/>
          </p:nvSpPr>
          <p:spPr>
            <a:xfrm>
              <a:off x="0" y="-19050"/>
              <a:ext cx="6461760" cy="11163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Modules de formation</a:t>
              </a:r>
            </a:p>
          </p:txBody>
        </p:sp>
      </p:grpSp>
      <p:sp>
        <p:nvSpPr>
          <p:cNvPr name="TextBox 52" id="52"/>
          <p:cNvSpPr txBox="true"/>
          <p:nvPr/>
        </p:nvSpPr>
        <p:spPr>
          <a:xfrm rot="0">
            <a:off x="6720840" y="7658100"/>
            <a:ext cx="4846320" cy="952500"/>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5 modules de sensibilisation à la cybersécurité avec suivi des progrès par utilisateur.</a:t>
            </a:r>
          </a:p>
        </p:txBody>
      </p:sp>
      <p:grpSp>
        <p:nvGrpSpPr>
          <p:cNvPr name="Group 53" id="53"/>
          <p:cNvGrpSpPr/>
          <p:nvPr/>
        </p:nvGrpSpPr>
        <p:grpSpPr>
          <a:xfrm rot="0">
            <a:off x="12106275" y="6299835"/>
            <a:ext cx="5414010" cy="3402330"/>
            <a:chOff x="0" y="0"/>
            <a:chExt cx="7218680" cy="4536440"/>
          </a:xfrm>
        </p:grpSpPr>
        <p:sp>
          <p:nvSpPr>
            <p:cNvPr name="Freeform 54" id="54"/>
            <p:cNvSpPr/>
            <p:nvPr/>
          </p:nvSpPr>
          <p:spPr>
            <a:xfrm flipH="false" flipV="false" rot="0">
              <a:off x="0" y="0"/>
              <a:ext cx="7218680" cy="4536440"/>
            </a:xfrm>
            <a:custGeom>
              <a:avLst/>
              <a:gdLst/>
              <a:ahLst/>
              <a:cxnLst/>
              <a:rect r="r" b="b" t="t" l="l"/>
              <a:pathLst>
                <a:path h="4536440" w="7218680">
                  <a:moveTo>
                    <a:pt x="0" y="196215"/>
                  </a:moveTo>
                  <a:cubicBezTo>
                    <a:pt x="0" y="87884"/>
                    <a:pt x="87884" y="0"/>
                    <a:pt x="196215" y="0"/>
                  </a:cubicBezTo>
                  <a:lnTo>
                    <a:pt x="7022465" y="0"/>
                  </a:lnTo>
                  <a:cubicBezTo>
                    <a:pt x="7130797" y="0"/>
                    <a:pt x="7218680" y="87884"/>
                    <a:pt x="7218680" y="196215"/>
                  </a:cubicBezTo>
                  <a:lnTo>
                    <a:pt x="7218680" y="4340225"/>
                  </a:lnTo>
                  <a:cubicBezTo>
                    <a:pt x="7218680" y="4448556"/>
                    <a:pt x="7130797" y="4536440"/>
                    <a:pt x="7022465" y="4536440"/>
                  </a:cubicBezTo>
                  <a:lnTo>
                    <a:pt x="196215" y="4536440"/>
                  </a:lnTo>
                  <a:cubicBezTo>
                    <a:pt x="87884" y="4536440"/>
                    <a:pt x="0" y="4448556"/>
                    <a:pt x="0" y="4340225"/>
                  </a:cubicBezTo>
                  <a:close/>
                </a:path>
              </a:pathLst>
            </a:custGeom>
            <a:solidFill>
              <a:srgbClr val="2E3D7C"/>
            </a:solidFill>
            <a:ln w="19050" cap="sq">
              <a:solidFill>
                <a:srgbClr val="00C2D7"/>
              </a:solidFill>
              <a:prstDash val="solid"/>
              <a:miter/>
            </a:ln>
          </p:spPr>
        </p:sp>
      </p:grpSp>
      <p:grpSp>
        <p:nvGrpSpPr>
          <p:cNvPr name="Group 55" id="55"/>
          <p:cNvGrpSpPr/>
          <p:nvPr/>
        </p:nvGrpSpPr>
        <p:grpSpPr>
          <a:xfrm rot="0">
            <a:off x="12390120" y="6583680"/>
            <a:ext cx="1463040" cy="640080"/>
            <a:chOff x="0" y="0"/>
            <a:chExt cx="1950720" cy="853440"/>
          </a:xfrm>
        </p:grpSpPr>
        <p:sp>
          <p:nvSpPr>
            <p:cNvPr name="Freeform 56" id="56"/>
            <p:cNvSpPr/>
            <p:nvPr/>
          </p:nvSpPr>
          <p:spPr>
            <a:xfrm flipH="false" flipV="false" rot="0">
              <a:off x="0" y="0"/>
              <a:ext cx="1950720" cy="853440"/>
            </a:xfrm>
            <a:custGeom>
              <a:avLst/>
              <a:gdLst/>
              <a:ahLst/>
              <a:cxnLst/>
              <a:rect r="r" b="b" t="t" l="l"/>
              <a:pathLst>
                <a:path h="853440" w="1950720">
                  <a:moveTo>
                    <a:pt x="0" y="0"/>
                  </a:moveTo>
                  <a:lnTo>
                    <a:pt x="1950720" y="0"/>
                  </a:lnTo>
                  <a:lnTo>
                    <a:pt x="1950720" y="853440"/>
                  </a:lnTo>
                  <a:lnTo>
                    <a:pt x="0" y="853440"/>
                  </a:lnTo>
                  <a:close/>
                </a:path>
              </a:pathLst>
            </a:custGeom>
            <a:blipFill>
              <a:blip r:embed="rId3">
                <a:alphaModFix amt="0"/>
              </a:blip>
              <a:stretch>
                <a:fillRect l="-6132" t="0" r="-6132" b="0"/>
              </a:stretch>
            </a:blipFill>
          </p:spPr>
        </p:sp>
        <p:sp>
          <p:nvSpPr>
            <p:cNvPr name="TextBox 57" id="57"/>
            <p:cNvSpPr txBox="true"/>
            <p:nvPr/>
          </p:nvSpPr>
          <p:spPr>
            <a:xfrm>
              <a:off x="0" y="-19050"/>
              <a:ext cx="1950720" cy="872490"/>
            </a:xfrm>
            <a:prstGeom prst="rect">
              <a:avLst/>
            </a:prstGeom>
          </p:spPr>
          <p:txBody>
            <a:bodyPr anchor="ctr" rtlCol="false" tIns="0" lIns="0" bIns="0" rIns="0"/>
            <a:lstStyle/>
            <a:p>
              <a:pPr algn="l">
                <a:lnSpc>
                  <a:spcPts val="3359"/>
                </a:lnSpc>
              </a:pPr>
              <a:r>
                <a:rPr lang="en-US" b="true" sz="2799">
                  <a:solidFill>
                    <a:srgbClr val="00C2D7"/>
                  </a:solidFill>
                  <a:latin typeface="Arial Bold"/>
                  <a:ea typeface="Arial Bold"/>
                  <a:cs typeface="Arial Bold"/>
                  <a:sym typeface="Arial Bold"/>
                </a:rPr>
                <a:t>06</a:t>
              </a:r>
            </a:p>
          </p:txBody>
        </p:sp>
      </p:grpSp>
      <p:grpSp>
        <p:nvGrpSpPr>
          <p:cNvPr name="Group 58" id="58"/>
          <p:cNvGrpSpPr/>
          <p:nvPr/>
        </p:nvGrpSpPr>
        <p:grpSpPr>
          <a:xfrm rot="0">
            <a:off x="12927330" y="6583680"/>
            <a:ext cx="4594860" cy="1079041"/>
            <a:chOff x="0" y="0"/>
            <a:chExt cx="6126480" cy="1438721"/>
          </a:xfrm>
        </p:grpSpPr>
        <p:sp>
          <p:nvSpPr>
            <p:cNvPr name="Freeform 59" id="59"/>
            <p:cNvSpPr/>
            <p:nvPr/>
          </p:nvSpPr>
          <p:spPr>
            <a:xfrm flipH="false" flipV="false" rot="0">
              <a:off x="0" y="0"/>
              <a:ext cx="6126480" cy="1438721"/>
            </a:xfrm>
            <a:custGeom>
              <a:avLst/>
              <a:gdLst/>
              <a:ahLst/>
              <a:cxnLst/>
              <a:rect r="r" b="b" t="t" l="l"/>
              <a:pathLst>
                <a:path h="1438721" w="6126480">
                  <a:moveTo>
                    <a:pt x="0" y="0"/>
                  </a:moveTo>
                  <a:lnTo>
                    <a:pt x="6126480" y="0"/>
                  </a:lnTo>
                  <a:lnTo>
                    <a:pt x="6126480" y="1438721"/>
                  </a:lnTo>
                  <a:lnTo>
                    <a:pt x="0" y="1438721"/>
                  </a:lnTo>
                  <a:close/>
                </a:path>
              </a:pathLst>
            </a:custGeom>
            <a:blipFill>
              <a:blip r:embed="rId3">
                <a:alphaModFix amt="0"/>
              </a:blip>
              <a:stretch>
                <a:fillRect l="0" t="-49379" r="-5472" b="-25647"/>
              </a:stretch>
            </a:blipFill>
          </p:spPr>
        </p:sp>
        <p:sp>
          <p:nvSpPr>
            <p:cNvPr name="TextBox 60" id="60"/>
            <p:cNvSpPr txBox="true"/>
            <p:nvPr/>
          </p:nvSpPr>
          <p:spPr>
            <a:xfrm>
              <a:off x="0" y="-19050"/>
              <a:ext cx="6126480" cy="1457771"/>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Auth</a:t>
              </a:r>
              <a:r>
                <a:rPr lang="en-US" b="true" sz="3000">
                  <a:solidFill>
                    <a:srgbClr val="FFFFFF"/>
                  </a:solidFill>
                  <a:latin typeface="Arial Bold"/>
                  <a:ea typeface="Arial Bold"/>
                  <a:cs typeface="Arial Bold"/>
                  <a:sym typeface="Arial Bold"/>
                </a:rPr>
                <a:t>entification sécurisée</a:t>
              </a:r>
            </a:p>
          </p:txBody>
        </p:sp>
      </p:grpSp>
      <p:sp>
        <p:nvSpPr>
          <p:cNvPr name="TextBox 61" id="61"/>
          <p:cNvSpPr txBox="true"/>
          <p:nvPr/>
        </p:nvSpPr>
        <p:spPr>
          <a:xfrm rot="0">
            <a:off x="12390120" y="7842270"/>
            <a:ext cx="4846320" cy="952500"/>
          </a:xfrm>
          <a:prstGeom prst="rect">
            <a:avLst/>
          </a:prstGeom>
        </p:spPr>
        <p:txBody>
          <a:bodyPr anchor="t" rtlCol="false" tIns="0" lIns="0" bIns="0" rIns="0">
            <a:spAutoFit/>
          </a:bodyPr>
          <a:lstStyle/>
          <a:p>
            <a:pPr algn="l">
              <a:lnSpc>
                <a:spcPts val="2520"/>
              </a:lnSpc>
            </a:pPr>
            <a:r>
              <a:rPr lang="en-US" sz="2100">
                <a:solidFill>
                  <a:srgbClr val="E8EEFC"/>
                </a:solidFill>
                <a:latin typeface="Arial"/>
                <a:ea typeface="Arial"/>
                <a:cs typeface="Arial"/>
                <a:sym typeface="Arial"/>
              </a:rPr>
              <a:t>A</a:t>
            </a:r>
            <a:r>
              <a:rPr lang="en-US" sz="2100">
                <a:solidFill>
                  <a:srgbClr val="E8EEFC"/>
                </a:solidFill>
                <a:latin typeface="Arial"/>
                <a:ea typeface="Arial"/>
                <a:cs typeface="Arial"/>
                <a:sym typeface="Arial"/>
              </a:rPr>
              <a:t>uthentification JWT, contrôle d'accès basé sur les rôles (client / admin), anti-enumération.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8EE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79883"/>
            <a:chOff x="0" y="0"/>
            <a:chExt cx="24417871" cy="2106511"/>
          </a:xfrm>
        </p:grpSpPr>
        <p:sp>
          <p:nvSpPr>
            <p:cNvPr name="Freeform 3" id="3"/>
            <p:cNvSpPr/>
            <p:nvPr/>
          </p:nvSpPr>
          <p:spPr>
            <a:xfrm flipH="false" flipV="false" rot="0">
              <a:off x="0" y="0"/>
              <a:ext cx="24417910" cy="2106549"/>
            </a:xfrm>
            <a:custGeom>
              <a:avLst/>
              <a:gdLst/>
              <a:ahLst/>
              <a:cxnLst/>
              <a:rect r="r" b="b" t="t" l="l"/>
              <a:pathLst>
                <a:path h="2106549" w="24417910">
                  <a:moveTo>
                    <a:pt x="0" y="0"/>
                  </a:moveTo>
                  <a:lnTo>
                    <a:pt x="24417910" y="0"/>
                  </a:lnTo>
                  <a:lnTo>
                    <a:pt x="24417910" y="2106549"/>
                  </a:lnTo>
                  <a:lnTo>
                    <a:pt x="0" y="2106549"/>
                  </a:lnTo>
                  <a:close/>
                </a:path>
              </a:pathLst>
            </a:custGeom>
            <a:solidFill>
              <a:srgbClr val="1E2761"/>
            </a:solidFill>
            <a:ln w="25400" cap="sq">
              <a:solidFill>
                <a:srgbClr val="1E2761"/>
              </a:solidFill>
              <a:prstDash val="solid"/>
              <a:miter/>
            </a:ln>
          </p:spPr>
        </p:sp>
      </p:grpSp>
      <p:grpSp>
        <p:nvGrpSpPr>
          <p:cNvPr name="Group 4" id="4"/>
          <p:cNvGrpSpPr/>
          <p:nvPr/>
        </p:nvGrpSpPr>
        <p:grpSpPr>
          <a:xfrm rot="0">
            <a:off x="0" y="0"/>
            <a:ext cx="18288000" cy="1554480"/>
            <a:chOff x="0" y="0"/>
            <a:chExt cx="24384000" cy="2072640"/>
          </a:xfrm>
        </p:grpSpPr>
        <p:sp>
          <p:nvSpPr>
            <p:cNvPr name="Freeform 5" id="5"/>
            <p:cNvSpPr/>
            <p:nvPr/>
          </p:nvSpPr>
          <p:spPr>
            <a:xfrm flipH="false" flipV="false" rot="0">
              <a:off x="0" y="0"/>
              <a:ext cx="24384000" cy="2072640"/>
            </a:xfrm>
            <a:custGeom>
              <a:avLst/>
              <a:gdLst/>
              <a:ahLst/>
              <a:cxnLst/>
              <a:rect r="r" b="b" t="t" l="l"/>
              <a:pathLst>
                <a:path h="2072640" w="24384000">
                  <a:moveTo>
                    <a:pt x="0" y="0"/>
                  </a:moveTo>
                  <a:lnTo>
                    <a:pt x="24384000" y="0"/>
                  </a:lnTo>
                  <a:lnTo>
                    <a:pt x="24384000" y="2072640"/>
                  </a:lnTo>
                  <a:lnTo>
                    <a:pt x="0" y="2072640"/>
                  </a:lnTo>
                  <a:close/>
                </a:path>
              </a:pathLst>
            </a:custGeom>
            <a:blipFill>
              <a:blip r:embed="rId3">
                <a:alphaModFix amt="0"/>
              </a:blip>
              <a:stretch>
                <a:fillRect l="0" t="-179235" r="0" b="-179235"/>
              </a:stretch>
            </a:blipFill>
          </p:spPr>
        </p:sp>
        <p:sp>
          <p:nvSpPr>
            <p:cNvPr name="TextBox 6" id="6"/>
            <p:cNvSpPr txBox="true"/>
            <p:nvPr/>
          </p:nvSpPr>
          <p:spPr>
            <a:xfrm>
              <a:off x="0" y="-19050"/>
              <a:ext cx="24384000" cy="2091690"/>
            </a:xfrm>
            <a:prstGeom prst="rect">
              <a:avLst/>
            </a:prstGeom>
          </p:spPr>
          <p:txBody>
            <a:bodyPr anchor="ctr" rtlCol="false" tIns="0" lIns="0" bIns="0" rIns="0"/>
            <a:lstStyle/>
            <a:p>
              <a:pPr algn="ctr">
                <a:lnSpc>
                  <a:spcPts val="6239"/>
                </a:lnSpc>
              </a:pPr>
              <a:r>
                <a:rPr lang="en-US" b="true" sz="5199">
                  <a:solidFill>
                    <a:srgbClr val="FFFFFF"/>
                  </a:solidFill>
                  <a:latin typeface="Arial Bold"/>
                  <a:ea typeface="Arial Bold"/>
                  <a:cs typeface="Arial Bold"/>
                  <a:sym typeface="Arial Bold"/>
                </a:rPr>
                <a:t>Équip</a:t>
              </a:r>
              <a:r>
                <a:rPr lang="en-US" b="true" sz="5199">
                  <a:solidFill>
                    <a:srgbClr val="FFFFFF"/>
                  </a:solidFill>
                  <a:latin typeface="Arial Bold"/>
                  <a:ea typeface="Arial Bold"/>
                  <a:cs typeface="Arial Bold"/>
                  <a:sym typeface="Arial Bold"/>
                </a:rPr>
                <a:t>e et contexte</a:t>
              </a:r>
            </a:p>
          </p:txBody>
        </p:sp>
      </p:grpSp>
      <p:grpSp>
        <p:nvGrpSpPr>
          <p:cNvPr name="Group 7" id="7"/>
          <p:cNvGrpSpPr/>
          <p:nvPr/>
        </p:nvGrpSpPr>
        <p:grpSpPr>
          <a:xfrm rot="0">
            <a:off x="1267463" y="1998983"/>
            <a:ext cx="7340603" cy="3408683"/>
            <a:chOff x="0" y="0"/>
            <a:chExt cx="9787471" cy="4544911"/>
          </a:xfrm>
        </p:grpSpPr>
        <p:sp>
          <p:nvSpPr>
            <p:cNvPr name="Freeform 8" id="8"/>
            <p:cNvSpPr/>
            <p:nvPr/>
          </p:nvSpPr>
          <p:spPr>
            <a:xfrm flipH="false" flipV="false" rot="0">
              <a:off x="0" y="0"/>
              <a:ext cx="9787510" cy="4544949"/>
            </a:xfrm>
            <a:custGeom>
              <a:avLst/>
              <a:gdLst/>
              <a:ahLst/>
              <a:cxnLst/>
              <a:rect r="r" b="b" t="t" l="l"/>
              <a:pathLst>
                <a:path h="4544949" w="9787510">
                  <a:moveTo>
                    <a:pt x="0" y="294767"/>
                  </a:moveTo>
                  <a:cubicBezTo>
                    <a:pt x="0" y="131953"/>
                    <a:pt x="131953" y="0"/>
                    <a:pt x="294767" y="0"/>
                  </a:cubicBezTo>
                  <a:lnTo>
                    <a:pt x="9492742" y="0"/>
                  </a:lnTo>
                  <a:cubicBezTo>
                    <a:pt x="9655556" y="0"/>
                    <a:pt x="9787510" y="131953"/>
                    <a:pt x="9787510" y="294767"/>
                  </a:cubicBezTo>
                  <a:lnTo>
                    <a:pt x="9787510" y="4250182"/>
                  </a:lnTo>
                  <a:cubicBezTo>
                    <a:pt x="9787510" y="4412996"/>
                    <a:pt x="9655556" y="4544949"/>
                    <a:pt x="9492742" y="4544949"/>
                  </a:cubicBezTo>
                  <a:lnTo>
                    <a:pt x="294767" y="4544949"/>
                  </a:lnTo>
                  <a:cubicBezTo>
                    <a:pt x="131953" y="4544949"/>
                    <a:pt x="0" y="4412869"/>
                    <a:pt x="0" y="4250182"/>
                  </a:cubicBezTo>
                  <a:close/>
                </a:path>
              </a:pathLst>
            </a:custGeom>
            <a:solidFill>
              <a:srgbClr val="FFFFFF"/>
            </a:solidFill>
            <a:ln w="25400" cap="sq">
              <a:solidFill>
                <a:srgbClr val="1E2761"/>
              </a:solidFill>
              <a:prstDash val="solid"/>
              <a:miter/>
            </a:ln>
          </p:spPr>
        </p:sp>
      </p:grpSp>
      <p:grpSp>
        <p:nvGrpSpPr>
          <p:cNvPr name="Group 9" id="9"/>
          <p:cNvGrpSpPr/>
          <p:nvPr/>
        </p:nvGrpSpPr>
        <p:grpSpPr>
          <a:xfrm rot="0">
            <a:off x="1724663" y="2364743"/>
            <a:ext cx="1579883" cy="1579883"/>
            <a:chOff x="0" y="0"/>
            <a:chExt cx="2106511" cy="2106511"/>
          </a:xfrm>
        </p:grpSpPr>
        <p:sp>
          <p:nvSpPr>
            <p:cNvPr name="Freeform 10" id="10"/>
            <p:cNvSpPr/>
            <p:nvPr/>
          </p:nvSpPr>
          <p:spPr>
            <a:xfrm flipH="false" flipV="false" rot="0">
              <a:off x="0" y="0"/>
              <a:ext cx="2106422" cy="2106422"/>
            </a:xfrm>
            <a:custGeom>
              <a:avLst/>
              <a:gdLst/>
              <a:ahLst/>
              <a:cxnLst/>
              <a:rect r="r" b="b" t="t" l="l"/>
              <a:pathLst>
                <a:path h="2106422" w="2106422">
                  <a:moveTo>
                    <a:pt x="0" y="1053211"/>
                  </a:moveTo>
                  <a:cubicBezTo>
                    <a:pt x="0" y="471551"/>
                    <a:pt x="471551" y="0"/>
                    <a:pt x="1053211" y="0"/>
                  </a:cubicBezTo>
                  <a:cubicBezTo>
                    <a:pt x="1634871" y="0"/>
                    <a:pt x="2106422" y="471551"/>
                    <a:pt x="2106422" y="1053211"/>
                  </a:cubicBezTo>
                  <a:cubicBezTo>
                    <a:pt x="2106422" y="1634871"/>
                    <a:pt x="1634871" y="2106422"/>
                    <a:pt x="1053211" y="2106422"/>
                  </a:cubicBezTo>
                  <a:cubicBezTo>
                    <a:pt x="471551" y="2106422"/>
                    <a:pt x="0" y="1634998"/>
                    <a:pt x="0" y="1053211"/>
                  </a:cubicBezTo>
                  <a:close/>
                </a:path>
              </a:pathLst>
            </a:custGeom>
            <a:solidFill>
              <a:srgbClr val="1E2761"/>
            </a:solidFill>
            <a:ln w="25400" cap="sq">
              <a:solidFill>
                <a:srgbClr val="1E2761"/>
              </a:solidFill>
              <a:prstDash val="solid"/>
              <a:miter/>
            </a:ln>
          </p:spPr>
        </p:sp>
      </p:grpSp>
      <p:grpSp>
        <p:nvGrpSpPr>
          <p:cNvPr name="Group 11" id="11"/>
          <p:cNvGrpSpPr/>
          <p:nvPr/>
        </p:nvGrpSpPr>
        <p:grpSpPr>
          <a:xfrm rot="0">
            <a:off x="1737360" y="2377440"/>
            <a:ext cx="1554480" cy="1554480"/>
            <a:chOff x="0" y="0"/>
            <a:chExt cx="2072640" cy="2072640"/>
          </a:xfrm>
        </p:grpSpPr>
        <p:sp>
          <p:nvSpPr>
            <p:cNvPr name="Freeform 12" id="12"/>
            <p:cNvSpPr/>
            <p:nvPr/>
          </p:nvSpPr>
          <p:spPr>
            <a:xfrm flipH="false" flipV="false" rot="0">
              <a:off x="0" y="0"/>
              <a:ext cx="2072640" cy="2072640"/>
            </a:xfrm>
            <a:custGeom>
              <a:avLst/>
              <a:gdLst/>
              <a:ahLst/>
              <a:cxnLst/>
              <a:rect r="r" b="b" t="t" l="l"/>
              <a:pathLst>
                <a:path h="2072640" w="2072640">
                  <a:moveTo>
                    <a:pt x="0" y="0"/>
                  </a:moveTo>
                  <a:lnTo>
                    <a:pt x="2072640" y="0"/>
                  </a:lnTo>
                  <a:lnTo>
                    <a:pt x="2072640" y="2072640"/>
                  </a:lnTo>
                  <a:lnTo>
                    <a:pt x="0" y="2072640"/>
                  </a:lnTo>
                  <a:close/>
                </a:path>
              </a:pathLst>
            </a:custGeom>
            <a:blipFill>
              <a:blip r:embed="rId3">
                <a:alphaModFix amt="0"/>
              </a:blip>
              <a:stretch>
                <a:fillRect l="-78303" t="0" r="-78303" b="0"/>
              </a:stretch>
            </a:blipFill>
          </p:spPr>
        </p:sp>
        <p:sp>
          <p:nvSpPr>
            <p:cNvPr name="TextBox 13" id="13"/>
            <p:cNvSpPr txBox="true"/>
            <p:nvPr/>
          </p:nvSpPr>
          <p:spPr>
            <a:xfrm>
              <a:off x="0" y="-19050"/>
              <a:ext cx="2072640" cy="209169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TJ</a:t>
              </a:r>
            </a:p>
          </p:txBody>
        </p:sp>
      </p:grpSp>
      <p:grpSp>
        <p:nvGrpSpPr>
          <p:cNvPr name="Group 14" id="14"/>
          <p:cNvGrpSpPr/>
          <p:nvPr/>
        </p:nvGrpSpPr>
        <p:grpSpPr>
          <a:xfrm rot="0">
            <a:off x="3474720" y="2377440"/>
            <a:ext cx="4937760" cy="731520"/>
            <a:chOff x="0" y="0"/>
            <a:chExt cx="6583680" cy="975360"/>
          </a:xfrm>
        </p:grpSpPr>
        <p:sp>
          <p:nvSpPr>
            <p:cNvPr name="Freeform 15" id="15"/>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3">
                <a:alphaModFix amt="0"/>
              </a:blip>
              <a:stretch>
                <a:fillRect l="0" t="-81524" r="0" b="-81524"/>
              </a:stretch>
            </a:blipFill>
          </p:spPr>
        </p:sp>
        <p:sp>
          <p:nvSpPr>
            <p:cNvPr name="TextBox 16" id="16"/>
            <p:cNvSpPr txBox="true"/>
            <p:nvPr/>
          </p:nvSpPr>
          <p:spPr>
            <a:xfrm>
              <a:off x="0" y="-19050"/>
              <a:ext cx="6583680" cy="994410"/>
            </a:xfrm>
            <a:prstGeom prst="rect">
              <a:avLst/>
            </a:prstGeom>
          </p:spPr>
          <p:txBody>
            <a:bodyPr anchor="ctr" rtlCol="false" tIns="0" lIns="0" bIns="0" rIns="0"/>
            <a:lstStyle/>
            <a:p>
              <a:pPr algn="l">
                <a:lnSpc>
                  <a:spcPts val="4079"/>
                </a:lnSpc>
              </a:pPr>
              <a:r>
                <a:rPr lang="en-US" b="true" sz="3399">
                  <a:solidFill>
                    <a:srgbClr val="1E2761"/>
                  </a:solidFill>
                  <a:latin typeface="Arial Bold"/>
                  <a:ea typeface="Arial Bold"/>
                  <a:cs typeface="Arial Bold"/>
                  <a:sym typeface="Arial Bold"/>
                </a:rPr>
                <a:t>Tommy JOUHANS</a:t>
              </a:r>
            </a:p>
          </p:txBody>
        </p:sp>
      </p:grpSp>
      <p:grpSp>
        <p:nvGrpSpPr>
          <p:cNvPr name="Group 17" id="17"/>
          <p:cNvGrpSpPr/>
          <p:nvPr/>
        </p:nvGrpSpPr>
        <p:grpSpPr>
          <a:xfrm rot="0">
            <a:off x="3474720" y="3108960"/>
            <a:ext cx="4937760" cy="548640"/>
            <a:chOff x="0" y="0"/>
            <a:chExt cx="6583680" cy="731520"/>
          </a:xfrm>
        </p:grpSpPr>
        <p:sp>
          <p:nvSpPr>
            <p:cNvPr name="Freeform 18" id="18"/>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3">
                <a:alphaModFix amt="0"/>
              </a:blip>
              <a:stretch>
                <a:fillRect l="0" t="-125365" r="0" b="-125365"/>
              </a:stretch>
            </a:blipFill>
          </p:spPr>
        </p:sp>
        <p:sp>
          <p:nvSpPr>
            <p:cNvPr name="TextBox 19" id="19"/>
            <p:cNvSpPr txBox="true"/>
            <p:nvPr/>
          </p:nvSpPr>
          <p:spPr>
            <a:xfrm>
              <a:off x="0" y="-19050"/>
              <a:ext cx="6583680" cy="750570"/>
            </a:xfrm>
            <a:prstGeom prst="rect">
              <a:avLst/>
            </a:prstGeom>
          </p:spPr>
          <p:txBody>
            <a:bodyPr anchor="ctr" rtlCol="false" tIns="0" lIns="0" bIns="0" rIns="0"/>
            <a:lstStyle/>
            <a:p>
              <a:pPr algn="l">
                <a:lnSpc>
                  <a:spcPts val="2639"/>
                </a:lnSpc>
              </a:pPr>
              <a:r>
                <a:rPr lang="en-US" sz="2199" i="true">
                  <a:solidFill>
                    <a:srgbClr val="00C2D7"/>
                  </a:solidFill>
                  <a:latin typeface="Arial Italics"/>
                  <a:ea typeface="Arial Italics"/>
                  <a:cs typeface="Arial Italics"/>
                  <a:sym typeface="Arial Italics"/>
                </a:rPr>
                <a:t>Frontend &amp; UI/UX Lead</a:t>
              </a:r>
            </a:p>
          </p:txBody>
        </p:sp>
      </p:grpSp>
      <p:grpSp>
        <p:nvGrpSpPr>
          <p:cNvPr name="Group 20" id="20"/>
          <p:cNvGrpSpPr/>
          <p:nvPr/>
        </p:nvGrpSpPr>
        <p:grpSpPr>
          <a:xfrm rot="0">
            <a:off x="1309267" y="5655647"/>
            <a:ext cx="7340603" cy="3408683"/>
            <a:chOff x="0" y="0"/>
            <a:chExt cx="9787471" cy="4544911"/>
          </a:xfrm>
        </p:grpSpPr>
        <p:sp>
          <p:nvSpPr>
            <p:cNvPr name="Freeform 21" id="21"/>
            <p:cNvSpPr/>
            <p:nvPr/>
          </p:nvSpPr>
          <p:spPr>
            <a:xfrm flipH="false" flipV="false" rot="0">
              <a:off x="0" y="0"/>
              <a:ext cx="9787510" cy="4544949"/>
            </a:xfrm>
            <a:custGeom>
              <a:avLst/>
              <a:gdLst/>
              <a:ahLst/>
              <a:cxnLst/>
              <a:rect r="r" b="b" t="t" l="l"/>
              <a:pathLst>
                <a:path h="4544949" w="9787510">
                  <a:moveTo>
                    <a:pt x="0" y="294767"/>
                  </a:moveTo>
                  <a:cubicBezTo>
                    <a:pt x="0" y="131953"/>
                    <a:pt x="131953" y="0"/>
                    <a:pt x="294767" y="0"/>
                  </a:cubicBezTo>
                  <a:lnTo>
                    <a:pt x="9492742" y="0"/>
                  </a:lnTo>
                  <a:cubicBezTo>
                    <a:pt x="9655556" y="0"/>
                    <a:pt x="9787510" y="131953"/>
                    <a:pt x="9787510" y="294767"/>
                  </a:cubicBezTo>
                  <a:lnTo>
                    <a:pt x="9787510" y="4250182"/>
                  </a:lnTo>
                  <a:cubicBezTo>
                    <a:pt x="9787510" y="4412996"/>
                    <a:pt x="9655556" y="4544949"/>
                    <a:pt x="9492742" y="4544949"/>
                  </a:cubicBezTo>
                  <a:lnTo>
                    <a:pt x="294767" y="4544949"/>
                  </a:lnTo>
                  <a:cubicBezTo>
                    <a:pt x="131953" y="4544949"/>
                    <a:pt x="0" y="4412869"/>
                    <a:pt x="0" y="4250182"/>
                  </a:cubicBezTo>
                  <a:close/>
                </a:path>
              </a:pathLst>
            </a:custGeom>
            <a:solidFill>
              <a:srgbClr val="FFFFFF"/>
            </a:solidFill>
            <a:ln w="25400" cap="sq">
              <a:solidFill>
                <a:srgbClr val="1E2761"/>
              </a:solidFill>
              <a:prstDash val="solid"/>
              <a:miter/>
            </a:ln>
          </p:spPr>
        </p:sp>
      </p:grpSp>
      <p:grpSp>
        <p:nvGrpSpPr>
          <p:cNvPr name="Group 22" id="22"/>
          <p:cNvGrpSpPr/>
          <p:nvPr/>
        </p:nvGrpSpPr>
        <p:grpSpPr>
          <a:xfrm rot="0">
            <a:off x="1766467" y="6021407"/>
            <a:ext cx="1579883" cy="1579883"/>
            <a:chOff x="0" y="0"/>
            <a:chExt cx="2106511" cy="2106511"/>
          </a:xfrm>
        </p:grpSpPr>
        <p:sp>
          <p:nvSpPr>
            <p:cNvPr name="Freeform 23" id="23"/>
            <p:cNvSpPr/>
            <p:nvPr/>
          </p:nvSpPr>
          <p:spPr>
            <a:xfrm flipH="false" flipV="false" rot="0">
              <a:off x="0" y="0"/>
              <a:ext cx="2106422" cy="2106422"/>
            </a:xfrm>
            <a:custGeom>
              <a:avLst/>
              <a:gdLst/>
              <a:ahLst/>
              <a:cxnLst/>
              <a:rect r="r" b="b" t="t" l="l"/>
              <a:pathLst>
                <a:path h="2106422" w="2106422">
                  <a:moveTo>
                    <a:pt x="0" y="1053211"/>
                  </a:moveTo>
                  <a:cubicBezTo>
                    <a:pt x="0" y="471551"/>
                    <a:pt x="471551" y="0"/>
                    <a:pt x="1053211" y="0"/>
                  </a:cubicBezTo>
                  <a:cubicBezTo>
                    <a:pt x="1634871" y="0"/>
                    <a:pt x="2106422" y="471551"/>
                    <a:pt x="2106422" y="1053211"/>
                  </a:cubicBezTo>
                  <a:cubicBezTo>
                    <a:pt x="2106422" y="1634871"/>
                    <a:pt x="1634871" y="2106422"/>
                    <a:pt x="1053211" y="2106422"/>
                  </a:cubicBezTo>
                  <a:cubicBezTo>
                    <a:pt x="471551" y="2106422"/>
                    <a:pt x="0" y="1634998"/>
                    <a:pt x="0" y="1053211"/>
                  </a:cubicBezTo>
                  <a:close/>
                </a:path>
              </a:pathLst>
            </a:custGeom>
            <a:solidFill>
              <a:srgbClr val="1E2761"/>
            </a:solidFill>
            <a:ln w="25400" cap="sq">
              <a:solidFill>
                <a:srgbClr val="1E2761"/>
              </a:solidFill>
              <a:prstDash val="solid"/>
              <a:miter/>
            </a:ln>
          </p:spPr>
        </p:sp>
      </p:grpSp>
      <p:grpSp>
        <p:nvGrpSpPr>
          <p:cNvPr name="Group 24" id="24"/>
          <p:cNvGrpSpPr/>
          <p:nvPr/>
        </p:nvGrpSpPr>
        <p:grpSpPr>
          <a:xfrm rot="0">
            <a:off x="1779164" y="6034104"/>
            <a:ext cx="1554480" cy="1554480"/>
            <a:chOff x="0" y="0"/>
            <a:chExt cx="2072640" cy="2072640"/>
          </a:xfrm>
        </p:grpSpPr>
        <p:sp>
          <p:nvSpPr>
            <p:cNvPr name="Freeform 25" id="25"/>
            <p:cNvSpPr/>
            <p:nvPr/>
          </p:nvSpPr>
          <p:spPr>
            <a:xfrm flipH="false" flipV="false" rot="0">
              <a:off x="0" y="0"/>
              <a:ext cx="2072640" cy="2072640"/>
            </a:xfrm>
            <a:custGeom>
              <a:avLst/>
              <a:gdLst/>
              <a:ahLst/>
              <a:cxnLst/>
              <a:rect r="r" b="b" t="t" l="l"/>
              <a:pathLst>
                <a:path h="2072640" w="2072640">
                  <a:moveTo>
                    <a:pt x="0" y="0"/>
                  </a:moveTo>
                  <a:lnTo>
                    <a:pt x="2072640" y="0"/>
                  </a:lnTo>
                  <a:lnTo>
                    <a:pt x="2072640" y="2072640"/>
                  </a:lnTo>
                  <a:lnTo>
                    <a:pt x="0" y="2072640"/>
                  </a:lnTo>
                  <a:close/>
                </a:path>
              </a:pathLst>
            </a:custGeom>
            <a:blipFill>
              <a:blip r:embed="rId3">
                <a:alphaModFix amt="0"/>
              </a:blip>
              <a:stretch>
                <a:fillRect l="-78303" t="0" r="-78303" b="0"/>
              </a:stretch>
            </a:blipFill>
          </p:spPr>
        </p:sp>
        <p:sp>
          <p:nvSpPr>
            <p:cNvPr name="TextBox 26" id="26"/>
            <p:cNvSpPr txBox="true"/>
            <p:nvPr/>
          </p:nvSpPr>
          <p:spPr>
            <a:xfrm>
              <a:off x="0" y="-19050"/>
              <a:ext cx="2072640" cy="209169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JR</a:t>
              </a:r>
            </a:p>
          </p:txBody>
        </p:sp>
      </p:grpSp>
      <p:grpSp>
        <p:nvGrpSpPr>
          <p:cNvPr name="Group 27" id="27"/>
          <p:cNvGrpSpPr/>
          <p:nvPr/>
        </p:nvGrpSpPr>
        <p:grpSpPr>
          <a:xfrm rot="0">
            <a:off x="3516524" y="6034104"/>
            <a:ext cx="4937760" cy="731520"/>
            <a:chOff x="0" y="0"/>
            <a:chExt cx="6583680" cy="975360"/>
          </a:xfrm>
        </p:grpSpPr>
        <p:sp>
          <p:nvSpPr>
            <p:cNvPr name="Freeform 28" id="28"/>
            <p:cNvSpPr/>
            <p:nvPr/>
          </p:nvSpPr>
          <p:spPr>
            <a:xfrm flipH="false" flipV="false" rot="0">
              <a:off x="0" y="0"/>
              <a:ext cx="6583680" cy="975360"/>
            </a:xfrm>
            <a:custGeom>
              <a:avLst/>
              <a:gdLst/>
              <a:ahLst/>
              <a:cxnLst/>
              <a:rect r="r" b="b" t="t" l="l"/>
              <a:pathLst>
                <a:path h="975360" w="6583680">
                  <a:moveTo>
                    <a:pt x="0" y="0"/>
                  </a:moveTo>
                  <a:lnTo>
                    <a:pt x="6583680" y="0"/>
                  </a:lnTo>
                  <a:lnTo>
                    <a:pt x="6583680" y="975360"/>
                  </a:lnTo>
                  <a:lnTo>
                    <a:pt x="0" y="975360"/>
                  </a:lnTo>
                  <a:close/>
                </a:path>
              </a:pathLst>
            </a:custGeom>
            <a:blipFill>
              <a:blip r:embed="rId3">
                <a:alphaModFix amt="0"/>
              </a:blip>
              <a:stretch>
                <a:fillRect l="0" t="-81524" r="0" b="-81524"/>
              </a:stretch>
            </a:blipFill>
          </p:spPr>
        </p:sp>
        <p:sp>
          <p:nvSpPr>
            <p:cNvPr name="TextBox 29" id="29"/>
            <p:cNvSpPr txBox="true"/>
            <p:nvPr/>
          </p:nvSpPr>
          <p:spPr>
            <a:xfrm>
              <a:off x="0" y="-19050"/>
              <a:ext cx="6583680" cy="994410"/>
            </a:xfrm>
            <a:prstGeom prst="rect">
              <a:avLst/>
            </a:prstGeom>
          </p:spPr>
          <p:txBody>
            <a:bodyPr anchor="ctr" rtlCol="false" tIns="0" lIns="0" bIns="0" rIns="0"/>
            <a:lstStyle/>
            <a:p>
              <a:pPr algn="l">
                <a:lnSpc>
                  <a:spcPts val="4079"/>
                </a:lnSpc>
              </a:pPr>
              <a:r>
                <a:rPr lang="en-US" b="true" sz="3399">
                  <a:solidFill>
                    <a:srgbClr val="1E2761"/>
                  </a:solidFill>
                  <a:latin typeface="Arial Bold"/>
                  <a:ea typeface="Arial Bold"/>
                  <a:cs typeface="Arial Bold"/>
                  <a:sym typeface="Arial Bold"/>
                </a:rPr>
                <a:t>James ROUSSEL</a:t>
              </a:r>
            </a:p>
          </p:txBody>
        </p:sp>
      </p:grpSp>
      <p:grpSp>
        <p:nvGrpSpPr>
          <p:cNvPr name="Group 30" id="30"/>
          <p:cNvGrpSpPr/>
          <p:nvPr/>
        </p:nvGrpSpPr>
        <p:grpSpPr>
          <a:xfrm rot="0">
            <a:off x="3516524" y="6765624"/>
            <a:ext cx="4937760" cy="548640"/>
            <a:chOff x="0" y="0"/>
            <a:chExt cx="6583680" cy="731520"/>
          </a:xfrm>
        </p:grpSpPr>
        <p:sp>
          <p:nvSpPr>
            <p:cNvPr name="Freeform 31" id="31"/>
            <p:cNvSpPr/>
            <p:nvPr/>
          </p:nvSpPr>
          <p:spPr>
            <a:xfrm flipH="false" flipV="false" rot="0">
              <a:off x="0" y="0"/>
              <a:ext cx="6583680" cy="731520"/>
            </a:xfrm>
            <a:custGeom>
              <a:avLst/>
              <a:gdLst/>
              <a:ahLst/>
              <a:cxnLst/>
              <a:rect r="r" b="b" t="t" l="l"/>
              <a:pathLst>
                <a:path h="731520" w="6583680">
                  <a:moveTo>
                    <a:pt x="0" y="0"/>
                  </a:moveTo>
                  <a:lnTo>
                    <a:pt x="6583680" y="0"/>
                  </a:lnTo>
                  <a:lnTo>
                    <a:pt x="6583680" y="731520"/>
                  </a:lnTo>
                  <a:lnTo>
                    <a:pt x="0" y="731520"/>
                  </a:lnTo>
                  <a:close/>
                </a:path>
              </a:pathLst>
            </a:custGeom>
            <a:blipFill>
              <a:blip r:embed="rId3">
                <a:alphaModFix amt="0"/>
              </a:blip>
              <a:stretch>
                <a:fillRect l="0" t="-125365" r="0" b="-125365"/>
              </a:stretch>
            </a:blipFill>
          </p:spPr>
        </p:sp>
        <p:sp>
          <p:nvSpPr>
            <p:cNvPr name="TextBox 32" id="32"/>
            <p:cNvSpPr txBox="true"/>
            <p:nvPr/>
          </p:nvSpPr>
          <p:spPr>
            <a:xfrm>
              <a:off x="0" y="-19050"/>
              <a:ext cx="6583680" cy="750570"/>
            </a:xfrm>
            <a:prstGeom prst="rect">
              <a:avLst/>
            </a:prstGeom>
          </p:spPr>
          <p:txBody>
            <a:bodyPr anchor="ctr" rtlCol="false" tIns="0" lIns="0" bIns="0" rIns="0"/>
            <a:lstStyle/>
            <a:p>
              <a:pPr algn="l">
                <a:lnSpc>
                  <a:spcPts val="2639"/>
                </a:lnSpc>
              </a:pPr>
              <a:r>
                <a:rPr lang="en-US" sz="2199" i="true">
                  <a:solidFill>
                    <a:srgbClr val="00C2D7"/>
                  </a:solidFill>
                  <a:latin typeface="Arial Italics"/>
                  <a:ea typeface="Arial Italics"/>
                  <a:cs typeface="Arial Italics"/>
                  <a:sym typeface="Arial Italics"/>
                </a:rPr>
                <a:t>Backend &amp; DevOps Lead</a:t>
              </a:r>
            </a:p>
          </p:txBody>
        </p:sp>
      </p:grpSp>
      <p:grpSp>
        <p:nvGrpSpPr>
          <p:cNvPr name="Group 33" id="33"/>
          <p:cNvGrpSpPr/>
          <p:nvPr/>
        </p:nvGrpSpPr>
        <p:grpSpPr>
          <a:xfrm rot="0">
            <a:off x="11113408" y="1971888"/>
            <a:ext cx="4960535" cy="740494"/>
            <a:chOff x="0" y="0"/>
            <a:chExt cx="6614046" cy="987326"/>
          </a:xfrm>
        </p:grpSpPr>
        <p:sp>
          <p:nvSpPr>
            <p:cNvPr name="Freeform 34" id="34"/>
            <p:cNvSpPr/>
            <p:nvPr/>
          </p:nvSpPr>
          <p:spPr>
            <a:xfrm flipH="false" flipV="false" rot="0">
              <a:off x="0" y="0"/>
              <a:ext cx="6614046" cy="987326"/>
            </a:xfrm>
            <a:custGeom>
              <a:avLst/>
              <a:gdLst/>
              <a:ahLst/>
              <a:cxnLst/>
              <a:rect r="r" b="b" t="t" l="l"/>
              <a:pathLst>
                <a:path h="987326" w="6614046">
                  <a:moveTo>
                    <a:pt x="0" y="0"/>
                  </a:moveTo>
                  <a:lnTo>
                    <a:pt x="6614046" y="0"/>
                  </a:lnTo>
                  <a:lnTo>
                    <a:pt x="6614046" y="987326"/>
                  </a:lnTo>
                  <a:lnTo>
                    <a:pt x="0" y="987326"/>
                  </a:lnTo>
                  <a:close/>
                </a:path>
              </a:pathLst>
            </a:custGeom>
            <a:blipFill>
              <a:blip r:embed="rId3">
                <a:alphaModFix amt="0"/>
              </a:blip>
              <a:stretch>
                <a:fillRect l="0" t="-383706" r="-231802" b="-382494"/>
              </a:stretch>
            </a:blipFill>
          </p:spPr>
        </p:sp>
        <p:sp>
          <p:nvSpPr>
            <p:cNvPr name="TextBox 35" id="35"/>
            <p:cNvSpPr txBox="true"/>
            <p:nvPr/>
          </p:nvSpPr>
          <p:spPr>
            <a:xfrm>
              <a:off x="0" y="-28575"/>
              <a:ext cx="6614046" cy="1015901"/>
            </a:xfrm>
            <a:prstGeom prst="rect">
              <a:avLst/>
            </a:prstGeom>
          </p:spPr>
          <p:txBody>
            <a:bodyPr anchor="ctr" rtlCol="false" tIns="0" lIns="0" bIns="0" rIns="0"/>
            <a:lstStyle/>
            <a:p>
              <a:pPr algn="ctr">
                <a:lnSpc>
                  <a:spcPts val="4320"/>
                </a:lnSpc>
              </a:pPr>
              <a:r>
                <a:rPr lang="en-US" b="true" sz="3600">
                  <a:solidFill>
                    <a:srgbClr val="1E2761"/>
                  </a:solidFill>
                  <a:latin typeface="Arial Bold"/>
                  <a:ea typeface="Arial Bold"/>
                  <a:cs typeface="Arial Bold"/>
                  <a:sym typeface="Arial Bold"/>
                </a:rPr>
                <a:t>C</a:t>
              </a:r>
              <a:r>
                <a:rPr lang="en-US" b="true" sz="3600">
                  <a:solidFill>
                    <a:srgbClr val="1E2761"/>
                  </a:solidFill>
                  <a:latin typeface="Arial Bold"/>
                  <a:ea typeface="Arial Bold"/>
                  <a:cs typeface="Arial Bold"/>
                  <a:sym typeface="Arial Bold"/>
                </a:rPr>
                <a:t>ontexte du projet</a:t>
              </a:r>
            </a:p>
          </p:txBody>
        </p:sp>
      </p:grpSp>
      <p:grpSp>
        <p:nvGrpSpPr>
          <p:cNvPr name="Group 36" id="36"/>
          <p:cNvGrpSpPr/>
          <p:nvPr/>
        </p:nvGrpSpPr>
        <p:grpSpPr>
          <a:xfrm rot="0">
            <a:off x="0" y="9784080"/>
            <a:ext cx="18288000" cy="457200"/>
            <a:chOff x="0" y="0"/>
            <a:chExt cx="24384000" cy="609600"/>
          </a:xfrm>
        </p:grpSpPr>
        <p:sp>
          <p:nvSpPr>
            <p:cNvPr name="Freeform 37" id="37"/>
            <p:cNvSpPr/>
            <p:nvPr/>
          </p:nvSpPr>
          <p:spPr>
            <a:xfrm flipH="false" flipV="false" rot="0">
              <a:off x="0" y="0"/>
              <a:ext cx="24384000" cy="609600"/>
            </a:xfrm>
            <a:custGeom>
              <a:avLst/>
              <a:gdLst/>
              <a:ahLst/>
              <a:cxnLst/>
              <a:rect r="r" b="b" t="t" l="l"/>
              <a:pathLst>
                <a:path h="609600" w="24384000">
                  <a:moveTo>
                    <a:pt x="0" y="0"/>
                  </a:moveTo>
                  <a:lnTo>
                    <a:pt x="24384000" y="0"/>
                  </a:lnTo>
                  <a:lnTo>
                    <a:pt x="24384000" y="609600"/>
                  </a:lnTo>
                  <a:lnTo>
                    <a:pt x="0" y="609600"/>
                  </a:lnTo>
                  <a:close/>
                </a:path>
              </a:pathLst>
            </a:custGeom>
            <a:blipFill>
              <a:blip r:embed="rId3">
                <a:alphaModFix amt="0"/>
              </a:blip>
              <a:stretch>
                <a:fillRect l="0" t="-729401" r="0" b="-729401"/>
              </a:stretch>
            </a:blipFill>
          </p:spPr>
        </p:sp>
        <p:sp>
          <p:nvSpPr>
            <p:cNvPr name="TextBox 38" id="38"/>
            <p:cNvSpPr txBox="true"/>
            <p:nvPr/>
          </p:nvSpPr>
          <p:spPr>
            <a:xfrm>
              <a:off x="0" y="-19050"/>
              <a:ext cx="24384000" cy="628650"/>
            </a:xfrm>
            <a:prstGeom prst="rect">
              <a:avLst/>
            </a:prstGeom>
          </p:spPr>
          <p:txBody>
            <a:bodyPr anchor="ctr" rtlCol="false" tIns="0" lIns="0" bIns="0" rIns="0"/>
            <a:lstStyle/>
            <a:p>
              <a:pPr algn="ctr">
                <a:lnSpc>
                  <a:spcPts val="2160"/>
                </a:lnSpc>
              </a:pPr>
            </a:p>
          </p:txBody>
        </p:sp>
      </p:grpSp>
      <p:sp>
        <p:nvSpPr>
          <p:cNvPr name="Freeform 39" id="39"/>
          <p:cNvSpPr/>
          <p:nvPr/>
        </p:nvSpPr>
        <p:spPr>
          <a:xfrm flipH="false" flipV="false" rot="0">
            <a:off x="9861301" y="2765167"/>
            <a:ext cx="7152341" cy="6701384"/>
          </a:xfrm>
          <a:custGeom>
            <a:avLst/>
            <a:gdLst/>
            <a:ahLst/>
            <a:cxnLst/>
            <a:rect r="r" b="b" t="t" l="l"/>
            <a:pathLst>
              <a:path h="6701384" w="7152341">
                <a:moveTo>
                  <a:pt x="0" y="0"/>
                </a:moveTo>
                <a:lnTo>
                  <a:pt x="7152341" y="0"/>
                </a:lnTo>
                <a:lnTo>
                  <a:pt x="7152341" y="6701383"/>
                </a:lnTo>
                <a:lnTo>
                  <a:pt x="0" y="6701383"/>
                </a:lnTo>
                <a:lnTo>
                  <a:pt x="0" y="0"/>
                </a:lnTo>
                <a:close/>
              </a:path>
            </a:pathLst>
          </a:custGeom>
          <a:blipFill>
            <a:blip r:embed="rId4"/>
            <a:stretch>
              <a:fillRect l="0" t="0" r="-47512" b="0"/>
            </a:stretch>
          </a:blipFill>
        </p:spPr>
      </p:sp>
      <p:sp>
        <p:nvSpPr>
          <p:cNvPr name="TextBox 40" id="40"/>
          <p:cNvSpPr txBox="true"/>
          <p:nvPr/>
        </p:nvSpPr>
        <p:spPr>
          <a:xfrm rot="0">
            <a:off x="1920221" y="4150976"/>
            <a:ext cx="6035069" cy="914400"/>
          </a:xfrm>
          <a:prstGeom prst="rect">
            <a:avLst/>
          </a:prstGeom>
        </p:spPr>
        <p:txBody>
          <a:bodyPr anchor="t" rtlCol="false" tIns="0" lIns="0" bIns="0" rIns="0">
            <a:spAutoFit/>
          </a:bodyPr>
          <a:lstStyle/>
          <a:p>
            <a:pPr algn="l" marL="482347" indent="-241173" lvl="1">
              <a:lnSpc>
                <a:spcPts val="2400"/>
              </a:lnSpc>
              <a:buFont typeface="Arial"/>
              <a:buChar char="•"/>
            </a:pPr>
            <a:r>
              <a:rPr lang="en-US" sz="2000">
                <a:solidFill>
                  <a:srgbClr val="64748B"/>
                </a:solidFill>
                <a:latin typeface="Arial"/>
                <a:ea typeface="Arial"/>
                <a:cs typeface="Arial"/>
                <a:sym typeface="Arial"/>
              </a:rPr>
              <a:t>Composants UI &amp; Système de design</a:t>
            </a:r>
          </a:p>
          <a:p>
            <a:pPr algn="l" marL="482347" indent="-241173" lvl="1">
              <a:lnSpc>
                <a:spcPts val="2400"/>
              </a:lnSpc>
              <a:buFont typeface="Arial"/>
              <a:buChar char="•"/>
            </a:pPr>
            <a:r>
              <a:rPr lang="en-US" sz="2000">
                <a:solidFill>
                  <a:srgbClr val="64748B"/>
                </a:solidFill>
                <a:latin typeface="Arial"/>
                <a:ea typeface="Arial"/>
                <a:cs typeface="Arial"/>
                <a:sym typeface="Arial"/>
              </a:rPr>
              <a:t>Tableaux de bord Admin / Client</a:t>
            </a:r>
          </a:p>
          <a:p>
            <a:pPr algn="l" marL="482601" indent="-241300" lvl="1">
              <a:lnSpc>
                <a:spcPts val="2400"/>
              </a:lnSpc>
              <a:buFont typeface="Arial"/>
              <a:buChar char="•"/>
            </a:pPr>
            <a:r>
              <a:rPr lang="en-US" sz="2000">
                <a:solidFill>
                  <a:srgbClr val="64748B"/>
                </a:solidFill>
                <a:latin typeface="Arial"/>
                <a:ea typeface="Arial"/>
                <a:cs typeface="Arial"/>
                <a:sym typeface="Arial"/>
              </a:rPr>
              <a:t>Flux de connexion / inscription</a:t>
            </a:r>
          </a:p>
        </p:txBody>
      </p:sp>
      <p:sp>
        <p:nvSpPr>
          <p:cNvPr name="TextBox 41" id="41"/>
          <p:cNvSpPr txBox="true"/>
          <p:nvPr/>
        </p:nvSpPr>
        <p:spPr>
          <a:xfrm rot="0">
            <a:off x="1962025" y="7807640"/>
            <a:ext cx="6035069" cy="895350"/>
          </a:xfrm>
          <a:prstGeom prst="rect">
            <a:avLst/>
          </a:prstGeom>
        </p:spPr>
        <p:txBody>
          <a:bodyPr anchor="t" rtlCol="false" tIns="0" lIns="0" bIns="0" rIns="0">
            <a:spAutoFit/>
          </a:bodyPr>
          <a:lstStyle/>
          <a:p>
            <a:pPr algn="l" marL="482601" indent="-241300" lvl="1">
              <a:lnSpc>
                <a:spcPts val="2400"/>
              </a:lnSpc>
              <a:buFont typeface="Arial"/>
              <a:buChar char="•"/>
            </a:pPr>
            <a:r>
              <a:rPr lang="en-US" sz="2000">
                <a:solidFill>
                  <a:srgbClr val="64748B"/>
                </a:solidFill>
                <a:latin typeface="Arial"/>
                <a:ea typeface="Arial"/>
                <a:cs typeface="Arial"/>
                <a:sym typeface="Arial"/>
              </a:rPr>
              <a:t>API b</a:t>
            </a:r>
            <a:r>
              <a:rPr lang="en-US" sz="2000">
                <a:solidFill>
                  <a:srgbClr val="64748B"/>
                </a:solidFill>
                <a:latin typeface="Arial"/>
                <a:ea typeface="Arial"/>
                <a:cs typeface="Arial"/>
                <a:sym typeface="Arial"/>
              </a:rPr>
              <a:t>ackend + base de données</a:t>
            </a:r>
          </a:p>
          <a:p>
            <a:pPr algn="l" marL="482601" indent="-241300" lvl="1">
              <a:lnSpc>
                <a:spcPts val="2400"/>
              </a:lnSpc>
              <a:buFont typeface="Arial"/>
              <a:buChar char="•"/>
            </a:pPr>
            <a:r>
              <a:rPr lang="en-US" sz="2000">
                <a:solidFill>
                  <a:srgbClr val="64748B"/>
                </a:solidFill>
                <a:latin typeface="Arial"/>
                <a:ea typeface="Arial"/>
                <a:cs typeface="Arial"/>
                <a:sym typeface="Arial"/>
              </a:rPr>
              <a:t>Authentification &amp; sécurité</a:t>
            </a:r>
          </a:p>
          <a:p>
            <a:pPr algn="l" marL="482601" indent="-241300" lvl="1">
              <a:lnSpc>
                <a:spcPts val="2400"/>
              </a:lnSpc>
              <a:buFont typeface="Arial"/>
              <a:buChar char="•"/>
            </a:pPr>
            <a:r>
              <a:rPr lang="en-US" sz="2000">
                <a:solidFill>
                  <a:srgbClr val="64748B"/>
                </a:solidFill>
                <a:latin typeface="Arial"/>
                <a:ea typeface="Arial"/>
                <a:cs typeface="Arial"/>
                <a:sym typeface="Arial"/>
              </a:rPr>
              <a:t>Déploiement &amp; CI/CD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0" y="457200"/>
            <a:ext cx="18288000" cy="1322784"/>
            <a:chOff x="0" y="0"/>
            <a:chExt cx="24384000" cy="1763712"/>
          </a:xfrm>
        </p:grpSpPr>
        <p:sp>
          <p:nvSpPr>
            <p:cNvPr name="Freeform 3" id="3"/>
            <p:cNvSpPr/>
            <p:nvPr/>
          </p:nvSpPr>
          <p:spPr>
            <a:xfrm flipH="false" flipV="false" rot="0">
              <a:off x="0" y="0"/>
              <a:ext cx="24384000" cy="1763712"/>
            </a:xfrm>
            <a:custGeom>
              <a:avLst/>
              <a:gdLst/>
              <a:ahLst/>
              <a:cxnLst/>
              <a:rect r="r" b="b" t="t" l="l"/>
              <a:pathLst>
                <a:path h="1763712" w="24384000">
                  <a:moveTo>
                    <a:pt x="0" y="0"/>
                  </a:moveTo>
                  <a:lnTo>
                    <a:pt x="24384000" y="0"/>
                  </a:lnTo>
                  <a:lnTo>
                    <a:pt x="24384000" y="1763712"/>
                  </a:lnTo>
                  <a:lnTo>
                    <a:pt x="0" y="1763712"/>
                  </a:lnTo>
                  <a:close/>
                </a:path>
              </a:pathLst>
            </a:custGeom>
            <a:blipFill>
              <a:blip r:embed="rId3">
                <a:alphaModFix amt="0"/>
              </a:blip>
              <a:stretch>
                <a:fillRect l="0" t="-227911" r="0" b="-210864"/>
              </a:stretch>
            </a:blipFill>
          </p:spPr>
        </p:sp>
        <p:sp>
          <p:nvSpPr>
            <p:cNvPr name="TextBox 4" id="4"/>
            <p:cNvSpPr txBox="true"/>
            <p:nvPr/>
          </p:nvSpPr>
          <p:spPr>
            <a:xfrm>
              <a:off x="0" y="-28575"/>
              <a:ext cx="24384000" cy="1792287"/>
            </a:xfrm>
            <a:prstGeom prst="rect">
              <a:avLst/>
            </a:prstGeom>
          </p:spPr>
          <p:txBody>
            <a:bodyPr anchor="ctr" rtlCol="false" tIns="0" lIns="0" bIns="0" rIns="0"/>
            <a:lstStyle/>
            <a:p>
              <a:pPr algn="ctr">
                <a:lnSpc>
                  <a:spcPts val="7679"/>
                </a:lnSpc>
              </a:pPr>
              <a:r>
                <a:rPr lang="en-US" b="true" sz="6399">
                  <a:solidFill>
                    <a:srgbClr val="FFFFFF"/>
                  </a:solidFill>
                  <a:latin typeface="Arial Bold"/>
                  <a:ea typeface="Arial Bold"/>
                  <a:cs typeface="Arial Bold"/>
                  <a:sym typeface="Arial Bold"/>
                </a:rPr>
                <a:t>T</a:t>
              </a:r>
              <a:r>
                <a:rPr lang="en-US" b="true" sz="6399">
                  <a:solidFill>
                    <a:srgbClr val="FFFFFF"/>
                  </a:solidFill>
                  <a:latin typeface="Arial Bold"/>
                  <a:ea typeface="Arial Bold"/>
                  <a:cs typeface="Arial Bold"/>
                  <a:sym typeface="Arial Bold"/>
                </a:rPr>
                <a:t>echnologie Utilisées</a:t>
              </a:r>
            </a:p>
          </p:txBody>
        </p:sp>
      </p:grpSp>
      <p:grpSp>
        <p:nvGrpSpPr>
          <p:cNvPr name="Group 5" id="5"/>
          <p:cNvGrpSpPr/>
          <p:nvPr/>
        </p:nvGrpSpPr>
        <p:grpSpPr>
          <a:xfrm rot="0">
            <a:off x="914400" y="1554480"/>
            <a:ext cx="16459200" cy="548640"/>
            <a:chOff x="0" y="0"/>
            <a:chExt cx="21945600" cy="731520"/>
          </a:xfrm>
        </p:grpSpPr>
        <p:sp>
          <p:nvSpPr>
            <p:cNvPr name="Freeform 6" id="6"/>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7" id="7"/>
            <p:cNvSpPr txBox="true"/>
            <p:nvPr/>
          </p:nvSpPr>
          <p:spPr>
            <a:xfrm>
              <a:off x="0" y="-9525"/>
              <a:ext cx="21945600" cy="741045"/>
            </a:xfrm>
            <a:prstGeom prst="rect">
              <a:avLst/>
            </a:prstGeom>
          </p:spPr>
          <p:txBody>
            <a:bodyPr anchor="ctr" rtlCol="false" tIns="0" lIns="0" bIns="0" rIns="0"/>
            <a:lstStyle/>
            <a:p>
              <a:pPr algn="ctr">
                <a:lnSpc>
                  <a:spcPts val="2879"/>
                </a:lnSpc>
              </a:pPr>
              <a:r>
                <a:rPr lang="en-US" sz="2400" i="true">
                  <a:solidFill>
                    <a:srgbClr val="00C2D7"/>
                  </a:solidFill>
                  <a:latin typeface="Arial Italics"/>
                  <a:ea typeface="Arial Italics"/>
                  <a:cs typeface="Arial Italics"/>
                  <a:sym typeface="Arial Italics"/>
                </a:rPr>
                <a:t>L'</a:t>
              </a:r>
              <a:r>
                <a:rPr lang="en-US" sz="2400" i="true">
                  <a:solidFill>
                    <a:srgbClr val="00C2D7"/>
                  </a:solidFill>
                  <a:latin typeface="Arial Italics"/>
                  <a:ea typeface="Arial Italics"/>
                  <a:cs typeface="Arial Italics"/>
                  <a:sym typeface="Arial Italics"/>
                </a:rPr>
                <a:t>essentiel · Frontend React · Backend Django · Natif cloud</a:t>
              </a:r>
            </a:p>
          </p:txBody>
        </p:sp>
      </p:grpSp>
      <p:grpSp>
        <p:nvGrpSpPr>
          <p:cNvPr name="Group 8" id="8"/>
          <p:cNvGrpSpPr/>
          <p:nvPr/>
        </p:nvGrpSpPr>
        <p:grpSpPr>
          <a:xfrm rot="0">
            <a:off x="627383" y="2364743"/>
            <a:ext cx="5511803" cy="939803"/>
            <a:chOff x="0" y="0"/>
            <a:chExt cx="7349071" cy="1253071"/>
          </a:xfrm>
        </p:grpSpPr>
        <p:sp>
          <p:nvSpPr>
            <p:cNvPr name="Freeform 9" id="9"/>
            <p:cNvSpPr/>
            <p:nvPr/>
          </p:nvSpPr>
          <p:spPr>
            <a:xfrm flipH="false" flipV="false" rot="0">
              <a:off x="0" y="0"/>
              <a:ext cx="7349109" cy="1253109"/>
            </a:xfrm>
            <a:custGeom>
              <a:avLst/>
              <a:gdLst/>
              <a:ahLst/>
              <a:cxnLst/>
              <a:rect r="r" b="b" t="t" l="l"/>
              <a:pathLst>
                <a:path h="1253109" w="7349109">
                  <a:moveTo>
                    <a:pt x="0" y="0"/>
                  </a:moveTo>
                  <a:lnTo>
                    <a:pt x="7349109" y="0"/>
                  </a:lnTo>
                  <a:lnTo>
                    <a:pt x="7349109" y="1253109"/>
                  </a:lnTo>
                  <a:lnTo>
                    <a:pt x="0" y="1253109"/>
                  </a:lnTo>
                  <a:close/>
                </a:path>
              </a:pathLst>
            </a:custGeom>
            <a:solidFill>
              <a:srgbClr val="00C2D7"/>
            </a:solidFill>
            <a:ln w="25400" cap="sq">
              <a:solidFill>
                <a:srgbClr val="00C2D7"/>
              </a:solidFill>
              <a:prstDash val="solid"/>
              <a:miter/>
            </a:ln>
          </p:spPr>
        </p:sp>
      </p:grpSp>
      <p:grpSp>
        <p:nvGrpSpPr>
          <p:cNvPr name="Group 10" id="10"/>
          <p:cNvGrpSpPr/>
          <p:nvPr/>
        </p:nvGrpSpPr>
        <p:grpSpPr>
          <a:xfrm rot="0">
            <a:off x="640080" y="2377440"/>
            <a:ext cx="5486400" cy="914400"/>
            <a:chOff x="0" y="0"/>
            <a:chExt cx="7315200" cy="1219200"/>
          </a:xfrm>
        </p:grpSpPr>
        <p:sp>
          <p:nvSpPr>
            <p:cNvPr name="Freeform 11" id="11"/>
            <p:cNvSpPr/>
            <p:nvPr/>
          </p:nvSpPr>
          <p:spPr>
            <a:xfrm flipH="false" flipV="false" rot="0">
              <a:off x="0" y="0"/>
              <a:ext cx="7315200" cy="1219200"/>
            </a:xfrm>
            <a:custGeom>
              <a:avLst/>
              <a:gdLst/>
              <a:ahLst/>
              <a:cxnLst/>
              <a:rect r="r" b="b" t="t" l="l"/>
              <a:pathLst>
                <a:path h="1219200" w="7315200">
                  <a:moveTo>
                    <a:pt x="0" y="0"/>
                  </a:moveTo>
                  <a:lnTo>
                    <a:pt x="7315200" y="0"/>
                  </a:lnTo>
                  <a:lnTo>
                    <a:pt x="7315200" y="1219200"/>
                  </a:lnTo>
                  <a:lnTo>
                    <a:pt x="0" y="1219200"/>
                  </a:lnTo>
                  <a:close/>
                </a:path>
              </a:pathLst>
            </a:custGeom>
            <a:blipFill>
              <a:blip r:embed="rId3">
                <a:alphaModFix amt="0"/>
              </a:blip>
              <a:stretch>
                <a:fillRect l="0" t="-66910" r="0" b="-66910"/>
              </a:stretch>
            </a:blipFill>
          </p:spPr>
        </p:sp>
        <p:sp>
          <p:nvSpPr>
            <p:cNvPr name="TextBox 12" id="12"/>
            <p:cNvSpPr txBox="true"/>
            <p:nvPr/>
          </p:nvSpPr>
          <p:spPr>
            <a:xfrm>
              <a:off x="0" y="-19050"/>
              <a:ext cx="7315200" cy="1238250"/>
            </a:xfrm>
            <a:prstGeom prst="rect">
              <a:avLst/>
            </a:prstGeom>
          </p:spPr>
          <p:txBody>
            <a:bodyPr anchor="ctr" rtlCol="false" tIns="0" lIns="0" bIns="0" rIns="0"/>
            <a:lstStyle/>
            <a:p>
              <a:pPr algn="ctr">
                <a:lnSpc>
                  <a:spcPts val="3359"/>
                </a:lnSpc>
              </a:pPr>
              <a:r>
                <a:rPr lang="en-US" b="true" sz="2799">
                  <a:solidFill>
                    <a:srgbClr val="FFFFFF"/>
                  </a:solidFill>
                  <a:latin typeface="Arial Bold"/>
                  <a:ea typeface="Arial Bold"/>
                  <a:cs typeface="Arial Bold"/>
                  <a:sym typeface="Arial Bold"/>
                </a:rPr>
                <a:t>FRONTEND</a:t>
              </a:r>
            </a:p>
          </p:txBody>
        </p:sp>
      </p:grpSp>
      <p:grpSp>
        <p:nvGrpSpPr>
          <p:cNvPr name="Group 13" id="13"/>
          <p:cNvGrpSpPr/>
          <p:nvPr/>
        </p:nvGrpSpPr>
        <p:grpSpPr>
          <a:xfrm rot="0">
            <a:off x="630555" y="3282315"/>
            <a:ext cx="5505450" cy="6236970"/>
            <a:chOff x="0" y="0"/>
            <a:chExt cx="7340600" cy="8315960"/>
          </a:xfrm>
        </p:grpSpPr>
        <p:sp>
          <p:nvSpPr>
            <p:cNvPr name="Freeform 14" id="14"/>
            <p:cNvSpPr/>
            <p:nvPr/>
          </p:nvSpPr>
          <p:spPr>
            <a:xfrm flipH="false" flipV="false" rot="0">
              <a:off x="0" y="0"/>
              <a:ext cx="7340600" cy="8315960"/>
            </a:xfrm>
            <a:custGeom>
              <a:avLst/>
              <a:gdLst/>
              <a:ahLst/>
              <a:cxnLst/>
              <a:rect r="r" b="b" t="t" l="l"/>
              <a:pathLst>
                <a:path h="8315960" w="7340600">
                  <a:moveTo>
                    <a:pt x="0" y="0"/>
                  </a:moveTo>
                  <a:lnTo>
                    <a:pt x="7340600" y="0"/>
                  </a:lnTo>
                  <a:lnTo>
                    <a:pt x="7340600" y="8315960"/>
                  </a:lnTo>
                  <a:lnTo>
                    <a:pt x="0" y="8315960"/>
                  </a:lnTo>
                  <a:close/>
                </a:path>
              </a:pathLst>
            </a:custGeom>
            <a:solidFill>
              <a:srgbClr val="2E3D7C"/>
            </a:solidFill>
            <a:ln w="19050" cap="sq">
              <a:solidFill>
                <a:srgbClr val="00C2D7"/>
              </a:solidFill>
              <a:prstDash val="solid"/>
              <a:miter/>
            </a:ln>
          </p:spPr>
        </p:sp>
      </p:grpSp>
      <p:grpSp>
        <p:nvGrpSpPr>
          <p:cNvPr name="Group 15" id="15"/>
          <p:cNvGrpSpPr/>
          <p:nvPr/>
        </p:nvGrpSpPr>
        <p:grpSpPr>
          <a:xfrm rot="0">
            <a:off x="1280160" y="3840480"/>
            <a:ext cx="1097280" cy="1097280"/>
            <a:chOff x="0" y="0"/>
            <a:chExt cx="1463040" cy="1463040"/>
          </a:xfrm>
        </p:grpSpPr>
        <p:sp>
          <p:nvSpPr>
            <p:cNvPr name="Freeform 16" id="16"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4"/>
              <a:stretch>
                <a:fillRect l="0" t="0" r="0" b="0"/>
              </a:stretch>
            </a:blipFill>
          </p:spPr>
        </p:sp>
      </p:grpSp>
      <p:grpSp>
        <p:nvGrpSpPr>
          <p:cNvPr name="Group 17" id="17"/>
          <p:cNvGrpSpPr/>
          <p:nvPr/>
        </p:nvGrpSpPr>
        <p:grpSpPr>
          <a:xfrm rot="0">
            <a:off x="2560320" y="3749040"/>
            <a:ext cx="3291840" cy="1280160"/>
            <a:chOff x="0" y="0"/>
            <a:chExt cx="4389120" cy="1706880"/>
          </a:xfrm>
        </p:grpSpPr>
        <p:sp>
          <p:nvSpPr>
            <p:cNvPr name="Freeform 18" id="18"/>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19" id="19"/>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React </a:t>
              </a:r>
            </a:p>
          </p:txBody>
        </p:sp>
      </p:grpSp>
      <p:grpSp>
        <p:nvGrpSpPr>
          <p:cNvPr name="Group 20" id="20"/>
          <p:cNvGrpSpPr/>
          <p:nvPr/>
        </p:nvGrpSpPr>
        <p:grpSpPr>
          <a:xfrm rot="0">
            <a:off x="1205865" y="6492240"/>
            <a:ext cx="1097280" cy="1097280"/>
            <a:chOff x="0" y="0"/>
            <a:chExt cx="1463040" cy="1463040"/>
          </a:xfrm>
        </p:grpSpPr>
        <p:sp>
          <p:nvSpPr>
            <p:cNvPr name="Freeform 21" id="21"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5"/>
              <a:stretch>
                <a:fillRect l="0" t="0" r="0" b="0"/>
              </a:stretch>
            </a:blipFill>
          </p:spPr>
        </p:sp>
      </p:grpSp>
      <p:grpSp>
        <p:nvGrpSpPr>
          <p:cNvPr name="Group 22" id="22"/>
          <p:cNvGrpSpPr/>
          <p:nvPr/>
        </p:nvGrpSpPr>
        <p:grpSpPr>
          <a:xfrm rot="0">
            <a:off x="2714517" y="6375976"/>
            <a:ext cx="3291840" cy="1280160"/>
            <a:chOff x="0" y="0"/>
            <a:chExt cx="4389120" cy="1706880"/>
          </a:xfrm>
        </p:grpSpPr>
        <p:sp>
          <p:nvSpPr>
            <p:cNvPr name="Freeform 23" id="23"/>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24" id="24"/>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Vite</a:t>
              </a:r>
            </a:p>
          </p:txBody>
        </p:sp>
      </p:grpSp>
      <p:grpSp>
        <p:nvGrpSpPr>
          <p:cNvPr name="Group 25" id="25"/>
          <p:cNvGrpSpPr/>
          <p:nvPr/>
        </p:nvGrpSpPr>
        <p:grpSpPr>
          <a:xfrm rot="0">
            <a:off x="1280160" y="7901507"/>
            <a:ext cx="1097280" cy="1097280"/>
            <a:chOff x="0" y="0"/>
            <a:chExt cx="1463040" cy="1463040"/>
          </a:xfrm>
        </p:grpSpPr>
        <p:sp>
          <p:nvSpPr>
            <p:cNvPr name="Freeform 26" id="26"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6"/>
              <a:stretch>
                <a:fillRect l="0" t="0" r="0" b="0"/>
              </a:stretch>
            </a:blipFill>
          </p:spPr>
        </p:sp>
      </p:grpSp>
      <p:grpSp>
        <p:nvGrpSpPr>
          <p:cNvPr name="Group 27" id="27"/>
          <p:cNvGrpSpPr/>
          <p:nvPr/>
        </p:nvGrpSpPr>
        <p:grpSpPr>
          <a:xfrm rot="0">
            <a:off x="2648432" y="7901507"/>
            <a:ext cx="3291840" cy="1280160"/>
            <a:chOff x="0" y="0"/>
            <a:chExt cx="4389120" cy="1706880"/>
          </a:xfrm>
        </p:grpSpPr>
        <p:sp>
          <p:nvSpPr>
            <p:cNvPr name="Freeform 28" id="28"/>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7">
                <a:alphaModFix amt="0"/>
              </a:blip>
              <a:stretch>
                <a:fillRect l="0" t="-57142" r="0" b="-57142"/>
              </a:stretch>
            </a:blipFill>
          </p:spPr>
        </p:sp>
        <p:sp>
          <p:nvSpPr>
            <p:cNvPr name="TextBox 29" id="29"/>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Tailwind CSS</a:t>
              </a:r>
            </a:p>
          </p:txBody>
        </p:sp>
      </p:grpSp>
      <p:grpSp>
        <p:nvGrpSpPr>
          <p:cNvPr name="Group 30" id="30"/>
          <p:cNvGrpSpPr/>
          <p:nvPr/>
        </p:nvGrpSpPr>
        <p:grpSpPr>
          <a:xfrm rot="0">
            <a:off x="6388103" y="2364743"/>
            <a:ext cx="5511803" cy="939803"/>
            <a:chOff x="0" y="0"/>
            <a:chExt cx="7349071" cy="1253071"/>
          </a:xfrm>
        </p:grpSpPr>
        <p:sp>
          <p:nvSpPr>
            <p:cNvPr name="Freeform 31" id="31"/>
            <p:cNvSpPr/>
            <p:nvPr/>
          </p:nvSpPr>
          <p:spPr>
            <a:xfrm flipH="false" flipV="false" rot="0">
              <a:off x="0" y="0"/>
              <a:ext cx="7349109" cy="1253109"/>
            </a:xfrm>
            <a:custGeom>
              <a:avLst/>
              <a:gdLst/>
              <a:ahLst/>
              <a:cxnLst/>
              <a:rect r="r" b="b" t="t" l="l"/>
              <a:pathLst>
                <a:path h="1253109" w="7349109">
                  <a:moveTo>
                    <a:pt x="0" y="0"/>
                  </a:moveTo>
                  <a:lnTo>
                    <a:pt x="7349109" y="0"/>
                  </a:lnTo>
                  <a:lnTo>
                    <a:pt x="7349109" y="1253109"/>
                  </a:lnTo>
                  <a:lnTo>
                    <a:pt x="0" y="1253109"/>
                  </a:lnTo>
                  <a:close/>
                </a:path>
              </a:pathLst>
            </a:custGeom>
            <a:solidFill>
              <a:srgbClr val="8B5CF6"/>
            </a:solidFill>
            <a:ln w="25400" cap="sq">
              <a:solidFill>
                <a:srgbClr val="8B5CF6"/>
              </a:solidFill>
              <a:prstDash val="solid"/>
              <a:miter/>
            </a:ln>
          </p:spPr>
        </p:sp>
      </p:grpSp>
      <p:grpSp>
        <p:nvGrpSpPr>
          <p:cNvPr name="Group 32" id="32"/>
          <p:cNvGrpSpPr/>
          <p:nvPr/>
        </p:nvGrpSpPr>
        <p:grpSpPr>
          <a:xfrm rot="0">
            <a:off x="6400800" y="2377440"/>
            <a:ext cx="5486400" cy="914400"/>
            <a:chOff x="0" y="0"/>
            <a:chExt cx="7315200" cy="1219200"/>
          </a:xfrm>
        </p:grpSpPr>
        <p:sp>
          <p:nvSpPr>
            <p:cNvPr name="Freeform 33" id="33"/>
            <p:cNvSpPr/>
            <p:nvPr/>
          </p:nvSpPr>
          <p:spPr>
            <a:xfrm flipH="false" flipV="false" rot="0">
              <a:off x="0" y="0"/>
              <a:ext cx="7315200" cy="1219200"/>
            </a:xfrm>
            <a:custGeom>
              <a:avLst/>
              <a:gdLst/>
              <a:ahLst/>
              <a:cxnLst/>
              <a:rect r="r" b="b" t="t" l="l"/>
              <a:pathLst>
                <a:path h="1219200" w="7315200">
                  <a:moveTo>
                    <a:pt x="0" y="0"/>
                  </a:moveTo>
                  <a:lnTo>
                    <a:pt x="7315200" y="0"/>
                  </a:lnTo>
                  <a:lnTo>
                    <a:pt x="7315200" y="1219200"/>
                  </a:lnTo>
                  <a:lnTo>
                    <a:pt x="0" y="1219200"/>
                  </a:lnTo>
                  <a:close/>
                </a:path>
              </a:pathLst>
            </a:custGeom>
            <a:blipFill>
              <a:blip r:embed="rId3">
                <a:alphaModFix amt="0"/>
              </a:blip>
              <a:stretch>
                <a:fillRect l="0" t="-66910" r="0" b="-66910"/>
              </a:stretch>
            </a:blipFill>
          </p:spPr>
        </p:sp>
        <p:sp>
          <p:nvSpPr>
            <p:cNvPr name="TextBox 34" id="34"/>
            <p:cNvSpPr txBox="true"/>
            <p:nvPr/>
          </p:nvSpPr>
          <p:spPr>
            <a:xfrm>
              <a:off x="0" y="-19050"/>
              <a:ext cx="7315200" cy="1238250"/>
            </a:xfrm>
            <a:prstGeom prst="rect">
              <a:avLst/>
            </a:prstGeom>
          </p:spPr>
          <p:txBody>
            <a:bodyPr anchor="ctr" rtlCol="false" tIns="0" lIns="0" bIns="0" rIns="0"/>
            <a:lstStyle/>
            <a:p>
              <a:pPr algn="ctr">
                <a:lnSpc>
                  <a:spcPts val="3359"/>
                </a:lnSpc>
              </a:pPr>
              <a:r>
                <a:rPr lang="en-US" b="true" sz="2799">
                  <a:solidFill>
                    <a:srgbClr val="FFFFFF"/>
                  </a:solidFill>
                  <a:latin typeface="Arial Bold"/>
                  <a:ea typeface="Arial Bold"/>
                  <a:cs typeface="Arial Bold"/>
                  <a:sym typeface="Arial Bold"/>
                </a:rPr>
                <a:t>BACKEND</a:t>
              </a:r>
            </a:p>
          </p:txBody>
        </p:sp>
      </p:grpSp>
      <p:grpSp>
        <p:nvGrpSpPr>
          <p:cNvPr name="Group 35" id="35"/>
          <p:cNvGrpSpPr/>
          <p:nvPr/>
        </p:nvGrpSpPr>
        <p:grpSpPr>
          <a:xfrm rot="0">
            <a:off x="6391275" y="3282315"/>
            <a:ext cx="5505450" cy="6236970"/>
            <a:chOff x="0" y="0"/>
            <a:chExt cx="7340600" cy="8315960"/>
          </a:xfrm>
        </p:grpSpPr>
        <p:sp>
          <p:nvSpPr>
            <p:cNvPr name="Freeform 36" id="36"/>
            <p:cNvSpPr/>
            <p:nvPr/>
          </p:nvSpPr>
          <p:spPr>
            <a:xfrm flipH="false" flipV="false" rot="0">
              <a:off x="0" y="0"/>
              <a:ext cx="7340600" cy="8315960"/>
            </a:xfrm>
            <a:custGeom>
              <a:avLst/>
              <a:gdLst/>
              <a:ahLst/>
              <a:cxnLst/>
              <a:rect r="r" b="b" t="t" l="l"/>
              <a:pathLst>
                <a:path h="8315960" w="7340600">
                  <a:moveTo>
                    <a:pt x="0" y="0"/>
                  </a:moveTo>
                  <a:lnTo>
                    <a:pt x="7340600" y="0"/>
                  </a:lnTo>
                  <a:lnTo>
                    <a:pt x="7340600" y="8315960"/>
                  </a:lnTo>
                  <a:lnTo>
                    <a:pt x="0" y="8315960"/>
                  </a:lnTo>
                  <a:close/>
                </a:path>
              </a:pathLst>
            </a:custGeom>
            <a:solidFill>
              <a:srgbClr val="2E3D7C"/>
            </a:solidFill>
            <a:ln w="19050" cap="sq">
              <a:solidFill>
                <a:srgbClr val="8B5CF6"/>
              </a:solidFill>
              <a:prstDash val="solid"/>
              <a:miter/>
            </a:ln>
          </p:spPr>
        </p:sp>
      </p:grpSp>
      <p:grpSp>
        <p:nvGrpSpPr>
          <p:cNvPr name="Group 37" id="37"/>
          <p:cNvGrpSpPr/>
          <p:nvPr/>
        </p:nvGrpSpPr>
        <p:grpSpPr>
          <a:xfrm rot="0">
            <a:off x="7040880" y="3840480"/>
            <a:ext cx="1097280" cy="1097280"/>
            <a:chOff x="0" y="0"/>
            <a:chExt cx="1463040" cy="1463040"/>
          </a:xfrm>
        </p:grpSpPr>
        <p:sp>
          <p:nvSpPr>
            <p:cNvPr name="Freeform 38" id="38"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8"/>
              <a:stretch>
                <a:fillRect l="0" t="0" r="0" b="0"/>
              </a:stretch>
            </a:blipFill>
          </p:spPr>
        </p:sp>
      </p:grpSp>
      <p:grpSp>
        <p:nvGrpSpPr>
          <p:cNvPr name="Group 39" id="39"/>
          <p:cNvGrpSpPr/>
          <p:nvPr/>
        </p:nvGrpSpPr>
        <p:grpSpPr>
          <a:xfrm rot="0">
            <a:off x="8321040" y="3749040"/>
            <a:ext cx="3291840" cy="1280160"/>
            <a:chOff x="0" y="0"/>
            <a:chExt cx="4389120" cy="1706880"/>
          </a:xfrm>
        </p:grpSpPr>
        <p:sp>
          <p:nvSpPr>
            <p:cNvPr name="Freeform 40" id="40"/>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41" id="41"/>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Django </a:t>
              </a:r>
            </a:p>
          </p:txBody>
        </p:sp>
      </p:grpSp>
      <p:grpSp>
        <p:nvGrpSpPr>
          <p:cNvPr name="Group 42" id="42"/>
          <p:cNvGrpSpPr/>
          <p:nvPr/>
        </p:nvGrpSpPr>
        <p:grpSpPr>
          <a:xfrm rot="0">
            <a:off x="7040880" y="5166360"/>
            <a:ext cx="1097280" cy="1097280"/>
            <a:chOff x="0" y="0"/>
            <a:chExt cx="1463040" cy="1463040"/>
          </a:xfrm>
        </p:grpSpPr>
        <p:sp>
          <p:nvSpPr>
            <p:cNvPr name="Freeform 43" id="43"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9"/>
              <a:stretch>
                <a:fillRect l="0" t="0" r="0" b="0"/>
              </a:stretch>
            </a:blipFill>
          </p:spPr>
        </p:sp>
      </p:grpSp>
      <p:grpSp>
        <p:nvGrpSpPr>
          <p:cNvPr name="Group 44" id="44"/>
          <p:cNvGrpSpPr/>
          <p:nvPr/>
        </p:nvGrpSpPr>
        <p:grpSpPr>
          <a:xfrm rot="0">
            <a:off x="8321040" y="5074920"/>
            <a:ext cx="3291840" cy="1280160"/>
            <a:chOff x="0" y="0"/>
            <a:chExt cx="4389120" cy="1706880"/>
          </a:xfrm>
        </p:grpSpPr>
        <p:sp>
          <p:nvSpPr>
            <p:cNvPr name="Freeform 45" id="45"/>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46" id="46"/>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PostgreSQL</a:t>
              </a:r>
            </a:p>
          </p:txBody>
        </p:sp>
      </p:grpSp>
      <p:grpSp>
        <p:nvGrpSpPr>
          <p:cNvPr name="Group 47" id="47"/>
          <p:cNvGrpSpPr/>
          <p:nvPr/>
        </p:nvGrpSpPr>
        <p:grpSpPr>
          <a:xfrm rot="0">
            <a:off x="7040880" y="6492240"/>
            <a:ext cx="1097280" cy="1097280"/>
            <a:chOff x="0" y="0"/>
            <a:chExt cx="1463040" cy="1463040"/>
          </a:xfrm>
        </p:grpSpPr>
        <p:sp>
          <p:nvSpPr>
            <p:cNvPr name="Freeform 48" id="48"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10"/>
              <a:stretch>
                <a:fillRect l="0" t="0" r="0" b="0"/>
              </a:stretch>
            </a:blipFill>
          </p:spPr>
        </p:sp>
      </p:grpSp>
      <p:grpSp>
        <p:nvGrpSpPr>
          <p:cNvPr name="Group 49" id="49"/>
          <p:cNvGrpSpPr/>
          <p:nvPr/>
        </p:nvGrpSpPr>
        <p:grpSpPr>
          <a:xfrm rot="0">
            <a:off x="8321040" y="6400800"/>
            <a:ext cx="3291840" cy="1280160"/>
            <a:chOff x="0" y="0"/>
            <a:chExt cx="4389120" cy="1706880"/>
          </a:xfrm>
        </p:grpSpPr>
        <p:sp>
          <p:nvSpPr>
            <p:cNvPr name="Freeform 50" id="50"/>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51" id="51"/>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Celery</a:t>
              </a:r>
            </a:p>
          </p:txBody>
        </p:sp>
      </p:grpSp>
      <p:grpSp>
        <p:nvGrpSpPr>
          <p:cNvPr name="Group 52" id="52"/>
          <p:cNvGrpSpPr/>
          <p:nvPr/>
        </p:nvGrpSpPr>
        <p:grpSpPr>
          <a:xfrm rot="0">
            <a:off x="7040880" y="7818120"/>
            <a:ext cx="1097280" cy="1097280"/>
            <a:chOff x="0" y="0"/>
            <a:chExt cx="1463040" cy="1463040"/>
          </a:xfrm>
        </p:grpSpPr>
        <p:sp>
          <p:nvSpPr>
            <p:cNvPr name="Freeform 53" id="53"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11"/>
              <a:stretch>
                <a:fillRect l="0" t="0" r="0" b="0"/>
              </a:stretch>
            </a:blipFill>
          </p:spPr>
        </p:sp>
      </p:grpSp>
      <p:grpSp>
        <p:nvGrpSpPr>
          <p:cNvPr name="Group 54" id="54"/>
          <p:cNvGrpSpPr/>
          <p:nvPr/>
        </p:nvGrpSpPr>
        <p:grpSpPr>
          <a:xfrm rot="0">
            <a:off x="8321040" y="7726680"/>
            <a:ext cx="3291840" cy="1280160"/>
            <a:chOff x="0" y="0"/>
            <a:chExt cx="4389120" cy="1706880"/>
          </a:xfrm>
        </p:grpSpPr>
        <p:sp>
          <p:nvSpPr>
            <p:cNvPr name="Freeform 55" id="55"/>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56" id="56"/>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Redis</a:t>
              </a:r>
            </a:p>
          </p:txBody>
        </p:sp>
      </p:grpSp>
      <p:grpSp>
        <p:nvGrpSpPr>
          <p:cNvPr name="Group 57" id="57"/>
          <p:cNvGrpSpPr/>
          <p:nvPr/>
        </p:nvGrpSpPr>
        <p:grpSpPr>
          <a:xfrm rot="0">
            <a:off x="12148823" y="2364743"/>
            <a:ext cx="5511803" cy="939803"/>
            <a:chOff x="0" y="0"/>
            <a:chExt cx="7349071" cy="1253071"/>
          </a:xfrm>
        </p:grpSpPr>
        <p:sp>
          <p:nvSpPr>
            <p:cNvPr name="Freeform 58" id="58"/>
            <p:cNvSpPr/>
            <p:nvPr/>
          </p:nvSpPr>
          <p:spPr>
            <a:xfrm flipH="false" flipV="false" rot="0">
              <a:off x="0" y="0"/>
              <a:ext cx="7349109" cy="1253109"/>
            </a:xfrm>
            <a:custGeom>
              <a:avLst/>
              <a:gdLst/>
              <a:ahLst/>
              <a:cxnLst/>
              <a:rect r="r" b="b" t="t" l="l"/>
              <a:pathLst>
                <a:path h="1253109" w="7349109">
                  <a:moveTo>
                    <a:pt x="0" y="0"/>
                  </a:moveTo>
                  <a:lnTo>
                    <a:pt x="7349109" y="0"/>
                  </a:lnTo>
                  <a:lnTo>
                    <a:pt x="7349109" y="1253109"/>
                  </a:lnTo>
                  <a:lnTo>
                    <a:pt x="0" y="1253109"/>
                  </a:lnTo>
                  <a:close/>
                </a:path>
              </a:pathLst>
            </a:custGeom>
            <a:solidFill>
              <a:srgbClr val="10B981"/>
            </a:solidFill>
            <a:ln w="25400" cap="sq">
              <a:solidFill>
                <a:srgbClr val="10B981"/>
              </a:solidFill>
              <a:prstDash val="solid"/>
              <a:miter/>
            </a:ln>
          </p:spPr>
        </p:sp>
      </p:grpSp>
      <p:grpSp>
        <p:nvGrpSpPr>
          <p:cNvPr name="Group 59" id="59"/>
          <p:cNvGrpSpPr/>
          <p:nvPr/>
        </p:nvGrpSpPr>
        <p:grpSpPr>
          <a:xfrm rot="0">
            <a:off x="12161520" y="2377440"/>
            <a:ext cx="5486400" cy="914400"/>
            <a:chOff x="0" y="0"/>
            <a:chExt cx="7315200" cy="1219200"/>
          </a:xfrm>
        </p:grpSpPr>
        <p:sp>
          <p:nvSpPr>
            <p:cNvPr name="Freeform 60" id="60"/>
            <p:cNvSpPr/>
            <p:nvPr/>
          </p:nvSpPr>
          <p:spPr>
            <a:xfrm flipH="false" flipV="false" rot="0">
              <a:off x="0" y="0"/>
              <a:ext cx="7315200" cy="1219200"/>
            </a:xfrm>
            <a:custGeom>
              <a:avLst/>
              <a:gdLst/>
              <a:ahLst/>
              <a:cxnLst/>
              <a:rect r="r" b="b" t="t" l="l"/>
              <a:pathLst>
                <a:path h="1219200" w="7315200">
                  <a:moveTo>
                    <a:pt x="0" y="0"/>
                  </a:moveTo>
                  <a:lnTo>
                    <a:pt x="7315200" y="0"/>
                  </a:lnTo>
                  <a:lnTo>
                    <a:pt x="7315200" y="1219200"/>
                  </a:lnTo>
                  <a:lnTo>
                    <a:pt x="0" y="1219200"/>
                  </a:lnTo>
                  <a:close/>
                </a:path>
              </a:pathLst>
            </a:custGeom>
            <a:blipFill>
              <a:blip r:embed="rId3">
                <a:alphaModFix amt="0"/>
              </a:blip>
              <a:stretch>
                <a:fillRect l="0" t="-66910" r="0" b="-66910"/>
              </a:stretch>
            </a:blipFill>
          </p:spPr>
        </p:sp>
        <p:sp>
          <p:nvSpPr>
            <p:cNvPr name="TextBox 61" id="61"/>
            <p:cNvSpPr txBox="true"/>
            <p:nvPr/>
          </p:nvSpPr>
          <p:spPr>
            <a:xfrm>
              <a:off x="0" y="-19050"/>
              <a:ext cx="7315200" cy="1238250"/>
            </a:xfrm>
            <a:prstGeom prst="rect">
              <a:avLst/>
            </a:prstGeom>
          </p:spPr>
          <p:txBody>
            <a:bodyPr anchor="ctr" rtlCol="false" tIns="0" lIns="0" bIns="0" rIns="0"/>
            <a:lstStyle/>
            <a:p>
              <a:pPr algn="ctr">
                <a:lnSpc>
                  <a:spcPts val="3359"/>
                </a:lnSpc>
              </a:pPr>
              <a:r>
                <a:rPr lang="en-US" b="true" sz="2799">
                  <a:solidFill>
                    <a:srgbClr val="FFFFFF"/>
                  </a:solidFill>
                  <a:latin typeface="Arial Bold"/>
                  <a:ea typeface="Arial Bold"/>
                  <a:cs typeface="Arial Bold"/>
                  <a:sym typeface="Arial Bold"/>
                </a:rPr>
                <a:t>INFRA &amp; DEVOPS</a:t>
              </a:r>
            </a:p>
          </p:txBody>
        </p:sp>
      </p:grpSp>
      <p:grpSp>
        <p:nvGrpSpPr>
          <p:cNvPr name="Group 62" id="62"/>
          <p:cNvGrpSpPr/>
          <p:nvPr/>
        </p:nvGrpSpPr>
        <p:grpSpPr>
          <a:xfrm rot="0">
            <a:off x="12151995" y="3282315"/>
            <a:ext cx="5505450" cy="6236970"/>
            <a:chOff x="0" y="0"/>
            <a:chExt cx="7340600" cy="8315960"/>
          </a:xfrm>
        </p:grpSpPr>
        <p:sp>
          <p:nvSpPr>
            <p:cNvPr name="Freeform 63" id="63"/>
            <p:cNvSpPr/>
            <p:nvPr/>
          </p:nvSpPr>
          <p:spPr>
            <a:xfrm flipH="false" flipV="false" rot="0">
              <a:off x="0" y="0"/>
              <a:ext cx="7340600" cy="8315960"/>
            </a:xfrm>
            <a:custGeom>
              <a:avLst/>
              <a:gdLst/>
              <a:ahLst/>
              <a:cxnLst/>
              <a:rect r="r" b="b" t="t" l="l"/>
              <a:pathLst>
                <a:path h="8315960" w="7340600">
                  <a:moveTo>
                    <a:pt x="0" y="0"/>
                  </a:moveTo>
                  <a:lnTo>
                    <a:pt x="7340600" y="0"/>
                  </a:lnTo>
                  <a:lnTo>
                    <a:pt x="7340600" y="8315960"/>
                  </a:lnTo>
                  <a:lnTo>
                    <a:pt x="0" y="8315960"/>
                  </a:lnTo>
                  <a:close/>
                </a:path>
              </a:pathLst>
            </a:custGeom>
            <a:solidFill>
              <a:srgbClr val="2E3D7C"/>
            </a:solidFill>
            <a:ln w="19050" cap="sq">
              <a:solidFill>
                <a:srgbClr val="10B981"/>
              </a:solidFill>
              <a:prstDash val="solid"/>
              <a:miter/>
            </a:ln>
          </p:spPr>
        </p:sp>
      </p:grpSp>
      <p:grpSp>
        <p:nvGrpSpPr>
          <p:cNvPr name="Group 64" id="64"/>
          <p:cNvGrpSpPr/>
          <p:nvPr/>
        </p:nvGrpSpPr>
        <p:grpSpPr>
          <a:xfrm rot="0">
            <a:off x="12801600" y="3840480"/>
            <a:ext cx="1097280" cy="1097280"/>
            <a:chOff x="0" y="0"/>
            <a:chExt cx="1463040" cy="1463040"/>
          </a:xfrm>
        </p:grpSpPr>
        <p:sp>
          <p:nvSpPr>
            <p:cNvPr name="Freeform 65" id="65"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12"/>
              <a:stretch>
                <a:fillRect l="0" t="0" r="0" b="0"/>
              </a:stretch>
            </a:blipFill>
          </p:spPr>
        </p:sp>
      </p:grpSp>
      <p:grpSp>
        <p:nvGrpSpPr>
          <p:cNvPr name="Group 66" id="66"/>
          <p:cNvGrpSpPr/>
          <p:nvPr/>
        </p:nvGrpSpPr>
        <p:grpSpPr>
          <a:xfrm rot="0">
            <a:off x="14081760" y="3749040"/>
            <a:ext cx="3291840" cy="1280160"/>
            <a:chOff x="0" y="0"/>
            <a:chExt cx="4389120" cy="1706880"/>
          </a:xfrm>
        </p:grpSpPr>
        <p:sp>
          <p:nvSpPr>
            <p:cNvPr name="Freeform 67" id="67"/>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68" id="68"/>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Railway</a:t>
              </a:r>
            </a:p>
          </p:txBody>
        </p:sp>
      </p:grpSp>
      <p:grpSp>
        <p:nvGrpSpPr>
          <p:cNvPr name="Group 69" id="69"/>
          <p:cNvGrpSpPr/>
          <p:nvPr/>
        </p:nvGrpSpPr>
        <p:grpSpPr>
          <a:xfrm rot="0">
            <a:off x="12801600" y="5166360"/>
            <a:ext cx="1097280" cy="1097280"/>
            <a:chOff x="0" y="0"/>
            <a:chExt cx="1463040" cy="1463040"/>
          </a:xfrm>
        </p:grpSpPr>
        <p:sp>
          <p:nvSpPr>
            <p:cNvPr name="Freeform 70" id="70"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13"/>
              <a:stretch>
                <a:fillRect l="0" t="0" r="0" b="0"/>
              </a:stretch>
            </a:blipFill>
          </p:spPr>
        </p:sp>
      </p:grpSp>
      <p:grpSp>
        <p:nvGrpSpPr>
          <p:cNvPr name="Group 71" id="71"/>
          <p:cNvGrpSpPr/>
          <p:nvPr/>
        </p:nvGrpSpPr>
        <p:grpSpPr>
          <a:xfrm rot="0">
            <a:off x="14081760" y="5074920"/>
            <a:ext cx="3291840" cy="1280160"/>
            <a:chOff x="0" y="0"/>
            <a:chExt cx="4389120" cy="1706880"/>
          </a:xfrm>
        </p:grpSpPr>
        <p:sp>
          <p:nvSpPr>
            <p:cNvPr name="Freeform 72" id="72"/>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73" id="73"/>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Vercel</a:t>
              </a:r>
            </a:p>
          </p:txBody>
        </p:sp>
      </p:grpSp>
      <p:grpSp>
        <p:nvGrpSpPr>
          <p:cNvPr name="Group 74" id="74"/>
          <p:cNvGrpSpPr/>
          <p:nvPr/>
        </p:nvGrpSpPr>
        <p:grpSpPr>
          <a:xfrm rot="0">
            <a:off x="12801600" y="6492240"/>
            <a:ext cx="1097280" cy="1097280"/>
            <a:chOff x="0" y="0"/>
            <a:chExt cx="1463040" cy="1463040"/>
          </a:xfrm>
        </p:grpSpPr>
        <p:sp>
          <p:nvSpPr>
            <p:cNvPr name="Freeform 75" id="75"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14"/>
              <a:stretch>
                <a:fillRect l="0" t="0" r="0" b="0"/>
              </a:stretch>
            </a:blipFill>
          </p:spPr>
        </p:sp>
      </p:grpSp>
      <p:grpSp>
        <p:nvGrpSpPr>
          <p:cNvPr name="Group 76" id="76"/>
          <p:cNvGrpSpPr/>
          <p:nvPr/>
        </p:nvGrpSpPr>
        <p:grpSpPr>
          <a:xfrm rot="0">
            <a:off x="14081760" y="6400800"/>
            <a:ext cx="3291840" cy="1280160"/>
            <a:chOff x="0" y="0"/>
            <a:chExt cx="4389120" cy="1706880"/>
          </a:xfrm>
        </p:grpSpPr>
        <p:sp>
          <p:nvSpPr>
            <p:cNvPr name="Freeform 77" id="77"/>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78" id="78"/>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GitHub Actions</a:t>
              </a:r>
            </a:p>
          </p:txBody>
        </p:sp>
      </p:grpSp>
      <p:grpSp>
        <p:nvGrpSpPr>
          <p:cNvPr name="Group 79" id="79"/>
          <p:cNvGrpSpPr/>
          <p:nvPr/>
        </p:nvGrpSpPr>
        <p:grpSpPr>
          <a:xfrm rot="0">
            <a:off x="12801600" y="7818120"/>
            <a:ext cx="1097280" cy="1097280"/>
            <a:chOff x="0" y="0"/>
            <a:chExt cx="1463040" cy="1463040"/>
          </a:xfrm>
        </p:grpSpPr>
        <p:sp>
          <p:nvSpPr>
            <p:cNvPr name="Freeform 80" id="80" descr="preencoded.png"/>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lnTo>
                    <a:pt x="0" y="0"/>
                  </a:lnTo>
                  <a:close/>
                </a:path>
              </a:pathLst>
            </a:custGeom>
            <a:blipFill>
              <a:blip r:embed="rId15"/>
              <a:stretch>
                <a:fillRect l="0" t="0" r="0" b="0"/>
              </a:stretch>
            </a:blipFill>
          </p:spPr>
        </p:sp>
      </p:grpSp>
      <p:grpSp>
        <p:nvGrpSpPr>
          <p:cNvPr name="Group 81" id="81"/>
          <p:cNvGrpSpPr/>
          <p:nvPr/>
        </p:nvGrpSpPr>
        <p:grpSpPr>
          <a:xfrm rot="0">
            <a:off x="14081760" y="7726680"/>
            <a:ext cx="3291840" cy="1280160"/>
            <a:chOff x="0" y="0"/>
            <a:chExt cx="4389120" cy="1706880"/>
          </a:xfrm>
        </p:grpSpPr>
        <p:sp>
          <p:nvSpPr>
            <p:cNvPr name="Freeform 82" id="82"/>
            <p:cNvSpPr/>
            <p:nvPr/>
          </p:nvSpPr>
          <p:spPr>
            <a:xfrm flipH="false" flipV="false" rot="0">
              <a:off x="0" y="0"/>
              <a:ext cx="4389120" cy="1706880"/>
            </a:xfrm>
            <a:custGeom>
              <a:avLst/>
              <a:gdLst/>
              <a:ahLst/>
              <a:cxnLst/>
              <a:rect r="r" b="b" t="t" l="l"/>
              <a:pathLst>
                <a:path h="1706880" w="4389120">
                  <a:moveTo>
                    <a:pt x="0" y="0"/>
                  </a:moveTo>
                  <a:lnTo>
                    <a:pt x="4389120" y="0"/>
                  </a:lnTo>
                  <a:lnTo>
                    <a:pt x="4389120" y="1706880"/>
                  </a:lnTo>
                  <a:lnTo>
                    <a:pt x="0" y="1706880"/>
                  </a:lnTo>
                  <a:close/>
                </a:path>
              </a:pathLst>
            </a:custGeom>
            <a:blipFill>
              <a:blip r:embed="rId3">
                <a:alphaModFix amt="0"/>
              </a:blip>
              <a:stretch>
                <a:fillRect l="0" t="-104" r="0" b="-104"/>
              </a:stretch>
            </a:blipFill>
          </p:spPr>
        </p:sp>
        <p:sp>
          <p:nvSpPr>
            <p:cNvPr name="TextBox 83" id="83"/>
            <p:cNvSpPr txBox="true"/>
            <p:nvPr/>
          </p:nvSpPr>
          <p:spPr>
            <a:xfrm>
              <a:off x="0" y="-19050"/>
              <a:ext cx="4389120" cy="172593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Docker</a:t>
              </a:r>
            </a:p>
          </p:txBody>
        </p:sp>
      </p:grpSp>
      <p:grpSp>
        <p:nvGrpSpPr>
          <p:cNvPr name="Group 84" id="84"/>
          <p:cNvGrpSpPr/>
          <p:nvPr/>
        </p:nvGrpSpPr>
        <p:grpSpPr>
          <a:xfrm rot="0">
            <a:off x="627383" y="9588503"/>
            <a:ext cx="17033243" cy="610619"/>
            <a:chOff x="0" y="0"/>
            <a:chExt cx="22710991" cy="814159"/>
          </a:xfrm>
        </p:grpSpPr>
        <p:sp>
          <p:nvSpPr>
            <p:cNvPr name="Freeform 85" id="85"/>
            <p:cNvSpPr/>
            <p:nvPr/>
          </p:nvSpPr>
          <p:spPr>
            <a:xfrm flipH="false" flipV="false" rot="0">
              <a:off x="0" y="0"/>
              <a:ext cx="22710902" cy="814070"/>
            </a:xfrm>
            <a:custGeom>
              <a:avLst/>
              <a:gdLst/>
              <a:ahLst/>
              <a:cxnLst/>
              <a:rect r="r" b="b" t="t" l="l"/>
              <a:pathLst>
                <a:path h="814070" w="22710902">
                  <a:moveTo>
                    <a:pt x="0" y="101727"/>
                  </a:moveTo>
                  <a:cubicBezTo>
                    <a:pt x="0" y="45593"/>
                    <a:pt x="45593" y="0"/>
                    <a:pt x="101727" y="0"/>
                  </a:cubicBezTo>
                  <a:lnTo>
                    <a:pt x="22609175" y="0"/>
                  </a:lnTo>
                  <a:cubicBezTo>
                    <a:pt x="22665437" y="0"/>
                    <a:pt x="22710902" y="45593"/>
                    <a:pt x="22710902" y="101727"/>
                  </a:cubicBezTo>
                  <a:lnTo>
                    <a:pt x="22710902" y="712343"/>
                  </a:lnTo>
                  <a:cubicBezTo>
                    <a:pt x="22710902" y="768604"/>
                    <a:pt x="22665310" y="814070"/>
                    <a:pt x="22609175" y="814070"/>
                  </a:cubicBezTo>
                  <a:lnTo>
                    <a:pt x="101727" y="814070"/>
                  </a:lnTo>
                  <a:cubicBezTo>
                    <a:pt x="45593" y="814197"/>
                    <a:pt x="0" y="768604"/>
                    <a:pt x="0" y="712343"/>
                  </a:cubicBezTo>
                  <a:close/>
                </a:path>
              </a:pathLst>
            </a:custGeom>
            <a:solidFill>
              <a:srgbClr val="00C2D7"/>
            </a:solidFill>
            <a:ln w="25400" cap="sq">
              <a:solidFill>
                <a:srgbClr val="00C2D7"/>
              </a:solidFill>
              <a:prstDash val="solid"/>
              <a:miter/>
            </a:ln>
          </p:spPr>
        </p:sp>
      </p:grpSp>
      <p:grpSp>
        <p:nvGrpSpPr>
          <p:cNvPr name="Group 86" id="86"/>
          <p:cNvGrpSpPr/>
          <p:nvPr/>
        </p:nvGrpSpPr>
        <p:grpSpPr>
          <a:xfrm rot="0">
            <a:off x="640080" y="9601200"/>
            <a:ext cx="17007840" cy="787487"/>
            <a:chOff x="0" y="0"/>
            <a:chExt cx="22677120" cy="1049982"/>
          </a:xfrm>
        </p:grpSpPr>
        <p:sp>
          <p:nvSpPr>
            <p:cNvPr name="Freeform 87" id="87"/>
            <p:cNvSpPr/>
            <p:nvPr/>
          </p:nvSpPr>
          <p:spPr>
            <a:xfrm flipH="false" flipV="false" rot="0">
              <a:off x="0" y="0"/>
              <a:ext cx="22677120" cy="1049982"/>
            </a:xfrm>
            <a:custGeom>
              <a:avLst/>
              <a:gdLst/>
              <a:ahLst/>
              <a:cxnLst/>
              <a:rect r="r" b="b" t="t" l="l"/>
              <a:pathLst>
                <a:path h="1049982" w="22677120">
                  <a:moveTo>
                    <a:pt x="0" y="0"/>
                  </a:moveTo>
                  <a:lnTo>
                    <a:pt x="22677120" y="0"/>
                  </a:lnTo>
                  <a:lnTo>
                    <a:pt x="22677120" y="1049982"/>
                  </a:lnTo>
                  <a:lnTo>
                    <a:pt x="0" y="1049982"/>
                  </a:lnTo>
                  <a:close/>
                </a:path>
              </a:pathLst>
            </a:custGeom>
            <a:blipFill>
              <a:blip r:embed="rId3">
                <a:alphaModFix amt="0"/>
              </a:blip>
              <a:stretch>
                <a:fillRect l="0" t="-383673" r="0" b="-357987"/>
              </a:stretch>
            </a:blipFill>
          </p:spPr>
        </p:sp>
        <p:sp>
          <p:nvSpPr>
            <p:cNvPr name="TextBox 88" id="88"/>
            <p:cNvSpPr txBox="true"/>
            <p:nvPr/>
          </p:nvSpPr>
          <p:spPr>
            <a:xfrm>
              <a:off x="0" y="-19050"/>
              <a:ext cx="22677120" cy="1069032"/>
            </a:xfrm>
            <a:prstGeom prst="rect">
              <a:avLst/>
            </a:prstGeom>
          </p:spPr>
          <p:txBody>
            <a:bodyPr anchor="ctr" rtlCol="false" tIns="0" lIns="0" bIns="0" rIns="0"/>
            <a:lstStyle/>
            <a:p>
              <a:pPr algn="ctr">
                <a:lnSpc>
                  <a:spcPts val="2639"/>
                </a:lnSpc>
              </a:pPr>
              <a:r>
                <a:rPr lang="en-US" b="true" sz="2199">
                  <a:solidFill>
                    <a:srgbClr val="1E2761"/>
                  </a:solidFill>
                  <a:latin typeface="Arial Bold"/>
                  <a:ea typeface="Arial Bold"/>
                  <a:cs typeface="Arial Bold"/>
                  <a:sym typeface="Arial Bold"/>
                </a:rPr>
                <a:t>74</a:t>
              </a:r>
              <a:r>
                <a:rPr lang="en-US" b="true" sz="2199">
                  <a:solidFill>
                    <a:srgbClr val="1E2761"/>
                  </a:solidFill>
                  <a:latin typeface="Arial Bold"/>
                  <a:ea typeface="Arial Bold"/>
                  <a:cs typeface="Arial Bold"/>
                  <a:sym typeface="Arial Bold"/>
                </a:rPr>
                <a:t> tests back-end · 62 tests front-end · 91 % couverture back-end · CI/CD GitHub Actions</a:t>
              </a:r>
            </a:p>
            <a:p>
              <a:pPr algn="ctr">
                <a:lnSpc>
                  <a:spcPts val="2639"/>
                </a:lnSpc>
              </a:pPr>
            </a:p>
          </p:txBody>
        </p:sp>
      </p:grpSp>
      <p:grpSp>
        <p:nvGrpSpPr>
          <p:cNvPr name="Group 89" id="89"/>
          <p:cNvGrpSpPr/>
          <p:nvPr/>
        </p:nvGrpSpPr>
        <p:grpSpPr>
          <a:xfrm rot="0">
            <a:off x="1224063" y="5167311"/>
            <a:ext cx="1079082" cy="872354"/>
            <a:chOff x="0" y="0"/>
            <a:chExt cx="2557684" cy="2067690"/>
          </a:xfrm>
        </p:grpSpPr>
        <p:sp>
          <p:nvSpPr>
            <p:cNvPr name="Freeform 90" id="90"/>
            <p:cNvSpPr/>
            <p:nvPr/>
          </p:nvSpPr>
          <p:spPr>
            <a:xfrm flipH="false" flipV="false" rot="0">
              <a:off x="0" y="0"/>
              <a:ext cx="2557684" cy="2067690"/>
            </a:xfrm>
            <a:custGeom>
              <a:avLst/>
              <a:gdLst/>
              <a:ahLst/>
              <a:cxnLst/>
              <a:rect r="r" b="b" t="t" l="l"/>
              <a:pathLst>
                <a:path h="2067690" w="2557684">
                  <a:moveTo>
                    <a:pt x="0" y="0"/>
                  </a:moveTo>
                  <a:lnTo>
                    <a:pt x="2557684" y="0"/>
                  </a:lnTo>
                  <a:lnTo>
                    <a:pt x="2557684" y="2067690"/>
                  </a:lnTo>
                  <a:lnTo>
                    <a:pt x="0" y="2067690"/>
                  </a:lnTo>
                  <a:lnTo>
                    <a:pt x="0" y="0"/>
                  </a:lnTo>
                  <a:close/>
                </a:path>
              </a:pathLst>
            </a:custGeom>
            <a:blipFill>
              <a:blip r:embed="rId7"/>
              <a:stretch>
                <a:fillRect l="0" t="-1540" r="0" b="-1540"/>
              </a:stretch>
            </a:blipFill>
          </p:spPr>
        </p:sp>
      </p:grpSp>
      <p:sp>
        <p:nvSpPr>
          <p:cNvPr name="TextBox 91" id="91"/>
          <p:cNvSpPr txBox="true"/>
          <p:nvPr/>
        </p:nvSpPr>
        <p:spPr>
          <a:xfrm rot="0">
            <a:off x="2560320" y="5490151"/>
            <a:ext cx="1885117" cy="476250"/>
          </a:xfrm>
          <a:prstGeom prst="rect">
            <a:avLst/>
          </a:prstGeom>
        </p:spPr>
        <p:txBody>
          <a:bodyPr anchor="t" rtlCol="false" tIns="0" lIns="0" bIns="0" rIns="0">
            <a:spAutoFit/>
          </a:bodyPr>
          <a:lstStyle/>
          <a:p>
            <a:pPr algn="ctr">
              <a:lnSpc>
                <a:spcPts val="3600"/>
              </a:lnSpc>
              <a:spcBef>
                <a:spcPct val="0"/>
              </a:spcBef>
            </a:pPr>
            <a:r>
              <a:rPr lang="en-US" b="true" sz="3000">
                <a:solidFill>
                  <a:srgbClr val="FFFFFF"/>
                </a:solidFill>
                <a:latin typeface="Arial Bold"/>
                <a:ea typeface="Arial Bold"/>
                <a:cs typeface="Arial Bold"/>
                <a:sym typeface="Arial Bold"/>
              </a:rPr>
              <a:t>Javascript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2167671" y="0"/>
            <a:ext cx="13952657" cy="10287000"/>
          </a:xfrm>
          <a:custGeom>
            <a:avLst/>
            <a:gdLst/>
            <a:ahLst/>
            <a:cxnLst/>
            <a:rect r="r" b="b" t="t" l="l"/>
            <a:pathLst>
              <a:path h="10287000" w="13952657">
                <a:moveTo>
                  <a:pt x="0" y="0"/>
                </a:moveTo>
                <a:lnTo>
                  <a:pt x="13952658" y="0"/>
                </a:lnTo>
                <a:lnTo>
                  <a:pt x="13952658" y="10287000"/>
                </a:lnTo>
                <a:lnTo>
                  <a:pt x="0" y="10287000"/>
                </a:lnTo>
                <a:lnTo>
                  <a:pt x="0" y="0"/>
                </a:lnTo>
                <a:close/>
              </a:path>
            </a:pathLst>
          </a:custGeom>
          <a:blipFill>
            <a:blip r:embed="rId3"/>
            <a:stretch>
              <a:fillRect l="0" t="-862" r="0" b="-862"/>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0" y="548640"/>
            <a:ext cx="18288000" cy="1569616"/>
            <a:chOff x="0" y="0"/>
            <a:chExt cx="24384000" cy="2092821"/>
          </a:xfrm>
        </p:grpSpPr>
        <p:sp>
          <p:nvSpPr>
            <p:cNvPr name="Freeform 3" id="3"/>
            <p:cNvSpPr/>
            <p:nvPr/>
          </p:nvSpPr>
          <p:spPr>
            <a:xfrm flipH="false" flipV="false" rot="0">
              <a:off x="0" y="0"/>
              <a:ext cx="24384000" cy="2092821"/>
            </a:xfrm>
            <a:custGeom>
              <a:avLst/>
              <a:gdLst/>
              <a:ahLst/>
              <a:cxnLst/>
              <a:rect r="r" b="b" t="t" l="l"/>
              <a:pathLst>
                <a:path h="2092821" w="24384000">
                  <a:moveTo>
                    <a:pt x="0" y="0"/>
                  </a:moveTo>
                  <a:lnTo>
                    <a:pt x="24384000" y="0"/>
                  </a:lnTo>
                  <a:lnTo>
                    <a:pt x="24384000" y="2092821"/>
                  </a:lnTo>
                  <a:lnTo>
                    <a:pt x="0" y="2092821"/>
                  </a:lnTo>
                  <a:close/>
                </a:path>
              </a:pathLst>
            </a:custGeom>
            <a:blipFill>
              <a:blip r:embed="rId3">
                <a:alphaModFix amt="0"/>
              </a:blip>
              <a:stretch>
                <a:fillRect l="0" t="-186245" r="0" b="-167804"/>
              </a:stretch>
            </a:blipFill>
          </p:spPr>
        </p:sp>
        <p:sp>
          <p:nvSpPr>
            <p:cNvPr name="TextBox 4" id="4"/>
            <p:cNvSpPr txBox="true"/>
            <p:nvPr/>
          </p:nvSpPr>
          <p:spPr>
            <a:xfrm>
              <a:off x="0" y="-38100"/>
              <a:ext cx="24384000" cy="2130921"/>
            </a:xfrm>
            <a:prstGeom prst="rect">
              <a:avLst/>
            </a:prstGeom>
          </p:spPr>
          <p:txBody>
            <a:bodyPr anchor="ctr" rtlCol="false" tIns="0" lIns="0" bIns="0" rIns="0"/>
            <a:lstStyle/>
            <a:p>
              <a:pPr algn="ctr">
                <a:lnSpc>
                  <a:spcPts val="9119"/>
                </a:lnSpc>
              </a:pPr>
              <a:r>
                <a:rPr lang="en-US" b="true" sz="7599">
                  <a:solidFill>
                    <a:srgbClr val="FFFFFF"/>
                  </a:solidFill>
                  <a:latin typeface="Arial Bold"/>
                  <a:ea typeface="Arial Bold"/>
                  <a:cs typeface="Arial Bold"/>
                  <a:sym typeface="Arial Bold"/>
                </a:rPr>
                <a:t>Demonstration</a:t>
              </a:r>
            </a:p>
          </p:txBody>
        </p:sp>
      </p:grpSp>
      <p:grpSp>
        <p:nvGrpSpPr>
          <p:cNvPr name="Group 5" id="5"/>
          <p:cNvGrpSpPr/>
          <p:nvPr/>
        </p:nvGrpSpPr>
        <p:grpSpPr>
          <a:xfrm rot="0">
            <a:off x="2730503" y="2090423"/>
            <a:ext cx="12827003" cy="1031243"/>
            <a:chOff x="0" y="0"/>
            <a:chExt cx="17102671" cy="1374991"/>
          </a:xfrm>
        </p:grpSpPr>
        <p:sp>
          <p:nvSpPr>
            <p:cNvPr name="Freeform 6" id="6"/>
            <p:cNvSpPr/>
            <p:nvPr/>
          </p:nvSpPr>
          <p:spPr>
            <a:xfrm flipH="false" flipV="false" rot="0">
              <a:off x="0" y="0"/>
              <a:ext cx="17102710" cy="1375029"/>
            </a:xfrm>
            <a:custGeom>
              <a:avLst/>
              <a:gdLst/>
              <a:ahLst/>
              <a:cxnLst/>
              <a:rect r="r" b="b" t="t" l="l"/>
              <a:pathLst>
                <a:path h="1375029" w="17102710">
                  <a:moveTo>
                    <a:pt x="0" y="200025"/>
                  </a:moveTo>
                  <a:cubicBezTo>
                    <a:pt x="0" y="89535"/>
                    <a:pt x="89535" y="0"/>
                    <a:pt x="200025" y="0"/>
                  </a:cubicBezTo>
                  <a:lnTo>
                    <a:pt x="16902685" y="0"/>
                  </a:lnTo>
                  <a:cubicBezTo>
                    <a:pt x="17013174" y="0"/>
                    <a:pt x="17102710" y="89535"/>
                    <a:pt x="17102710" y="200025"/>
                  </a:cubicBezTo>
                  <a:lnTo>
                    <a:pt x="17102710" y="1175004"/>
                  </a:lnTo>
                  <a:cubicBezTo>
                    <a:pt x="17102710" y="1285494"/>
                    <a:pt x="17013174" y="1375029"/>
                    <a:pt x="16902685" y="1375029"/>
                  </a:cubicBezTo>
                  <a:lnTo>
                    <a:pt x="200025" y="1375029"/>
                  </a:lnTo>
                  <a:cubicBezTo>
                    <a:pt x="89535" y="1375029"/>
                    <a:pt x="0" y="1285494"/>
                    <a:pt x="0" y="1175004"/>
                  </a:cubicBezTo>
                  <a:close/>
                </a:path>
              </a:pathLst>
            </a:custGeom>
            <a:solidFill>
              <a:srgbClr val="00C2D7"/>
            </a:solidFill>
            <a:ln w="25400" cap="sq">
              <a:solidFill>
                <a:srgbClr val="00C2D7"/>
              </a:solidFill>
              <a:prstDash val="solid"/>
              <a:miter/>
            </a:ln>
          </p:spPr>
        </p:sp>
      </p:grpSp>
      <p:grpSp>
        <p:nvGrpSpPr>
          <p:cNvPr name="Group 7" id="7"/>
          <p:cNvGrpSpPr/>
          <p:nvPr/>
        </p:nvGrpSpPr>
        <p:grpSpPr>
          <a:xfrm rot="0">
            <a:off x="2743200" y="2103120"/>
            <a:ext cx="12801600" cy="1005840"/>
            <a:chOff x="0" y="0"/>
            <a:chExt cx="17068800" cy="1341120"/>
          </a:xfrm>
        </p:grpSpPr>
        <p:sp>
          <p:nvSpPr>
            <p:cNvPr name="Freeform 8" id="8"/>
            <p:cNvSpPr/>
            <p:nvPr/>
          </p:nvSpPr>
          <p:spPr>
            <a:xfrm flipH="false" flipV="false" rot="0">
              <a:off x="0" y="0"/>
              <a:ext cx="17068800" cy="1341120"/>
            </a:xfrm>
            <a:custGeom>
              <a:avLst/>
              <a:gdLst/>
              <a:ahLst/>
              <a:cxnLst/>
              <a:rect r="r" b="b" t="t" l="l"/>
              <a:pathLst>
                <a:path h="1341120" w="17068800">
                  <a:moveTo>
                    <a:pt x="0" y="0"/>
                  </a:moveTo>
                  <a:lnTo>
                    <a:pt x="17068800" y="0"/>
                  </a:lnTo>
                  <a:lnTo>
                    <a:pt x="17068800" y="1341120"/>
                  </a:lnTo>
                  <a:lnTo>
                    <a:pt x="0" y="1341120"/>
                  </a:lnTo>
                  <a:close/>
                </a:path>
              </a:pathLst>
            </a:custGeom>
            <a:blipFill>
              <a:blip r:embed="rId3">
                <a:alphaModFix amt="0"/>
              </a:blip>
              <a:stretch>
                <a:fillRect l="0" t="-197991" r="0" b="-197991"/>
              </a:stretch>
            </a:blipFill>
          </p:spPr>
        </p:sp>
        <p:sp>
          <p:nvSpPr>
            <p:cNvPr name="TextBox 9" id="9"/>
            <p:cNvSpPr txBox="true"/>
            <p:nvPr/>
          </p:nvSpPr>
          <p:spPr>
            <a:xfrm>
              <a:off x="0" y="-28575"/>
              <a:ext cx="17068800" cy="1369695"/>
            </a:xfrm>
            <a:prstGeom prst="rect">
              <a:avLst/>
            </a:prstGeom>
          </p:spPr>
          <p:txBody>
            <a:bodyPr anchor="ctr" rtlCol="false" tIns="0" lIns="0" bIns="0" rIns="0"/>
            <a:lstStyle/>
            <a:p>
              <a:pPr algn="ctr">
                <a:lnSpc>
                  <a:spcPts val="4320"/>
                </a:lnSpc>
              </a:pPr>
              <a:r>
                <a:rPr lang="en-US" b="true" sz="3600" u="sng">
                  <a:solidFill>
                    <a:srgbClr val="1E2761"/>
                  </a:solidFill>
                  <a:latin typeface="Arial Bold"/>
                  <a:ea typeface="Arial Bold"/>
                  <a:cs typeface="Arial Bold"/>
                  <a:sym typeface="Arial Bold"/>
                  <a:hlinkClick r:id="rId4" tooltip="https://portfolio-kappa-dun-65.vercel.app"/>
                </a:rPr>
                <a:t>🌐  portfolio-kappa-dun-65.vercel.app</a:t>
              </a:r>
            </a:p>
          </p:txBody>
        </p:sp>
      </p:grpSp>
      <p:grpSp>
        <p:nvGrpSpPr>
          <p:cNvPr name="Group 10" id="10"/>
          <p:cNvGrpSpPr/>
          <p:nvPr/>
        </p:nvGrpSpPr>
        <p:grpSpPr>
          <a:xfrm rot="0">
            <a:off x="1543048" y="3736343"/>
            <a:ext cx="756923" cy="756923"/>
            <a:chOff x="0" y="0"/>
            <a:chExt cx="1009231" cy="1009231"/>
          </a:xfrm>
        </p:grpSpPr>
        <p:sp>
          <p:nvSpPr>
            <p:cNvPr name="Freeform 11" id="11"/>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0C2D7"/>
            </a:solidFill>
            <a:ln w="25400" cap="sq">
              <a:solidFill>
                <a:srgbClr val="00C2D7"/>
              </a:solidFill>
              <a:prstDash val="solid"/>
              <a:miter/>
            </a:ln>
          </p:spPr>
        </p:sp>
      </p:grpSp>
      <p:grpSp>
        <p:nvGrpSpPr>
          <p:cNvPr name="Group 12" id="12"/>
          <p:cNvGrpSpPr/>
          <p:nvPr/>
        </p:nvGrpSpPr>
        <p:grpSpPr>
          <a:xfrm rot="0">
            <a:off x="1555745" y="3749040"/>
            <a:ext cx="731520" cy="731520"/>
            <a:chOff x="0" y="0"/>
            <a:chExt cx="975360" cy="975360"/>
          </a:xfrm>
        </p:grpSpPr>
        <p:sp>
          <p:nvSpPr>
            <p:cNvPr name="Freeform 13" id="13"/>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14" id="14"/>
            <p:cNvSpPr txBox="true"/>
            <p:nvPr/>
          </p:nvSpPr>
          <p:spPr>
            <a:xfrm>
              <a:off x="0" y="-19050"/>
              <a:ext cx="975360" cy="994410"/>
            </a:xfrm>
            <a:prstGeom prst="rect">
              <a:avLst/>
            </a:prstGeom>
          </p:spPr>
          <p:txBody>
            <a:bodyPr anchor="ctr" rtlCol="false" tIns="0" lIns="0" bIns="0" rIns="0"/>
            <a:lstStyle/>
            <a:p>
              <a:pPr algn="ctr">
                <a:lnSpc>
                  <a:spcPts val="3359"/>
                </a:lnSpc>
              </a:pPr>
              <a:r>
                <a:rPr lang="en-US" b="true" sz="2799">
                  <a:solidFill>
                    <a:srgbClr val="1E2761"/>
                  </a:solidFill>
                  <a:latin typeface="Arial Bold"/>
                  <a:ea typeface="Arial Bold"/>
                  <a:cs typeface="Arial Bold"/>
                  <a:sym typeface="Arial Bold"/>
                </a:rPr>
                <a:t>1</a:t>
              </a:r>
            </a:p>
          </p:txBody>
        </p:sp>
      </p:grpSp>
      <p:grpSp>
        <p:nvGrpSpPr>
          <p:cNvPr name="Group 15" id="15"/>
          <p:cNvGrpSpPr/>
          <p:nvPr/>
        </p:nvGrpSpPr>
        <p:grpSpPr>
          <a:xfrm rot="0">
            <a:off x="2470145" y="3657600"/>
            <a:ext cx="13716000" cy="914400"/>
            <a:chOff x="0" y="0"/>
            <a:chExt cx="18288000" cy="1219200"/>
          </a:xfrm>
        </p:grpSpPr>
        <p:sp>
          <p:nvSpPr>
            <p:cNvPr name="Freeform 16" id="16"/>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17" id="17"/>
            <p:cNvSpPr txBox="true"/>
            <p:nvPr/>
          </p:nvSpPr>
          <p:spPr>
            <a:xfrm>
              <a:off x="0" y="-28575"/>
              <a:ext cx="18288000" cy="1247775"/>
            </a:xfrm>
            <a:prstGeom prst="rect">
              <a:avLst/>
            </a:prstGeom>
          </p:spPr>
          <p:txBody>
            <a:bodyPr anchor="ctr" rtlCol="false" tIns="0" lIns="0" bIns="0" rIns="0"/>
            <a:lstStyle/>
            <a:p>
              <a:pPr algn="l">
                <a:lnSpc>
                  <a:spcPts val="3840"/>
                </a:lnSpc>
              </a:pPr>
              <a:r>
                <a:rPr lang="en-US" b="true" sz="3200">
                  <a:solidFill>
                    <a:srgbClr val="FFFFFF"/>
                  </a:solidFill>
                  <a:latin typeface="Arial Bold"/>
                  <a:ea typeface="Arial Bold"/>
                  <a:cs typeface="Arial Bold"/>
                  <a:sym typeface="Arial Bold"/>
                </a:rPr>
                <a:t>Inscr</a:t>
              </a:r>
              <a:r>
                <a:rPr lang="en-US" b="true" sz="3200">
                  <a:solidFill>
                    <a:srgbClr val="FFFFFF"/>
                  </a:solidFill>
                  <a:latin typeface="Arial Bold"/>
                  <a:ea typeface="Arial Bold"/>
                  <a:cs typeface="Arial Bold"/>
                  <a:sym typeface="Arial Bold"/>
                </a:rPr>
                <a:t>is-toi comme nouveau client → </a:t>
              </a:r>
              <a:r>
                <a:rPr lang="en-US" b="true" sz="3200">
                  <a:solidFill>
                    <a:srgbClr val="FFFFFF"/>
                  </a:solidFill>
                  <a:latin typeface="Arial Bold"/>
                  <a:ea typeface="Arial Bold"/>
                  <a:cs typeface="Arial Bold"/>
                  <a:sym typeface="Arial Bold"/>
                </a:rPr>
                <a:t>S</a:t>
              </a:r>
              <a:r>
                <a:rPr lang="en-US" b="true" sz="3200">
                  <a:solidFill>
                    <a:srgbClr val="FFFFFF"/>
                  </a:solidFill>
                  <a:latin typeface="Arial Bold"/>
                  <a:ea typeface="Arial Bold"/>
                  <a:cs typeface="Arial Bold"/>
                  <a:sym typeface="Arial Bold"/>
                </a:rPr>
                <a:t>o</a:t>
              </a:r>
              <a:r>
                <a:rPr lang="en-US" b="true" sz="3200">
                  <a:solidFill>
                    <a:srgbClr val="FFFFFF"/>
                  </a:solidFill>
                  <a:latin typeface="Arial Bold"/>
                  <a:ea typeface="Arial Bold"/>
                  <a:cs typeface="Arial Bold"/>
                  <a:sym typeface="Arial Bold"/>
                </a:rPr>
                <a:t>um</a:t>
              </a:r>
              <a:r>
                <a:rPr lang="en-US" b="true" sz="3200">
                  <a:solidFill>
                    <a:srgbClr val="FFFFFF"/>
                  </a:solidFill>
                  <a:latin typeface="Arial Bold"/>
                  <a:ea typeface="Arial Bold"/>
                  <a:cs typeface="Arial Bold"/>
                  <a:sym typeface="Arial Bold"/>
                </a:rPr>
                <a:t>e</a:t>
              </a:r>
              <a:r>
                <a:rPr lang="en-US" b="true" sz="3200">
                  <a:solidFill>
                    <a:srgbClr val="FFFFFF"/>
                  </a:solidFill>
                  <a:latin typeface="Arial Bold"/>
                  <a:ea typeface="Arial Bold"/>
                  <a:cs typeface="Arial Bold"/>
                  <a:sym typeface="Arial Bold"/>
                </a:rPr>
                <a:t>t</a:t>
              </a:r>
              <a:r>
                <a:rPr lang="en-US" b="true" sz="3200">
                  <a:solidFill>
                    <a:srgbClr val="FFFFFF"/>
                  </a:solidFill>
                  <a:latin typeface="Arial Bold"/>
                  <a:ea typeface="Arial Bold"/>
                  <a:cs typeface="Arial Bold"/>
                  <a:sym typeface="Arial Bold"/>
                </a:rPr>
                <a:t>s</a:t>
              </a:r>
              <a:r>
                <a:rPr lang="en-US" b="true" sz="3200">
                  <a:solidFill>
                    <a:srgbClr val="FFFFFF"/>
                  </a:solidFill>
                  <a:latin typeface="Arial Bold"/>
                  <a:ea typeface="Arial Bold"/>
                  <a:cs typeface="Arial Bold"/>
                  <a:sym typeface="Arial Bold"/>
                </a:rPr>
                <a:t> </a:t>
              </a:r>
              <a:r>
                <a:rPr lang="en-US" b="true" sz="3200">
                  <a:solidFill>
                    <a:srgbClr val="FFFFFF"/>
                  </a:solidFill>
                  <a:latin typeface="Arial Bold"/>
                  <a:ea typeface="Arial Bold"/>
                  <a:cs typeface="Arial Bold"/>
                  <a:sym typeface="Arial Bold"/>
                </a:rPr>
                <a:t>une dem</a:t>
              </a:r>
              <a:r>
                <a:rPr lang="en-US" b="true" sz="3200">
                  <a:solidFill>
                    <a:srgbClr val="FFFFFF"/>
                  </a:solidFill>
                  <a:latin typeface="Arial Bold"/>
                  <a:ea typeface="Arial Bold"/>
                  <a:cs typeface="Arial Bold"/>
                  <a:sym typeface="Arial Bold"/>
                </a:rPr>
                <a:t>an</a:t>
              </a:r>
              <a:r>
                <a:rPr lang="en-US" b="true" sz="3200">
                  <a:solidFill>
                    <a:srgbClr val="FFFFFF"/>
                  </a:solidFill>
                  <a:latin typeface="Arial Bold"/>
                  <a:ea typeface="Arial Bold"/>
                  <a:cs typeface="Arial Bold"/>
                  <a:sym typeface="Arial Bold"/>
                </a:rPr>
                <a:t>de</a:t>
              </a:r>
              <a:r>
                <a:rPr lang="en-US" b="true" sz="3200">
                  <a:solidFill>
                    <a:srgbClr val="FFFFFF"/>
                  </a:solidFill>
                  <a:latin typeface="Arial Bold"/>
                  <a:ea typeface="Arial Bold"/>
                  <a:cs typeface="Arial Bold"/>
                  <a:sym typeface="Arial Bold"/>
                </a:rPr>
                <a:t> </a:t>
              </a:r>
              <a:r>
                <a:rPr lang="en-US" b="true" sz="3200">
                  <a:solidFill>
                    <a:srgbClr val="FFFFFF"/>
                  </a:solidFill>
                  <a:latin typeface="Arial Bold"/>
                  <a:ea typeface="Arial Bold"/>
                  <a:cs typeface="Arial Bold"/>
                  <a:sym typeface="Arial Bold"/>
                </a:rPr>
                <a:t>d'</a:t>
              </a:r>
              <a:r>
                <a:rPr lang="en-US" b="true" sz="3200">
                  <a:solidFill>
                    <a:srgbClr val="FFFFFF"/>
                  </a:solidFill>
                  <a:latin typeface="Arial Bold"/>
                  <a:ea typeface="Arial Bold"/>
                  <a:cs typeface="Arial Bold"/>
                  <a:sym typeface="Arial Bold"/>
                </a:rPr>
                <a:t>audit</a:t>
              </a:r>
            </a:p>
          </p:txBody>
        </p:sp>
      </p:grpSp>
      <p:grpSp>
        <p:nvGrpSpPr>
          <p:cNvPr name="Group 18" id="18"/>
          <p:cNvGrpSpPr/>
          <p:nvPr/>
        </p:nvGrpSpPr>
        <p:grpSpPr>
          <a:xfrm rot="0">
            <a:off x="1543048" y="4833623"/>
            <a:ext cx="756923" cy="756923"/>
            <a:chOff x="0" y="0"/>
            <a:chExt cx="1009231" cy="1009231"/>
          </a:xfrm>
        </p:grpSpPr>
        <p:sp>
          <p:nvSpPr>
            <p:cNvPr name="Freeform 19" id="19"/>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0C2D7"/>
            </a:solidFill>
            <a:ln w="25400" cap="sq">
              <a:solidFill>
                <a:srgbClr val="00C2D7"/>
              </a:solidFill>
              <a:prstDash val="solid"/>
              <a:miter/>
            </a:ln>
          </p:spPr>
        </p:sp>
      </p:grpSp>
      <p:grpSp>
        <p:nvGrpSpPr>
          <p:cNvPr name="Group 20" id="20"/>
          <p:cNvGrpSpPr/>
          <p:nvPr/>
        </p:nvGrpSpPr>
        <p:grpSpPr>
          <a:xfrm rot="0">
            <a:off x="1555745" y="4846320"/>
            <a:ext cx="731520" cy="731520"/>
            <a:chOff x="0" y="0"/>
            <a:chExt cx="975360" cy="975360"/>
          </a:xfrm>
        </p:grpSpPr>
        <p:sp>
          <p:nvSpPr>
            <p:cNvPr name="Freeform 21" id="21"/>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22" id="22"/>
            <p:cNvSpPr txBox="true"/>
            <p:nvPr/>
          </p:nvSpPr>
          <p:spPr>
            <a:xfrm>
              <a:off x="0" y="-19050"/>
              <a:ext cx="975360" cy="994410"/>
            </a:xfrm>
            <a:prstGeom prst="rect">
              <a:avLst/>
            </a:prstGeom>
          </p:spPr>
          <p:txBody>
            <a:bodyPr anchor="ctr" rtlCol="false" tIns="0" lIns="0" bIns="0" rIns="0"/>
            <a:lstStyle/>
            <a:p>
              <a:pPr algn="ctr">
                <a:lnSpc>
                  <a:spcPts val="3359"/>
                </a:lnSpc>
              </a:pPr>
              <a:r>
                <a:rPr lang="en-US" b="true" sz="2799">
                  <a:solidFill>
                    <a:srgbClr val="1E2761"/>
                  </a:solidFill>
                  <a:latin typeface="Arial Bold"/>
                  <a:ea typeface="Arial Bold"/>
                  <a:cs typeface="Arial Bold"/>
                  <a:sym typeface="Arial Bold"/>
                </a:rPr>
                <a:t>2</a:t>
              </a:r>
            </a:p>
          </p:txBody>
        </p:sp>
      </p:grpSp>
      <p:grpSp>
        <p:nvGrpSpPr>
          <p:cNvPr name="Group 23" id="23"/>
          <p:cNvGrpSpPr/>
          <p:nvPr/>
        </p:nvGrpSpPr>
        <p:grpSpPr>
          <a:xfrm rot="0">
            <a:off x="2470145" y="4754880"/>
            <a:ext cx="13716000" cy="914400"/>
            <a:chOff x="0" y="0"/>
            <a:chExt cx="18288000" cy="1219200"/>
          </a:xfrm>
        </p:grpSpPr>
        <p:sp>
          <p:nvSpPr>
            <p:cNvPr name="Freeform 24" id="24"/>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25" id="25"/>
            <p:cNvSpPr txBox="true"/>
            <p:nvPr/>
          </p:nvSpPr>
          <p:spPr>
            <a:xfrm>
              <a:off x="0" y="-28575"/>
              <a:ext cx="18288000" cy="1247775"/>
            </a:xfrm>
            <a:prstGeom prst="rect">
              <a:avLst/>
            </a:prstGeom>
          </p:spPr>
          <p:txBody>
            <a:bodyPr anchor="ctr" rtlCol="false" tIns="0" lIns="0" bIns="0" rIns="0"/>
            <a:lstStyle/>
            <a:p>
              <a:pPr algn="l">
                <a:lnSpc>
                  <a:spcPts val="3840"/>
                </a:lnSpc>
              </a:pPr>
              <a:r>
                <a:rPr lang="en-US" b="true" sz="3200">
                  <a:solidFill>
                    <a:srgbClr val="FFFFFF"/>
                  </a:solidFill>
                  <a:latin typeface="Arial Bold"/>
                  <a:ea typeface="Arial Bold"/>
                  <a:cs typeface="Arial Bold"/>
                  <a:sym typeface="Arial Bold"/>
                </a:rPr>
                <a:t>Recevoir la confirmation par e-mail → avec la</a:t>
              </a:r>
              <a:r>
                <a:rPr lang="en-US" b="true" sz="3200">
                  <a:solidFill>
                    <a:srgbClr val="FFFFFF"/>
                  </a:solidFill>
                  <a:latin typeface="Arial Bold"/>
                  <a:ea typeface="Arial Bold"/>
                  <a:cs typeface="Arial Bold"/>
                  <a:sym typeface="Arial Bold"/>
                </a:rPr>
                <a:t> r</a:t>
              </a:r>
              <a:r>
                <a:rPr lang="en-US" b="true" sz="3200">
                  <a:solidFill>
                    <a:srgbClr val="FFFFFF"/>
                  </a:solidFill>
                  <a:latin typeface="Arial Bold"/>
                  <a:ea typeface="Arial Bold"/>
                  <a:cs typeface="Arial Bold"/>
                  <a:sym typeface="Arial Bold"/>
                </a:rPr>
                <a:t>é</a:t>
              </a:r>
              <a:r>
                <a:rPr lang="en-US" b="true" sz="3200">
                  <a:solidFill>
                    <a:srgbClr val="FFFFFF"/>
                  </a:solidFill>
                  <a:latin typeface="Arial Bold"/>
                  <a:ea typeface="Arial Bold"/>
                  <a:cs typeface="Arial Bold"/>
                  <a:sym typeface="Arial Bold"/>
                </a:rPr>
                <a:t>f</a:t>
              </a:r>
              <a:r>
                <a:rPr lang="en-US" b="true" sz="3200">
                  <a:solidFill>
                    <a:srgbClr val="FFFFFF"/>
                  </a:solidFill>
                  <a:latin typeface="Arial Bold"/>
                  <a:ea typeface="Arial Bold"/>
                  <a:cs typeface="Arial Bold"/>
                  <a:sym typeface="Arial Bold"/>
                </a:rPr>
                <a:t>é</a:t>
              </a:r>
              <a:r>
                <a:rPr lang="en-US" b="true" sz="3200">
                  <a:solidFill>
                    <a:srgbClr val="FFFFFF"/>
                  </a:solidFill>
                  <a:latin typeface="Arial Bold"/>
                  <a:ea typeface="Arial Bold"/>
                  <a:cs typeface="Arial Bold"/>
                  <a:sym typeface="Arial Bold"/>
                </a:rPr>
                <a:t>rence </a:t>
              </a:r>
              <a:r>
                <a:rPr lang="en-US" b="true" sz="3200">
                  <a:solidFill>
                    <a:srgbClr val="FFFFFF"/>
                  </a:solidFill>
                  <a:latin typeface="Arial Bold"/>
                  <a:ea typeface="Arial Bold"/>
                  <a:cs typeface="Arial Bold"/>
                  <a:sym typeface="Arial Bold"/>
                </a:rPr>
                <a:t>et</a:t>
              </a:r>
              <a:r>
                <a:rPr lang="en-US" b="true" sz="3200">
                  <a:solidFill>
                    <a:srgbClr val="FFFFFF"/>
                  </a:solidFill>
                  <a:latin typeface="Arial Bold"/>
                  <a:ea typeface="Arial Bold"/>
                  <a:cs typeface="Arial Bold"/>
                  <a:sym typeface="Arial Bold"/>
                </a:rPr>
                <a:t> </a:t>
              </a:r>
              <a:r>
                <a:rPr lang="en-US" b="true" sz="3200">
                  <a:solidFill>
                    <a:srgbClr val="FFFFFF"/>
                  </a:solidFill>
                  <a:latin typeface="Arial Bold"/>
                  <a:ea typeface="Arial Bold"/>
                  <a:cs typeface="Arial Bold"/>
                  <a:sym typeface="Arial Bold"/>
                </a:rPr>
                <a:t>l</a:t>
              </a:r>
              <a:r>
                <a:rPr lang="en-US" b="true" sz="3200">
                  <a:solidFill>
                    <a:srgbClr val="FFFFFF"/>
                  </a:solidFill>
                  <a:latin typeface="Arial Bold"/>
                  <a:ea typeface="Arial Bold"/>
                  <a:cs typeface="Arial Bold"/>
                  <a:sym typeface="Arial Bold"/>
                </a:rPr>
                <a:t>e</a:t>
              </a:r>
              <a:r>
                <a:rPr lang="en-US" b="true" sz="3200">
                  <a:solidFill>
                    <a:srgbClr val="FFFFFF"/>
                  </a:solidFill>
                  <a:latin typeface="Arial Bold"/>
                  <a:ea typeface="Arial Bold"/>
                  <a:cs typeface="Arial Bold"/>
                  <a:sym typeface="Arial Bold"/>
                </a:rPr>
                <a:t>s dé</a:t>
              </a:r>
              <a:r>
                <a:rPr lang="en-US" b="true" sz="3200">
                  <a:solidFill>
                    <a:srgbClr val="FFFFFF"/>
                  </a:solidFill>
                  <a:latin typeface="Arial Bold"/>
                  <a:ea typeface="Arial Bold"/>
                  <a:cs typeface="Arial Bold"/>
                  <a:sym typeface="Arial Bold"/>
                </a:rPr>
                <a:t>tails</a:t>
              </a:r>
            </a:p>
          </p:txBody>
        </p:sp>
      </p:grpSp>
      <p:grpSp>
        <p:nvGrpSpPr>
          <p:cNvPr name="Group 26" id="26"/>
          <p:cNvGrpSpPr/>
          <p:nvPr/>
        </p:nvGrpSpPr>
        <p:grpSpPr>
          <a:xfrm rot="0">
            <a:off x="1543048" y="5930903"/>
            <a:ext cx="756923" cy="756923"/>
            <a:chOff x="0" y="0"/>
            <a:chExt cx="1009231" cy="1009231"/>
          </a:xfrm>
        </p:grpSpPr>
        <p:sp>
          <p:nvSpPr>
            <p:cNvPr name="Freeform 27" id="27"/>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0C2D7"/>
            </a:solidFill>
            <a:ln w="25400" cap="sq">
              <a:solidFill>
                <a:srgbClr val="00C2D7"/>
              </a:solidFill>
              <a:prstDash val="solid"/>
              <a:miter/>
            </a:ln>
          </p:spPr>
        </p:sp>
      </p:grpSp>
      <p:grpSp>
        <p:nvGrpSpPr>
          <p:cNvPr name="Group 28" id="28"/>
          <p:cNvGrpSpPr/>
          <p:nvPr/>
        </p:nvGrpSpPr>
        <p:grpSpPr>
          <a:xfrm rot="0">
            <a:off x="1555745" y="5943600"/>
            <a:ext cx="731520" cy="731520"/>
            <a:chOff x="0" y="0"/>
            <a:chExt cx="975360" cy="975360"/>
          </a:xfrm>
        </p:grpSpPr>
        <p:sp>
          <p:nvSpPr>
            <p:cNvPr name="Freeform 29" id="29"/>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30" id="30"/>
            <p:cNvSpPr txBox="true"/>
            <p:nvPr/>
          </p:nvSpPr>
          <p:spPr>
            <a:xfrm>
              <a:off x="0" y="-19050"/>
              <a:ext cx="975360" cy="994410"/>
            </a:xfrm>
            <a:prstGeom prst="rect">
              <a:avLst/>
            </a:prstGeom>
          </p:spPr>
          <p:txBody>
            <a:bodyPr anchor="ctr" rtlCol="false" tIns="0" lIns="0" bIns="0" rIns="0"/>
            <a:lstStyle/>
            <a:p>
              <a:pPr algn="ctr">
                <a:lnSpc>
                  <a:spcPts val="3359"/>
                </a:lnSpc>
              </a:pPr>
              <a:r>
                <a:rPr lang="en-US" b="true" sz="2799">
                  <a:solidFill>
                    <a:srgbClr val="1E2761"/>
                  </a:solidFill>
                  <a:latin typeface="Arial Bold"/>
                  <a:ea typeface="Arial Bold"/>
                  <a:cs typeface="Arial Bold"/>
                  <a:sym typeface="Arial Bold"/>
                </a:rPr>
                <a:t>3</a:t>
              </a:r>
            </a:p>
          </p:txBody>
        </p:sp>
      </p:grpSp>
      <p:grpSp>
        <p:nvGrpSpPr>
          <p:cNvPr name="Group 31" id="31"/>
          <p:cNvGrpSpPr/>
          <p:nvPr/>
        </p:nvGrpSpPr>
        <p:grpSpPr>
          <a:xfrm rot="0">
            <a:off x="2470145" y="5934481"/>
            <a:ext cx="15179040" cy="914400"/>
            <a:chOff x="0" y="0"/>
            <a:chExt cx="20238720" cy="1219200"/>
          </a:xfrm>
        </p:grpSpPr>
        <p:sp>
          <p:nvSpPr>
            <p:cNvPr name="Freeform 32" id="32"/>
            <p:cNvSpPr/>
            <p:nvPr/>
          </p:nvSpPr>
          <p:spPr>
            <a:xfrm flipH="false" flipV="false" rot="0">
              <a:off x="0" y="0"/>
              <a:ext cx="20238720" cy="1219200"/>
            </a:xfrm>
            <a:custGeom>
              <a:avLst/>
              <a:gdLst/>
              <a:ahLst/>
              <a:cxnLst/>
              <a:rect r="r" b="b" t="t" l="l"/>
              <a:pathLst>
                <a:path h="1219200" w="20238720">
                  <a:moveTo>
                    <a:pt x="0" y="0"/>
                  </a:moveTo>
                  <a:lnTo>
                    <a:pt x="20238720" y="0"/>
                  </a:lnTo>
                  <a:lnTo>
                    <a:pt x="20238720" y="1219200"/>
                  </a:lnTo>
                  <a:lnTo>
                    <a:pt x="0" y="1219200"/>
                  </a:lnTo>
                  <a:close/>
                </a:path>
              </a:pathLst>
            </a:custGeom>
            <a:blipFill>
              <a:blip r:embed="rId3">
                <a:alphaModFix amt="0"/>
              </a:blip>
              <a:stretch>
                <a:fillRect l="0" t="-242275" r="9638" b="-242275"/>
              </a:stretch>
            </a:blipFill>
          </p:spPr>
        </p:sp>
        <p:sp>
          <p:nvSpPr>
            <p:cNvPr name="TextBox 33" id="33"/>
            <p:cNvSpPr txBox="true"/>
            <p:nvPr/>
          </p:nvSpPr>
          <p:spPr>
            <a:xfrm>
              <a:off x="0" y="-19050"/>
              <a:ext cx="20238720" cy="123825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C</a:t>
              </a:r>
              <a:r>
                <a:rPr lang="en-US" b="true" sz="3000">
                  <a:solidFill>
                    <a:srgbClr val="FFFFFF"/>
                  </a:solidFill>
                  <a:latin typeface="Arial Bold"/>
                  <a:ea typeface="Arial Bold"/>
                  <a:cs typeface="Arial Bold"/>
                  <a:sym typeface="Arial Bold"/>
                </a:rPr>
                <a:t>onnectez-vous en tant qu'admin → </a:t>
              </a:r>
              <a:r>
                <a:rPr lang="en-US" b="true" sz="3000">
                  <a:solidFill>
                    <a:srgbClr val="FFFFFF"/>
                  </a:solidFill>
                  <a:latin typeface="Arial Bold"/>
                  <a:ea typeface="Arial Bold"/>
                  <a:cs typeface="Arial Bold"/>
                  <a:sym typeface="Arial Bold"/>
                </a:rPr>
                <a:t>V</a:t>
              </a:r>
              <a:r>
                <a:rPr lang="en-US" b="true" sz="3000">
                  <a:solidFill>
                    <a:srgbClr val="FFFFFF"/>
                  </a:solidFill>
                  <a:latin typeface="Arial Bold"/>
                  <a:ea typeface="Arial Bold"/>
                  <a:cs typeface="Arial Bold"/>
                  <a:sym typeface="Arial Bold"/>
                </a:rPr>
                <a:t>o</a:t>
              </a:r>
              <a:r>
                <a:rPr lang="en-US" b="true" sz="3000">
                  <a:solidFill>
                    <a:srgbClr val="FFFFFF"/>
                  </a:solidFill>
                  <a:latin typeface="Arial Bold"/>
                  <a:ea typeface="Arial Bold"/>
                  <a:cs typeface="Arial Bold"/>
                  <a:sym typeface="Arial Bold"/>
                </a:rPr>
                <a:t>i</a:t>
              </a:r>
              <a:r>
                <a:rPr lang="en-US" b="true" sz="3000">
                  <a:solidFill>
                    <a:srgbClr val="FFFFFF"/>
                  </a:solidFill>
                  <a:latin typeface="Arial Bold"/>
                  <a:ea typeface="Arial Bold"/>
                  <a:cs typeface="Arial Bold"/>
                  <a:sym typeface="Arial Bold"/>
                </a:rPr>
                <a:t>r</a:t>
              </a:r>
              <a:r>
                <a:rPr lang="en-US" b="true" sz="3000">
                  <a:solidFill>
                    <a:srgbClr val="FFFFFF"/>
                  </a:solidFill>
                  <a:latin typeface="Arial Bold"/>
                  <a:ea typeface="Arial Bold"/>
                  <a:cs typeface="Arial Bold"/>
                  <a:sym typeface="Arial Bold"/>
                </a:rPr>
                <a:t> l</a:t>
              </a:r>
              <a:r>
                <a:rPr lang="en-US" b="true" sz="3000">
                  <a:solidFill>
                    <a:srgbClr val="FFFFFF"/>
                  </a:solidFill>
                  <a:latin typeface="Arial Bold"/>
                  <a:ea typeface="Arial Bold"/>
                  <a:cs typeface="Arial Bold"/>
                  <a:sym typeface="Arial Bold"/>
                </a:rPr>
                <a:t>e</a:t>
              </a:r>
              <a:r>
                <a:rPr lang="en-US" b="true" sz="3000">
                  <a:solidFill>
                    <a:srgbClr val="FFFFFF"/>
                  </a:solidFill>
                  <a:latin typeface="Arial Bold"/>
                  <a:ea typeface="Arial Bold"/>
                  <a:cs typeface="Arial Bold"/>
                  <a:sym typeface="Arial Bold"/>
                </a:rPr>
                <a:t> </a:t>
              </a:r>
              <a:r>
                <a:rPr lang="en-US" b="true" sz="3000">
                  <a:solidFill>
                    <a:srgbClr val="FFFFFF"/>
                  </a:solidFill>
                  <a:latin typeface="Arial Bold"/>
                  <a:ea typeface="Arial Bold"/>
                  <a:cs typeface="Arial Bold"/>
                  <a:sym typeface="Arial Bold"/>
                </a:rPr>
                <a:t>tabl</a:t>
              </a:r>
              <a:r>
                <a:rPr lang="en-US" b="true" sz="3000">
                  <a:solidFill>
                    <a:srgbClr val="FFFFFF"/>
                  </a:solidFill>
                  <a:latin typeface="Arial Bold"/>
                  <a:ea typeface="Arial Bold"/>
                  <a:cs typeface="Arial Bold"/>
                  <a:sym typeface="Arial Bold"/>
                </a:rPr>
                <a:t>e</a:t>
              </a:r>
              <a:r>
                <a:rPr lang="en-US" b="true" sz="3000">
                  <a:solidFill>
                    <a:srgbClr val="FFFFFF"/>
                  </a:solidFill>
                  <a:latin typeface="Arial Bold"/>
                  <a:ea typeface="Arial Bold"/>
                  <a:cs typeface="Arial Bold"/>
                  <a:sym typeface="Arial Bold"/>
                </a:rPr>
                <a:t>a</a:t>
              </a:r>
              <a:r>
                <a:rPr lang="en-US" b="true" sz="3000">
                  <a:solidFill>
                    <a:srgbClr val="FFFFFF"/>
                  </a:solidFill>
                  <a:latin typeface="Arial Bold"/>
                  <a:ea typeface="Arial Bold"/>
                  <a:cs typeface="Arial Bold"/>
                  <a:sym typeface="Arial Bold"/>
                </a:rPr>
                <a:t>u</a:t>
              </a:r>
              <a:r>
                <a:rPr lang="en-US" b="true" sz="3000">
                  <a:solidFill>
                    <a:srgbClr val="FFFFFF"/>
                  </a:solidFill>
                  <a:latin typeface="Arial Bold"/>
                  <a:ea typeface="Arial Bold"/>
                  <a:cs typeface="Arial Bold"/>
                  <a:sym typeface="Arial Bold"/>
                </a:rPr>
                <a:t> d</a:t>
              </a:r>
              <a:r>
                <a:rPr lang="en-US" b="true" sz="3000">
                  <a:solidFill>
                    <a:srgbClr val="FFFFFF"/>
                  </a:solidFill>
                  <a:latin typeface="Arial Bold"/>
                  <a:ea typeface="Arial Bold"/>
                  <a:cs typeface="Arial Bold"/>
                  <a:sym typeface="Arial Bold"/>
                </a:rPr>
                <a:t>e</a:t>
              </a:r>
              <a:r>
                <a:rPr lang="en-US" b="true" sz="3000">
                  <a:solidFill>
                    <a:srgbClr val="FFFFFF"/>
                  </a:solidFill>
                  <a:latin typeface="Arial Bold"/>
                  <a:ea typeface="Arial Bold"/>
                  <a:cs typeface="Arial Bold"/>
                  <a:sym typeface="Arial Bold"/>
                </a:rPr>
                <a:t> bord comple</a:t>
              </a:r>
              <a:r>
                <a:rPr lang="en-US" b="true" sz="3000">
                  <a:solidFill>
                    <a:srgbClr val="FFFFFF"/>
                  </a:solidFill>
                  <a:latin typeface="Arial Bold"/>
                  <a:ea typeface="Arial Bold"/>
                  <a:cs typeface="Arial Bold"/>
                  <a:sym typeface="Arial Bold"/>
                </a:rPr>
                <a:t>t d</a:t>
              </a:r>
              <a:r>
                <a:rPr lang="en-US" b="true" sz="3000">
                  <a:solidFill>
                    <a:srgbClr val="FFFFFF"/>
                  </a:solidFill>
                  <a:latin typeface="Arial Bold"/>
                  <a:ea typeface="Arial Bold"/>
                  <a:cs typeface="Arial Bold"/>
                  <a:sym typeface="Arial Bold"/>
                </a:rPr>
                <a:t>e</a:t>
              </a:r>
              <a:r>
                <a:rPr lang="en-US" b="true" sz="3000">
                  <a:solidFill>
                    <a:srgbClr val="FFFFFF"/>
                  </a:solidFill>
                  <a:latin typeface="Arial Bold"/>
                  <a:ea typeface="Arial Bold"/>
                  <a:cs typeface="Arial Bold"/>
                  <a:sym typeface="Arial Bold"/>
                </a:rPr>
                <a:t>s</a:t>
              </a:r>
              <a:r>
                <a:rPr lang="en-US" b="true" sz="3000">
                  <a:solidFill>
                    <a:srgbClr val="FFFFFF"/>
                  </a:solidFill>
                  <a:latin typeface="Arial Bold"/>
                  <a:ea typeface="Arial Bold"/>
                  <a:cs typeface="Arial Bold"/>
                  <a:sym typeface="Arial Bold"/>
                </a:rPr>
                <a:t> dem</a:t>
              </a:r>
              <a:r>
                <a:rPr lang="en-US" b="true" sz="3000">
                  <a:solidFill>
                    <a:srgbClr val="FFFFFF"/>
                  </a:solidFill>
                  <a:latin typeface="Arial Bold"/>
                  <a:ea typeface="Arial Bold"/>
                  <a:cs typeface="Arial Bold"/>
                  <a:sym typeface="Arial Bold"/>
                </a:rPr>
                <a:t>a</a:t>
              </a:r>
              <a:r>
                <a:rPr lang="en-US" b="true" sz="3000">
                  <a:solidFill>
                    <a:srgbClr val="FFFFFF"/>
                  </a:solidFill>
                  <a:latin typeface="Arial Bold"/>
                  <a:ea typeface="Arial Bold"/>
                  <a:cs typeface="Arial Bold"/>
                  <a:sym typeface="Arial Bold"/>
                </a:rPr>
                <a:t>n</a:t>
              </a:r>
              <a:r>
                <a:rPr lang="en-US" b="true" sz="3000">
                  <a:solidFill>
                    <a:srgbClr val="FFFFFF"/>
                  </a:solidFill>
                  <a:latin typeface="Arial Bold"/>
                  <a:ea typeface="Arial Bold"/>
                  <a:cs typeface="Arial Bold"/>
                  <a:sym typeface="Arial Bold"/>
                </a:rPr>
                <a:t>d</a:t>
              </a:r>
              <a:r>
                <a:rPr lang="en-US" b="true" sz="3000">
                  <a:solidFill>
                    <a:srgbClr val="FFFFFF"/>
                  </a:solidFill>
                  <a:latin typeface="Arial Bold"/>
                  <a:ea typeface="Arial Bold"/>
                  <a:cs typeface="Arial Bold"/>
                  <a:sym typeface="Arial Bold"/>
                </a:rPr>
                <a:t>es</a:t>
              </a:r>
            </a:p>
          </p:txBody>
        </p:sp>
      </p:grpSp>
      <p:grpSp>
        <p:nvGrpSpPr>
          <p:cNvPr name="Group 34" id="34"/>
          <p:cNvGrpSpPr/>
          <p:nvPr/>
        </p:nvGrpSpPr>
        <p:grpSpPr>
          <a:xfrm rot="0">
            <a:off x="1543048" y="7028183"/>
            <a:ext cx="756923" cy="756923"/>
            <a:chOff x="0" y="0"/>
            <a:chExt cx="1009231" cy="1009231"/>
          </a:xfrm>
        </p:grpSpPr>
        <p:sp>
          <p:nvSpPr>
            <p:cNvPr name="Freeform 35" id="35"/>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0C2D7"/>
            </a:solidFill>
            <a:ln w="25400" cap="sq">
              <a:solidFill>
                <a:srgbClr val="00C2D7"/>
              </a:solidFill>
              <a:prstDash val="solid"/>
              <a:miter/>
            </a:ln>
          </p:spPr>
        </p:sp>
      </p:grpSp>
      <p:grpSp>
        <p:nvGrpSpPr>
          <p:cNvPr name="Group 36" id="36"/>
          <p:cNvGrpSpPr/>
          <p:nvPr/>
        </p:nvGrpSpPr>
        <p:grpSpPr>
          <a:xfrm rot="0">
            <a:off x="1555745" y="7040880"/>
            <a:ext cx="731520" cy="731520"/>
            <a:chOff x="0" y="0"/>
            <a:chExt cx="975360" cy="975360"/>
          </a:xfrm>
        </p:grpSpPr>
        <p:sp>
          <p:nvSpPr>
            <p:cNvPr name="Freeform 37" id="37"/>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38" id="38"/>
            <p:cNvSpPr txBox="true"/>
            <p:nvPr/>
          </p:nvSpPr>
          <p:spPr>
            <a:xfrm>
              <a:off x="0" y="-19050"/>
              <a:ext cx="975360" cy="994410"/>
            </a:xfrm>
            <a:prstGeom prst="rect">
              <a:avLst/>
            </a:prstGeom>
          </p:spPr>
          <p:txBody>
            <a:bodyPr anchor="ctr" rtlCol="false" tIns="0" lIns="0" bIns="0" rIns="0"/>
            <a:lstStyle/>
            <a:p>
              <a:pPr algn="ctr">
                <a:lnSpc>
                  <a:spcPts val="3359"/>
                </a:lnSpc>
              </a:pPr>
              <a:r>
                <a:rPr lang="en-US" b="true" sz="2799">
                  <a:solidFill>
                    <a:srgbClr val="1E2761"/>
                  </a:solidFill>
                  <a:latin typeface="Arial Bold"/>
                  <a:ea typeface="Arial Bold"/>
                  <a:cs typeface="Arial Bold"/>
                  <a:sym typeface="Arial Bold"/>
                </a:rPr>
                <a:t>4</a:t>
              </a:r>
            </a:p>
          </p:txBody>
        </p:sp>
      </p:grpSp>
      <p:grpSp>
        <p:nvGrpSpPr>
          <p:cNvPr name="Group 39" id="39"/>
          <p:cNvGrpSpPr/>
          <p:nvPr/>
        </p:nvGrpSpPr>
        <p:grpSpPr>
          <a:xfrm rot="0">
            <a:off x="2470145" y="6949440"/>
            <a:ext cx="13716000" cy="914400"/>
            <a:chOff x="0" y="0"/>
            <a:chExt cx="18288000" cy="1219200"/>
          </a:xfrm>
        </p:grpSpPr>
        <p:sp>
          <p:nvSpPr>
            <p:cNvPr name="Freeform 40" id="40"/>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41" id="41"/>
            <p:cNvSpPr txBox="true"/>
            <p:nvPr/>
          </p:nvSpPr>
          <p:spPr>
            <a:xfrm>
              <a:off x="0" y="-19050"/>
              <a:ext cx="18288000" cy="123825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Met</a:t>
              </a:r>
              <a:r>
                <a:rPr lang="en-US" b="true" sz="3000">
                  <a:solidFill>
                    <a:srgbClr val="FFFFFF"/>
                  </a:solidFill>
                  <a:latin typeface="Arial Bold"/>
                  <a:ea typeface="Arial Bold"/>
                  <a:cs typeface="Arial Bold"/>
                  <a:sym typeface="Arial Bold"/>
                </a:rPr>
                <a:t>tre à jour le statut de la demande → Envoy</a:t>
              </a:r>
              <a:r>
                <a:rPr lang="en-US" b="true" sz="3000">
                  <a:solidFill>
                    <a:srgbClr val="FFFFFF"/>
                  </a:solidFill>
                  <a:latin typeface="Arial Bold"/>
                  <a:ea typeface="Arial Bold"/>
                  <a:cs typeface="Arial Bold"/>
                  <a:sym typeface="Arial Bold"/>
                </a:rPr>
                <a:t>e</a:t>
              </a:r>
              <a:r>
                <a:rPr lang="en-US" b="true" sz="3000">
                  <a:solidFill>
                    <a:srgbClr val="FFFFFF"/>
                  </a:solidFill>
                  <a:latin typeface="Arial Bold"/>
                  <a:ea typeface="Arial Bold"/>
                  <a:cs typeface="Arial Bold"/>
                  <a:sym typeface="Arial Bold"/>
                </a:rPr>
                <a:t>r u</a:t>
              </a:r>
              <a:r>
                <a:rPr lang="en-US" b="true" sz="3000">
                  <a:solidFill>
                    <a:srgbClr val="FFFFFF"/>
                  </a:solidFill>
                  <a:latin typeface="Arial Bold"/>
                  <a:ea typeface="Arial Bold"/>
                  <a:cs typeface="Arial Bold"/>
                  <a:sym typeface="Arial Bold"/>
                </a:rPr>
                <a:t>n</a:t>
              </a:r>
              <a:r>
                <a:rPr lang="en-US" b="true" sz="3000">
                  <a:solidFill>
                    <a:srgbClr val="FFFFFF"/>
                  </a:solidFill>
                  <a:latin typeface="Arial Bold"/>
                  <a:ea typeface="Arial Bold"/>
                  <a:cs typeface="Arial Bold"/>
                  <a:sym typeface="Arial Bold"/>
                </a:rPr>
                <a:t>e</a:t>
              </a:r>
              <a:r>
                <a:rPr lang="en-US" b="true" sz="3000">
                  <a:solidFill>
                    <a:srgbClr val="FFFFFF"/>
                  </a:solidFill>
                  <a:latin typeface="Arial Bold"/>
                  <a:ea typeface="Arial Bold"/>
                  <a:cs typeface="Arial Bold"/>
                  <a:sym typeface="Arial Bold"/>
                </a:rPr>
                <a:t> notification </a:t>
              </a:r>
              <a:r>
                <a:rPr lang="en-US" b="true" sz="3000">
                  <a:solidFill>
                    <a:srgbClr val="FFFFFF"/>
                  </a:solidFill>
                  <a:latin typeface="Arial Bold"/>
                  <a:ea typeface="Arial Bold"/>
                  <a:cs typeface="Arial Bold"/>
                  <a:sym typeface="Arial Bold"/>
                </a:rPr>
                <a:t>au</a:t>
              </a:r>
              <a:r>
                <a:rPr lang="en-US" b="true" sz="3000">
                  <a:solidFill>
                    <a:srgbClr val="FFFFFF"/>
                  </a:solidFill>
                  <a:latin typeface="Arial Bold"/>
                  <a:ea typeface="Arial Bold"/>
                  <a:cs typeface="Arial Bold"/>
                  <a:sym typeface="Arial Bold"/>
                </a:rPr>
                <a:t> client</a:t>
              </a:r>
            </a:p>
          </p:txBody>
        </p:sp>
      </p:grpSp>
      <p:grpSp>
        <p:nvGrpSpPr>
          <p:cNvPr name="Group 42" id="42"/>
          <p:cNvGrpSpPr/>
          <p:nvPr/>
        </p:nvGrpSpPr>
        <p:grpSpPr>
          <a:xfrm rot="0">
            <a:off x="1543048" y="8125463"/>
            <a:ext cx="756923" cy="756923"/>
            <a:chOff x="0" y="0"/>
            <a:chExt cx="1009231" cy="1009231"/>
          </a:xfrm>
        </p:grpSpPr>
        <p:sp>
          <p:nvSpPr>
            <p:cNvPr name="Freeform 43" id="43"/>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0C2D7"/>
            </a:solidFill>
            <a:ln w="25400" cap="sq">
              <a:solidFill>
                <a:srgbClr val="00C2D7"/>
              </a:solidFill>
              <a:prstDash val="solid"/>
              <a:miter/>
            </a:ln>
          </p:spPr>
        </p:sp>
      </p:grpSp>
      <p:grpSp>
        <p:nvGrpSpPr>
          <p:cNvPr name="Group 44" id="44"/>
          <p:cNvGrpSpPr/>
          <p:nvPr/>
        </p:nvGrpSpPr>
        <p:grpSpPr>
          <a:xfrm rot="0">
            <a:off x="1555745" y="8138160"/>
            <a:ext cx="731520" cy="731520"/>
            <a:chOff x="0" y="0"/>
            <a:chExt cx="975360" cy="975360"/>
          </a:xfrm>
        </p:grpSpPr>
        <p:sp>
          <p:nvSpPr>
            <p:cNvPr name="Freeform 45" id="45"/>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46" id="46"/>
            <p:cNvSpPr txBox="true"/>
            <p:nvPr/>
          </p:nvSpPr>
          <p:spPr>
            <a:xfrm>
              <a:off x="0" y="-19050"/>
              <a:ext cx="975360" cy="994410"/>
            </a:xfrm>
            <a:prstGeom prst="rect">
              <a:avLst/>
            </a:prstGeom>
          </p:spPr>
          <p:txBody>
            <a:bodyPr anchor="ctr" rtlCol="false" tIns="0" lIns="0" bIns="0" rIns="0"/>
            <a:lstStyle/>
            <a:p>
              <a:pPr algn="ctr">
                <a:lnSpc>
                  <a:spcPts val="3359"/>
                </a:lnSpc>
              </a:pPr>
              <a:r>
                <a:rPr lang="en-US" b="true" sz="2799">
                  <a:solidFill>
                    <a:srgbClr val="1E2761"/>
                  </a:solidFill>
                  <a:latin typeface="Arial Bold"/>
                  <a:ea typeface="Arial Bold"/>
                  <a:cs typeface="Arial Bold"/>
                  <a:sym typeface="Arial Bold"/>
                </a:rPr>
                <a:t>5</a:t>
              </a:r>
            </a:p>
          </p:txBody>
        </p:sp>
      </p:grpSp>
      <p:grpSp>
        <p:nvGrpSpPr>
          <p:cNvPr name="Group 47" id="47"/>
          <p:cNvGrpSpPr/>
          <p:nvPr/>
        </p:nvGrpSpPr>
        <p:grpSpPr>
          <a:xfrm rot="0">
            <a:off x="2470145" y="8046720"/>
            <a:ext cx="13716000" cy="914400"/>
            <a:chOff x="0" y="0"/>
            <a:chExt cx="18288000" cy="1219200"/>
          </a:xfrm>
        </p:grpSpPr>
        <p:sp>
          <p:nvSpPr>
            <p:cNvPr name="Freeform 48" id="48"/>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49" id="49"/>
            <p:cNvSpPr txBox="true"/>
            <p:nvPr/>
          </p:nvSpPr>
          <p:spPr>
            <a:xfrm>
              <a:off x="0" y="-19050"/>
              <a:ext cx="18288000" cy="1238250"/>
            </a:xfrm>
            <a:prstGeom prst="rect">
              <a:avLst/>
            </a:prstGeom>
          </p:spPr>
          <p:txBody>
            <a:bodyPr anchor="ctr" rtlCol="false" tIns="0" lIns="0" bIns="0" rIns="0"/>
            <a:lstStyle/>
            <a:p>
              <a:pPr algn="l">
                <a:lnSpc>
                  <a:spcPts val="3600"/>
                </a:lnSpc>
              </a:pPr>
              <a:r>
                <a:rPr lang="en-US" b="true" sz="3000">
                  <a:solidFill>
                    <a:srgbClr val="FFFFFF"/>
                  </a:solidFill>
                  <a:latin typeface="Arial Bold"/>
                  <a:ea typeface="Arial Bold"/>
                  <a:cs typeface="Arial Bold"/>
                  <a:sym typeface="Arial Bold"/>
                </a:rPr>
                <a:t>Générer un rapport PDF → </a:t>
              </a:r>
              <a:r>
                <a:rPr lang="en-US" b="true" sz="3000">
                  <a:solidFill>
                    <a:srgbClr val="FFFFFF"/>
                  </a:solidFill>
                  <a:latin typeface="Arial Bold"/>
                  <a:ea typeface="Arial Bold"/>
                  <a:cs typeface="Arial Bold"/>
                  <a:sym typeface="Arial Bold"/>
                </a:rPr>
                <a:t>via Celery + WeasyPrint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235689" y="1637063"/>
            <a:ext cx="8378452" cy="7067637"/>
          </a:xfrm>
          <a:custGeom>
            <a:avLst/>
            <a:gdLst/>
            <a:ahLst/>
            <a:cxnLst/>
            <a:rect r="r" b="b" t="t" l="l"/>
            <a:pathLst>
              <a:path h="7067637" w="8378452">
                <a:moveTo>
                  <a:pt x="0" y="0"/>
                </a:moveTo>
                <a:lnTo>
                  <a:pt x="8378451" y="0"/>
                </a:lnTo>
                <a:lnTo>
                  <a:pt x="8378451" y="7067637"/>
                </a:lnTo>
                <a:lnTo>
                  <a:pt x="0" y="7067637"/>
                </a:lnTo>
                <a:lnTo>
                  <a:pt x="0" y="0"/>
                </a:lnTo>
                <a:close/>
              </a:path>
            </a:pathLst>
          </a:custGeom>
          <a:blipFill>
            <a:blip r:embed="rId3"/>
            <a:stretch>
              <a:fillRect l="0" t="0" r="-1429" b="0"/>
            </a:stretch>
          </a:blipFill>
        </p:spPr>
      </p:sp>
      <p:sp>
        <p:nvSpPr>
          <p:cNvPr name="Freeform 3" id="3"/>
          <p:cNvSpPr/>
          <p:nvPr/>
        </p:nvSpPr>
        <p:spPr>
          <a:xfrm flipH="false" flipV="false" rot="0">
            <a:off x="9144000" y="1780176"/>
            <a:ext cx="8810434" cy="4625478"/>
          </a:xfrm>
          <a:custGeom>
            <a:avLst/>
            <a:gdLst/>
            <a:ahLst/>
            <a:cxnLst/>
            <a:rect r="r" b="b" t="t" l="l"/>
            <a:pathLst>
              <a:path h="4625478" w="8810434">
                <a:moveTo>
                  <a:pt x="0" y="0"/>
                </a:moveTo>
                <a:lnTo>
                  <a:pt x="8810434" y="0"/>
                </a:lnTo>
                <a:lnTo>
                  <a:pt x="8810434" y="4625478"/>
                </a:lnTo>
                <a:lnTo>
                  <a:pt x="0" y="4625478"/>
                </a:lnTo>
                <a:lnTo>
                  <a:pt x="0" y="0"/>
                </a:lnTo>
                <a:close/>
              </a:path>
            </a:pathLst>
          </a:custGeom>
          <a:blipFill>
            <a:blip r:embed="rId4"/>
            <a:stretch>
              <a:fillRect l="0" t="0" r="0" b="0"/>
            </a:stretch>
          </a:blipFill>
        </p:spPr>
      </p:sp>
      <p:sp>
        <p:nvSpPr>
          <p:cNvPr name="TextBox 4" id="4"/>
          <p:cNvSpPr txBox="true"/>
          <p:nvPr/>
        </p:nvSpPr>
        <p:spPr>
          <a:xfrm rot="0">
            <a:off x="5327713" y="201478"/>
            <a:ext cx="7632575" cy="609600"/>
          </a:xfrm>
          <a:prstGeom prst="rect">
            <a:avLst/>
          </a:prstGeom>
        </p:spPr>
        <p:txBody>
          <a:bodyPr anchor="t" rtlCol="false" tIns="0" lIns="0" bIns="0" rIns="0">
            <a:spAutoFit/>
          </a:bodyPr>
          <a:lstStyle/>
          <a:p>
            <a:pPr algn="ctr">
              <a:lnSpc>
                <a:spcPts val="4799"/>
              </a:lnSpc>
              <a:spcBef>
                <a:spcPct val="0"/>
              </a:spcBef>
            </a:pPr>
            <a:r>
              <a:rPr lang="en-US" b="true" sz="3999">
                <a:solidFill>
                  <a:srgbClr val="FFFFFF"/>
                </a:solidFill>
                <a:latin typeface="Arial Bold"/>
                <a:ea typeface="Arial Bold"/>
                <a:cs typeface="Arial Bold"/>
                <a:sym typeface="Arial Bold"/>
              </a:rPr>
              <a:t>Extrait de code : front-end</a:t>
            </a:r>
          </a:p>
        </p:txBody>
      </p:sp>
      <p:sp>
        <p:nvSpPr>
          <p:cNvPr name="TextBox 5" id="5"/>
          <p:cNvSpPr txBox="true"/>
          <p:nvPr/>
        </p:nvSpPr>
        <p:spPr>
          <a:xfrm rot="0">
            <a:off x="759455" y="1179624"/>
            <a:ext cx="5226368" cy="314325"/>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Arial Bold"/>
                <a:ea typeface="Arial Bold"/>
                <a:cs typeface="Arial Bold"/>
                <a:sym typeface="Arial Bold"/>
              </a:rPr>
              <a:t>ProtectedRoute.jsx : garde d'accès par rôle</a:t>
            </a:r>
          </a:p>
        </p:txBody>
      </p:sp>
      <p:sp>
        <p:nvSpPr>
          <p:cNvPr name="TextBox 6" id="6"/>
          <p:cNvSpPr txBox="true"/>
          <p:nvPr/>
        </p:nvSpPr>
        <p:spPr>
          <a:xfrm rot="0">
            <a:off x="345829" y="8811838"/>
            <a:ext cx="7595587" cy="923925"/>
          </a:xfrm>
          <a:prstGeom prst="rect">
            <a:avLst/>
          </a:prstGeom>
        </p:spPr>
        <p:txBody>
          <a:bodyPr anchor="t" rtlCol="false" tIns="0" lIns="0" bIns="0" rIns="0">
            <a:spAutoFit/>
          </a:bodyPr>
          <a:lstStyle/>
          <a:p>
            <a:pPr algn="l">
              <a:lnSpc>
                <a:spcPts val="2400"/>
              </a:lnSpc>
              <a:spcBef>
                <a:spcPct val="0"/>
              </a:spcBef>
            </a:pPr>
            <a:r>
              <a:rPr lang="en-US" b="true" sz="2000">
                <a:solidFill>
                  <a:srgbClr val="FFFFFF"/>
                </a:solidFill>
                <a:latin typeface="Arial Bold"/>
                <a:ea typeface="Arial Bold"/>
                <a:cs typeface="Arial Bold"/>
                <a:sym typeface="Arial Bold"/>
              </a:rPr>
              <a:t>Redirige avant même l'affichage si l'utilisateur n'est pas authentifié ou n'a pas le rôle attendu, la protection est appliquée côté client en complément du contrôle serveur.</a:t>
            </a:r>
          </a:p>
        </p:txBody>
      </p:sp>
      <p:sp>
        <p:nvSpPr>
          <p:cNvPr name="TextBox 7" id="7"/>
          <p:cNvSpPr txBox="true"/>
          <p:nvPr/>
        </p:nvSpPr>
        <p:spPr>
          <a:xfrm rot="0">
            <a:off x="9496450" y="1179624"/>
            <a:ext cx="4813816" cy="314325"/>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Arial Bold"/>
                <a:ea typeface="Arial Bold"/>
                <a:cs typeface="Arial Bold"/>
                <a:sym typeface="Arial Bold"/>
              </a:rPr>
              <a:t>sanitize.js : assainissement des entrées</a:t>
            </a:r>
          </a:p>
        </p:txBody>
      </p:sp>
      <p:sp>
        <p:nvSpPr>
          <p:cNvPr name="TextBox 8" id="8"/>
          <p:cNvSpPr txBox="true"/>
          <p:nvPr/>
        </p:nvSpPr>
        <p:spPr>
          <a:xfrm rot="0">
            <a:off x="9144000" y="6681879"/>
            <a:ext cx="6384042" cy="1533525"/>
          </a:xfrm>
          <a:prstGeom prst="rect">
            <a:avLst/>
          </a:prstGeom>
        </p:spPr>
        <p:txBody>
          <a:bodyPr anchor="t" rtlCol="false" tIns="0" lIns="0" bIns="0" rIns="0">
            <a:spAutoFit/>
          </a:bodyPr>
          <a:lstStyle/>
          <a:p>
            <a:pPr algn="l">
              <a:lnSpc>
                <a:spcPts val="2400"/>
              </a:lnSpc>
              <a:spcBef>
                <a:spcPct val="0"/>
              </a:spcBef>
            </a:pPr>
            <a:r>
              <a:rPr lang="en-US" b="true" sz="2000">
                <a:solidFill>
                  <a:srgbClr val="FFFFFF"/>
                </a:solidFill>
                <a:latin typeface="Arial Bold"/>
                <a:ea typeface="Arial Bold"/>
                <a:cs typeface="Arial Bold"/>
                <a:sym typeface="Arial Bold"/>
              </a:rPr>
              <a:t>Toute donnée saisie par un utilisateur puis réaffichée (notes de périmètre, contenu de formation) passe par cette fonction avant insertion dans le DOM, neutralise les tentatives d'injection XSS.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278765" y="1279425"/>
            <a:ext cx="8900436" cy="3864075"/>
          </a:xfrm>
          <a:custGeom>
            <a:avLst/>
            <a:gdLst/>
            <a:ahLst/>
            <a:cxnLst/>
            <a:rect r="r" b="b" t="t" l="l"/>
            <a:pathLst>
              <a:path h="3864075" w="8900436">
                <a:moveTo>
                  <a:pt x="0" y="0"/>
                </a:moveTo>
                <a:lnTo>
                  <a:pt x="8900435" y="0"/>
                </a:lnTo>
                <a:lnTo>
                  <a:pt x="8900435" y="3864075"/>
                </a:lnTo>
                <a:lnTo>
                  <a:pt x="0" y="3864075"/>
                </a:lnTo>
                <a:lnTo>
                  <a:pt x="0" y="0"/>
                </a:lnTo>
                <a:close/>
              </a:path>
            </a:pathLst>
          </a:custGeom>
          <a:blipFill>
            <a:blip r:embed="rId3"/>
            <a:stretch>
              <a:fillRect l="-2519" t="0" r="-2519" b="0"/>
            </a:stretch>
          </a:blipFill>
        </p:spPr>
      </p:sp>
      <p:sp>
        <p:nvSpPr>
          <p:cNvPr name="Freeform 3" id="3"/>
          <p:cNvSpPr/>
          <p:nvPr/>
        </p:nvSpPr>
        <p:spPr>
          <a:xfrm flipH="false" flipV="false" rot="0">
            <a:off x="278765" y="5362575"/>
            <a:ext cx="8865235" cy="4738316"/>
          </a:xfrm>
          <a:custGeom>
            <a:avLst/>
            <a:gdLst/>
            <a:ahLst/>
            <a:cxnLst/>
            <a:rect r="r" b="b" t="t" l="l"/>
            <a:pathLst>
              <a:path h="4738316" w="8865235">
                <a:moveTo>
                  <a:pt x="0" y="0"/>
                </a:moveTo>
                <a:lnTo>
                  <a:pt x="8865235" y="0"/>
                </a:lnTo>
                <a:lnTo>
                  <a:pt x="8865235" y="4738316"/>
                </a:lnTo>
                <a:lnTo>
                  <a:pt x="0" y="4738316"/>
                </a:lnTo>
                <a:lnTo>
                  <a:pt x="0" y="0"/>
                </a:lnTo>
                <a:close/>
              </a:path>
            </a:pathLst>
          </a:custGeom>
          <a:blipFill>
            <a:blip r:embed="rId4"/>
            <a:stretch>
              <a:fillRect l="0" t="0" r="0" b="0"/>
            </a:stretch>
          </a:blipFill>
        </p:spPr>
      </p:sp>
      <p:sp>
        <p:nvSpPr>
          <p:cNvPr name="TextBox 4" id="4"/>
          <p:cNvSpPr txBox="true"/>
          <p:nvPr/>
        </p:nvSpPr>
        <p:spPr>
          <a:xfrm rot="0">
            <a:off x="4952086" y="117375"/>
            <a:ext cx="9485233" cy="942975"/>
          </a:xfrm>
          <a:prstGeom prst="rect">
            <a:avLst/>
          </a:prstGeom>
        </p:spPr>
        <p:txBody>
          <a:bodyPr anchor="t" rtlCol="false" tIns="0" lIns="0" bIns="0" rIns="0">
            <a:spAutoFit/>
          </a:bodyPr>
          <a:lstStyle/>
          <a:p>
            <a:pPr algn="ctr">
              <a:lnSpc>
                <a:spcPts val="7200"/>
              </a:lnSpc>
              <a:spcBef>
                <a:spcPct val="0"/>
              </a:spcBef>
            </a:pPr>
            <a:r>
              <a:rPr lang="en-US" b="true" sz="6000">
                <a:solidFill>
                  <a:srgbClr val="FFFFFF"/>
                </a:solidFill>
                <a:latin typeface="Arial Bold"/>
                <a:ea typeface="Arial Bold"/>
                <a:cs typeface="Arial Bold"/>
                <a:sym typeface="Arial Bold"/>
              </a:rPr>
              <a:t>Extrait de code : back-end</a:t>
            </a:r>
          </a:p>
        </p:txBody>
      </p:sp>
      <p:sp>
        <p:nvSpPr>
          <p:cNvPr name="TextBox 5" id="5"/>
          <p:cNvSpPr txBox="true"/>
          <p:nvPr/>
        </p:nvSpPr>
        <p:spPr>
          <a:xfrm rot="0">
            <a:off x="9342866" y="1260375"/>
            <a:ext cx="7231023" cy="438150"/>
          </a:xfrm>
          <a:prstGeom prst="rect">
            <a:avLst/>
          </a:prstGeom>
        </p:spPr>
        <p:txBody>
          <a:bodyPr anchor="t" rtlCol="false" tIns="0" lIns="0" bIns="0" rIns="0">
            <a:spAutoFit/>
          </a:bodyPr>
          <a:lstStyle/>
          <a:p>
            <a:pPr algn="ctr">
              <a:lnSpc>
                <a:spcPts val="3359"/>
              </a:lnSpc>
              <a:spcBef>
                <a:spcPct val="0"/>
              </a:spcBef>
            </a:pPr>
            <a:r>
              <a:rPr lang="en-US" b="true" sz="2799">
                <a:solidFill>
                  <a:srgbClr val="FFFFFF"/>
                </a:solidFill>
                <a:latin typeface="Arial Bold"/>
                <a:ea typeface="Arial Bold"/>
                <a:cs typeface="Arial Bold"/>
                <a:sym typeface="Arial Bold"/>
              </a:rPr>
              <a:t>models.py : référence unique anti-collision</a:t>
            </a:r>
          </a:p>
        </p:txBody>
      </p:sp>
      <p:sp>
        <p:nvSpPr>
          <p:cNvPr name="TextBox 6" id="6"/>
          <p:cNvSpPr txBox="true"/>
          <p:nvPr/>
        </p:nvSpPr>
        <p:spPr>
          <a:xfrm rot="0">
            <a:off x="9342866" y="5619799"/>
            <a:ext cx="7118985" cy="438150"/>
          </a:xfrm>
          <a:prstGeom prst="rect">
            <a:avLst/>
          </a:prstGeom>
        </p:spPr>
        <p:txBody>
          <a:bodyPr anchor="t" rtlCol="false" tIns="0" lIns="0" bIns="0" rIns="0">
            <a:spAutoFit/>
          </a:bodyPr>
          <a:lstStyle/>
          <a:p>
            <a:pPr algn="ctr">
              <a:lnSpc>
                <a:spcPts val="3359"/>
              </a:lnSpc>
              <a:spcBef>
                <a:spcPct val="0"/>
              </a:spcBef>
            </a:pPr>
            <a:r>
              <a:rPr lang="en-US" b="true" sz="2799">
                <a:solidFill>
                  <a:srgbClr val="FFFFFF"/>
                </a:solidFill>
                <a:latin typeface="Arial Bold"/>
                <a:ea typeface="Arial Bold"/>
                <a:cs typeface="Arial Bold"/>
                <a:sym typeface="Arial Bold"/>
              </a:rPr>
              <a:t>permissions.py : contrôle d'accès par rôle</a:t>
            </a:r>
          </a:p>
        </p:txBody>
      </p:sp>
      <p:sp>
        <p:nvSpPr>
          <p:cNvPr name="TextBox 7" id="7"/>
          <p:cNvSpPr txBox="true"/>
          <p:nvPr/>
        </p:nvSpPr>
        <p:spPr>
          <a:xfrm rot="0">
            <a:off x="9342866" y="1908075"/>
            <a:ext cx="6229845" cy="1228725"/>
          </a:xfrm>
          <a:prstGeom prst="rect">
            <a:avLst/>
          </a:prstGeom>
        </p:spPr>
        <p:txBody>
          <a:bodyPr anchor="t" rtlCol="false" tIns="0" lIns="0" bIns="0" rIns="0">
            <a:spAutoFit/>
          </a:bodyPr>
          <a:lstStyle/>
          <a:p>
            <a:pPr algn="l">
              <a:lnSpc>
                <a:spcPts val="2400"/>
              </a:lnSpc>
              <a:spcBef>
                <a:spcPct val="0"/>
              </a:spcBef>
            </a:pPr>
            <a:r>
              <a:rPr lang="en-US" b="true" sz="2000">
                <a:solidFill>
                  <a:srgbClr val="FFFFFF"/>
                </a:solidFill>
                <a:latin typeface="Arial Bold"/>
                <a:ea typeface="Arial Bold"/>
                <a:cs typeface="Arial Bold"/>
                <a:sym typeface="Arial Bold"/>
              </a:rPr>
              <a:t>select_for_update() verrouille la ligne pendant la transaction : deux demandes soumises à la même seconde ne peuvent jamais recevoir la même référence.</a:t>
            </a:r>
          </a:p>
        </p:txBody>
      </p:sp>
      <p:sp>
        <p:nvSpPr>
          <p:cNvPr name="TextBox 8" id="8"/>
          <p:cNvSpPr txBox="true"/>
          <p:nvPr/>
        </p:nvSpPr>
        <p:spPr>
          <a:xfrm rot="0">
            <a:off x="9342866" y="6289527"/>
            <a:ext cx="8168317" cy="923925"/>
          </a:xfrm>
          <a:prstGeom prst="rect">
            <a:avLst/>
          </a:prstGeom>
        </p:spPr>
        <p:txBody>
          <a:bodyPr anchor="t" rtlCol="false" tIns="0" lIns="0" bIns="0" rIns="0">
            <a:spAutoFit/>
          </a:bodyPr>
          <a:lstStyle/>
          <a:p>
            <a:pPr algn="l">
              <a:lnSpc>
                <a:spcPts val="2400"/>
              </a:lnSpc>
              <a:spcBef>
                <a:spcPct val="0"/>
              </a:spcBef>
            </a:pPr>
            <a:r>
              <a:rPr lang="en-US" b="true" sz="2000">
                <a:solidFill>
                  <a:srgbClr val="FFFFFF"/>
                </a:solidFill>
                <a:latin typeface="Arial Bold"/>
                <a:ea typeface="Arial Bold"/>
                <a:cs typeface="Arial Bold"/>
                <a:sym typeface="Arial Bold"/>
              </a:rPr>
              <a:t>Un client qui tente d'accéder à la demande d'un autre reçoit un 404, jamais un 403 : l'existence même de la ressource n'est jamais révélée à un utilisateur non habilité.</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8EEFC"/>
        </a:solidFill>
      </p:bgPr>
    </p:bg>
    <p:spTree>
      <p:nvGrpSpPr>
        <p:cNvPr id="1" name=""/>
        <p:cNvGrpSpPr/>
        <p:nvPr/>
      </p:nvGrpSpPr>
      <p:grpSpPr>
        <a:xfrm>
          <a:off x="0" y="0"/>
          <a:ext cx="0" cy="0"/>
          <a:chOff x="0" y="0"/>
          <a:chExt cx="0" cy="0"/>
        </a:xfrm>
      </p:grpSpPr>
      <p:sp>
        <p:nvSpPr>
          <p:cNvPr name="Freeform 2" id="2"/>
          <p:cNvSpPr/>
          <p:nvPr/>
        </p:nvSpPr>
        <p:spPr>
          <a:xfrm flipH="false" flipV="false" rot="0">
            <a:off x="2961949" y="0"/>
            <a:ext cx="12868495" cy="10287000"/>
          </a:xfrm>
          <a:custGeom>
            <a:avLst/>
            <a:gdLst/>
            <a:ahLst/>
            <a:cxnLst/>
            <a:rect r="r" b="b" t="t" l="l"/>
            <a:pathLst>
              <a:path h="10287000" w="12868495">
                <a:moveTo>
                  <a:pt x="0" y="0"/>
                </a:moveTo>
                <a:lnTo>
                  <a:pt x="12868495" y="0"/>
                </a:lnTo>
                <a:lnTo>
                  <a:pt x="12868495" y="10287000"/>
                </a:lnTo>
                <a:lnTo>
                  <a:pt x="0" y="10287000"/>
                </a:lnTo>
                <a:lnTo>
                  <a:pt x="0" y="0"/>
                </a:lnTo>
                <a:close/>
              </a:path>
            </a:pathLst>
          </a:custGeom>
          <a:blipFill>
            <a:blip r:embed="rId3"/>
            <a:stretch>
              <a:fillRect l="-414" t="-285" r="0" b="-283"/>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2100199" y="-124071"/>
            <a:ext cx="14087602" cy="10411071"/>
          </a:xfrm>
          <a:custGeom>
            <a:avLst/>
            <a:gdLst/>
            <a:ahLst/>
            <a:cxnLst/>
            <a:rect r="r" b="b" t="t" l="l"/>
            <a:pathLst>
              <a:path h="10411071" w="14087602">
                <a:moveTo>
                  <a:pt x="0" y="0"/>
                </a:moveTo>
                <a:lnTo>
                  <a:pt x="14087602" y="0"/>
                </a:lnTo>
                <a:lnTo>
                  <a:pt x="14087602" y="10411071"/>
                </a:lnTo>
                <a:lnTo>
                  <a:pt x="0" y="10411071"/>
                </a:lnTo>
                <a:lnTo>
                  <a:pt x="0" y="0"/>
                </a:lnTo>
                <a:close/>
              </a:path>
            </a:pathLst>
          </a:custGeom>
          <a:blipFill>
            <a:blip r:embed="rId3"/>
            <a:stretch>
              <a:fillRect l="0" t="-1842" r="0" b="-1842"/>
            </a:stretch>
          </a:blipFill>
        </p:spPr>
      </p:sp>
      <p:sp>
        <p:nvSpPr>
          <p:cNvPr name="TextBox 3" id="3"/>
          <p:cNvSpPr txBox="true"/>
          <p:nvPr/>
        </p:nvSpPr>
        <p:spPr>
          <a:xfrm rot="0">
            <a:off x="7521060" y="-54077"/>
            <a:ext cx="8524280" cy="688975"/>
          </a:xfrm>
          <a:prstGeom prst="rect">
            <a:avLst/>
          </a:prstGeom>
        </p:spPr>
        <p:txBody>
          <a:bodyPr anchor="t" rtlCol="false" tIns="0" lIns="0" bIns="0" rIns="0">
            <a:spAutoFit/>
          </a:bodyPr>
          <a:lstStyle/>
          <a:p>
            <a:pPr algn="ctr">
              <a:lnSpc>
                <a:spcPts val="5599"/>
              </a:lnSpc>
              <a:spcBef>
                <a:spcPct val="0"/>
              </a:spcBef>
            </a:pPr>
            <a:r>
              <a:rPr lang="en-US" b="true" sz="3999">
                <a:solidFill>
                  <a:srgbClr val="1E2761"/>
                </a:solidFill>
                <a:latin typeface="Liberation Sans Bold"/>
                <a:ea typeface="Liberation Sans Bold"/>
                <a:cs typeface="Liberation Sans Bold"/>
                <a:sym typeface="Liberation Sans Bold"/>
              </a:rPr>
              <a:t>Diagramme de composants REACT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8EE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79883"/>
            <a:chOff x="0" y="0"/>
            <a:chExt cx="24417871" cy="2106511"/>
          </a:xfrm>
        </p:grpSpPr>
        <p:sp>
          <p:nvSpPr>
            <p:cNvPr name="Freeform 3" id="3"/>
            <p:cNvSpPr/>
            <p:nvPr/>
          </p:nvSpPr>
          <p:spPr>
            <a:xfrm flipH="false" flipV="false" rot="0">
              <a:off x="0" y="0"/>
              <a:ext cx="24417910" cy="2106549"/>
            </a:xfrm>
            <a:custGeom>
              <a:avLst/>
              <a:gdLst/>
              <a:ahLst/>
              <a:cxnLst/>
              <a:rect r="r" b="b" t="t" l="l"/>
              <a:pathLst>
                <a:path h="2106549" w="24417910">
                  <a:moveTo>
                    <a:pt x="0" y="0"/>
                  </a:moveTo>
                  <a:lnTo>
                    <a:pt x="24417910" y="0"/>
                  </a:lnTo>
                  <a:lnTo>
                    <a:pt x="24417910" y="2106549"/>
                  </a:lnTo>
                  <a:lnTo>
                    <a:pt x="0" y="2106549"/>
                  </a:lnTo>
                  <a:close/>
                </a:path>
              </a:pathLst>
            </a:custGeom>
            <a:solidFill>
              <a:srgbClr val="1E2761"/>
            </a:solidFill>
            <a:ln w="25400" cap="sq">
              <a:solidFill>
                <a:srgbClr val="1E2761"/>
              </a:solidFill>
              <a:prstDash val="solid"/>
              <a:miter/>
            </a:ln>
          </p:spPr>
        </p:sp>
      </p:grpSp>
      <p:grpSp>
        <p:nvGrpSpPr>
          <p:cNvPr name="Group 4" id="4"/>
          <p:cNvGrpSpPr/>
          <p:nvPr/>
        </p:nvGrpSpPr>
        <p:grpSpPr>
          <a:xfrm rot="0">
            <a:off x="0" y="0"/>
            <a:ext cx="18288000" cy="1554480"/>
            <a:chOff x="0" y="0"/>
            <a:chExt cx="24384000" cy="2072640"/>
          </a:xfrm>
        </p:grpSpPr>
        <p:sp>
          <p:nvSpPr>
            <p:cNvPr name="Freeform 5" id="5"/>
            <p:cNvSpPr/>
            <p:nvPr/>
          </p:nvSpPr>
          <p:spPr>
            <a:xfrm flipH="false" flipV="false" rot="0">
              <a:off x="0" y="0"/>
              <a:ext cx="24384000" cy="2072640"/>
            </a:xfrm>
            <a:custGeom>
              <a:avLst/>
              <a:gdLst/>
              <a:ahLst/>
              <a:cxnLst/>
              <a:rect r="r" b="b" t="t" l="l"/>
              <a:pathLst>
                <a:path h="2072640" w="24384000">
                  <a:moveTo>
                    <a:pt x="0" y="0"/>
                  </a:moveTo>
                  <a:lnTo>
                    <a:pt x="24384000" y="0"/>
                  </a:lnTo>
                  <a:lnTo>
                    <a:pt x="24384000" y="2072640"/>
                  </a:lnTo>
                  <a:lnTo>
                    <a:pt x="0" y="2072640"/>
                  </a:lnTo>
                  <a:close/>
                </a:path>
              </a:pathLst>
            </a:custGeom>
            <a:blipFill>
              <a:blip r:embed="rId3">
                <a:alphaModFix amt="0"/>
              </a:blip>
              <a:stretch>
                <a:fillRect l="0" t="-179235" r="0" b="-179235"/>
              </a:stretch>
            </a:blipFill>
          </p:spPr>
        </p:sp>
        <p:sp>
          <p:nvSpPr>
            <p:cNvPr name="TextBox 6" id="6"/>
            <p:cNvSpPr txBox="true"/>
            <p:nvPr/>
          </p:nvSpPr>
          <p:spPr>
            <a:xfrm>
              <a:off x="0" y="-19050"/>
              <a:ext cx="24384000" cy="2091690"/>
            </a:xfrm>
            <a:prstGeom prst="rect">
              <a:avLst/>
            </a:prstGeom>
          </p:spPr>
          <p:txBody>
            <a:bodyPr anchor="ctr" rtlCol="false" tIns="0" lIns="0" bIns="0" rIns="0"/>
            <a:lstStyle/>
            <a:p>
              <a:pPr algn="ctr">
                <a:lnSpc>
                  <a:spcPts val="6239"/>
                </a:lnSpc>
              </a:pPr>
              <a:r>
                <a:rPr lang="en-US" b="true" sz="5199">
                  <a:solidFill>
                    <a:srgbClr val="FFFFFF"/>
                  </a:solidFill>
                  <a:latin typeface="Arial Bold"/>
                  <a:ea typeface="Arial Bold"/>
                  <a:cs typeface="Arial Bold"/>
                  <a:sym typeface="Arial Bold"/>
                </a:rPr>
                <a:t>Portail client : ​​Flux clés</a:t>
              </a:r>
            </a:p>
          </p:txBody>
        </p:sp>
      </p:grpSp>
      <p:grpSp>
        <p:nvGrpSpPr>
          <p:cNvPr name="Group 7" id="7"/>
          <p:cNvGrpSpPr/>
          <p:nvPr/>
        </p:nvGrpSpPr>
        <p:grpSpPr>
          <a:xfrm rot="0">
            <a:off x="1206988" y="2103120"/>
            <a:ext cx="1305563" cy="1305563"/>
            <a:chOff x="0" y="0"/>
            <a:chExt cx="1740751" cy="1740751"/>
          </a:xfrm>
        </p:grpSpPr>
        <p:sp>
          <p:nvSpPr>
            <p:cNvPr name="Freeform 8" id="8"/>
            <p:cNvSpPr/>
            <p:nvPr/>
          </p:nvSpPr>
          <p:spPr>
            <a:xfrm flipH="false" flipV="false" rot="0">
              <a:off x="0" y="0"/>
              <a:ext cx="1740662" cy="1740662"/>
            </a:xfrm>
            <a:custGeom>
              <a:avLst/>
              <a:gdLst/>
              <a:ahLst/>
              <a:cxnLst/>
              <a:rect r="r" b="b" t="t" l="l"/>
              <a:pathLst>
                <a:path h="1740662" w="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a:srgbClr val="3B82F6"/>
            </a:solidFill>
            <a:ln w="25400" cap="sq">
              <a:solidFill>
                <a:srgbClr val="3B82F6"/>
              </a:solidFill>
              <a:prstDash val="solid"/>
              <a:miter/>
            </a:ln>
          </p:spPr>
        </p:sp>
      </p:grpSp>
      <p:grpSp>
        <p:nvGrpSpPr>
          <p:cNvPr name="Group 9" id="9"/>
          <p:cNvGrpSpPr/>
          <p:nvPr/>
        </p:nvGrpSpPr>
        <p:grpSpPr>
          <a:xfrm rot="0">
            <a:off x="1206988" y="2103120"/>
            <a:ext cx="1280160" cy="1280160"/>
            <a:chOff x="0" y="0"/>
            <a:chExt cx="1706880" cy="1706880"/>
          </a:xfrm>
        </p:grpSpPr>
        <p:sp>
          <p:nvSpPr>
            <p:cNvPr name="Freeform 10" id="10"/>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close/>
                </a:path>
              </a:pathLst>
            </a:custGeom>
            <a:blipFill>
              <a:blip r:embed="rId3">
                <a:alphaModFix amt="0"/>
              </a:blip>
              <a:stretch>
                <a:fillRect l="-78303" t="0" r="-78303" b="0"/>
              </a:stretch>
            </a:blipFill>
          </p:spPr>
        </p:sp>
        <p:sp>
          <p:nvSpPr>
            <p:cNvPr name="TextBox 11" id="11"/>
            <p:cNvSpPr txBox="true"/>
            <p:nvPr/>
          </p:nvSpPr>
          <p:spPr>
            <a:xfrm>
              <a:off x="0" y="-19050"/>
              <a:ext cx="1706880" cy="172593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1</a:t>
              </a:r>
            </a:p>
          </p:txBody>
        </p:sp>
      </p:grpSp>
      <p:grpSp>
        <p:nvGrpSpPr>
          <p:cNvPr name="Group 12" id="12"/>
          <p:cNvGrpSpPr/>
          <p:nvPr/>
        </p:nvGrpSpPr>
        <p:grpSpPr>
          <a:xfrm rot="0">
            <a:off x="147808" y="4063365"/>
            <a:ext cx="3398520" cy="939803"/>
            <a:chOff x="0" y="0"/>
            <a:chExt cx="4531360" cy="1253071"/>
          </a:xfrm>
        </p:grpSpPr>
        <p:sp>
          <p:nvSpPr>
            <p:cNvPr name="Freeform 13" id="13"/>
            <p:cNvSpPr/>
            <p:nvPr/>
          </p:nvSpPr>
          <p:spPr>
            <a:xfrm flipH="false" flipV="false" rot="0">
              <a:off x="0" y="0"/>
              <a:ext cx="4531398" cy="1253109"/>
            </a:xfrm>
            <a:custGeom>
              <a:avLst/>
              <a:gdLst/>
              <a:ahLst/>
              <a:cxnLst/>
              <a:rect r="r" b="b" t="t" l="l"/>
              <a:pathLst>
                <a:path h="1253109" w="4531398">
                  <a:moveTo>
                    <a:pt x="0" y="0"/>
                  </a:moveTo>
                  <a:lnTo>
                    <a:pt x="4531398" y="0"/>
                  </a:lnTo>
                  <a:lnTo>
                    <a:pt x="4531398" y="1253109"/>
                  </a:lnTo>
                  <a:lnTo>
                    <a:pt x="0" y="1253109"/>
                  </a:lnTo>
                  <a:close/>
                </a:path>
              </a:pathLst>
            </a:custGeom>
            <a:solidFill>
              <a:srgbClr val="3B82F6"/>
            </a:solidFill>
            <a:ln w="25400" cap="sq">
              <a:solidFill>
                <a:srgbClr val="3B82F6"/>
              </a:solidFill>
              <a:prstDash val="solid"/>
              <a:miter/>
            </a:ln>
          </p:spPr>
        </p:sp>
      </p:grpSp>
      <p:grpSp>
        <p:nvGrpSpPr>
          <p:cNvPr name="Group 14" id="14"/>
          <p:cNvGrpSpPr/>
          <p:nvPr/>
        </p:nvGrpSpPr>
        <p:grpSpPr>
          <a:xfrm rot="0">
            <a:off x="703490" y="4187192"/>
            <a:ext cx="2312559" cy="784227"/>
            <a:chOff x="0" y="0"/>
            <a:chExt cx="3083412" cy="1045635"/>
          </a:xfrm>
        </p:grpSpPr>
        <p:sp>
          <p:nvSpPr>
            <p:cNvPr name="Freeform 15" id="15"/>
            <p:cNvSpPr/>
            <p:nvPr/>
          </p:nvSpPr>
          <p:spPr>
            <a:xfrm flipH="false" flipV="false" rot="0">
              <a:off x="0" y="0"/>
              <a:ext cx="3083412" cy="1045635"/>
            </a:xfrm>
            <a:custGeom>
              <a:avLst/>
              <a:gdLst/>
              <a:ahLst/>
              <a:cxnLst/>
              <a:rect r="r" b="b" t="t" l="l"/>
              <a:pathLst>
                <a:path h="1045635" w="3083412">
                  <a:moveTo>
                    <a:pt x="0" y="0"/>
                  </a:moveTo>
                  <a:lnTo>
                    <a:pt x="3083412" y="0"/>
                  </a:lnTo>
                  <a:lnTo>
                    <a:pt x="3083412" y="1045635"/>
                  </a:lnTo>
                  <a:lnTo>
                    <a:pt x="0" y="1045635"/>
                  </a:lnTo>
                  <a:close/>
                </a:path>
              </a:pathLst>
            </a:custGeom>
            <a:blipFill>
              <a:blip r:embed="rId3">
                <a:alphaModFix amt="0"/>
              </a:blip>
              <a:stretch>
                <a:fillRect l="0" t="-28034" r="-50254" b="-44633"/>
              </a:stretch>
            </a:blipFill>
          </p:spPr>
        </p:sp>
        <p:sp>
          <p:nvSpPr>
            <p:cNvPr name="TextBox 16" id="16"/>
            <p:cNvSpPr txBox="true"/>
            <p:nvPr/>
          </p:nvSpPr>
          <p:spPr>
            <a:xfrm>
              <a:off x="0" y="-19050"/>
              <a:ext cx="3083412" cy="1064685"/>
            </a:xfrm>
            <a:prstGeom prst="rect">
              <a:avLst/>
            </a:prstGeom>
          </p:spPr>
          <p:txBody>
            <a:bodyPr anchor="ctr" rtlCol="false" tIns="0" lIns="0" bIns="0" rIns="0"/>
            <a:lstStyle/>
            <a:p>
              <a:pPr algn="ctr">
                <a:lnSpc>
                  <a:spcPts val="2639"/>
                </a:lnSpc>
              </a:pPr>
              <a:r>
                <a:rPr lang="en-US" b="true" sz="2199">
                  <a:solidFill>
                    <a:srgbClr val="FFFFFF"/>
                  </a:solidFill>
                  <a:latin typeface="Arial Bold"/>
                  <a:ea typeface="Arial Bold"/>
                  <a:cs typeface="Arial Bold"/>
                  <a:sym typeface="Arial Bold"/>
                </a:rPr>
                <a:t>A</a:t>
              </a:r>
              <a:r>
                <a:rPr lang="en-US" b="true" sz="2199">
                  <a:solidFill>
                    <a:srgbClr val="FFFFFF"/>
                  </a:solidFill>
                  <a:latin typeface="Arial Bold"/>
                  <a:ea typeface="Arial Bold"/>
                  <a:cs typeface="Arial Bold"/>
                  <a:sym typeface="Arial Bold"/>
                </a:rPr>
                <a:t>ccueil</a:t>
              </a:r>
            </a:p>
          </p:txBody>
        </p:sp>
      </p:grpSp>
      <p:grpSp>
        <p:nvGrpSpPr>
          <p:cNvPr name="Group 17" id="17"/>
          <p:cNvGrpSpPr/>
          <p:nvPr/>
        </p:nvGrpSpPr>
        <p:grpSpPr>
          <a:xfrm rot="0">
            <a:off x="160509" y="4971419"/>
            <a:ext cx="3398520" cy="2448220"/>
            <a:chOff x="0" y="0"/>
            <a:chExt cx="4531360" cy="3264293"/>
          </a:xfrm>
        </p:grpSpPr>
        <p:sp>
          <p:nvSpPr>
            <p:cNvPr name="Freeform 18" id="18"/>
            <p:cNvSpPr/>
            <p:nvPr/>
          </p:nvSpPr>
          <p:spPr>
            <a:xfrm flipH="false" flipV="false" rot="0">
              <a:off x="0" y="0"/>
              <a:ext cx="4531360" cy="3264293"/>
            </a:xfrm>
            <a:custGeom>
              <a:avLst/>
              <a:gdLst/>
              <a:ahLst/>
              <a:cxnLst/>
              <a:rect r="r" b="b" t="t" l="l"/>
              <a:pathLst>
                <a:path h="3264293" w="4531360">
                  <a:moveTo>
                    <a:pt x="0" y="0"/>
                  </a:moveTo>
                  <a:lnTo>
                    <a:pt x="4531360" y="0"/>
                  </a:lnTo>
                  <a:lnTo>
                    <a:pt x="4531360" y="3264293"/>
                  </a:lnTo>
                  <a:lnTo>
                    <a:pt x="0" y="3264293"/>
                  </a:lnTo>
                  <a:close/>
                </a:path>
              </a:pathLst>
            </a:custGeom>
            <a:solidFill>
              <a:srgbClr val="FFFFFF"/>
            </a:solidFill>
            <a:ln w="19050" cap="sq">
              <a:solidFill>
                <a:srgbClr val="94A3B8"/>
              </a:solidFill>
              <a:prstDash val="solid"/>
              <a:miter/>
            </a:ln>
          </p:spPr>
        </p:sp>
      </p:grpSp>
      <p:sp>
        <p:nvSpPr>
          <p:cNvPr name="AutoShape 19" id="19"/>
          <p:cNvSpPr/>
          <p:nvPr/>
        </p:nvSpPr>
        <p:spPr>
          <a:xfrm rot="983400">
            <a:off x="4001567" y="6391275"/>
            <a:ext cx="135026" cy="0"/>
          </a:xfrm>
          <a:prstGeom prst="line">
            <a:avLst/>
          </a:prstGeom>
          <a:ln cap="rnd" w="19050">
            <a:solidFill>
              <a:srgbClr val="64748B"/>
            </a:solidFill>
            <a:prstDash val="solid"/>
            <a:headEnd type="none" len="sm" w="sm"/>
            <a:tailEnd type="triangle" len="med" w="lg"/>
          </a:ln>
        </p:spPr>
      </p:sp>
      <p:grpSp>
        <p:nvGrpSpPr>
          <p:cNvPr name="Group 20" id="20"/>
          <p:cNvGrpSpPr/>
          <p:nvPr/>
        </p:nvGrpSpPr>
        <p:grpSpPr>
          <a:xfrm rot="0">
            <a:off x="4838461" y="2077717"/>
            <a:ext cx="1305563" cy="1305563"/>
            <a:chOff x="0" y="0"/>
            <a:chExt cx="1740751" cy="1740751"/>
          </a:xfrm>
        </p:grpSpPr>
        <p:sp>
          <p:nvSpPr>
            <p:cNvPr name="Freeform 21" id="21"/>
            <p:cNvSpPr/>
            <p:nvPr/>
          </p:nvSpPr>
          <p:spPr>
            <a:xfrm flipH="false" flipV="false" rot="0">
              <a:off x="0" y="0"/>
              <a:ext cx="1740662" cy="1740662"/>
            </a:xfrm>
            <a:custGeom>
              <a:avLst/>
              <a:gdLst/>
              <a:ahLst/>
              <a:cxnLst/>
              <a:rect r="r" b="b" t="t" l="l"/>
              <a:pathLst>
                <a:path h="1740662" w="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a:srgbClr val="8B5CF6"/>
            </a:solidFill>
            <a:ln w="25400" cap="sq">
              <a:solidFill>
                <a:srgbClr val="8B5CF6"/>
              </a:solidFill>
              <a:prstDash val="solid"/>
              <a:miter/>
            </a:ln>
          </p:spPr>
        </p:sp>
      </p:grpSp>
      <p:grpSp>
        <p:nvGrpSpPr>
          <p:cNvPr name="Group 22" id="22"/>
          <p:cNvGrpSpPr/>
          <p:nvPr/>
        </p:nvGrpSpPr>
        <p:grpSpPr>
          <a:xfrm rot="0">
            <a:off x="4863864" y="2128523"/>
            <a:ext cx="1280160" cy="1280160"/>
            <a:chOff x="0" y="0"/>
            <a:chExt cx="1706880" cy="1706880"/>
          </a:xfrm>
        </p:grpSpPr>
        <p:sp>
          <p:nvSpPr>
            <p:cNvPr name="Freeform 23" id="23"/>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close/>
                </a:path>
              </a:pathLst>
            </a:custGeom>
            <a:blipFill>
              <a:blip r:embed="rId3">
                <a:alphaModFix amt="0"/>
              </a:blip>
              <a:stretch>
                <a:fillRect l="-78303" t="0" r="-78303" b="0"/>
              </a:stretch>
            </a:blipFill>
          </p:spPr>
        </p:sp>
        <p:sp>
          <p:nvSpPr>
            <p:cNvPr name="TextBox 24" id="24"/>
            <p:cNvSpPr txBox="true"/>
            <p:nvPr/>
          </p:nvSpPr>
          <p:spPr>
            <a:xfrm>
              <a:off x="0" y="-19050"/>
              <a:ext cx="1706880" cy="172593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2</a:t>
              </a:r>
            </a:p>
          </p:txBody>
        </p:sp>
      </p:grpSp>
      <p:grpSp>
        <p:nvGrpSpPr>
          <p:cNvPr name="Group 25" id="25"/>
          <p:cNvGrpSpPr/>
          <p:nvPr/>
        </p:nvGrpSpPr>
        <p:grpSpPr>
          <a:xfrm rot="0">
            <a:off x="3774609" y="4063365"/>
            <a:ext cx="3404065" cy="939803"/>
            <a:chOff x="0" y="0"/>
            <a:chExt cx="4538753" cy="1253071"/>
          </a:xfrm>
        </p:grpSpPr>
        <p:sp>
          <p:nvSpPr>
            <p:cNvPr name="Freeform 26" id="26"/>
            <p:cNvSpPr/>
            <p:nvPr/>
          </p:nvSpPr>
          <p:spPr>
            <a:xfrm flipH="false" flipV="false" rot="0">
              <a:off x="0" y="0"/>
              <a:ext cx="4538791" cy="1253109"/>
            </a:xfrm>
            <a:custGeom>
              <a:avLst/>
              <a:gdLst/>
              <a:ahLst/>
              <a:cxnLst/>
              <a:rect r="r" b="b" t="t" l="l"/>
              <a:pathLst>
                <a:path h="1253109" w="4538791">
                  <a:moveTo>
                    <a:pt x="0" y="0"/>
                  </a:moveTo>
                  <a:lnTo>
                    <a:pt x="4538791" y="0"/>
                  </a:lnTo>
                  <a:lnTo>
                    <a:pt x="4538791" y="1253109"/>
                  </a:lnTo>
                  <a:lnTo>
                    <a:pt x="0" y="1253109"/>
                  </a:lnTo>
                  <a:close/>
                </a:path>
              </a:pathLst>
            </a:custGeom>
            <a:solidFill>
              <a:srgbClr val="8B5CF6"/>
            </a:solidFill>
            <a:ln w="25400" cap="sq">
              <a:solidFill>
                <a:srgbClr val="8B5CF6"/>
              </a:solidFill>
              <a:prstDash val="solid"/>
              <a:miter/>
            </a:ln>
          </p:spPr>
        </p:sp>
      </p:grpSp>
      <p:grpSp>
        <p:nvGrpSpPr>
          <p:cNvPr name="Group 27" id="27"/>
          <p:cNvGrpSpPr/>
          <p:nvPr/>
        </p:nvGrpSpPr>
        <p:grpSpPr>
          <a:xfrm rot="0">
            <a:off x="3801912" y="4214181"/>
            <a:ext cx="3122295" cy="850892"/>
            <a:chOff x="0" y="0"/>
            <a:chExt cx="4163060" cy="1134523"/>
          </a:xfrm>
        </p:grpSpPr>
        <p:sp>
          <p:nvSpPr>
            <p:cNvPr name="Freeform 28" id="28"/>
            <p:cNvSpPr/>
            <p:nvPr/>
          </p:nvSpPr>
          <p:spPr>
            <a:xfrm flipH="false" flipV="false" rot="0">
              <a:off x="0" y="0"/>
              <a:ext cx="4163060" cy="1134523"/>
            </a:xfrm>
            <a:custGeom>
              <a:avLst/>
              <a:gdLst/>
              <a:ahLst/>
              <a:cxnLst/>
              <a:rect r="r" b="b" t="t" l="l"/>
              <a:pathLst>
                <a:path h="1134523" w="4163060">
                  <a:moveTo>
                    <a:pt x="0" y="0"/>
                  </a:moveTo>
                  <a:lnTo>
                    <a:pt x="4163060" y="0"/>
                  </a:lnTo>
                  <a:lnTo>
                    <a:pt x="4163060" y="1134523"/>
                  </a:lnTo>
                  <a:lnTo>
                    <a:pt x="0" y="1134523"/>
                  </a:lnTo>
                  <a:close/>
                </a:path>
              </a:pathLst>
            </a:custGeom>
            <a:blipFill>
              <a:blip r:embed="rId3">
                <a:alphaModFix amt="0"/>
              </a:blip>
              <a:stretch>
                <a:fillRect l="0" t="-25837" r="-11287" b="-33301"/>
              </a:stretch>
            </a:blipFill>
          </p:spPr>
        </p:sp>
        <p:sp>
          <p:nvSpPr>
            <p:cNvPr name="TextBox 29" id="29"/>
            <p:cNvSpPr txBox="true"/>
            <p:nvPr/>
          </p:nvSpPr>
          <p:spPr>
            <a:xfrm>
              <a:off x="0" y="-19050"/>
              <a:ext cx="4163060" cy="1153573"/>
            </a:xfrm>
            <a:prstGeom prst="rect">
              <a:avLst/>
            </a:prstGeom>
          </p:spPr>
          <p:txBody>
            <a:bodyPr anchor="ctr" rtlCol="false" tIns="0" lIns="0" bIns="0" rIns="0"/>
            <a:lstStyle/>
            <a:p>
              <a:pPr algn="ctr">
                <a:lnSpc>
                  <a:spcPts val="2639"/>
                </a:lnSpc>
              </a:pPr>
              <a:r>
                <a:rPr lang="en-US" b="true" sz="2199">
                  <a:solidFill>
                    <a:srgbClr val="FFFFFF"/>
                  </a:solidFill>
                  <a:latin typeface="Arial Bold"/>
                  <a:ea typeface="Arial Bold"/>
                  <a:cs typeface="Arial Bold"/>
                  <a:sym typeface="Arial Bold"/>
                </a:rPr>
                <a:t>Tabl</a:t>
              </a:r>
              <a:r>
                <a:rPr lang="en-US" b="true" sz="2199">
                  <a:solidFill>
                    <a:srgbClr val="FFFFFF"/>
                  </a:solidFill>
                  <a:latin typeface="Arial Bold"/>
                  <a:ea typeface="Arial Bold"/>
                  <a:cs typeface="Arial Bold"/>
                  <a:sym typeface="Arial Bold"/>
                </a:rPr>
                <a:t>eau de bord</a:t>
              </a:r>
            </a:p>
            <a:p>
              <a:pPr algn="ctr">
                <a:lnSpc>
                  <a:spcPts val="2639"/>
                </a:lnSpc>
              </a:pPr>
            </a:p>
          </p:txBody>
        </p:sp>
      </p:grpSp>
      <p:grpSp>
        <p:nvGrpSpPr>
          <p:cNvPr name="Group 30" id="30"/>
          <p:cNvGrpSpPr/>
          <p:nvPr/>
        </p:nvGrpSpPr>
        <p:grpSpPr>
          <a:xfrm rot="0">
            <a:off x="3774928" y="5003168"/>
            <a:ext cx="3417570" cy="2416471"/>
            <a:chOff x="0" y="0"/>
            <a:chExt cx="4556760" cy="3221961"/>
          </a:xfrm>
        </p:grpSpPr>
        <p:sp>
          <p:nvSpPr>
            <p:cNvPr name="Freeform 31" id="31"/>
            <p:cNvSpPr/>
            <p:nvPr/>
          </p:nvSpPr>
          <p:spPr>
            <a:xfrm flipH="false" flipV="false" rot="0">
              <a:off x="0" y="0"/>
              <a:ext cx="4556760" cy="3221961"/>
            </a:xfrm>
            <a:custGeom>
              <a:avLst/>
              <a:gdLst/>
              <a:ahLst/>
              <a:cxnLst/>
              <a:rect r="r" b="b" t="t" l="l"/>
              <a:pathLst>
                <a:path h="3221961" w="4556760">
                  <a:moveTo>
                    <a:pt x="0" y="0"/>
                  </a:moveTo>
                  <a:lnTo>
                    <a:pt x="4556760" y="0"/>
                  </a:lnTo>
                  <a:lnTo>
                    <a:pt x="4556760" y="3221961"/>
                  </a:lnTo>
                  <a:lnTo>
                    <a:pt x="0" y="3221961"/>
                  </a:lnTo>
                  <a:close/>
                </a:path>
              </a:pathLst>
            </a:custGeom>
            <a:solidFill>
              <a:srgbClr val="FFFFFF"/>
            </a:solidFill>
            <a:ln w="19050" cap="sq">
              <a:solidFill>
                <a:srgbClr val="94A3B8"/>
              </a:solidFill>
              <a:prstDash val="solid"/>
              <a:miter/>
            </a:ln>
          </p:spPr>
        </p:sp>
      </p:grpSp>
      <p:sp>
        <p:nvSpPr>
          <p:cNvPr name="AutoShape 32" id="32"/>
          <p:cNvSpPr/>
          <p:nvPr/>
        </p:nvSpPr>
        <p:spPr>
          <a:xfrm rot="983400">
            <a:off x="7567727" y="6391275"/>
            <a:ext cx="135026" cy="0"/>
          </a:xfrm>
          <a:prstGeom prst="line">
            <a:avLst/>
          </a:prstGeom>
          <a:ln cap="rnd" w="19050">
            <a:solidFill>
              <a:srgbClr val="64748B"/>
            </a:solidFill>
            <a:prstDash val="solid"/>
            <a:headEnd type="none" len="sm" w="sm"/>
            <a:tailEnd type="triangle" len="med" w="lg"/>
          </a:ln>
        </p:spPr>
      </p:sp>
      <p:grpSp>
        <p:nvGrpSpPr>
          <p:cNvPr name="Group 33" id="33"/>
          <p:cNvGrpSpPr/>
          <p:nvPr/>
        </p:nvGrpSpPr>
        <p:grpSpPr>
          <a:xfrm rot="0">
            <a:off x="8525274" y="2090423"/>
            <a:ext cx="1305563" cy="1305563"/>
            <a:chOff x="0" y="0"/>
            <a:chExt cx="1740751" cy="1740751"/>
          </a:xfrm>
        </p:grpSpPr>
        <p:sp>
          <p:nvSpPr>
            <p:cNvPr name="Freeform 34" id="34"/>
            <p:cNvSpPr/>
            <p:nvPr/>
          </p:nvSpPr>
          <p:spPr>
            <a:xfrm flipH="false" flipV="false" rot="0">
              <a:off x="0" y="0"/>
              <a:ext cx="1740662" cy="1740662"/>
            </a:xfrm>
            <a:custGeom>
              <a:avLst/>
              <a:gdLst/>
              <a:ahLst/>
              <a:cxnLst/>
              <a:rect r="r" b="b" t="t" l="l"/>
              <a:pathLst>
                <a:path h="1740662" w="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a:srgbClr val="10B981"/>
            </a:solidFill>
            <a:ln w="25400" cap="sq">
              <a:solidFill>
                <a:srgbClr val="10B981"/>
              </a:solidFill>
              <a:prstDash val="solid"/>
              <a:miter/>
            </a:ln>
          </p:spPr>
        </p:sp>
      </p:grpSp>
      <p:grpSp>
        <p:nvGrpSpPr>
          <p:cNvPr name="Group 35" id="35"/>
          <p:cNvGrpSpPr/>
          <p:nvPr/>
        </p:nvGrpSpPr>
        <p:grpSpPr>
          <a:xfrm rot="0">
            <a:off x="8496699" y="2103120"/>
            <a:ext cx="1280160" cy="1280160"/>
            <a:chOff x="0" y="0"/>
            <a:chExt cx="1706880" cy="1706880"/>
          </a:xfrm>
        </p:grpSpPr>
        <p:sp>
          <p:nvSpPr>
            <p:cNvPr name="Freeform 36" id="36"/>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close/>
                </a:path>
              </a:pathLst>
            </a:custGeom>
            <a:blipFill>
              <a:blip r:embed="rId3">
                <a:alphaModFix amt="0"/>
              </a:blip>
              <a:stretch>
                <a:fillRect l="-78303" t="0" r="-78303" b="0"/>
              </a:stretch>
            </a:blipFill>
          </p:spPr>
        </p:sp>
        <p:sp>
          <p:nvSpPr>
            <p:cNvPr name="TextBox 37" id="37"/>
            <p:cNvSpPr txBox="true"/>
            <p:nvPr/>
          </p:nvSpPr>
          <p:spPr>
            <a:xfrm>
              <a:off x="0" y="-19050"/>
              <a:ext cx="1706880" cy="172593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3</a:t>
              </a:r>
            </a:p>
          </p:txBody>
        </p:sp>
      </p:grpSp>
      <p:grpSp>
        <p:nvGrpSpPr>
          <p:cNvPr name="Group 38" id="38"/>
          <p:cNvGrpSpPr/>
          <p:nvPr/>
        </p:nvGrpSpPr>
        <p:grpSpPr>
          <a:xfrm rot="0">
            <a:off x="7435848" y="4063365"/>
            <a:ext cx="3500123" cy="908054"/>
            <a:chOff x="0" y="0"/>
            <a:chExt cx="4666831" cy="1210739"/>
          </a:xfrm>
        </p:grpSpPr>
        <p:sp>
          <p:nvSpPr>
            <p:cNvPr name="Freeform 39" id="39"/>
            <p:cNvSpPr/>
            <p:nvPr/>
          </p:nvSpPr>
          <p:spPr>
            <a:xfrm flipH="false" flipV="false" rot="0">
              <a:off x="0" y="0"/>
              <a:ext cx="4666869" cy="1210777"/>
            </a:xfrm>
            <a:custGeom>
              <a:avLst/>
              <a:gdLst/>
              <a:ahLst/>
              <a:cxnLst/>
              <a:rect r="r" b="b" t="t" l="l"/>
              <a:pathLst>
                <a:path h="1210777" w="4666869">
                  <a:moveTo>
                    <a:pt x="0" y="0"/>
                  </a:moveTo>
                  <a:lnTo>
                    <a:pt x="4666869" y="0"/>
                  </a:lnTo>
                  <a:lnTo>
                    <a:pt x="4666869" y="1210777"/>
                  </a:lnTo>
                  <a:lnTo>
                    <a:pt x="0" y="1210777"/>
                  </a:lnTo>
                  <a:close/>
                </a:path>
              </a:pathLst>
            </a:custGeom>
            <a:solidFill>
              <a:srgbClr val="10B981"/>
            </a:solidFill>
            <a:ln w="25400" cap="sq">
              <a:solidFill>
                <a:srgbClr val="10B981"/>
              </a:solidFill>
              <a:prstDash val="solid"/>
              <a:miter/>
            </a:ln>
          </p:spPr>
        </p:sp>
      </p:grpSp>
      <p:grpSp>
        <p:nvGrpSpPr>
          <p:cNvPr name="Group 40" id="40"/>
          <p:cNvGrpSpPr/>
          <p:nvPr/>
        </p:nvGrpSpPr>
        <p:grpSpPr>
          <a:xfrm rot="0">
            <a:off x="7453627" y="4088768"/>
            <a:ext cx="3401063" cy="914400"/>
            <a:chOff x="0" y="0"/>
            <a:chExt cx="4534751" cy="1219200"/>
          </a:xfrm>
        </p:grpSpPr>
        <p:sp>
          <p:nvSpPr>
            <p:cNvPr name="Freeform 41" id="41"/>
            <p:cNvSpPr/>
            <p:nvPr/>
          </p:nvSpPr>
          <p:spPr>
            <a:xfrm flipH="false" flipV="false" rot="0">
              <a:off x="0" y="0"/>
              <a:ext cx="4534751" cy="1219200"/>
            </a:xfrm>
            <a:custGeom>
              <a:avLst/>
              <a:gdLst/>
              <a:ahLst/>
              <a:cxnLst/>
              <a:rect r="r" b="b" t="t" l="l"/>
              <a:pathLst>
                <a:path h="1219200" w="4534751">
                  <a:moveTo>
                    <a:pt x="0" y="0"/>
                  </a:moveTo>
                  <a:lnTo>
                    <a:pt x="4534751" y="0"/>
                  </a:lnTo>
                  <a:lnTo>
                    <a:pt x="4534751" y="1219200"/>
                  </a:lnTo>
                  <a:lnTo>
                    <a:pt x="0" y="1219200"/>
                  </a:lnTo>
                  <a:close/>
                </a:path>
              </a:pathLst>
            </a:custGeom>
            <a:blipFill>
              <a:blip r:embed="rId3">
                <a:alphaModFix amt="0"/>
              </a:blip>
              <a:stretch>
                <a:fillRect l="0" t="-24043" r="-2165" b="-24043"/>
              </a:stretch>
            </a:blipFill>
          </p:spPr>
        </p:sp>
        <p:sp>
          <p:nvSpPr>
            <p:cNvPr name="TextBox 42" id="42"/>
            <p:cNvSpPr txBox="true"/>
            <p:nvPr/>
          </p:nvSpPr>
          <p:spPr>
            <a:xfrm>
              <a:off x="0" y="-19050"/>
              <a:ext cx="4534751" cy="1238250"/>
            </a:xfrm>
            <a:prstGeom prst="rect">
              <a:avLst/>
            </a:prstGeom>
          </p:spPr>
          <p:txBody>
            <a:bodyPr anchor="ctr" rtlCol="false" tIns="0" lIns="0" bIns="0" rIns="0"/>
            <a:lstStyle/>
            <a:p>
              <a:pPr algn="ctr">
                <a:lnSpc>
                  <a:spcPts val="2639"/>
                </a:lnSpc>
              </a:pPr>
              <a:r>
                <a:rPr lang="en-US" b="true" sz="2199">
                  <a:solidFill>
                    <a:srgbClr val="FFFFFF"/>
                  </a:solidFill>
                  <a:latin typeface="Arial Bold"/>
                  <a:ea typeface="Arial Bold"/>
                  <a:cs typeface="Arial Bold"/>
                  <a:sym typeface="Arial Bold"/>
                </a:rPr>
                <a:t>Nouv</a:t>
              </a:r>
              <a:r>
                <a:rPr lang="en-US" b="true" sz="2199">
                  <a:solidFill>
                    <a:srgbClr val="FFFFFF"/>
                  </a:solidFill>
                  <a:latin typeface="Arial Bold"/>
                  <a:ea typeface="Arial Bold"/>
                  <a:cs typeface="Arial Bold"/>
                  <a:sym typeface="Arial Bold"/>
                </a:rPr>
                <a:t>elle demande</a:t>
              </a:r>
            </a:p>
            <a:p>
              <a:pPr algn="ctr">
                <a:lnSpc>
                  <a:spcPts val="2639"/>
                </a:lnSpc>
              </a:pPr>
            </a:p>
          </p:txBody>
        </p:sp>
      </p:grpSp>
      <p:grpSp>
        <p:nvGrpSpPr>
          <p:cNvPr name="Group 43" id="43"/>
          <p:cNvGrpSpPr/>
          <p:nvPr/>
        </p:nvGrpSpPr>
        <p:grpSpPr>
          <a:xfrm rot="0">
            <a:off x="7421098" y="4920613"/>
            <a:ext cx="3514874" cy="2499026"/>
            <a:chOff x="0" y="0"/>
            <a:chExt cx="4686499" cy="3332035"/>
          </a:xfrm>
        </p:grpSpPr>
        <p:sp>
          <p:nvSpPr>
            <p:cNvPr name="Freeform 44" id="44"/>
            <p:cNvSpPr/>
            <p:nvPr/>
          </p:nvSpPr>
          <p:spPr>
            <a:xfrm flipH="false" flipV="false" rot="0">
              <a:off x="0" y="0"/>
              <a:ext cx="4686498" cy="3332035"/>
            </a:xfrm>
            <a:custGeom>
              <a:avLst/>
              <a:gdLst/>
              <a:ahLst/>
              <a:cxnLst/>
              <a:rect r="r" b="b" t="t" l="l"/>
              <a:pathLst>
                <a:path h="3332035" w="4686498">
                  <a:moveTo>
                    <a:pt x="0" y="0"/>
                  </a:moveTo>
                  <a:lnTo>
                    <a:pt x="4686498" y="0"/>
                  </a:lnTo>
                  <a:lnTo>
                    <a:pt x="4686498" y="3332035"/>
                  </a:lnTo>
                  <a:lnTo>
                    <a:pt x="0" y="3332035"/>
                  </a:lnTo>
                  <a:close/>
                </a:path>
              </a:pathLst>
            </a:custGeom>
            <a:solidFill>
              <a:srgbClr val="FFFFFF"/>
            </a:solidFill>
            <a:ln w="19050" cap="sq">
              <a:solidFill>
                <a:srgbClr val="94A3B8"/>
              </a:solidFill>
              <a:prstDash val="solid"/>
              <a:miter/>
            </a:ln>
          </p:spPr>
        </p:sp>
      </p:grpSp>
      <p:sp>
        <p:nvSpPr>
          <p:cNvPr name="AutoShape 45" id="45"/>
          <p:cNvSpPr/>
          <p:nvPr/>
        </p:nvSpPr>
        <p:spPr>
          <a:xfrm rot="983400">
            <a:off x="11133887" y="6391275"/>
            <a:ext cx="135026" cy="0"/>
          </a:xfrm>
          <a:prstGeom prst="line">
            <a:avLst/>
          </a:prstGeom>
          <a:ln cap="rnd" w="19050">
            <a:solidFill>
              <a:srgbClr val="64748B"/>
            </a:solidFill>
            <a:prstDash val="solid"/>
            <a:headEnd type="none" len="sm" w="sm"/>
            <a:tailEnd type="triangle" len="med" w="lg"/>
          </a:ln>
        </p:spPr>
      </p:sp>
      <p:grpSp>
        <p:nvGrpSpPr>
          <p:cNvPr name="Group 46" id="46"/>
          <p:cNvGrpSpPr/>
          <p:nvPr/>
        </p:nvGrpSpPr>
        <p:grpSpPr>
          <a:xfrm rot="0">
            <a:off x="12203111" y="2090423"/>
            <a:ext cx="1305563" cy="1305563"/>
            <a:chOff x="0" y="0"/>
            <a:chExt cx="1740751" cy="1740751"/>
          </a:xfrm>
        </p:grpSpPr>
        <p:sp>
          <p:nvSpPr>
            <p:cNvPr name="Freeform 47" id="47"/>
            <p:cNvSpPr/>
            <p:nvPr/>
          </p:nvSpPr>
          <p:spPr>
            <a:xfrm flipH="false" flipV="false" rot="0">
              <a:off x="0" y="0"/>
              <a:ext cx="1740662" cy="1740662"/>
            </a:xfrm>
            <a:custGeom>
              <a:avLst/>
              <a:gdLst/>
              <a:ahLst/>
              <a:cxnLst/>
              <a:rect r="r" b="b" t="t" l="l"/>
              <a:pathLst>
                <a:path h="1740662" w="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a:srgbClr val="F59E0B"/>
            </a:solidFill>
            <a:ln w="25400" cap="sq">
              <a:solidFill>
                <a:srgbClr val="F59E0B"/>
              </a:solidFill>
              <a:prstDash val="solid"/>
              <a:miter/>
            </a:ln>
          </p:spPr>
        </p:sp>
      </p:grpSp>
      <p:grpSp>
        <p:nvGrpSpPr>
          <p:cNvPr name="Group 48" id="48"/>
          <p:cNvGrpSpPr/>
          <p:nvPr/>
        </p:nvGrpSpPr>
        <p:grpSpPr>
          <a:xfrm rot="0">
            <a:off x="12215812" y="2103120"/>
            <a:ext cx="1280160" cy="1280160"/>
            <a:chOff x="0" y="0"/>
            <a:chExt cx="1706880" cy="1706880"/>
          </a:xfrm>
        </p:grpSpPr>
        <p:sp>
          <p:nvSpPr>
            <p:cNvPr name="Freeform 49" id="49"/>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close/>
                </a:path>
              </a:pathLst>
            </a:custGeom>
            <a:blipFill>
              <a:blip r:embed="rId3">
                <a:alphaModFix amt="0"/>
              </a:blip>
              <a:stretch>
                <a:fillRect l="-78303" t="0" r="-78303" b="0"/>
              </a:stretch>
            </a:blipFill>
          </p:spPr>
        </p:sp>
        <p:sp>
          <p:nvSpPr>
            <p:cNvPr name="TextBox 50" id="50"/>
            <p:cNvSpPr txBox="true"/>
            <p:nvPr/>
          </p:nvSpPr>
          <p:spPr>
            <a:xfrm>
              <a:off x="0" y="-19050"/>
              <a:ext cx="1706880" cy="172593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4</a:t>
              </a:r>
            </a:p>
          </p:txBody>
        </p:sp>
      </p:grpSp>
      <p:grpSp>
        <p:nvGrpSpPr>
          <p:cNvPr name="Group 51" id="51"/>
          <p:cNvGrpSpPr/>
          <p:nvPr/>
        </p:nvGrpSpPr>
        <p:grpSpPr>
          <a:xfrm rot="0">
            <a:off x="11159173" y="4063365"/>
            <a:ext cx="3237548" cy="939803"/>
            <a:chOff x="0" y="0"/>
            <a:chExt cx="4316730" cy="1253071"/>
          </a:xfrm>
        </p:grpSpPr>
        <p:sp>
          <p:nvSpPr>
            <p:cNvPr name="Freeform 52" id="52"/>
            <p:cNvSpPr/>
            <p:nvPr/>
          </p:nvSpPr>
          <p:spPr>
            <a:xfrm flipH="false" flipV="false" rot="0">
              <a:off x="0" y="0"/>
              <a:ext cx="4316768" cy="1253109"/>
            </a:xfrm>
            <a:custGeom>
              <a:avLst/>
              <a:gdLst/>
              <a:ahLst/>
              <a:cxnLst/>
              <a:rect r="r" b="b" t="t" l="l"/>
              <a:pathLst>
                <a:path h="1253109" w="4316768">
                  <a:moveTo>
                    <a:pt x="0" y="0"/>
                  </a:moveTo>
                  <a:lnTo>
                    <a:pt x="4316768" y="0"/>
                  </a:lnTo>
                  <a:lnTo>
                    <a:pt x="4316768" y="1253109"/>
                  </a:lnTo>
                  <a:lnTo>
                    <a:pt x="0" y="1253109"/>
                  </a:lnTo>
                  <a:close/>
                </a:path>
              </a:pathLst>
            </a:custGeom>
            <a:solidFill>
              <a:srgbClr val="F59E0B"/>
            </a:solidFill>
            <a:ln w="25400" cap="sq">
              <a:solidFill>
                <a:srgbClr val="F59E0B"/>
              </a:solidFill>
              <a:prstDash val="solid"/>
              <a:miter/>
            </a:ln>
          </p:spPr>
        </p:sp>
      </p:grpSp>
      <p:grpSp>
        <p:nvGrpSpPr>
          <p:cNvPr name="Group 53" id="53"/>
          <p:cNvGrpSpPr/>
          <p:nvPr/>
        </p:nvGrpSpPr>
        <p:grpSpPr>
          <a:xfrm rot="0">
            <a:off x="11064240" y="4047488"/>
            <a:ext cx="3346133" cy="971557"/>
            <a:chOff x="0" y="0"/>
            <a:chExt cx="4461510" cy="1295410"/>
          </a:xfrm>
        </p:grpSpPr>
        <p:sp>
          <p:nvSpPr>
            <p:cNvPr name="Freeform 54" id="54"/>
            <p:cNvSpPr/>
            <p:nvPr/>
          </p:nvSpPr>
          <p:spPr>
            <a:xfrm flipH="false" flipV="false" rot="0">
              <a:off x="0" y="0"/>
              <a:ext cx="4461510" cy="1295409"/>
            </a:xfrm>
            <a:custGeom>
              <a:avLst/>
              <a:gdLst/>
              <a:ahLst/>
              <a:cxnLst/>
              <a:rect r="r" b="b" t="t" l="l"/>
              <a:pathLst>
                <a:path h="1295409" w="4461510">
                  <a:moveTo>
                    <a:pt x="0" y="0"/>
                  </a:moveTo>
                  <a:lnTo>
                    <a:pt x="4461510" y="0"/>
                  </a:lnTo>
                  <a:lnTo>
                    <a:pt x="4461510" y="1295409"/>
                  </a:lnTo>
                  <a:lnTo>
                    <a:pt x="0" y="1295409"/>
                  </a:lnTo>
                  <a:close/>
                </a:path>
              </a:pathLst>
            </a:custGeom>
            <a:blipFill>
              <a:blip r:embed="rId3">
                <a:alphaModFix amt="0"/>
              </a:blip>
              <a:stretch>
                <a:fillRect l="0" t="-22628" r="-3842" b="-16745"/>
              </a:stretch>
            </a:blipFill>
          </p:spPr>
        </p:sp>
        <p:sp>
          <p:nvSpPr>
            <p:cNvPr name="TextBox 55" id="55"/>
            <p:cNvSpPr txBox="true"/>
            <p:nvPr/>
          </p:nvSpPr>
          <p:spPr>
            <a:xfrm>
              <a:off x="0" y="-19050"/>
              <a:ext cx="4461510" cy="1314460"/>
            </a:xfrm>
            <a:prstGeom prst="rect">
              <a:avLst/>
            </a:prstGeom>
          </p:spPr>
          <p:txBody>
            <a:bodyPr anchor="ctr" rtlCol="false" tIns="0" lIns="0" bIns="0" rIns="0"/>
            <a:lstStyle/>
            <a:p>
              <a:pPr algn="ctr">
                <a:lnSpc>
                  <a:spcPts val="2639"/>
                </a:lnSpc>
              </a:pPr>
              <a:r>
                <a:rPr lang="en-US" b="true" sz="2199">
                  <a:solidFill>
                    <a:srgbClr val="FFFFFF"/>
                  </a:solidFill>
                  <a:latin typeface="Arial Bold"/>
                  <a:ea typeface="Arial Bold"/>
                  <a:cs typeface="Arial Bold"/>
                  <a:sym typeface="Arial Bold"/>
                </a:rPr>
                <a:t>Dét</a:t>
              </a:r>
              <a:r>
                <a:rPr lang="en-US" b="true" sz="2199">
                  <a:solidFill>
                    <a:srgbClr val="FFFFFF"/>
                  </a:solidFill>
                  <a:latin typeface="Arial Bold"/>
                  <a:ea typeface="Arial Bold"/>
                  <a:cs typeface="Arial Bold"/>
                  <a:sym typeface="Arial Bold"/>
                </a:rPr>
                <a:t>ail</a:t>
              </a:r>
            </a:p>
          </p:txBody>
        </p:sp>
      </p:grpSp>
      <p:grpSp>
        <p:nvGrpSpPr>
          <p:cNvPr name="Group 56" id="56"/>
          <p:cNvGrpSpPr/>
          <p:nvPr/>
        </p:nvGrpSpPr>
        <p:grpSpPr>
          <a:xfrm rot="0">
            <a:off x="11155047" y="4920613"/>
            <a:ext cx="3237547" cy="2470451"/>
            <a:chOff x="0" y="0"/>
            <a:chExt cx="4316730" cy="3293935"/>
          </a:xfrm>
        </p:grpSpPr>
        <p:sp>
          <p:nvSpPr>
            <p:cNvPr name="Freeform 57" id="57"/>
            <p:cNvSpPr/>
            <p:nvPr/>
          </p:nvSpPr>
          <p:spPr>
            <a:xfrm flipH="false" flipV="false" rot="0">
              <a:off x="0" y="0"/>
              <a:ext cx="4316730" cy="3293935"/>
            </a:xfrm>
            <a:custGeom>
              <a:avLst/>
              <a:gdLst/>
              <a:ahLst/>
              <a:cxnLst/>
              <a:rect r="r" b="b" t="t" l="l"/>
              <a:pathLst>
                <a:path h="3293935" w="4316730">
                  <a:moveTo>
                    <a:pt x="0" y="0"/>
                  </a:moveTo>
                  <a:lnTo>
                    <a:pt x="4316730" y="0"/>
                  </a:lnTo>
                  <a:lnTo>
                    <a:pt x="4316730" y="3293935"/>
                  </a:lnTo>
                  <a:lnTo>
                    <a:pt x="0" y="3293935"/>
                  </a:lnTo>
                  <a:close/>
                </a:path>
              </a:pathLst>
            </a:custGeom>
            <a:solidFill>
              <a:srgbClr val="FFFFFF"/>
            </a:solidFill>
            <a:ln w="19050" cap="sq">
              <a:solidFill>
                <a:srgbClr val="94A3B8"/>
              </a:solidFill>
              <a:prstDash val="solid"/>
              <a:miter/>
            </a:ln>
          </p:spPr>
        </p:sp>
      </p:grpSp>
      <p:sp>
        <p:nvSpPr>
          <p:cNvPr name="AutoShape 58" id="58"/>
          <p:cNvSpPr/>
          <p:nvPr/>
        </p:nvSpPr>
        <p:spPr>
          <a:xfrm rot="983400">
            <a:off x="14700047" y="6391275"/>
            <a:ext cx="135026" cy="0"/>
          </a:xfrm>
          <a:prstGeom prst="line">
            <a:avLst/>
          </a:prstGeom>
          <a:ln cap="rnd" w="19050">
            <a:solidFill>
              <a:srgbClr val="64748B"/>
            </a:solidFill>
            <a:prstDash val="solid"/>
            <a:headEnd type="none" len="sm" w="sm"/>
            <a:tailEnd type="triangle" len="med" w="lg"/>
          </a:ln>
        </p:spPr>
      </p:sp>
      <p:grpSp>
        <p:nvGrpSpPr>
          <p:cNvPr name="Group 59" id="59"/>
          <p:cNvGrpSpPr/>
          <p:nvPr/>
        </p:nvGrpSpPr>
        <p:grpSpPr>
          <a:xfrm rot="0">
            <a:off x="15765291" y="2065020"/>
            <a:ext cx="1305563" cy="1305563"/>
            <a:chOff x="0" y="0"/>
            <a:chExt cx="1740751" cy="1740751"/>
          </a:xfrm>
        </p:grpSpPr>
        <p:sp>
          <p:nvSpPr>
            <p:cNvPr name="Freeform 60" id="60"/>
            <p:cNvSpPr/>
            <p:nvPr/>
          </p:nvSpPr>
          <p:spPr>
            <a:xfrm flipH="false" flipV="false" rot="0">
              <a:off x="0" y="0"/>
              <a:ext cx="1740662" cy="1740662"/>
            </a:xfrm>
            <a:custGeom>
              <a:avLst/>
              <a:gdLst/>
              <a:ahLst/>
              <a:cxnLst/>
              <a:rect r="r" b="b" t="t" l="l"/>
              <a:pathLst>
                <a:path h="1740662" w="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a:srgbClr val="DC2626"/>
            </a:solidFill>
            <a:ln w="25400" cap="sq">
              <a:solidFill>
                <a:srgbClr val="DC2626"/>
              </a:solidFill>
              <a:prstDash val="solid"/>
              <a:miter/>
            </a:ln>
          </p:spPr>
        </p:sp>
      </p:grpSp>
      <p:grpSp>
        <p:nvGrpSpPr>
          <p:cNvPr name="Group 61" id="61"/>
          <p:cNvGrpSpPr/>
          <p:nvPr/>
        </p:nvGrpSpPr>
        <p:grpSpPr>
          <a:xfrm rot="0">
            <a:off x="15745777" y="2090423"/>
            <a:ext cx="1280160" cy="1280160"/>
            <a:chOff x="0" y="0"/>
            <a:chExt cx="1706880" cy="1706880"/>
          </a:xfrm>
        </p:grpSpPr>
        <p:sp>
          <p:nvSpPr>
            <p:cNvPr name="Freeform 62" id="62"/>
            <p:cNvSpPr/>
            <p:nvPr/>
          </p:nvSpPr>
          <p:spPr>
            <a:xfrm flipH="false" flipV="false" rot="0">
              <a:off x="0" y="0"/>
              <a:ext cx="1706880" cy="1706880"/>
            </a:xfrm>
            <a:custGeom>
              <a:avLst/>
              <a:gdLst/>
              <a:ahLst/>
              <a:cxnLst/>
              <a:rect r="r" b="b" t="t" l="l"/>
              <a:pathLst>
                <a:path h="1706880" w="1706880">
                  <a:moveTo>
                    <a:pt x="0" y="0"/>
                  </a:moveTo>
                  <a:lnTo>
                    <a:pt x="1706880" y="0"/>
                  </a:lnTo>
                  <a:lnTo>
                    <a:pt x="1706880" y="1706880"/>
                  </a:lnTo>
                  <a:lnTo>
                    <a:pt x="0" y="1706880"/>
                  </a:lnTo>
                  <a:close/>
                </a:path>
              </a:pathLst>
            </a:custGeom>
            <a:blipFill>
              <a:blip r:embed="rId3">
                <a:alphaModFix amt="0"/>
              </a:blip>
              <a:stretch>
                <a:fillRect l="-78303" t="0" r="-78303" b="0"/>
              </a:stretch>
            </a:blipFill>
          </p:spPr>
        </p:sp>
        <p:sp>
          <p:nvSpPr>
            <p:cNvPr name="TextBox 63" id="63"/>
            <p:cNvSpPr txBox="true"/>
            <p:nvPr/>
          </p:nvSpPr>
          <p:spPr>
            <a:xfrm>
              <a:off x="0" y="-19050"/>
              <a:ext cx="1706880" cy="1725930"/>
            </a:xfrm>
            <a:prstGeom prst="rect">
              <a:avLst/>
            </a:prstGeom>
          </p:spPr>
          <p:txBody>
            <a:bodyPr anchor="ctr" rtlCol="false" tIns="0" lIns="0" bIns="0" rIns="0"/>
            <a:lstStyle/>
            <a:p>
              <a:pPr algn="ctr">
                <a:lnSpc>
                  <a:spcPts val="5280"/>
                </a:lnSpc>
              </a:pPr>
              <a:r>
                <a:rPr lang="en-US" b="true" sz="4400">
                  <a:solidFill>
                    <a:srgbClr val="FFFFFF"/>
                  </a:solidFill>
                  <a:latin typeface="Arial Bold"/>
                  <a:ea typeface="Arial Bold"/>
                  <a:cs typeface="Arial Bold"/>
                  <a:sym typeface="Arial Bold"/>
                </a:rPr>
                <a:t>5</a:t>
              </a:r>
            </a:p>
          </p:txBody>
        </p:sp>
      </p:grpSp>
      <p:grpSp>
        <p:nvGrpSpPr>
          <p:cNvPr name="Group 64" id="64"/>
          <p:cNvGrpSpPr/>
          <p:nvPr/>
        </p:nvGrpSpPr>
        <p:grpSpPr>
          <a:xfrm rot="0">
            <a:off x="14667548" y="4088768"/>
            <a:ext cx="3436620" cy="831844"/>
            <a:chOff x="0" y="0"/>
            <a:chExt cx="4582160" cy="1109126"/>
          </a:xfrm>
        </p:grpSpPr>
        <p:sp>
          <p:nvSpPr>
            <p:cNvPr name="Freeform 65" id="65"/>
            <p:cNvSpPr/>
            <p:nvPr/>
          </p:nvSpPr>
          <p:spPr>
            <a:xfrm flipH="false" flipV="false" rot="0">
              <a:off x="0" y="0"/>
              <a:ext cx="4582198" cy="1109164"/>
            </a:xfrm>
            <a:custGeom>
              <a:avLst/>
              <a:gdLst/>
              <a:ahLst/>
              <a:cxnLst/>
              <a:rect r="r" b="b" t="t" l="l"/>
              <a:pathLst>
                <a:path h="1109164" w="4582198">
                  <a:moveTo>
                    <a:pt x="0" y="0"/>
                  </a:moveTo>
                  <a:lnTo>
                    <a:pt x="4582198" y="0"/>
                  </a:lnTo>
                  <a:lnTo>
                    <a:pt x="4582198" y="1109164"/>
                  </a:lnTo>
                  <a:lnTo>
                    <a:pt x="0" y="1109164"/>
                  </a:lnTo>
                  <a:close/>
                </a:path>
              </a:pathLst>
            </a:custGeom>
            <a:solidFill>
              <a:srgbClr val="DC2626"/>
            </a:solidFill>
            <a:ln w="25400" cap="sq">
              <a:solidFill>
                <a:srgbClr val="DC2626"/>
              </a:solidFill>
              <a:prstDash val="solid"/>
              <a:miter/>
            </a:ln>
          </p:spPr>
        </p:sp>
      </p:grpSp>
      <p:grpSp>
        <p:nvGrpSpPr>
          <p:cNvPr name="Group 66" id="66"/>
          <p:cNvGrpSpPr/>
          <p:nvPr/>
        </p:nvGrpSpPr>
        <p:grpSpPr>
          <a:xfrm rot="0">
            <a:off x="14967349" y="3964936"/>
            <a:ext cx="2901447" cy="914400"/>
            <a:chOff x="0" y="0"/>
            <a:chExt cx="3868596" cy="1219200"/>
          </a:xfrm>
        </p:grpSpPr>
        <p:sp>
          <p:nvSpPr>
            <p:cNvPr name="Freeform 67" id="67"/>
            <p:cNvSpPr/>
            <p:nvPr/>
          </p:nvSpPr>
          <p:spPr>
            <a:xfrm flipH="false" flipV="false" rot="0">
              <a:off x="0" y="0"/>
              <a:ext cx="3868596" cy="1219200"/>
            </a:xfrm>
            <a:custGeom>
              <a:avLst/>
              <a:gdLst/>
              <a:ahLst/>
              <a:cxnLst/>
              <a:rect r="r" b="b" t="t" l="l"/>
              <a:pathLst>
                <a:path h="1219200" w="3868596">
                  <a:moveTo>
                    <a:pt x="0" y="0"/>
                  </a:moveTo>
                  <a:lnTo>
                    <a:pt x="3868596" y="0"/>
                  </a:lnTo>
                  <a:lnTo>
                    <a:pt x="3868596" y="1219200"/>
                  </a:lnTo>
                  <a:lnTo>
                    <a:pt x="0" y="1219200"/>
                  </a:lnTo>
                  <a:close/>
                </a:path>
              </a:pathLst>
            </a:custGeom>
            <a:blipFill>
              <a:blip r:embed="rId3">
                <a:alphaModFix amt="0"/>
              </a:blip>
              <a:stretch>
                <a:fillRect l="0" t="-24043" r="-19758" b="-24043"/>
              </a:stretch>
            </a:blipFill>
          </p:spPr>
        </p:sp>
        <p:sp>
          <p:nvSpPr>
            <p:cNvPr name="TextBox 68" id="68"/>
            <p:cNvSpPr txBox="true"/>
            <p:nvPr/>
          </p:nvSpPr>
          <p:spPr>
            <a:xfrm>
              <a:off x="0" y="-19050"/>
              <a:ext cx="3868596" cy="1238250"/>
            </a:xfrm>
            <a:prstGeom prst="rect">
              <a:avLst/>
            </a:prstGeom>
          </p:spPr>
          <p:txBody>
            <a:bodyPr anchor="ctr" rtlCol="false" tIns="0" lIns="0" bIns="0" rIns="0"/>
            <a:lstStyle/>
            <a:p>
              <a:pPr algn="ctr">
                <a:lnSpc>
                  <a:spcPts val="2639"/>
                </a:lnSpc>
              </a:pPr>
              <a:r>
                <a:rPr lang="en-US" b="true" sz="2199">
                  <a:solidFill>
                    <a:srgbClr val="FFFFFF"/>
                  </a:solidFill>
                  <a:latin typeface="Arial Bold"/>
                  <a:ea typeface="Arial Bold"/>
                  <a:cs typeface="Arial Bold"/>
                  <a:sym typeface="Arial Bold"/>
                </a:rPr>
                <a:t>R</a:t>
              </a:r>
              <a:r>
                <a:rPr lang="en-US" b="true" sz="2199">
                  <a:solidFill>
                    <a:srgbClr val="FFFFFF"/>
                  </a:solidFill>
                  <a:latin typeface="Arial Bold"/>
                  <a:ea typeface="Arial Bold"/>
                  <a:cs typeface="Arial Bold"/>
                  <a:sym typeface="Arial Bold"/>
                </a:rPr>
                <a:t>apport</a:t>
              </a:r>
            </a:p>
          </p:txBody>
        </p:sp>
      </p:grpSp>
      <p:grpSp>
        <p:nvGrpSpPr>
          <p:cNvPr name="Group 69" id="69"/>
          <p:cNvGrpSpPr/>
          <p:nvPr/>
        </p:nvGrpSpPr>
        <p:grpSpPr>
          <a:xfrm rot="0">
            <a:off x="14667548" y="4879336"/>
            <a:ext cx="3446145" cy="2511728"/>
            <a:chOff x="0" y="0"/>
            <a:chExt cx="4594860" cy="3348970"/>
          </a:xfrm>
        </p:grpSpPr>
        <p:sp>
          <p:nvSpPr>
            <p:cNvPr name="Freeform 70" id="70"/>
            <p:cNvSpPr/>
            <p:nvPr/>
          </p:nvSpPr>
          <p:spPr>
            <a:xfrm flipH="false" flipV="false" rot="0">
              <a:off x="0" y="0"/>
              <a:ext cx="4594860" cy="3348970"/>
            </a:xfrm>
            <a:custGeom>
              <a:avLst/>
              <a:gdLst/>
              <a:ahLst/>
              <a:cxnLst/>
              <a:rect r="r" b="b" t="t" l="l"/>
              <a:pathLst>
                <a:path h="3348970" w="4594860">
                  <a:moveTo>
                    <a:pt x="0" y="0"/>
                  </a:moveTo>
                  <a:lnTo>
                    <a:pt x="4594860" y="0"/>
                  </a:lnTo>
                  <a:lnTo>
                    <a:pt x="4594860" y="3348970"/>
                  </a:lnTo>
                  <a:lnTo>
                    <a:pt x="0" y="3348970"/>
                  </a:lnTo>
                  <a:close/>
                </a:path>
              </a:pathLst>
            </a:custGeom>
            <a:solidFill>
              <a:srgbClr val="FFFFFF"/>
            </a:solidFill>
            <a:ln w="19050" cap="sq">
              <a:solidFill>
                <a:srgbClr val="94A3B8"/>
              </a:solidFill>
              <a:prstDash val="solid"/>
              <a:miter/>
            </a:ln>
          </p:spPr>
        </p:sp>
      </p:grpSp>
      <p:sp>
        <p:nvSpPr>
          <p:cNvPr name="Freeform 71" id="71"/>
          <p:cNvSpPr/>
          <p:nvPr/>
        </p:nvSpPr>
        <p:spPr>
          <a:xfrm flipH="false" flipV="false" rot="0">
            <a:off x="685182" y="7500477"/>
            <a:ext cx="2025181" cy="2025181"/>
          </a:xfrm>
          <a:custGeom>
            <a:avLst/>
            <a:gdLst/>
            <a:ahLst/>
            <a:cxnLst/>
            <a:rect r="r" b="b" t="t" l="l"/>
            <a:pathLst>
              <a:path h="2025181" w="2025181">
                <a:moveTo>
                  <a:pt x="0" y="0"/>
                </a:moveTo>
                <a:lnTo>
                  <a:pt x="2025181" y="0"/>
                </a:lnTo>
                <a:lnTo>
                  <a:pt x="2025181" y="2025181"/>
                </a:lnTo>
                <a:lnTo>
                  <a:pt x="0" y="2025181"/>
                </a:lnTo>
                <a:lnTo>
                  <a:pt x="0" y="0"/>
                </a:lnTo>
                <a:close/>
              </a:path>
            </a:pathLst>
          </a:custGeom>
          <a:blipFill>
            <a:blip r:embed="rId4"/>
            <a:stretch>
              <a:fillRect l="0" t="0" r="0" b="0"/>
            </a:stretch>
          </a:blipFill>
        </p:spPr>
      </p:sp>
      <p:sp>
        <p:nvSpPr>
          <p:cNvPr name="Freeform 72" id="72"/>
          <p:cNvSpPr/>
          <p:nvPr/>
        </p:nvSpPr>
        <p:spPr>
          <a:xfrm flipH="false" flipV="false" rot="0">
            <a:off x="4455009" y="7500477"/>
            <a:ext cx="2043263" cy="2025181"/>
          </a:xfrm>
          <a:custGeom>
            <a:avLst/>
            <a:gdLst/>
            <a:ahLst/>
            <a:cxnLst/>
            <a:rect r="r" b="b" t="t" l="l"/>
            <a:pathLst>
              <a:path h="2025181" w="2043263">
                <a:moveTo>
                  <a:pt x="0" y="0"/>
                </a:moveTo>
                <a:lnTo>
                  <a:pt x="2043264" y="0"/>
                </a:lnTo>
                <a:lnTo>
                  <a:pt x="2043264" y="2025181"/>
                </a:lnTo>
                <a:lnTo>
                  <a:pt x="0" y="2025181"/>
                </a:lnTo>
                <a:lnTo>
                  <a:pt x="0" y="0"/>
                </a:lnTo>
                <a:close/>
              </a:path>
            </a:pathLst>
          </a:custGeom>
          <a:blipFill>
            <a:blip r:embed="rId5"/>
            <a:stretch>
              <a:fillRect l="0" t="0" r="0" b="0"/>
            </a:stretch>
          </a:blipFill>
        </p:spPr>
      </p:sp>
      <p:sp>
        <p:nvSpPr>
          <p:cNvPr name="Freeform 73" id="73"/>
          <p:cNvSpPr/>
          <p:nvPr/>
        </p:nvSpPr>
        <p:spPr>
          <a:xfrm flipH="false" flipV="false" rot="0">
            <a:off x="8089153" y="7570593"/>
            <a:ext cx="1955065" cy="1955065"/>
          </a:xfrm>
          <a:custGeom>
            <a:avLst/>
            <a:gdLst/>
            <a:ahLst/>
            <a:cxnLst/>
            <a:rect r="r" b="b" t="t" l="l"/>
            <a:pathLst>
              <a:path h="1955065" w="1955065">
                <a:moveTo>
                  <a:pt x="0" y="0"/>
                </a:moveTo>
                <a:lnTo>
                  <a:pt x="1955064" y="0"/>
                </a:lnTo>
                <a:lnTo>
                  <a:pt x="1955064" y="1955065"/>
                </a:lnTo>
                <a:lnTo>
                  <a:pt x="0" y="1955065"/>
                </a:lnTo>
                <a:lnTo>
                  <a:pt x="0" y="0"/>
                </a:lnTo>
                <a:close/>
              </a:path>
            </a:pathLst>
          </a:custGeom>
          <a:blipFill>
            <a:blip r:embed="rId6"/>
            <a:stretch>
              <a:fillRect l="0" t="0" r="0" b="0"/>
            </a:stretch>
          </a:blipFill>
        </p:spPr>
      </p:sp>
      <p:sp>
        <p:nvSpPr>
          <p:cNvPr name="Freeform 74" id="74"/>
          <p:cNvSpPr/>
          <p:nvPr/>
        </p:nvSpPr>
        <p:spPr>
          <a:xfrm flipH="false" flipV="false" rot="0">
            <a:off x="11787292" y="7570593"/>
            <a:ext cx="1972521" cy="1955065"/>
          </a:xfrm>
          <a:custGeom>
            <a:avLst/>
            <a:gdLst/>
            <a:ahLst/>
            <a:cxnLst/>
            <a:rect r="r" b="b" t="t" l="l"/>
            <a:pathLst>
              <a:path h="1955065" w="1972521">
                <a:moveTo>
                  <a:pt x="0" y="0"/>
                </a:moveTo>
                <a:lnTo>
                  <a:pt x="1972521" y="0"/>
                </a:lnTo>
                <a:lnTo>
                  <a:pt x="1972521" y="1955065"/>
                </a:lnTo>
                <a:lnTo>
                  <a:pt x="0" y="1955065"/>
                </a:lnTo>
                <a:lnTo>
                  <a:pt x="0" y="0"/>
                </a:lnTo>
                <a:close/>
              </a:path>
            </a:pathLst>
          </a:custGeom>
          <a:blipFill>
            <a:blip r:embed="rId7"/>
            <a:stretch>
              <a:fillRect l="0" t="0" r="0" b="0"/>
            </a:stretch>
          </a:blipFill>
        </p:spPr>
      </p:sp>
      <p:sp>
        <p:nvSpPr>
          <p:cNvPr name="Freeform 75" id="75"/>
          <p:cNvSpPr/>
          <p:nvPr/>
        </p:nvSpPr>
        <p:spPr>
          <a:xfrm flipH="false" flipV="false" rot="0">
            <a:off x="15443590" y="7576693"/>
            <a:ext cx="1948965" cy="1948965"/>
          </a:xfrm>
          <a:custGeom>
            <a:avLst/>
            <a:gdLst/>
            <a:ahLst/>
            <a:cxnLst/>
            <a:rect r="r" b="b" t="t" l="l"/>
            <a:pathLst>
              <a:path h="1948965" w="1948965">
                <a:moveTo>
                  <a:pt x="0" y="0"/>
                </a:moveTo>
                <a:lnTo>
                  <a:pt x="1948965" y="0"/>
                </a:lnTo>
                <a:lnTo>
                  <a:pt x="1948965" y="1948965"/>
                </a:lnTo>
                <a:lnTo>
                  <a:pt x="0" y="1948965"/>
                </a:lnTo>
                <a:lnTo>
                  <a:pt x="0" y="0"/>
                </a:lnTo>
                <a:close/>
              </a:path>
            </a:pathLst>
          </a:custGeom>
          <a:blipFill>
            <a:blip r:embed="rId8"/>
            <a:stretch>
              <a:fillRect l="0" t="0" r="0" b="0"/>
            </a:stretch>
          </a:blipFill>
        </p:spPr>
      </p:sp>
      <p:sp>
        <p:nvSpPr>
          <p:cNvPr name="TextBox 76" id="76"/>
          <p:cNvSpPr txBox="true"/>
          <p:nvPr/>
        </p:nvSpPr>
        <p:spPr>
          <a:xfrm rot="0">
            <a:off x="342118" y="5669918"/>
            <a:ext cx="2956560" cy="1228725"/>
          </a:xfrm>
          <a:prstGeom prst="rect">
            <a:avLst/>
          </a:prstGeom>
        </p:spPr>
        <p:txBody>
          <a:bodyPr anchor="t" rtlCol="false" tIns="0" lIns="0" bIns="0" rIns="0">
            <a:spAutoFit/>
          </a:bodyPr>
          <a:lstStyle/>
          <a:p>
            <a:pPr algn="ctr">
              <a:lnSpc>
                <a:spcPts val="2400"/>
              </a:lnSpc>
            </a:pPr>
            <a:r>
              <a:rPr lang="en-US" b="true" sz="2000">
                <a:solidFill>
                  <a:srgbClr val="1E2761"/>
                </a:solidFill>
                <a:latin typeface="Arial Bold"/>
                <a:ea typeface="Arial Bold"/>
                <a:cs typeface="Arial Bold"/>
                <a:sym typeface="Arial Bold"/>
              </a:rPr>
              <a:t>P</a:t>
            </a:r>
            <a:r>
              <a:rPr lang="en-US" b="true" sz="2000">
                <a:solidFill>
                  <a:srgbClr val="1E2761"/>
                </a:solidFill>
                <a:latin typeface="Arial Bold"/>
                <a:ea typeface="Arial Bold"/>
                <a:cs typeface="Arial Bold"/>
                <a:sym typeface="Arial Bold"/>
              </a:rPr>
              <a:t>age publique : inscription ou connexion</a:t>
            </a:r>
          </a:p>
          <a:p>
            <a:pPr algn="ctr">
              <a:lnSpc>
                <a:spcPts val="2400"/>
              </a:lnSpc>
            </a:pPr>
          </a:p>
        </p:txBody>
      </p:sp>
      <p:sp>
        <p:nvSpPr>
          <p:cNvPr name="TextBox 77" id="77"/>
          <p:cNvSpPr txBox="true"/>
          <p:nvPr/>
        </p:nvSpPr>
        <p:spPr>
          <a:xfrm rot="0">
            <a:off x="3978763" y="5627049"/>
            <a:ext cx="3108960" cy="923925"/>
          </a:xfrm>
          <a:prstGeom prst="rect">
            <a:avLst/>
          </a:prstGeom>
        </p:spPr>
        <p:txBody>
          <a:bodyPr anchor="t" rtlCol="false" tIns="0" lIns="0" bIns="0" rIns="0">
            <a:spAutoFit/>
          </a:bodyPr>
          <a:lstStyle/>
          <a:p>
            <a:pPr algn="ctr">
              <a:lnSpc>
                <a:spcPts val="2400"/>
              </a:lnSpc>
            </a:pPr>
            <a:r>
              <a:rPr lang="en-US" sz="2000" b="true">
                <a:solidFill>
                  <a:srgbClr val="1E2761"/>
                </a:solidFill>
                <a:latin typeface="Arial Bold"/>
                <a:ea typeface="Arial Bold"/>
                <a:cs typeface="Arial Bold"/>
                <a:sym typeface="Arial Bold"/>
              </a:rPr>
              <a:t>Liste des demandes, statut coloré</a:t>
            </a:r>
          </a:p>
          <a:p>
            <a:pPr algn="ctr">
              <a:lnSpc>
                <a:spcPts val="2400"/>
              </a:lnSpc>
            </a:pPr>
          </a:p>
        </p:txBody>
      </p:sp>
      <p:sp>
        <p:nvSpPr>
          <p:cNvPr name="TextBox 78" id="78"/>
          <p:cNvSpPr txBox="true"/>
          <p:nvPr/>
        </p:nvSpPr>
        <p:spPr>
          <a:xfrm rot="0">
            <a:off x="7653508" y="5660393"/>
            <a:ext cx="3108960" cy="923925"/>
          </a:xfrm>
          <a:prstGeom prst="rect">
            <a:avLst/>
          </a:prstGeom>
        </p:spPr>
        <p:txBody>
          <a:bodyPr anchor="t" rtlCol="false" tIns="0" lIns="0" bIns="0" rIns="0">
            <a:spAutoFit/>
          </a:bodyPr>
          <a:lstStyle/>
          <a:p>
            <a:pPr algn="ctr">
              <a:lnSpc>
                <a:spcPts val="2400"/>
              </a:lnSpc>
            </a:pPr>
            <a:r>
              <a:rPr lang="en-US" sz="2000" b="true">
                <a:solidFill>
                  <a:srgbClr val="1E2761"/>
                </a:solidFill>
                <a:latin typeface="Arial Bold"/>
                <a:ea typeface="Arial Bold"/>
                <a:cs typeface="Arial Bold"/>
                <a:sym typeface="Arial Bold"/>
              </a:rPr>
              <a:t>Choix de la formule, notes de périmètre</a:t>
            </a:r>
          </a:p>
          <a:p>
            <a:pPr algn="ctr">
              <a:lnSpc>
                <a:spcPts val="2400"/>
              </a:lnSpc>
            </a:pPr>
          </a:p>
        </p:txBody>
      </p:sp>
      <p:sp>
        <p:nvSpPr>
          <p:cNvPr name="TextBox 79" id="79"/>
          <p:cNvSpPr txBox="true"/>
          <p:nvPr/>
        </p:nvSpPr>
        <p:spPr>
          <a:xfrm rot="0">
            <a:off x="11223467" y="5744679"/>
            <a:ext cx="3108960" cy="923925"/>
          </a:xfrm>
          <a:prstGeom prst="rect">
            <a:avLst/>
          </a:prstGeom>
        </p:spPr>
        <p:txBody>
          <a:bodyPr anchor="t" rtlCol="false" tIns="0" lIns="0" bIns="0" rIns="0">
            <a:spAutoFit/>
          </a:bodyPr>
          <a:lstStyle/>
          <a:p>
            <a:pPr algn="ctr">
              <a:lnSpc>
                <a:spcPts val="2400"/>
              </a:lnSpc>
            </a:pPr>
            <a:r>
              <a:rPr lang="en-US" b="true" sz="2000">
                <a:solidFill>
                  <a:srgbClr val="1E2761"/>
                </a:solidFill>
                <a:latin typeface="Arial Bold"/>
                <a:ea typeface="Arial Bold"/>
                <a:cs typeface="Arial Bold"/>
                <a:sym typeface="Arial Bold"/>
              </a:rPr>
              <a:t>Hi</a:t>
            </a:r>
            <a:r>
              <a:rPr lang="en-US" b="true" sz="2000">
                <a:solidFill>
                  <a:srgbClr val="1E2761"/>
                </a:solidFill>
                <a:latin typeface="Arial Bold"/>
                <a:ea typeface="Arial Bold"/>
                <a:cs typeface="Arial Bold"/>
                <a:sym typeface="Arial Bold"/>
              </a:rPr>
              <a:t>storique et statut en temps réel</a:t>
            </a:r>
          </a:p>
          <a:p>
            <a:pPr algn="ctr">
              <a:lnSpc>
                <a:spcPts val="2400"/>
              </a:lnSpc>
            </a:pPr>
          </a:p>
        </p:txBody>
      </p:sp>
      <p:sp>
        <p:nvSpPr>
          <p:cNvPr name="TextBox 80" id="80"/>
          <p:cNvSpPr txBox="true"/>
          <p:nvPr/>
        </p:nvSpPr>
        <p:spPr>
          <a:xfrm rot="0">
            <a:off x="15311267" y="5660393"/>
            <a:ext cx="2259160" cy="923925"/>
          </a:xfrm>
          <a:prstGeom prst="rect">
            <a:avLst/>
          </a:prstGeom>
        </p:spPr>
        <p:txBody>
          <a:bodyPr anchor="t" rtlCol="false" tIns="0" lIns="0" bIns="0" rIns="0">
            <a:spAutoFit/>
          </a:bodyPr>
          <a:lstStyle/>
          <a:p>
            <a:pPr algn="ctr">
              <a:lnSpc>
                <a:spcPts val="2400"/>
              </a:lnSpc>
            </a:pPr>
            <a:r>
              <a:rPr lang="en-US" b="true" sz="2000">
                <a:solidFill>
                  <a:srgbClr val="1E2761"/>
                </a:solidFill>
                <a:latin typeface="Arial Bold"/>
                <a:ea typeface="Arial Bold"/>
                <a:cs typeface="Arial Bold"/>
                <a:sym typeface="Arial Bold"/>
              </a:rPr>
              <a:t>Té</a:t>
            </a:r>
            <a:r>
              <a:rPr lang="en-US" b="true" sz="2000">
                <a:solidFill>
                  <a:srgbClr val="1E2761"/>
                </a:solidFill>
                <a:latin typeface="Arial Bold"/>
                <a:ea typeface="Arial Bold"/>
                <a:cs typeface="Arial Bold"/>
                <a:sym typeface="Arial Bold"/>
              </a:rPr>
              <a:t>léchargement une fois généré</a:t>
            </a:r>
          </a:p>
          <a:p>
            <a:pPr algn="ctr">
              <a:lnSpc>
                <a:spcPts val="240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0" y="457200"/>
            <a:ext cx="18288000" cy="1155055"/>
            <a:chOff x="0" y="0"/>
            <a:chExt cx="24384000" cy="1540074"/>
          </a:xfrm>
        </p:grpSpPr>
        <p:sp>
          <p:nvSpPr>
            <p:cNvPr name="Freeform 3" id="3"/>
            <p:cNvSpPr/>
            <p:nvPr/>
          </p:nvSpPr>
          <p:spPr>
            <a:xfrm flipH="false" flipV="false" rot="0">
              <a:off x="0" y="0"/>
              <a:ext cx="24384000" cy="1540074"/>
            </a:xfrm>
            <a:custGeom>
              <a:avLst/>
              <a:gdLst/>
              <a:ahLst/>
              <a:cxnLst/>
              <a:rect r="r" b="b" t="t" l="l"/>
              <a:pathLst>
                <a:path h="1540074" w="24384000">
                  <a:moveTo>
                    <a:pt x="0" y="0"/>
                  </a:moveTo>
                  <a:lnTo>
                    <a:pt x="24384000" y="0"/>
                  </a:lnTo>
                  <a:lnTo>
                    <a:pt x="24384000" y="1540074"/>
                  </a:lnTo>
                  <a:lnTo>
                    <a:pt x="0" y="1540074"/>
                  </a:lnTo>
                  <a:close/>
                </a:path>
              </a:pathLst>
            </a:custGeom>
            <a:blipFill>
              <a:blip r:embed="rId3">
                <a:alphaModFix amt="0"/>
              </a:blip>
              <a:stretch>
                <a:fillRect l="0" t="-264966" r="0" b="-252047"/>
              </a:stretch>
            </a:blipFill>
          </p:spPr>
        </p:sp>
        <p:sp>
          <p:nvSpPr>
            <p:cNvPr name="TextBox 4" id="4"/>
            <p:cNvSpPr txBox="true"/>
            <p:nvPr/>
          </p:nvSpPr>
          <p:spPr>
            <a:xfrm>
              <a:off x="0" y="-38100"/>
              <a:ext cx="24384000" cy="1578174"/>
            </a:xfrm>
            <a:prstGeom prst="rect">
              <a:avLst/>
            </a:prstGeom>
          </p:spPr>
          <p:txBody>
            <a:bodyPr anchor="ctr" rtlCol="false" tIns="0" lIns="0" bIns="0" rIns="0"/>
            <a:lstStyle/>
            <a:p>
              <a:pPr algn="ctr">
                <a:lnSpc>
                  <a:spcPts val="6720"/>
                </a:lnSpc>
              </a:pPr>
              <a:r>
                <a:rPr lang="en-US" b="true" sz="5600">
                  <a:solidFill>
                    <a:srgbClr val="FFFFFF"/>
                  </a:solidFill>
                  <a:latin typeface="Arial Bold"/>
                  <a:ea typeface="Arial Bold"/>
                  <a:cs typeface="Arial Bold"/>
                  <a:sym typeface="Arial Bold"/>
                </a:rPr>
                <a:t>Vue opérateur </a:t>
              </a:r>
              <a:r>
                <a:rPr lang="en-US" b="true" sz="5600">
                  <a:solidFill>
                    <a:srgbClr val="FFFFFF"/>
                  </a:solidFill>
                  <a:latin typeface="Arial Bold"/>
                  <a:ea typeface="Arial Bold"/>
                  <a:cs typeface="Arial Bold"/>
                  <a:sym typeface="Arial Bold"/>
                </a:rPr>
                <a:t>du portail d'administration</a:t>
              </a:r>
            </a:p>
          </p:txBody>
        </p:sp>
      </p:grpSp>
      <p:grpSp>
        <p:nvGrpSpPr>
          <p:cNvPr name="Group 5" id="5"/>
          <p:cNvGrpSpPr/>
          <p:nvPr/>
        </p:nvGrpSpPr>
        <p:grpSpPr>
          <a:xfrm rot="0">
            <a:off x="2240280" y="2834640"/>
            <a:ext cx="3566160" cy="914400"/>
            <a:chOff x="0" y="0"/>
            <a:chExt cx="4754880" cy="1219200"/>
          </a:xfrm>
        </p:grpSpPr>
        <p:sp>
          <p:nvSpPr>
            <p:cNvPr name="Freeform 6" id="6"/>
            <p:cNvSpPr/>
            <p:nvPr/>
          </p:nvSpPr>
          <p:spPr>
            <a:xfrm flipH="false" flipV="false" rot="0">
              <a:off x="0" y="0"/>
              <a:ext cx="4754880" cy="1219200"/>
            </a:xfrm>
            <a:custGeom>
              <a:avLst/>
              <a:gdLst/>
              <a:ahLst/>
              <a:cxnLst/>
              <a:rect r="r" b="b" t="t" l="l"/>
              <a:pathLst>
                <a:path h="1219200" w="4754880">
                  <a:moveTo>
                    <a:pt x="0" y="0"/>
                  </a:moveTo>
                  <a:lnTo>
                    <a:pt x="4754880" y="0"/>
                  </a:lnTo>
                  <a:lnTo>
                    <a:pt x="4754880" y="1219200"/>
                  </a:lnTo>
                  <a:lnTo>
                    <a:pt x="0" y="1219200"/>
                  </a:lnTo>
                  <a:close/>
                </a:path>
              </a:pathLst>
            </a:custGeom>
            <a:blipFill>
              <a:blip r:embed="rId3">
                <a:alphaModFix amt="0"/>
              </a:blip>
              <a:stretch>
                <a:fillRect l="0" t="-25991" r="0" b="-25991"/>
              </a:stretch>
            </a:blipFill>
          </p:spPr>
        </p:sp>
        <p:sp>
          <p:nvSpPr>
            <p:cNvPr name="TextBox 7" id="7"/>
            <p:cNvSpPr txBox="true"/>
            <p:nvPr/>
          </p:nvSpPr>
          <p:spPr>
            <a:xfrm>
              <a:off x="0" y="-19050"/>
              <a:ext cx="4754880" cy="1238250"/>
            </a:xfrm>
            <a:prstGeom prst="rect">
              <a:avLst/>
            </a:prstGeom>
          </p:spPr>
          <p:txBody>
            <a:bodyPr anchor="ctr" rtlCol="false" tIns="0" lIns="0" bIns="0" rIns="0"/>
            <a:lstStyle/>
            <a:p>
              <a:pPr algn="l">
                <a:lnSpc>
                  <a:spcPts val="3120"/>
                </a:lnSpc>
              </a:pPr>
              <a:r>
                <a:rPr lang="en-US" b="true" sz="2600">
                  <a:solidFill>
                    <a:srgbClr val="1E2761"/>
                  </a:solidFill>
                  <a:latin typeface="Arial Bold"/>
                  <a:ea typeface="Arial Bold"/>
                  <a:cs typeface="Arial Bold"/>
                  <a:sym typeface="Arial Bold"/>
                </a:rPr>
                <a:t>Dashboard KPIs</a:t>
              </a:r>
            </a:p>
          </p:txBody>
        </p:sp>
      </p:grpSp>
      <p:grpSp>
        <p:nvGrpSpPr>
          <p:cNvPr name="Group 8" id="8"/>
          <p:cNvGrpSpPr/>
          <p:nvPr/>
        </p:nvGrpSpPr>
        <p:grpSpPr>
          <a:xfrm rot="0">
            <a:off x="7909560" y="2834640"/>
            <a:ext cx="3566160" cy="914400"/>
            <a:chOff x="0" y="0"/>
            <a:chExt cx="4754880" cy="1219200"/>
          </a:xfrm>
        </p:grpSpPr>
        <p:sp>
          <p:nvSpPr>
            <p:cNvPr name="Freeform 9" id="9"/>
            <p:cNvSpPr/>
            <p:nvPr/>
          </p:nvSpPr>
          <p:spPr>
            <a:xfrm flipH="false" flipV="false" rot="0">
              <a:off x="0" y="0"/>
              <a:ext cx="4754880" cy="1219200"/>
            </a:xfrm>
            <a:custGeom>
              <a:avLst/>
              <a:gdLst/>
              <a:ahLst/>
              <a:cxnLst/>
              <a:rect r="r" b="b" t="t" l="l"/>
              <a:pathLst>
                <a:path h="1219200" w="4754880">
                  <a:moveTo>
                    <a:pt x="0" y="0"/>
                  </a:moveTo>
                  <a:lnTo>
                    <a:pt x="4754880" y="0"/>
                  </a:lnTo>
                  <a:lnTo>
                    <a:pt x="4754880" y="1219200"/>
                  </a:lnTo>
                  <a:lnTo>
                    <a:pt x="0" y="1219200"/>
                  </a:lnTo>
                  <a:close/>
                </a:path>
              </a:pathLst>
            </a:custGeom>
            <a:blipFill>
              <a:blip r:embed="rId3">
                <a:alphaModFix amt="0"/>
              </a:blip>
              <a:stretch>
                <a:fillRect l="0" t="-25991" r="0" b="-25991"/>
              </a:stretch>
            </a:blipFill>
          </p:spPr>
        </p:sp>
        <p:sp>
          <p:nvSpPr>
            <p:cNvPr name="TextBox 10" id="10"/>
            <p:cNvSpPr txBox="true"/>
            <p:nvPr/>
          </p:nvSpPr>
          <p:spPr>
            <a:xfrm>
              <a:off x="0" y="-19050"/>
              <a:ext cx="4754880" cy="1238250"/>
            </a:xfrm>
            <a:prstGeom prst="rect">
              <a:avLst/>
            </a:prstGeom>
          </p:spPr>
          <p:txBody>
            <a:bodyPr anchor="ctr" rtlCol="false" tIns="0" lIns="0" bIns="0" rIns="0"/>
            <a:lstStyle/>
            <a:p>
              <a:pPr algn="l">
                <a:lnSpc>
                  <a:spcPts val="3120"/>
                </a:lnSpc>
              </a:pPr>
              <a:r>
                <a:rPr lang="en-US" b="true" sz="2600">
                  <a:solidFill>
                    <a:srgbClr val="1E2761"/>
                  </a:solidFill>
                  <a:latin typeface="Arial Bold"/>
                  <a:ea typeface="Arial Bold"/>
                  <a:cs typeface="Arial Bold"/>
                  <a:sym typeface="Arial Bold"/>
                </a:rPr>
                <a:t>Request Management</a:t>
              </a:r>
            </a:p>
          </p:txBody>
        </p:sp>
      </p:grpSp>
      <p:grpSp>
        <p:nvGrpSpPr>
          <p:cNvPr name="Group 11" id="11"/>
          <p:cNvGrpSpPr/>
          <p:nvPr/>
        </p:nvGrpSpPr>
        <p:grpSpPr>
          <a:xfrm rot="0">
            <a:off x="13578840" y="2834640"/>
            <a:ext cx="3566160" cy="914400"/>
            <a:chOff x="0" y="0"/>
            <a:chExt cx="4754880" cy="1219200"/>
          </a:xfrm>
        </p:grpSpPr>
        <p:sp>
          <p:nvSpPr>
            <p:cNvPr name="Freeform 12" id="12"/>
            <p:cNvSpPr/>
            <p:nvPr/>
          </p:nvSpPr>
          <p:spPr>
            <a:xfrm flipH="false" flipV="false" rot="0">
              <a:off x="0" y="0"/>
              <a:ext cx="4754880" cy="1219200"/>
            </a:xfrm>
            <a:custGeom>
              <a:avLst/>
              <a:gdLst/>
              <a:ahLst/>
              <a:cxnLst/>
              <a:rect r="r" b="b" t="t" l="l"/>
              <a:pathLst>
                <a:path h="1219200" w="4754880">
                  <a:moveTo>
                    <a:pt x="0" y="0"/>
                  </a:moveTo>
                  <a:lnTo>
                    <a:pt x="4754880" y="0"/>
                  </a:lnTo>
                  <a:lnTo>
                    <a:pt x="4754880" y="1219200"/>
                  </a:lnTo>
                  <a:lnTo>
                    <a:pt x="0" y="1219200"/>
                  </a:lnTo>
                  <a:close/>
                </a:path>
              </a:pathLst>
            </a:custGeom>
            <a:blipFill>
              <a:blip r:embed="rId3">
                <a:alphaModFix amt="0"/>
              </a:blip>
              <a:stretch>
                <a:fillRect l="0" t="-25991" r="0" b="-25991"/>
              </a:stretch>
            </a:blipFill>
          </p:spPr>
        </p:sp>
        <p:sp>
          <p:nvSpPr>
            <p:cNvPr name="TextBox 13" id="13"/>
            <p:cNvSpPr txBox="true"/>
            <p:nvPr/>
          </p:nvSpPr>
          <p:spPr>
            <a:xfrm>
              <a:off x="0" y="-19050"/>
              <a:ext cx="4754880" cy="1238250"/>
            </a:xfrm>
            <a:prstGeom prst="rect">
              <a:avLst/>
            </a:prstGeom>
          </p:spPr>
          <p:txBody>
            <a:bodyPr anchor="ctr" rtlCol="false" tIns="0" lIns="0" bIns="0" rIns="0"/>
            <a:lstStyle/>
            <a:p>
              <a:pPr algn="l">
                <a:lnSpc>
                  <a:spcPts val="3120"/>
                </a:lnSpc>
              </a:pPr>
              <a:r>
                <a:rPr lang="en-US" b="true" sz="2600">
                  <a:solidFill>
                    <a:srgbClr val="1E2761"/>
                  </a:solidFill>
                  <a:latin typeface="Arial Bold"/>
                  <a:ea typeface="Arial Bold"/>
                  <a:cs typeface="Arial Bold"/>
                  <a:sym typeface="Arial Bold"/>
                </a:rPr>
                <a:t>Client Notifications</a:t>
              </a:r>
            </a:p>
          </p:txBody>
        </p:sp>
      </p:grpSp>
      <p:grpSp>
        <p:nvGrpSpPr>
          <p:cNvPr name="Group 14" id="14"/>
          <p:cNvGrpSpPr/>
          <p:nvPr/>
        </p:nvGrpSpPr>
        <p:grpSpPr>
          <a:xfrm rot="0">
            <a:off x="13578840" y="5943600"/>
            <a:ext cx="3566160" cy="914400"/>
            <a:chOff x="0" y="0"/>
            <a:chExt cx="4754880" cy="1219200"/>
          </a:xfrm>
        </p:grpSpPr>
        <p:sp>
          <p:nvSpPr>
            <p:cNvPr name="Freeform 15" id="15"/>
            <p:cNvSpPr/>
            <p:nvPr/>
          </p:nvSpPr>
          <p:spPr>
            <a:xfrm flipH="false" flipV="false" rot="0">
              <a:off x="0" y="0"/>
              <a:ext cx="4754880" cy="1219200"/>
            </a:xfrm>
            <a:custGeom>
              <a:avLst/>
              <a:gdLst/>
              <a:ahLst/>
              <a:cxnLst/>
              <a:rect r="r" b="b" t="t" l="l"/>
              <a:pathLst>
                <a:path h="1219200" w="4754880">
                  <a:moveTo>
                    <a:pt x="0" y="0"/>
                  </a:moveTo>
                  <a:lnTo>
                    <a:pt x="4754880" y="0"/>
                  </a:lnTo>
                  <a:lnTo>
                    <a:pt x="4754880" y="1219200"/>
                  </a:lnTo>
                  <a:lnTo>
                    <a:pt x="0" y="1219200"/>
                  </a:lnTo>
                  <a:close/>
                </a:path>
              </a:pathLst>
            </a:custGeom>
            <a:blipFill>
              <a:blip r:embed="rId3">
                <a:alphaModFix amt="0"/>
              </a:blip>
              <a:stretch>
                <a:fillRect l="0" t="-25991" r="0" b="-25991"/>
              </a:stretch>
            </a:blipFill>
          </p:spPr>
        </p:sp>
        <p:sp>
          <p:nvSpPr>
            <p:cNvPr name="TextBox 16" id="16"/>
            <p:cNvSpPr txBox="true"/>
            <p:nvPr/>
          </p:nvSpPr>
          <p:spPr>
            <a:xfrm>
              <a:off x="0" y="-19050"/>
              <a:ext cx="4754880" cy="1238250"/>
            </a:xfrm>
            <a:prstGeom prst="rect">
              <a:avLst/>
            </a:prstGeom>
          </p:spPr>
          <p:txBody>
            <a:bodyPr anchor="ctr" rtlCol="false" tIns="0" lIns="0" bIns="0" rIns="0"/>
            <a:lstStyle/>
            <a:p>
              <a:pPr algn="l">
                <a:lnSpc>
                  <a:spcPts val="3120"/>
                </a:lnSpc>
              </a:pPr>
              <a:r>
                <a:rPr lang="en-US" b="true" sz="2600">
                  <a:solidFill>
                    <a:srgbClr val="1E2761"/>
                  </a:solidFill>
                  <a:latin typeface="Arial Bold"/>
                  <a:ea typeface="Arial Bold"/>
                  <a:cs typeface="Arial Bold"/>
                  <a:sym typeface="Arial Bold"/>
                </a:rPr>
                <a:t>Role-Based Access</a:t>
              </a:r>
            </a:p>
          </p:txBody>
        </p:sp>
      </p:grpSp>
      <p:sp>
        <p:nvSpPr>
          <p:cNvPr name="Freeform 17" id="17"/>
          <p:cNvSpPr/>
          <p:nvPr/>
        </p:nvSpPr>
        <p:spPr>
          <a:xfrm flipH="false" flipV="false" rot="0">
            <a:off x="356162" y="2046206"/>
            <a:ext cx="17726466" cy="8010147"/>
          </a:xfrm>
          <a:custGeom>
            <a:avLst/>
            <a:gdLst/>
            <a:ahLst/>
            <a:cxnLst/>
            <a:rect r="r" b="b" t="t" l="l"/>
            <a:pathLst>
              <a:path h="8010147" w="17726466">
                <a:moveTo>
                  <a:pt x="0" y="0"/>
                </a:moveTo>
                <a:lnTo>
                  <a:pt x="17726466" y="0"/>
                </a:lnTo>
                <a:lnTo>
                  <a:pt x="17726466" y="8010146"/>
                </a:lnTo>
                <a:lnTo>
                  <a:pt x="0" y="8010146"/>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0" y="548640"/>
            <a:ext cx="18288000" cy="1075953"/>
            <a:chOff x="0" y="0"/>
            <a:chExt cx="24384000" cy="1434604"/>
          </a:xfrm>
        </p:grpSpPr>
        <p:sp>
          <p:nvSpPr>
            <p:cNvPr name="Freeform 3" id="3"/>
            <p:cNvSpPr/>
            <p:nvPr/>
          </p:nvSpPr>
          <p:spPr>
            <a:xfrm flipH="false" flipV="false" rot="0">
              <a:off x="0" y="0"/>
              <a:ext cx="24384000" cy="1434604"/>
            </a:xfrm>
            <a:custGeom>
              <a:avLst/>
              <a:gdLst/>
              <a:ahLst/>
              <a:cxnLst/>
              <a:rect r="r" b="b" t="t" l="l"/>
              <a:pathLst>
                <a:path h="1434604" w="24384000">
                  <a:moveTo>
                    <a:pt x="0" y="0"/>
                  </a:moveTo>
                  <a:lnTo>
                    <a:pt x="24384000" y="0"/>
                  </a:lnTo>
                  <a:lnTo>
                    <a:pt x="24384000" y="1434604"/>
                  </a:lnTo>
                  <a:lnTo>
                    <a:pt x="0" y="1434604"/>
                  </a:lnTo>
                  <a:close/>
                </a:path>
              </a:pathLst>
            </a:custGeom>
            <a:blipFill>
              <a:blip r:embed="rId3">
                <a:alphaModFix amt="0"/>
              </a:blip>
              <a:stretch>
                <a:fillRect l="0" t="-284445" r="0" b="-277929"/>
              </a:stretch>
            </a:blipFill>
          </p:spPr>
        </p:sp>
        <p:sp>
          <p:nvSpPr>
            <p:cNvPr name="TextBox 4" id="4"/>
            <p:cNvSpPr txBox="true"/>
            <p:nvPr/>
          </p:nvSpPr>
          <p:spPr>
            <a:xfrm>
              <a:off x="0" y="-19050"/>
              <a:ext cx="24384000" cy="1453654"/>
            </a:xfrm>
            <a:prstGeom prst="rect">
              <a:avLst/>
            </a:prstGeom>
          </p:spPr>
          <p:txBody>
            <a:bodyPr anchor="ctr" rtlCol="false" tIns="0" lIns="0" bIns="0" rIns="0"/>
            <a:lstStyle/>
            <a:p>
              <a:pPr algn="ctr">
                <a:lnSpc>
                  <a:spcPts val="6239"/>
                </a:lnSpc>
              </a:pPr>
              <a:r>
                <a:rPr lang="en-US" b="true" sz="5199">
                  <a:solidFill>
                    <a:srgbClr val="FFFFFF"/>
                  </a:solidFill>
                  <a:latin typeface="Arial Bold"/>
                  <a:ea typeface="Arial Bold"/>
                  <a:cs typeface="Arial Bold"/>
                  <a:sym typeface="Arial Bold"/>
                </a:rPr>
                <a:t>Déploiement et infrastructure</a:t>
              </a:r>
            </a:p>
          </p:txBody>
        </p:sp>
      </p:grpSp>
      <p:grpSp>
        <p:nvGrpSpPr>
          <p:cNvPr name="Group 5" id="5"/>
          <p:cNvGrpSpPr/>
          <p:nvPr/>
        </p:nvGrpSpPr>
        <p:grpSpPr>
          <a:xfrm rot="0">
            <a:off x="914400" y="1645920"/>
            <a:ext cx="16459200" cy="719361"/>
            <a:chOff x="0" y="0"/>
            <a:chExt cx="21945600" cy="959148"/>
          </a:xfrm>
        </p:grpSpPr>
        <p:sp>
          <p:nvSpPr>
            <p:cNvPr name="Freeform 6" id="6"/>
            <p:cNvSpPr/>
            <p:nvPr/>
          </p:nvSpPr>
          <p:spPr>
            <a:xfrm flipH="false" flipV="false" rot="0">
              <a:off x="0" y="0"/>
              <a:ext cx="21945600" cy="959148"/>
            </a:xfrm>
            <a:custGeom>
              <a:avLst/>
              <a:gdLst/>
              <a:ahLst/>
              <a:cxnLst/>
              <a:rect r="r" b="b" t="t" l="l"/>
              <a:pathLst>
                <a:path h="959148" w="21945600">
                  <a:moveTo>
                    <a:pt x="0" y="0"/>
                  </a:moveTo>
                  <a:lnTo>
                    <a:pt x="21945600" y="0"/>
                  </a:lnTo>
                  <a:lnTo>
                    <a:pt x="21945600" y="959148"/>
                  </a:lnTo>
                  <a:lnTo>
                    <a:pt x="0" y="959148"/>
                  </a:lnTo>
                  <a:close/>
                </a:path>
              </a:pathLst>
            </a:custGeom>
            <a:blipFill>
              <a:blip r:embed="rId3">
                <a:alphaModFix amt="0"/>
              </a:blip>
              <a:stretch>
                <a:fillRect l="0" t="-407689" r="0" b="-383957"/>
              </a:stretch>
            </a:blipFill>
          </p:spPr>
        </p:sp>
        <p:sp>
          <p:nvSpPr>
            <p:cNvPr name="TextBox 7" id="7"/>
            <p:cNvSpPr txBox="true"/>
            <p:nvPr/>
          </p:nvSpPr>
          <p:spPr>
            <a:xfrm>
              <a:off x="0" y="-9525"/>
              <a:ext cx="21945600" cy="968673"/>
            </a:xfrm>
            <a:prstGeom prst="rect">
              <a:avLst/>
            </a:prstGeom>
          </p:spPr>
          <p:txBody>
            <a:bodyPr anchor="ctr" rtlCol="false" tIns="0" lIns="0" bIns="0" rIns="0"/>
            <a:lstStyle/>
            <a:p>
              <a:pPr algn="ctr">
                <a:lnSpc>
                  <a:spcPts val="2400"/>
                </a:lnSpc>
              </a:pPr>
              <a:r>
                <a:rPr lang="en-US" sz="2000" i="true">
                  <a:solidFill>
                    <a:srgbClr val="00C2D7"/>
                  </a:solidFill>
                  <a:latin typeface="Arial Italics"/>
                  <a:ea typeface="Arial Italics"/>
                  <a:cs typeface="Arial Italics"/>
                  <a:sym typeface="Arial Italics"/>
                </a:rPr>
                <a:t>Tous </a:t>
              </a:r>
              <a:r>
                <a:rPr lang="en-US" sz="2000" i="true">
                  <a:solidFill>
                    <a:srgbClr val="00C2D7"/>
                  </a:solidFill>
                  <a:latin typeface="Arial Italics"/>
                  <a:ea typeface="Arial Italics"/>
                  <a:cs typeface="Arial Italics"/>
                  <a:sym typeface="Arial Italics"/>
                </a:rPr>
                <a:t>les services communiquent via des variables d'environnement · Aucune information d'identification dans le code source</a:t>
              </a:r>
            </a:p>
            <a:p>
              <a:pPr algn="ctr">
                <a:lnSpc>
                  <a:spcPts val="2400"/>
                </a:lnSpc>
              </a:pPr>
            </a:p>
          </p:txBody>
        </p:sp>
      </p:grpSp>
      <p:sp>
        <p:nvSpPr>
          <p:cNvPr name="Freeform 8" id="8"/>
          <p:cNvSpPr/>
          <p:nvPr/>
        </p:nvSpPr>
        <p:spPr>
          <a:xfrm flipH="false" flipV="false" rot="0">
            <a:off x="449171" y="2608430"/>
            <a:ext cx="17452861" cy="6762984"/>
          </a:xfrm>
          <a:custGeom>
            <a:avLst/>
            <a:gdLst/>
            <a:ahLst/>
            <a:cxnLst/>
            <a:rect r="r" b="b" t="t" l="l"/>
            <a:pathLst>
              <a:path h="6762984" w="17452861">
                <a:moveTo>
                  <a:pt x="0" y="0"/>
                </a:moveTo>
                <a:lnTo>
                  <a:pt x="17452861" y="0"/>
                </a:lnTo>
                <a:lnTo>
                  <a:pt x="17452861" y="6762984"/>
                </a:lnTo>
                <a:lnTo>
                  <a:pt x="0" y="6762984"/>
                </a:lnTo>
                <a:lnTo>
                  <a:pt x="0" y="0"/>
                </a:lnTo>
                <a:close/>
              </a:path>
            </a:pathLst>
          </a:custGeom>
          <a:blipFill>
            <a:blip r:embed="rId4"/>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5212080" y="457200"/>
            <a:ext cx="822960" cy="822960"/>
            <a:chOff x="0" y="0"/>
            <a:chExt cx="1097280" cy="1097280"/>
          </a:xfrm>
        </p:grpSpPr>
        <p:sp>
          <p:nvSpPr>
            <p:cNvPr name="Freeform 3" id="3"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3"/>
              <a:stretch>
                <a:fillRect l="0" t="0" r="0" b="0"/>
              </a:stretch>
            </a:blipFill>
          </p:spPr>
        </p:sp>
      </p:grpSp>
      <p:grpSp>
        <p:nvGrpSpPr>
          <p:cNvPr name="Group 4" id="4"/>
          <p:cNvGrpSpPr/>
          <p:nvPr/>
        </p:nvGrpSpPr>
        <p:grpSpPr>
          <a:xfrm rot="0">
            <a:off x="6126480" y="365760"/>
            <a:ext cx="8229600" cy="1075953"/>
            <a:chOff x="0" y="0"/>
            <a:chExt cx="10972800" cy="1434604"/>
          </a:xfrm>
        </p:grpSpPr>
        <p:sp>
          <p:nvSpPr>
            <p:cNvPr name="Freeform 5" id="5"/>
            <p:cNvSpPr/>
            <p:nvPr/>
          </p:nvSpPr>
          <p:spPr>
            <a:xfrm flipH="false" flipV="false" rot="0">
              <a:off x="0" y="0"/>
              <a:ext cx="10972800" cy="1434604"/>
            </a:xfrm>
            <a:custGeom>
              <a:avLst/>
              <a:gdLst/>
              <a:ahLst/>
              <a:cxnLst/>
              <a:rect r="r" b="b" t="t" l="l"/>
              <a:pathLst>
                <a:path h="1434604" w="10972800">
                  <a:moveTo>
                    <a:pt x="0" y="0"/>
                  </a:moveTo>
                  <a:lnTo>
                    <a:pt x="10972800" y="0"/>
                  </a:lnTo>
                  <a:lnTo>
                    <a:pt x="10972800" y="1434604"/>
                  </a:lnTo>
                  <a:lnTo>
                    <a:pt x="0" y="1434604"/>
                  </a:lnTo>
                  <a:close/>
                </a:path>
              </a:pathLst>
            </a:custGeom>
            <a:blipFill>
              <a:blip r:embed="rId4">
                <a:alphaModFix amt="0"/>
              </a:blip>
              <a:stretch>
                <a:fillRect l="0" t="-102292" r="0" b="-95776"/>
              </a:stretch>
            </a:blipFill>
          </p:spPr>
        </p:sp>
        <p:sp>
          <p:nvSpPr>
            <p:cNvPr name="TextBox 6" id="6"/>
            <p:cNvSpPr txBox="true"/>
            <p:nvPr/>
          </p:nvSpPr>
          <p:spPr>
            <a:xfrm>
              <a:off x="0" y="-19050"/>
              <a:ext cx="10972800" cy="1453654"/>
            </a:xfrm>
            <a:prstGeom prst="rect">
              <a:avLst/>
            </a:prstGeom>
          </p:spPr>
          <p:txBody>
            <a:bodyPr anchor="ctr" rtlCol="false" tIns="0" lIns="0" bIns="0" rIns="0"/>
            <a:lstStyle/>
            <a:p>
              <a:pPr algn="l">
                <a:lnSpc>
                  <a:spcPts val="6239"/>
                </a:lnSpc>
              </a:pPr>
              <a:r>
                <a:rPr lang="en-US" b="true" sz="5199">
                  <a:solidFill>
                    <a:srgbClr val="FFFFFF"/>
                  </a:solidFill>
                  <a:latin typeface="Arial Bold"/>
                  <a:ea typeface="Arial Bold"/>
                  <a:cs typeface="Arial Bold"/>
                  <a:sym typeface="Arial Bold"/>
                </a:rPr>
                <a:t>Points clés d</a:t>
              </a:r>
              <a:r>
                <a:rPr lang="en-US" b="true" sz="5199">
                  <a:solidFill>
                    <a:srgbClr val="FFFFFF"/>
                  </a:solidFill>
                  <a:latin typeface="Arial Bold"/>
                  <a:ea typeface="Arial Bold"/>
                  <a:cs typeface="Arial Bold"/>
                  <a:sym typeface="Arial Bold"/>
                </a:rPr>
                <a:t>e la sécurité</a:t>
              </a:r>
            </a:p>
          </p:txBody>
        </p:sp>
      </p:grpSp>
      <p:grpSp>
        <p:nvGrpSpPr>
          <p:cNvPr name="Group 7" id="7"/>
          <p:cNvGrpSpPr/>
          <p:nvPr/>
        </p:nvGrpSpPr>
        <p:grpSpPr>
          <a:xfrm rot="0">
            <a:off x="914400" y="1426464"/>
            <a:ext cx="16459200" cy="548640"/>
            <a:chOff x="0" y="0"/>
            <a:chExt cx="21945600" cy="731520"/>
          </a:xfrm>
        </p:grpSpPr>
        <p:sp>
          <p:nvSpPr>
            <p:cNvPr name="Freeform 8" id="8"/>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4">
                <a:alphaModFix amt="0"/>
              </a:blip>
              <a:stretch>
                <a:fillRect l="0" t="-534551" r="0" b="-534551"/>
              </a:stretch>
            </a:blipFill>
          </p:spPr>
        </p:sp>
        <p:sp>
          <p:nvSpPr>
            <p:cNvPr name="TextBox 9" id="9"/>
            <p:cNvSpPr txBox="true"/>
            <p:nvPr/>
          </p:nvSpPr>
          <p:spPr>
            <a:xfrm>
              <a:off x="0" y="-19050"/>
              <a:ext cx="21945600" cy="750570"/>
            </a:xfrm>
            <a:prstGeom prst="rect">
              <a:avLst/>
            </a:prstGeom>
          </p:spPr>
          <p:txBody>
            <a:bodyPr anchor="ctr" rtlCol="false" tIns="0" lIns="0" bIns="0" rIns="0"/>
            <a:lstStyle/>
            <a:p>
              <a:pPr algn="ctr">
                <a:lnSpc>
                  <a:spcPts val="2639"/>
                </a:lnSpc>
              </a:pPr>
              <a:r>
                <a:rPr lang="en-US" sz="2199" i="true">
                  <a:solidFill>
                    <a:srgbClr val="22C7C7"/>
                  </a:solidFill>
                  <a:latin typeface="Arial Italics"/>
                  <a:ea typeface="Arial Italics"/>
                  <a:cs typeface="Arial Italics"/>
                  <a:sym typeface="Arial Italics"/>
                </a:rPr>
                <a:t>Défense en profondeur  du navigateur à la base de données</a:t>
              </a:r>
            </a:p>
          </p:txBody>
        </p:sp>
      </p:grpSp>
      <p:grpSp>
        <p:nvGrpSpPr>
          <p:cNvPr name="Group 10" id="10"/>
          <p:cNvGrpSpPr/>
          <p:nvPr/>
        </p:nvGrpSpPr>
        <p:grpSpPr>
          <a:xfrm rot="0">
            <a:off x="993143" y="2181863"/>
            <a:ext cx="7889243" cy="848363"/>
            <a:chOff x="0" y="0"/>
            <a:chExt cx="10518991" cy="1131151"/>
          </a:xfrm>
        </p:grpSpPr>
        <p:sp>
          <p:nvSpPr>
            <p:cNvPr name="Freeform 11" id="11"/>
            <p:cNvSpPr/>
            <p:nvPr/>
          </p:nvSpPr>
          <p:spPr>
            <a:xfrm flipH="false" flipV="false" rot="0">
              <a:off x="0" y="0"/>
              <a:ext cx="10519029" cy="1131189"/>
            </a:xfrm>
            <a:custGeom>
              <a:avLst/>
              <a:gdLst/>
              <a:ahLst/>
              <a:cxnLst/>
              <a:rect r="r" b="b" t="t" l="l"/>
              <a:pathLst>
                <a:path h="1131189" w="10519029">
                  <a:moveTo>
                    <a:pt x="0" y="0"/>
                  </a:moveTo>
                  <a:lnTo>
                    <a:pt x="10519029" y="0"/>
                  </a:lnTo>
                  <a:lnTo>
                    <a:pt x="10519029" y="1131189"/>
                  </a:lnTo>
                  <a:lnTo>
                    <a:pt x="0" y="1131189"/>
                  </a:lnTo>
                  <a:close/>
                </a:path>
              </a:pathLst>
            </a:custGeom>
            <a:solidFill>
              <a:srgbClr val="22C7C7"/>
            </a:solidFill>
            <a:ln w="25400" cap="sq">
              <a:solidFill>
                <a:srgbClr val="22C7C7"/>
              </a:solidFill>
              <a:prstDash val="solid"/>
              <a:miter/>
            </a:ln>
          </p:spPr>
        </p:sp>
      </p:grpSp>
      <p:grpSp>
        <p:nvGrpSpPr>
          <p:cNvPr name="Group 12" id="12"/>
          <p:cNvGrpSpPr/>
          <p:nvPr/>
        </p:nvGrpSpPr>
        <p:grpSpPr>
          <a:xfrm rot="0">
            <a:off x="1005840" y="2194560"/>
            <a:ext cx="7863840" cy="822960"/>
            <a:chOff x="0" y="0"/>
            <a:chExt cx="10485120" cy="1097280"/>
          </a:xfrm>
        </p:grpSpPr>
        <p:sp>
          <p:nvSpPr>
            <p:cNvPr name="Freeform 13" id="13"/>
            <p:cNvSpPr/>
            <p:nvPr/>
          </p:nvSpPr>
          <p:spPr>
            <a:xfrm flipH="false" flipV="false" rot="0">
              <a:off x="0" y="0"/>
              <a:ext cx="10485120" cy="1097280"/>
            </a:xfrm>
            <a:custGeom>
              <a:avLst/>
              <a:gdLst/>
              <a:ahLst/>
              <a:cxnLst/>
              <a:rect r="r" b="b" t="t" l="l"/>
              <a:pathLst>
                <a:path h="1097280" w="10485120">
                  <a:moveTo>
                    <a:pt x="0" y="0"/>
                  </a:moveTo>
                  <a:lnTo>
                    <a:pt x="10485120" y="0"/>
                  </a:lnTo>
                  <a:lnTo>
                    <a:pt x="10485120" y="1097280"/>
                  </a:lnTo>
                  <a:lnTo>
                    <a:pt x="0" y="1097280"/>
                  </a:lnTo>
                  <a:close/>
                </a:path>
              </a:pathLst>
            </a:custGeom>
            <a:blipFill>
              <a:blip r:embed="rId4">
                <a:alphaModFix amt="0"/>
              </a:blip>
              <a:stretch>
                <a:fillRect l="0" t="-136190" r="0" b="-136190"/>
              </a:stretch>
            </a:blipFill>
          </p:spPr>
        </p:sp>
        <p:sp>
          <p:nvSpPr>
            <p:cNvPr name="TextBox 14" id="14"/>
            <p:cNvSpPr txBox="true"/>
            <p:nvPr/>
          </p:nvSpPr>
          <p:spPr>
            <a:xfrm>
              <a:off x="0" y="-19050"/>
              <a:ext cx="10485120" cy="1116330"/>
            </a:xfrm>
            <a:prstGeom prst="rect">
              <a:avLst/>
            </a:prstGeom>
          </p:spPr>
          <p:txBody>
            <a:bodyPr anchor="ctr" rtlCol="false" tIns="0" lIns="0" bIns="0" rIns="0"/>
            <a:lstStyle/>
            <a:p>
              <a:pPr algn="ctr">
                <a:lnSpc>
                  <a:spcPts val="3600"/>
                </a:lnSpc>
              </a:pPr>
              <a:r>
                <a:rPr lang="en-US" b="true" sz="3000">
                  <a:solidFill>
                    <a:srgbClr val="FFFFFF"/>
                  </a:solidFill>
                  <a:latin typeface="Arial Bold"/>
                  <a:ea typeface="Arial Bold"/>
                  <a:cs typeface="Arial Bold"/>
                  <a:sym typeface="Arial Bold"/>
                </a:rPr>
                <a:t>FRONTEND</a:t>
              </a:r>
            </a:p>
          </p:txBody>
        </p:sp>
      </p:grpSp>
      <p:grpSp>
        <p:nvGrpSpPr>
          <p:cNvPr name="Group 15" id="15"/>
          <p:cNvGrpSpPr/>
          <p:nvPr/>
        </p:nvGrpSpPr>
        <p:grpSpPr>
          <a:xfrm rot="0">
            <a:off x="996315" y="3007995"/>
            <a:ext cx="7882890" cy="4672965"/>
            <a:chOff x="0" y="0"/>
            <a:chExt cx="10510520" cy="6230620"/>
          </a:xfrm>
        </p:grpSpPr>
        <p:sp>
          <p:nvSpPr>
            <p:cNvPr name="Freeform 16" id="16"/>
            <p:cNvSpPr/>
            <p:nvPr/>
          </p:nvSpPr>
          <p:spPr>
            <a:xfrm flipH="false" flipV="false" rot="0">
              <a:off x="0" y="0"/>
              <a:ext cx="10510520" cy="6230620"/>
            </a:xfrm>
            <a:custGeom>
              <a:avLst/>
              <a:gdLst/>
              <a:ahLst/>
              <a:cxnLst/>
              <a:rect r="r" b="b" t="t" l="l"/>
              <a:pathLst>
                <a:path h="6230620" w="10510520">
                  <a:moveTo>
                    <a:pt x="0" y="0"/>
                  </a:moveTo>
                  <a:lnTo>
                    <a:pt x="10510520" y="0"/>
                  </a:lnTo>
                  <a:lnTo>
                    <a:pt x="10510520" y="6230620"/>
                  </a:lnTo>
                  <a:lnTo>
                    <a:pt x="0" y="6230620"/>
                  </a:lnTo>
                  <a:close/>
                </a:path>
              </a:pathLst>
            </a:custGeom>
            <a:blipFill>
              <a:blip r:embed="rId5"/>
              <a:stretch>
                <a:fillRect l="-4171" t="0" r="-4171" b="0"/>
              </a:stretch>
            </a:blipFill>
            <a:ln w="19050" cap="sq">
              <a:solidFill>
                <a:srgbClr val="22C7C7"/>
              </a:solidFill>
              <a:prstDash val="solid"/>
              <a:miter/>
            </a:ln>
          </p:spPr>
        </p:sp>
      </p:grpSp>
      <p:grpSp>
        <p:nvGrpSpPr>
          <p:cNvPr name="Group 17" id="17"/>
          <p:cNvGrpSpPr/>
          <p:nvPr/>
        </p:nvGrpSpPr>
        <p:grpSpPr>
          <a:xfrm rot="0">
            <a:off x="9405623" y="2181863"/>
            <a:ext cx="7889243" cy="848363"/>
            <a:chOff x="0" y="0"/>
            <a:chExt cx="10518991" cy="1131151"/>
          </a:xfrm>
        </p:grpSpPr>
        <p:sp>
          <p:nvSpPr>
            <p:cNvPr name="Freeform 18" id="18"/>
            <p:cNvSpPr/>
            <p:nvPr/>
          </p:nvSpPr>
          <p:spPr>
            <a:xfrm flipH="false" flipV="false" rot="0">
              <a:off x="0" y="0"/>
              <a:ext cx="10519029" cy="1131189"/>
            </a:xfrm>
            <a:custGeom>
              <a:avLst/>
              <a:gdLst/>
              <a:ahLst/>
              <a:cxnLst/>
              <a:rect r="r" b="b" t="t" l="l"/>
              <a:pathLst>
                <a:path h="1131189" w="10519029">
                  <a:moveTo>
                    <a:pt x="0" y="0"/>
                  </a:moveTo>
                  <a:lnTo>
                    <a:pt x="10519029" y="0"/>
                  </a:lnTo>
                  <a:lnTo>
                    <a:pt x="10519029" y="1131189"/>
                  </a:lnTo>
                  <a:lnTo>
                    <a:pt x="0" y="1131189"/>
                  </a:lnTo>
                  <a:close/>
                </a:path>
              </a:pathLst>
            </a:custGeom>
            <a:solidFill>
              <a:srgbClr val="A855F7"/>
            </a:solidFill>
            <a:ln w="25400" cap="sq">
              <a:solidFill>
                <a:srgbClr val="A855F7"/>
              </a:solidFill>
              <a:prstDash val="solid"/>
              <a:miter/>
            </a:ln>
          </p:spPr>
        </p:sp>
      </p:grpSp>
      <p:grpSp>
        <p:nvGrpSpPr>
          <p:cNvPr name="Group 19" id="19"/>
          <p:cNvGrpSpPr/>
          <p:nvPr/>
        </p:nvGrpSpPr>
        <p:grpSpPr>
          <a:xfrm rot="0">
            <a:off x="9418320" y="2194560"/>
            <a:ext cx="7863840" cy="822960"/>
            <a:chOff x="0" y="0"/>
            <a:chExt cx="10485120" cy="1097280"/>
          </a:xfrm>
        </p:grpSpPr>
        <p:sp>
          <p:nvSpPr>
            <p:cNvPr name="Freeform 20" id="20"/>
            <p:cNvSpPr/>
            <p:nvPr/>
          </p:nvSpPr>
          <p:spPr>
            <a:xfrm flipH="false" flipV="false" rot="0">
              <a:off x="0" y="0"/>
              <a:ext cx="10485120" cy="1097280"/>
            </a:xfrm>
            <a:custGeom>
              <a:avLst/>
              <a:gdLst/>
              <a:ahLst/>
              <a:cxnLst/>
              <a:rect r="r" b="b" t="t" l="l"/>
              <a:pathLst>
                <a:path h="1097280" w="10485120">
                  <a:moveTo>
                    <a:pt x="0" y="0"/>
                  </a:moveTo>
                  <a:lnTo>
                    <a:pt x="10485120" y="0"/>
                  </a:lnTo>
                  <a:lnTo>
                    <a:pt x="10485120" y="1097280"/>
                  </a:lnTo>
                  <a:lnTo>
                    <a:pt x="0" y="1097280"/>
                  </a:lnTo>
                  <a:close/>
                </a:path>
              </a:pathLst>
            </a:custGeom>
            <a:blipFill>
              <a:blip r:embed="rId4">
                <a:alphaModFix amt="0"/>
              </a:blip>
              <a:stretch>
                <a:fillRect l="0" t="-136190" r="0" b="-136190"/>
              </a:stretch>
            </a:blipFill>
          </p:spPr>
        </p:sp>
        <p:sp>
          <p:nvSpPr>
            <p:cNvPr name="TextBox 21" id="21"/>
            <p:cNvSpPr txBox="true"/>
            <p:nvPr/>
          </p:nvSpPr>
          <p:spPr>
            <a:xfrm>
              <a:off x="0" y="-19050"/>
              <a:ext cx="10485120" cy="1116330"/>
            </a:xfrm>
            <a:prstGeom prst="rect">
              <a:avLst/>
            </a:prstGeom>
          </p:spPr>
          <p:txBody>
            <a:bodyPr anchor="ctr" rtlCol="false" tIns="0" lIns="0" bIns="0" rIns="0"/>
            <a:lstStyle/>
            <a:p>
              <a:pPr algn="ctr">
                <a:lnSpc>
                  <a:spcPts val="3600"/>
                </a:lnSpc>
              </a:pPr>
              <a:r>
                <a:rPr lang="en-US" b="true" sz="3000">
                  <a:solidFill>
                    <a:srgbClr val="FFFFFF"/>
                  </a:solidFill>
                  <a:latin typeface="Arial Bold"/>
                  <a:ea typeface="Arial Bold"/>
                  <a:cs typeface="Arial Bold"/>
                  <a:sym typeface="Arial Bold"/>
                </a:rPr>
                <a:t>BACKEND</a:t>
              </a:r>
            </a:p>
          </p:txBody>
        </p:sp>
      </p:grpSp>
      <p:grpSp>
        <p:nvGrpSpPr>
          <p:cNvPr name="Group 22" id="22"/>
          <p:cNvGrpSpPr/>
          <p:nvPr/>
        </p:nvGrpSpPr>
        <p:grpSpPr>
          <a:xfrm rot="0">
            <a:off x="9408795" y="3007995"/>
            <a:ext cx="7882890" cy="4672965"/>
            <a:chOff x="0" y="0"/>
            <a:chExt cx="10510520" cy="6230620"/>
          </a:xfrm>
        </p:grpSpPr>
        <p:sp>
          <p:nvSpPr>
            <p:cNvPr name="Freeform 23" id="23"/>
            <p:cNvSpPr/>
            <p:nvPr/>
          </p:nvSpPr>
          <p:spPr>
            <a:xfrm flipH="false" flipV="false" rot="0">
              <a:off x="0" y="0"/>
              <a:ext cx="10510520" cy="6230620"/>
            </a:xfrm>
            <a:custGeom>
              <a:avLst/>
              <a:gdLst/>
              <a:ahLst/>
              <a:cxnLst/>
              <a:rect r="r" b="b" t="t" l="l"/>
              <a:pathLst>
                <a:path h="6230620" w="10510520">
                  <a:moveTo>
                    <a:pt x="0" y="0"/>
                  </a:moveTo>
                  <a:lnTo>
                    <a:pt x="10510520" y="0"/>
                  </a:lnTo>
                  <a:lnTo>
                    <a:pt x="10510520" y="6230620"/>
                  </a:lnTo>
                  <a:lnTo>
                    <a:pt x="0" y="6230620"/>
                  </a:lnTo>
                  <a:close/>
                </a:path>
              </a:pathLst>
            </a:custGeom>
            <a:blipFill>
              <a:blip r:embed="rId6"/>
              <a:stretch>
                <a:fillRect l="-4171" t="0" r="-4171" b="0"/>
              </a:stretch>
            </a:blipFill>
            <a:ln w="19050" cap="sq">
              <a:solidFill>
                <a:srgbClr val="A855F7"/>
              </a:solidFill>
              <a:prstDash val="solid"/>
              <a:miter/>
            </a:ln>
          </p:spPr>
        </p:sp>
      </p:grpSp>
      <p:grpSp>
        <p:nvGrpSpPr>
          <p:cNvPr name="Group 24" id="24"/>
          <p:cNvGrpSpPr/>
          <p:nvPr/>
        </p:nvGrpSpPr>
        <p:grpSpPr>
          <a:xfrm rot="0">
            <a:off x="914400" y="7680960"/>
            <a:ext cx="16459200" cy="548640"/>
            <a:chOff x="0" y="0"/>
            <a:chExt cx="21945600" cy="731520"/>
          </a:xfrm>
        </p:grpSpPr>
        <p:sp>
          <p:nvSpPr>
            <p:cNvPr name="Freeform 25" id="25"/>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4">
                <a:alphaModFix amt="0"/>
              </a:blip>
              <a:stretch>
                <a:fillRect l="0" t="-534551" r="0" b="-534551"/>
              </a:stretch>
            </a:blipFill>
          </p:spPr>
        </p:sp>
        <p:sp>
          <p:nvSpPr>
            <p:cNvPr name="TextBox 26" id="26"/>
            <p:cNvSpPr txBox="true"/>
            <p:nvPr/>
          </p:nvSpPr>
          <p:spPr>
            <a:xfrm>
              <a:off x="0" y="-9525"/>
              <a:ext cx="21945600" cy="741045"/>
            </a:xfrm>
            <a:prstGeom prst="rect">
              <a:avLst/>
            </a:prstGeom>
          </p:spPr>
          <p:txBody>
            <a:bodyPr anchor="ctr" rtlCol="false" tIns="0" lIns="0" bIns="0" rIns="0"/>
            <a:lstStyle/>
            <a:p>
              <a:pPr algn="ctr">
                <a:lnSpc>
                  <a:spcPts val="2879"/>
                </a:lnSpc>
              </a:pPr>
              <a:r>
                <a:rPr lang="en-US" b="true" sz="2400" i="true">
                  <a:solidFill>
                    <a:srgbClr val="22C7C7"/>
                  </a:solidFill>
                  <a:latin typeface="Arial Bold Italics"/>
                  <a:ea typeface="Arial Bold Italics"/>
                  <a:cs typeface="Arial Bold Italics"/>
                  <a:sym typeface="Arial Bold Italics"/>
                </a:rPr>
                <a:t>Tests</a:t>
              </a:r>
              <a:r>
                <a:rPr lang="en-US" b="true" sz="2400" i="true">
                  <a:solidFill>
                    <a:srgbClr val="22C7C7"/>
                  </a:solidFill>
                  <a:latin typeface="Arial Bold Italics"/>
                  <a:ea typeface="Arial Bold Italics"/>
                  <a:cs typeface="Arial Bold Italics"/>
                  <a:sym typeface="Arial Bold Italics"/>
                </a:rPr>
                <a:t> d'intrusion manuels  ·  Toutes les attaques bloquées</a:t>
              </a:r>
            </a:p>
          </p:txBody>
        </p:sp>
      </p:grpSp>
      <p:grpSp>
        <p:nvGrpSpPr>
          <p:cNvPr name="Group 27" id="27"/>
          <p:cNvGrpSpPr/>
          <p:nvPr/>
        </p:nvGrpSpPr>
        <p:grpSpPr>
          <a:xfrm rot="0">
            <a:off x="1907543" y="8399783"/>
            <a:ext cx="6974843" cy="1397003"/>
            <a:chOff x="0" y="0"/>
            <a:chExt cx="9299791" cy="1862671"/>
          </a:xfrm>
        </p:grpSpPr>
        <p:sp>
          <p:nvSpPr>
            <p:cNvPr name="Freeform 28" id="28"/>
            <p:cNvSpPr/>
            <p:nvPr/>
          </p:nvSpPr>
          <p:spPr>
            <a:xfrm flipH="false" flipV="false" rot="0">
              <a:off x="0" y="0"/>
              <a:ext cx="9299829" cy="1862709"/>
            </a:xfrm>
            <a:custGeom>
              <a:avLst/>
              <a:gdLst/>
              <a:ahLst/>
              <a:cxnLst/>
              <a:rect r="r" b="b" t="t" l="l"/>
              <a:pathLst>
                <a:path h="1862709" w="9299829">
                  <a:moveTo>
                    <a:pt x="0" y="248412"/>
                  </a:moveTo>
                  <a:cubicBezTo>
                    <a:pt x="0" y="111252"/>
                    <a:pt x="111252" y="0"/>
                    <a:pt x="248412" y="0"/>
                  </a:cubicBezTo>
                  <a:lnTo>
                    <a:pt x="9051417" y="0"/>
                  </a:lnTo>
                  <a:cubicBezTo>
                    <a:pt x="9188577" y="0"/>
                    <a:pt x="9299829" y="111252"/>
                    <a:pt x="9299829" y="248412"/>
                  </a:cubicBezTo>
                  <a:lnTo>
                    <a:pt x="9299829" y="1614297"/>
                  </a:lnTo>
                  <a:cubicBezTo>
                    <a:pt x="9299829" y="1751457"/>
                    <a:pt x="9188577" y="1862709"/>
                    <a:pt x="9051417" y="1862709"/>
                  </a:cubicBezTo>
                  <a:lnTo>
                    <a:pt x="248412" y="1862709"/>
                  </a:lnTo>
                  <a:cubicBezTo>
                    <a:pt x="111252" y="1862709"/>
                    <a:pt x="0" y="1751457"/>
                    <a:pt x="0" y="1614297"/>
                  </a:cubicBezTo>
                  <a:close/>
                </a:path>
              </a:pathLst>
            </a:custGeom>
            <a:solidFill>
              <a:srgbClr val="10B981"/>
            </a:solidFill>
            <a:ln w="25400" cap="sq">
              <a:solidFill>
                <a:srgbClr val="10B981"/>
              </a:solidFill>
              <a:prstDash val="solid"/>
              <a:miter/>
            </a:ln>
          </p:spPr>
        </p:sp>
      </p:grpSp>
      <p:grpSp>
        <p:nvGrpSpPr>
          <p:cNvPr name="Group 29" id="29"/>
          <p:cNvGrpSpPr/>
          <p:nvPr/>
        </p:nvGrpSpPr>
        <p:grpSpPr>
          <a:xfrm rot="0">
            <a:off x="2286000" y="8741664"/>
            <a:ext cx="731520" cy="731520"/>
            <a:chOff x="0" y="0"/>
            <a:chExt cx="975360" cy="975360"/>
          </a:xfrm>
        </p:grpSpPr>
        <p:sp>
          <p:nvSpPr>
            <p:cNvPr name="Freeform 30" id="30"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7"/>
              <a:stretch>
                <a:fillRect l="0" t="0" r="0" b="0"/>
              </a:stretch>
            </a:blipFill>
          </p:spPr>
        </p:sp>
      </p:grpSp>
      <p:grpSp>
        <p:nvGrpSpPr>
          <p:cNvPr name="Group 31" id="31"/>
          <p:cNvGrpSpPr/>
          <p:nvPr/>
        </p:nvGrpSpPr>
        <p:grpSpPr>
          <a:xfrm rot="0">
            <a:off x="3200400" y="8503920"/>
            <a:ext cx="5394960" cy="640080"/>
            <a:chOff x="0" y="0"/>
            <a:chExt cx="7193280" cy="853440"/>
          </a:xfrm>
        </p:grpSpPr>
        <p:sp>
          <p:nvSpPr>
            <p:cNvPr name="Freeform 32" id="32"/>
            <p:cNvSpPr/>
            <p:nvPr/>
          </p:nvSpPr>
          <p:spPr>
            <a:xfrm flipH="false" flipV="false" rot="0">
              <a:off x="0" y="0"/>
              <a:ext cx="7193280" cy="853440"/>
            </a:xfrm>
            <a:custGeom>
              <a:avLst/>
              <a:gdLst/>
              <a:ahLst/>
              <a:cxnLst/>
              <a:rect r="r" b="b" t="t" l="l"/>
              <a:pathLst>
                <a:path h="853440" w="7193280">
                  <a:moveTo>
                    <a:pt x="0" y="0"/>
                  </a:moveTo>
                  <a:lnTo>
                    <a:pt x="7193280" y="0"/>
                  </a:lnTo>
                  <a:lnTo>
                    <a:pt x="7193280" y="853440"/>
                  </a:lnTo>
                  <a:lnTo>
                    <a:pt x="0" y="853440"/>
                  </a:lnTo>
                  <a:close/>
                </a:path>
              </a:pathLst>
            </a:custGeom>
            <a:blipFill>
              <a:blip r:embed="rId4">
                <a:alphaModFix amt="0"/>
              </a:blip>
              <a:stretch>
                <a:fillRect l="0" t="-114231" r="0" b="-114231"/>
              </a:stretch>
            </a:blipFill>
          </p:spPr>
        </p:sp>
        <p:sp>
          <p:nvSpPr>
            <p:cNvPr name="TextBox 33" id="33"/>
            <p:cNvSpPr txBox="true"/>
            <p:nvPr/>
          </p:nvSpPr>
          <p:spPr>
            <a:xfrm>
              <a:off x="0" y="-19050"/>
              <a:ext cx="7193280" cy="872490"/>
            </a:xfrm>
            <a:prstGeom prst="rect">
              <a:avLst/>
            </a:prstGeom>
          </p:spPr>
          <p:txBody>
            <a:bodyPr anchor="ctr" rtlCol="false" tIns="0" lIns="0" bIns="0" rIns="0"/>
            <a:lstStyle/>
            <a:p>
              <a:pPr algn="l">
                <a:lnSpc>
                  <a:spcPts val="3359"/>
                </a:lnSpc>
              </a:pPr>
              <a:r>
                <a:rPr lang="en-US" b="true" sz="2799">
                  <a:solidFill>
                    <a:srgbClr val="FFFFFF"/>
                  </a:solidFill>
                  <a:latin typeface="Arial Bold"/>
                  <a:ea typeface="Arial Bold"/>
                  <a:cs typeface="Arial Bold"/>
                  <a:sym typeface="Arial Bold"/>
                </a:rPr>
                <a:t>Attaque </a:t>
              </a:r>
              <a:r>
                <a:rPr lang="en-US" b="true" sz="2799">
                  <a:solidFill>
                    <a:srgbClr val="FFFFFF"/>
                  </a:solidFill>
                  <a:latin typeface="Arial Bold"/>
                  <a:ea typeface="Arial Bold"/>
                  <a:cs typeface="Arial Bold"/>
                  <a:sym typeface="Arial Bold"/>
                </a:rPr>
                <a:t>XSS</a:t>
              </a:r>
            </a:p>
          </p:txBody>
        </p:sp>
      </p:grpSp>
      <p:grpSp>
        <p:nvGrpSpPr>
          <p:cNvPr name="Group 34" id="34"/>
          <p:cNvGrpSpPr/>
          <p:nvPr/>
        </p:nvGrpSpPr>
        <p:grpSpPr>
          <a:xfrm rot="0">
            <a:off x="3200400" y="9107424"/>
            <a:ext cx="5394960" cy="548640"/>
            <a:chOff x="0" y="0"/>
            <a:chExt cx="7193280" cy="731520"/>
          </a:xfrm>
        </p:grpSpPr>
        <p:sp>
          <p:nvSpPr>
            <p:cNvPr name="Freeform 35" id="35"/>
            <p:cNvSpPr/>
            <p:nvPr/>
          </p:nvSpPr>
          <p:spPr>
            <a:xfrm flipH="false" flipV="false" rot="0">
              <a:off x="0" y="0"/>
              <a:ext cx="7193280" cy="731520"/>
            </a:xfrm>
            <a:custGeom>
              <a:avLst/>
              <a:gdLst/>
              <a:ahLst/>
              <a:cxnLst/>
              <a:rect r="r" b="b" t="t" l="l"/>
              <a:pathLst>
                <a:path h="731520" w="7193280">
                  <a:moveTo>
                    <a:pt x="0" y="0"/>
                  </a:moveTo>
                  <a:lnTo>
                    <a:pt x="7193280" y="0"/>
                  </a:lnTo>
                  <a:lnTo>
                    <a:pt x="7193280" y="731520"/>
                  </a:lnTo>
                  <a:lnTo>
                    <a:pt x="0" y="731520"/>
                  </a:lnTo>
                  <a:close/>
                </a:path>
              </a:pathLst>
            </a:custGeom>
            <a:blipFill>
              <a:blip r:embed="rId4">
                <a:alphaModFix amt="0"/>
              </a:blip>
              <a:stretch>
                <a:fillRect l="0" t="-141602" r="0" b="-141602"/>
              </a:stretch>
            </a:blipFill>
          </p:spPr>
        </p:sp>
        <p:sp>
          <p:nvSpPr>
            <p:cNvPr name="TextBox 36" id="36"/>
            <p:cNvSpPr txBox="true"/>
            <p:nvPr/>
          </p:nvSpPr>
          <p:spPr>
            <a:xfrm>
              <a:off x="0" y="-9525"/>
              <a:ext cx="7193280" cy="741045"/>
            </a:xfrm>
            <a:prstGeom prst="rect">
              <a:avLst/>
            </a:prstGeom>
          </p:spPr>
          <p:txBody>
            <a:bodyPr anchor="ctr" rtlCol="false" tIns="0" lIns="0" bIns="0" rIns="0"/>
            <a:lstStyle/>
            <a:p>
              <a:pPr algn="l">
                <a:lnSpc>
                  <a:spcPts val="2400"/>
                </a:lnSpc>
              </a:pPr>
              <a:r>
                <a:rPr lang="en-US" sz="2000" i="true">
                  <a:solidFill>
                    <a:srgbClr val="FFFFFF"/>
                  </a:solidFill>
                  <a:latin typeface="Arial Italics"/>
                  <a:ea typeface="Arial Italics"/>
                  <a:cs typeface="Arial Italics"/>
                  <a:sym typeface="Arial Italics"/>
                </a:rPr>
                <a:t>React + DOMPurify </a:t>
              </a:r>
            </a:p>
          </p:txBody>
        </p:sp>
      </p:grpSp>
      <p:grpSp>
        <p:nvGrpSpPr>
          <p:cNvPr name="Group 37" id="37"/>
          <p:cNvGrpSpPr/>
          <p:nvPr/>
        </p:nvGrpSpPr>
        <p:grpSpPr>
          <a:xfrm rot="0">
            <a:off x="9405623" y="8399783"/>
            <a:ext cx="6974843" cy="1397003"/>
            <a:chOff x="0" y="0"/>
            <a:chExt cx="9299791" cy="1862671"/>
          </a:xfrm>
        </p:grpSpPr>
        <p:sp>
          <p:nvSpPr>
            <p:cNvPr name="Freeform 38" id="38"/>
            <p:cNvSpPr/>
            <p:nvPr/>
          </p:nvSpPr>
          <p:spPr>
            <a:xfrm flipH="false" flipV="false" rot="0">
              <a:off x="0" y="0"/>
              <a:ext cx="9299829" cy="1862709"/>
            </a:xfrm>
            <a:custGeom>
              <a:avLst/>
              <a:gdLst/>
              <a:ahLst/>
              <a:cxnLst/>
              <a:rect r="r" b="b" t="t" l="l"/>
              <a:pathLst>
                <a:path h="1862709" w="9299829">
                  <a:moveTo>
                    <a:pt x="0" y="248412"/>
                  </a:moveTo>
                  <a:cubicBezTo>
                    <a:pt x="0" y="111252"/>
                    <a:pt x="111252" y="0"/>
                    <a:pt x="248412" y="0"/>
                  </a:cubicBezTo>
                  <a:lnTo>
                    <a:pt x="9051417" y="0"/>
                  </a:lnTo>
                  <a:cubicBezTo>
                    <a:pt x="9188577" y="0"/>
                    <a:pt x="9299829" y="111252"/>
                    <a:pt x="9299829" y="248412"/>
                  </a:cubicBezTo>
                  <a:lnTo>
                    <a:pt x="9299829" y="1614297"/>
                  </a:lnTo>
                  <a:cubicBezTo>
                    <a:pt x="9299829" y="1751457"/>
                    <a:pt x="9188577" y="1862709"/>
                    <a:pt x="9051417" y="1862709"/>
                  </a:cubicBezTo>
                  <a:lnTo>
                    <a:pt x="248412" y="1862709"/>
                  </a:lnTo>
                  <a:cubicBezTo>
                    <a:pt x="111252" y="1862709"/>
                    <a:pt x="0" y="1751457"/>
                    <a:pt x="0" y="1614297"/>
                  </a:cubicBezTo>
                  <a:close/>
                </a:path>
              </a:pathLst>
            </a:custGeom>
            <a:solidFill>
              <a:srgbClr val="10B981"/>
            </a:solidFill>
            <a:ln w="25400" cap="sq">
              <a:solidFill>
                <a:srgbClr val="10B981"/>
              </a:solidFill>
              <a:prstDash val="solid"/>
              <a:miter/>
            </a:ln>
          </p:spPr>
        </p:sp>
      </p:grpSp>
      <p:grpSp>
        <p:nvGrpSpPr>
          <p:cNvPr name="Group 39" id="39"/>
          <p:cNvGrpSpPr/>
          <p:nvPr/>
        </p:nvGrpSpPr>
        <p:grpSpPr>
          <a:xfrm rot="0">
            <a:off x="9784080" y="8741664"/>
            <a:ext cx="731520" cy="731520"/>
            <a:chOff x="0" y="0"/>
            <a:chExt cx="975360" cy="975360"/>
          </a:xfrm>
        </p:grpSpPr>
        <p:sp>
          <p:nvSpPr>
            <p:cNvPr name="Freeform 40" id="40"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7"/>
              <a:stretch>
                <a:fillRect l="0" t="0" r="0" b="0"/>
              </a:stretch>
            </a:blipFill>
          </p:spPr>
        </p:sp>
      </p:grpSp>
      <p:grpSp>
        <p:nvGrpSpPr>
          <p:cNvPr name="Group 41" id="41"/>
          <p:cNvGrpSpPr/>
          <p:nvPr/>
        </p:nvGrpSpPr>
        <p:grpSpPr>
          <a:xfrm rot="0">
            <a:off x="10698480" y="8503920"/>
            <a:ext cx="5394960" cy="640080"/>
            <a:chOff x="0" y="0"/>
            <a:chExt cx="7193280" cy="853440"/>
          </a:xfrm>
        </p:grpSpPr>
        <p:sp>
          <p:nvSpPr>
            <p:cNvPr name="Freeform 42" id="42"/>
            <p:cNvSpPr/>
            <p:nvPr/>
          </p:nvSpPr>
          <p:spPr>
            <a:xfrm flipH="false" flipV="false" rot="0">
              <a:off x="0" y="0"/>
              <a:ext cx="7193280" cy="853440"/>
            </a:xfrm>
            <a:custGeom>
              <a:avLst/>
              <a:gdLst/>
              <a:ahLst/>
              <a:cxnLst/>
              <a:rect r="r" b="b" t="t" l="l"/>
              <a:pathLst>
                <a:path h="853440" w="7193280">
                  <a:moveTo>
                    <a:pt x="0" y="0"/>
                  </a:moveTo>
                  <a:lnTo>
                    <a:pt x="7193280" y="0"/>
                  </a:lnTo>
                  <a:lnTo>
                    <a:pt x="7193280" y="853440"/>
                  </a:lnTo>
                  <a:lnTo>
                    <a:pt x="0" y="853440"/>
                  </a:lnTo>
                  <a:close/>
                </a:path>
              </a:pathLst>
            </a:custGeom>
            <a:blipFill>
              <a:blip r:embed="rId4">
                <a:alphaModFix amt="0"/>
              </a:blip>
              <a:stretch>
                <a:fillRect l="0" t="-114231" r="0" b="-114231"/>
              </a:stretch>
            </a:blipFill>
          </p:spPr>
        </p:sp>
        <p:sp>
          <p:nvSpPr>
            <p:cNvPr name="TextBox 43" id="43"/>
            <p:cNvSpPr txBox="true"/>
            <p:nvPr/>
          </p:nvSpPr>
          <p:spPr>
            <a:xfrm>
              <a:off x="0" y="-19050"/>
              <a:ext cx="7193280" cy="872490"/>
            </a:xfrm>
            <a:prstGeom prst="rect">
              <a:avLst/>
            </a:prstGeom>
          </p:spPr>
          <p:txBody>
            <a:bodyPr anchor="ctr" rtlCol="false" tIns="0" lIns="0" bIns="0" rIns="0"/>
            <a:lstStyle/>
            <a:p>
              <a:pPr algn="l">
                <a:lnSpc>
                  <a:spcPts val="3359"/>
                </a:lnSpc>
              </a:pPr>
              <a:r>
                <a:rPr lang="en-US" b="true" sz="2799">
                  <a:solidFill>
                    <a:srgbClr val="FFFFFF"/>
                  </a:solidFill>
                  <a:latin typeface="Arial Bold"/>
                  <a:ea typeface="Arial Bold"/>
                  <a:cs typeface="Arial Bold"/>
                  <a:sym typeface="Arial Bold"/>
                </a:rPr>
                <a:t> Injection SQL</a:t>
              </a:r>
            </a:p>
          </p:txBody>
        </p:sp>
      </p:grpSp>
      <p:grpSp>
        <p:nvGrpSpPr>
          <p:cNvPr name="Group 44" id="44"/>
          <p:cNvGrpSpPr/>
          <p:nvPr/>
        </p:nvGrpSpPr>
        <p:grpSpPr>
          <a:xfrm rot="0">
            <a:off x="10698480" y="9107424"/>
            <a:ext cx="5394960" cy="548640"/>
            <a:chOff x="0" y="0"/>
            <a:chExt cx="7193280" cy="731520"/>
          </a:xfrm>
        </p:grpSpPr>
        <p:sp>
          <p:nvSpPr>
            <p:cNvPr name="Freeform 45" id="45"/>
            <p:cNvSpPr/>
            <p:nvPr/>
          </p:nvSpPr>
          <p:spPr>
            <a:xfrm flipH="false" flipV="false" rot="0">
              <a:off x="0" y="0"/>
              <a:ext cx="7193280" cy="731520"/>
            </a:xfrm>
            <a:custGeom>
              <a:avLst/>
              <a:gdLst/>
              <a:ahLst/>
              <a:cxnLst/>
              <a:rect r="r" b="b" t="t" l="l"/>
              <a:pathLst>
                <a:path h="731520" w="7193280">
                  <a:moveTo>
                    <a:pt x="0" y="0"/>
                  </a:moveTo>
                  <a:lnTo>
                    <a:pt x="7193280" y="0"/>
                  </a:lnTo>
                  <a:lnTo>
                    <a:pt x="7193280" y="731520"/>
                  </a:lnTo>
                  <a:lnTo>
                    <a:pt x="0" y="731520"/>
                  </a:lnTo>
                  <a:close/>
                </a:path>
              </a:pathLst>
            </a:custGeom>
            <a:blipFill>
              <a:blip r:embed="rId4">
                <a:alphaModFix amt="0"/>
              </a:blip>
              <a:stretch>
                <a:fillRect l="0" t="-141602" r="0" b="-141602"/>
              </a:stretch>
            </a:blipFill>
          </p:spPr>
        </p:sp>
        <p:sp>
          <p:nvSpPr>
            <p:cNvPr name="TextBox 46" id="46"/>
            <p:cNvSpPr txBox="true"/>
            <p:nvPr/>
          </p:nvSpPr>
          <p:spPr>
            <a:xfrm>
              <a:off x="0" y="-9525"/>
              <a:ext cx="7193280" cy="741045"/>
            </a:xfrm>
            <a:prstGeom prst="rect">
              <a:avLst/>
            </a:prstGeom>
          </p:spPr>
          <p:txBody>
            <a:bodyPr anchor="ctr" rtlCol="false" tIns="0" lIns="0" bIns="0" rIns="0"/>
            <a:lstStyle/>
            <a:p>
              <a:pPr algn="l">
                <a:lnSpc>
                  <a:spcPts val="2400"/>
                </a:lnSpc>
              </a:pPr>
              <a:r>
                <a:rPr lang="en-US" sz="2000" i="true">
                  <a:solidFill>
                    <a:srgbClr val="FFFFFF"/>
                  </a:solidFill>
                  <a:latin typeface="Arial Italics"/>
                  <a:ea typeface="Arial Italics"/>
                  <a:cs typeface="Arial Italics"/>
                  <a:sym typeface="Arial Italics"/>
                </a:rPr>
                <a:t>Django ORM</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0" y="205740"/>
            <a:ext cx="18288000" cy="9875520"/>
          </a:xfrm>
          <a:custGeom>
            <a:avLst/>
            <a:gdLst/>
            <a:ahLst/>
            <a:cxnLst/>
            <a:rect r="r" b="b" t="t" l="l"/>
            <a:pathLst>
              <a:path h="9875520" w="18288000">
                <a:moveTo>
                  <a:pt x="0" y="0"/>
                </a:moveTo>
                <a:lnTo>
                  <a:pt x="18288000" y="0"/>
                </a:lnTo>
                <a:lnTo>
                  <a:pt x="18288000" y="9875520"/>
                </a:lnTo>
                <a:lnTo>
                  <a:pt x="0" y="9875520"/>
                </a:lnTo>
                <a:lnTo>
                  <a:pt x="0" y="0"/>
                </a:lnTo>
                <a:close/>
              </a:path>
            </a:pathLst>
          </a:custGeom>
          <a:blipFill>
            <a:blip r:embed="rId3"/>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215992" y="5715"/>
            <a:ext cx="18072008" cy="10178546"/>
          </a:xfrm>
          <a:custGeom>
            <a:avLst/>
            <a:gdLst/>
            <a:ahLst/>
            <a:cxnLst/>
            <a:rect r="r" b="b" t="t" l="l"/>
            <a:pathLst>
              <a:path h="10178546" w="18072008">
                <a:moveTo>
                  <a:pt x="0" y="0"/>
                </a:moveTo>
                <a:lnTo>
                  <a:pt x="18072008" y="0"/>
                </a:lnTo>
                <a:lnTo>
                  <a:pt x="18072008" y="10178546"/>
                </a:lnTo>
                <a:lnTo>
                  <a:pt x="0" y="10178546"/>
                </a:lnTo>
                <a:lnTo>
                  <a:pt x="0" y="0"/>
                </a:lnTo>
                <a:close/>
              </a:path>
            </a:pathLst>
          </a:custGeom>
          <a:blipFill>
            <a:blip r:embed="rId3"/>
            <a:stretch>
              <a:fillRect l="-239"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3383280" y="365036"/>
            <a:ext cx="822255" cy="822255"/>
            <a:chOff x="0" y="0"/>
            <a:chExt cx="548170" cy="548170"/>
          </a:xfrm>
        </p:grpSpPr>
        <p:sp>
          <p:nvSpPr>
            <p:cNvPr name="Freeform 3" id="3" descr="preencoded.png"/>
            <p:cNvSpPr/>
            <p:nvPr/>
          </p:nvSpPr>
          <p:spPr>
            <a:xfrm flipH="false" flipV="false" rot="0">
              <a:off x="0" y="0"/>
              <a:ext cx="548132" cy="548132"/>
            </a:xfrm>
            <a:custGeom>
              <a:avLst/>
              <a:gdLst/>
              <a:ahLst/>
              <a:cxnLst/>
              <a:rect r="r" b="b" t="t" l="l"/>
              <a:pathLst>
                <a:path h="548132" w="548132">
                  <a:moveTo>
                    <a:pt x="0" y="0"/>
                  </a:moveTo>
                  <a:lnTo>
                    <a:pt x="548132" y="0"/>
                  </a:lnTo>
                  <a:lnTo>
                    <a:pt x="548132" y="548132"/>
                  </a:lnTo>
                  <a:lnTo>
                    <a:pt x="0" y="548132"/>
                  </a:lnTo>
                  <a:lnTo>
                    <a:pt x="0" y="0"/>
                  </a:lnTo>
                  <a:close/>
                </a:path>
              </a:pathLst>
            </a:custGeom>
            <a:blipFill>
              <a:blip r:embed="rId3"/>
              <a:stretch>
                <a:fillRect l="0" t="0" r="-6" b="-6"/>
              </a:stretch>
            </a:blipFill>
          </p:spPr>
        </p:sp>
      </p:grpSp>
      <p:sp>
        <p:nvSpPr>
          <p:cNvPr name="Freeform 4" id="4"/>
          <p:cNvSpPr/>
          <p:nvPr/>
        </p:nvSpPr>
        <p:spPr>
          <a:xfrm flipH="false" flipV="false" rot="0">
            <a:off x="591922" y="1780642"/>
            <a:ext cx="8416652" cy="1101452"/>
          </a:xfrm>
          <a:custGeom>
            <a:avLst/>
            <a:gdLst/>
            <a:ahLst/>
            <a:cxnLst/>
            <a:rect r="r" b="b" t="t" l="l"/>
            <a:pathLst>
              <a:path h="1101452" w="8416652">
                <a:moveTo>
                  <a:pt x="0" y="0"/>
                </a:moveTo>
                <a:lnTo>
                  <a:pt x="8416652" y="0"/>
                </a:lnTo>
                <a:lnTo>
                  <a:pt x="8416652" y="1101452"/>
                </a:lnTo>
                <a:lnTo>
                  <a:pt x="0" y="11014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108960" y="2065687"/>
            <a:ext cx="547935" cy="547935"/>
            <a:chOff x="0" y="0"/>
            <a:chExt cx="365290" cy="365290"/>
          </a:xfrm>
        </p:grpSpPr>
        <p:sp>
          <p:nvSpPr>
            <p:cNvPr name="Freeform 6" id="6" descr="preencoded.png"/>
            <p:cNvSpPr/>
            <p:nvPr/>
          </p:nvSpPr>
          <p:spPr>
            <a:xfrm flipH="false" flipV="false" rot="0">
              <a:off x="0" y="0"/>
              <a:ext cx="365252" cy="365252"/>
            </a:xfrm>
            <a:custGeom>
              <a:avLst/>
              <a:gdLst/>
              <a:ahLst/>
              <a:cxnLst/>
              <a:rect r="r" b="b" t="t" l="l"/>
              <a:pathLst>
                <a:path h="365252" w="365252">
                  <a:moveTo>
                    <a:pt x="0" y="0"/>
                  </a:moveTo>
                  <a:lnTo>
                    <a:pt x="365252" y="0"/>
                  </a:lnTo>
                  <a:lnTo>
                    <a:pt x="365252" y="365252"/>
                  </a:lnTo>
                  <a:lnTo>
                    <a:pt x="0" y="365252"/>
                  </a:lnTo>
                  <a:lnTo>
                    <a:pt x="0" y="0"/>
                  </a:lnTo>
                  <a:close/>
                </a:path>
              </a:pathLst>
            </a:custGeom>
            <a:blipFill>
              <a:blip r:embed="rId6"/>
              <a:stretch>
                <a:fillRect l="0" t="0" r="-10" b="-10"/>
              </a:stretch>
            </a:blipFill>
          </p:spPr>
        </p:sp>
      </p:grpSp>
      <p:grpSp>
        <p:nvGrpSpPr>
          <p:cNvPr name="Group 7" id="7"/>
          <p:cNvGrpSpPr/>
          <p:nvPr/>
        </p:nvGrpSpPr>
        <p:grpSpPr>
          <a:xfrm rot="0">
            <a:off x="572395" y="2634463"/>
            <a:ext cx="8455685" cy="6900501"/>
            <a:chOff x="0" y="0"/>
            <a:chExt cx="5637124" cy="4600334"/>
          </a:xfrm>
        </p:grpSpPr>
        <p:sp>
          <p:nvSpPr>
            <p:cNvPr name="Freeform 8" id="8"/>
            <p:cNvSpPr/>
            <p:nvPr/>
          </p:nvSpPr>
          <p:spPr>
            <a:xfrm flipH="false" flipV="false" rot="0">
              <a:off x="0" y="0"/>
              <a:ext cx="5637149" cy="4600321"/>
            </a:xfrm>
            <a:custGeom>
              <a:avLst/>
              <a:gdLst/>
              <a:ahLst/>
              <a:cxnLst/>
              <a:rect r="r" b="b" t="t" l="l"/>
              <a:pathLst>
                <a:path h="4600321" w="5637149">
                  <a:moveTo>
                    <a:pt x="0" y="0"/>
                  </a:moveTo>
                  <a:lnTo>
                    <a:pt x="5637149" y="0"/>
                  </a:lnTo>
                  <a:lnTo>
                    <a:pt x="5637149" y="4600321"/>
                  </a:lnTo>
                  <a:lnTo>
                    <a:pt x="0" y="4600321"/>
                  </a:lnTo>
                  <a:lnTo>
                    <a:pt x="0" y="0"/>
                  </a:lnTo>
                  <a:close/>
                </a:path>
              </a:pathLst>
            </a:custGeom>
            <a:blipFill>
              <a:blip r:embed="rId7">
                <a:alphaModFix amt="10000"/>
              </a:blip>
              <a:stretch>
                <a:fillRect l="0" t="-10" r="0" b="0"/>
              </a:stretch>
            </a:blipFill>
          </p:spPr>
        </p:sp>
      </p:grpSp>
      <p:sp>
        <p:nvSpPr>
          <p:cNvPr name="Freeform 9" id="9"/>
          <p:cNvSpPr/>
          <p:nvPr/>
        </p:nvSpPr>
        <p:spPr>
          <a:xfrm flipH="false" flipV="false" rot="0">
            <a:off x="598037" y="2609012"/>
            <a:ext cx="8404403" cy="6849904"/>
          </a:xfrm>
          <a:custGeom>
            <a:avLst/>
            <a:gdLst/>
            <a:ahLst/>
            <a:cxnLst/>
            <a:rect r="r" b="b" t="t" l="l"/>
            <a:pathLst>
              <a:path h="6849904" w="8404403">
                <a:moveTo>
                  <a:pt x="0" y="0"/>
                </a:moveTo>
                <a:lnTo>
                  <a:pt x="8404402" y="0"/>
                </a:lnTo>
                <a:lnTo>
                  <a:pt x="8404402" y="6849904"/>
                </a:lnTo>
                <a:lnTo>
                  <a:pt x="0" y="68499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906780" y="3837775"/>
            <a:ext cx="767505" cy="767505"/>
            <a:chOff x="0" y="0"/>
            <a:chExt cx="511670" cy="511670"/>
          </a:xfrm>
        </p:grpSpPr>
        <p:sp>
          <p:nvSpPr>
            <p:cNvPr name="Freeform 11" id="11" descr="preencoded.png"/>
            <p:cNvSpPr/>
            <p:nvPr/>
          </p:nvSpPr>
          <p:spPr>
            <a:xfrm flipH="false" flipV="false" rot="0">
              <a:off x="0" y="0"/>
              <a:ext cx="511683" cy="511683"/>
            </a:xfrm>
            <a:custGeom>
              <a:avLst/>
              <a:gdLst/>
              <a:ahLst/>
              <a:cxnLst/>
              <a:rect r="r" b="b" t="t" l="l"/>
              <a:pathLst>
                <a:path h="511683" w="511683">
                  <a:moveTo>
                    <a:pt x="0" y="0"/>
                  </a:moveTo>
                  <a:lnTo>
                    <a:pt x="511683" y="0"/>
                  </a:lnTo>
                  <a:lnTo>
                    <a:pt x="511683" y="511683"/>
                  </a:lnTo>
                  <a:lnTo>
                    <a:pt x="0" y="511683"/>
                  </a:lnTo>
                  <a:lnTo>
                    <a:pt x="0" y="0"/>
                  </a:lnTo>
                  <a:close/>
                </a:path>
              </a:pathLst>
            </a:custGeom>
            <a:blipFill>
              <a:blip r:embed="rId10"/>
              <a:stretch>
                <a:fillRect l="0" t="0" r="2" b="2"/>
              </a:stretch>
            </a:blipFill>
          </p:spPr>
        </p:sp>
      </p:grpSp>
      <p:grpSp>
        <p:nvGrpSpPr>
          <p:cNvPr name="Group 12" id="12"/>
          <p:cNvGrpSpPr/>
          <p:nvPr/>
        </p:nvGrpSpPr>
        <p:grpSpPr>
          <a:xfrm rot="0">
            <a:off x="906780" y="5911901"/>
            <a:ext cx="767505" cy="767505"/>
            <a:chOff x="0" y="0"/>
            <a:chExt cx="511670" cy="511670"/>
          </a:xfrm>
        </p:grpSpPr>
        <p:sp>
          <p:nvSpPr>
            <p:cNvPr name="Freeform 13" id="13" descr="preencoded.png"/>
            <p:cNvSpPr/>
            <p:nvPr/>
          </p:nvSpPr>
          <p:spPr>
            <a:xfrm flipH="false" flipV="false" rot="0">
              <a:off x="0" y="0"/>
              <a:ext cx="511683" cy="511683"/>
            </a:xfrm>
            <a:custGeom>
              <a:avLst/>
              <a:gdLst/>
              <a:ahLst/>
              <a:cxnLst/>
              <a:rect r="r" b="b" t="t" l="l"/>
              <a:pathLst>
                <a:path h="511683" w="511683">
                  <a:moveTo>
                    <a:pt x="0" y="0"/>
                  </a:moveTo>
                  <a:lnTo>
                    <a:pt x="511683" y="0"/>
                  </a:lnTo>
                  <a:lnTo>
                    <a:pt x="511683" y="511683"/>
                  </a:lnTo>
                  <a:lnTo>
                    <a:pt x="0" y="511683"/>
                  </a:lnTo>
                  <a:lnTo>
                    <a:pt x="0" y="0"/>
                  </a:lnTo>
                  <a:close/>
                </a:path>
              </a:pathLst>
            </a:custGeom>
            <a:blipFill>
              <a:blip r:embed="rId11"/>
              <a:stretch>
                <a:fillRect l="0" t="0" r="2" b="2"/>
              </a:stretch>
            </a:blipFill>
          </p:spPr>
        </p:sp>
      </p:grpSp>
      <p:sp>
        <p:nvSpPr>
          <p:cNvPr name="Freeform 14" id="14"/>
          <p:cNvSpPr/>
          <p:nvPr/>
        </p:nvSpPr>
        <p:spPr>
          <a:xfrm flipH="false" flipV="false" rot="0">
            <a:off x="9278722" y="1780642"/>
            <a:ext cx="8416652" cy="1101452"/>
          </a:xfrm>
          <a:custGeom>
            <a:avLst/>
            <a:gdLst/>
            <a:ahLst/>
            <a:cxnLst/>
            <a:rect r="r" b="b" t="t" l="l"/>
            <a:pathLst>
              <a:path h="1101452" w="8416652">
                <a:moveTo>
                  <a:pt x="0" y="0"/>
                </a:moveTo>
                <a:lnTo>
                  <a:pt x="8416652" y="0"/>
                </a:lnTo>
                <a:lnTo>
                  <a:pt x="8416652" y="1101452"/>
                </a:lnTo>
                <a:lnTo>
                  <a:pt x="0" y="11014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5" id="15"/>
          <p:cNvGrpSpPr/>
          <p:nvPr/>
        </p:nvGrpSpPr>
        <p:grpSpPr>
          <a:xfrm rot="0">
            <a:off x="11795760" y="2065687"/>
            <a:ext cx="547935" cy="547935"/>
            <a:chOff x="0" y="0"/>
            <a:chExt cx="365290" cy="365290"/>
          </a:xfrm>
        </p:grpSpPr>
        <p:sp>
          <p:nvSpPr>
            <p:cNvPr name="Freeform 16" id="16" descr="preencoded.png"/>
            <p:cNvSpPr/>
            <p:nvPr/>
          </p:nvSpPr>
          <p:spPr>
            <a:xfrm flipH="false" flipV="false" rot="0">
              <a:off x="0" y="0"/>
              <a:ext cx="365252" cy="365252"/>
            </a:xfrm>
            <a:custGeom>
              <a:avLst/>
              <a:gdLst/>
              <a:ahLst/>
              <a:cxnLst/>
              <a:rect r="r" b="b" t="t" l="l"/>
              <a:pathLst>
                <a:path h="365252" w="365252">
                  <a:moveTo>
                    <a:pt x="0" y="0"/>
                  </a:moveTo>
                  <a:lnTo>
                    <a:pt x="365252" y="0"/>
                  </a:lnTo>
                  <a:lnTo>
                    <a:pt x="365252" y="365252"/>
                  </a:lnTo>
                  <a:lnTo>
                    <a:pt x="0" y="365252"/>
                  </a:lnTo>
                  <a:lnTo>
                    <a:pt x="0" y="0"/>
                  </a:lnTo>
                  <a:close/>
                </a:path>
              </a:pathLst>
            </a:custGeom>
            <a:blipFill>
              <a:blip r:embed="rId14"/>
              <a:stretch>
                <a:fillRect l="0" t="0" r="-10" b="-10"/>
              </a:stretch>
            </a:blipFill>
          </p:spPr>
        </p:sp>
      </p:grpSp>
      <p:grpSp>
        <p:nvGrpSpPr>
          <p:cNvPr name="Group 17" id="17"/>
          <p:cNvGrpSpPr/>
          <p:nvPr/>
        </p:nvGrpSpPr>
        <p:grpSpPr>
          <a:xfrm rot="0">
            <a:off x="9259195" y="2634463"/>
            <a:ext cx="8455685" cy="6900501"/>
            <a:chOff x="0" y="0"/>
            <a:chExt cx="5637124" cy="4600334"/>
          </a:xfrm>
        </p:grpSpPr>
        <p:sp>
          <p:nvSpPr>
            <p:cNvPr name="Freeform 18" id="18"/>
            <p:cNvSpPr/>
            <p:nvPr/>
          </p:nvSpPr>
          <p:spPr>
            <a:xfrm flipH="false" flipV="false" rot="0">
              <a:off x="0" y="0"/>
              <a:ext cx="5637149" cy="4600321"/>
            </a:xfrm>
            <a:custGeom>
              <a:avLst/>
              <a:gdLst/>
              <a:ahLst/>
              <a:cxnLst/>
              <a:rect r="r" b="b" t="t" l="l"/>
              <a:pathLst>
                <a:path h="4600321" w="5637149">
                  <a:moveTo>
                    <a:pt x="0" y="0"/>
                  </a:moveTo>
                  <a:lnTo>
                    <a:pt x="5637149" y="0"/>
                  </a:lnTo>
                  <a:lnTo>
                    <a:pt x="5637149" y="4600321"/>
                  </a:lnTo>
                  <a:lnTo>
                    <a:pt x="0" y="4600321"/>
                  </a:lnTo>
                  <a:lnTo>
                    <a:pt x="0" y="0"/>
                  </a:lnTo>
                  <a:close/>
                </a:path>
              </a:pathLst>
            </a:custGeom>
            <a:blipFill>
              <a:blip r:embed="rId7">
                <a:alphaModFix amt="10000"/>
              </a:blip>
              <a:stretch>
                <a:fillRect l="0" t="-10" r="0" b="0"/>
              </a:stretch>
            </a:blipFill>
          </p:spPr>
        </p:sp>
      </p:grpSp>
      <p:sp>
        <p:nvSpPr>
          <p:cNvPr name="Freeform 19" id="19"/>
          <p:cNvSpPr/>
          <p:nvPr/>
        </p:nvSpPr>
        <p:spPr>
          <a:xfrm flipH="false" flipV="false" rot="0">
            <a:off x="9284837" y="2609012"/>
            <a:ext cx="8404403" cy="6849904"/>
          </a:xfrm>
          <a:custGeom>
            <a:avLst/>
            <a:gdLst/>
            <a:ahLst/>
            <a:cxnLst/>
            <a:rect r="r" b="b" t="t" l="l"/>
            <a:pathLst>
              <a:path h="6849904" w="8404403">
                <a:moveTo>
                  <a:pt x="0" y="0"/>
                </a:moveTo>
                <a:lnTo>
                  <a:pt x="8404402" y="0"/>
                </a:lnTo>
                <a:lnTo>
                  <a:pt x="8404402" y="6849904"/>
                </a:lnTo>
                <a:lnTo>
                  <a:pt x="0" y="684990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20" id="20"/>
          <p:cNvGrpSpPr/>
          <p:nvPr/>
        </p:nvGrpSpPr>
        <p:grpSpPr>
          <a:xfrm rot="0">
            <a:off x="9521433" y="4062150"/>
            <a:ext cx="767505" cy="767505"/>
            <a:chOff x="0" y="0"/>
            <a:chExt cx="511670" cy="511670"/>
          </a:xfrm>
        </p:grpSpPr>
        <p:sp>
          <p:nvSpPr>
            <p:cNvPr name="Freeform 21" id="21" descr="preencoded.png"/>
            <p:cNvSpPr/>
            <p:nvPr/>
          </p:nvSpPr>
          <p:spPr>
            <a:xfrm flipH="false" flipV="false" rot="0">
              <a:off x="0" y="0"/>
              <a:ext cx="511683" cy="511683"/>
            </a:xfrm>
            <a:custGeom>
              <a:avLst/>
              <a:gdLst/>
              <a:ahLst/>
              <a:cxnLst/>
              <a:rect r="r" b="b" t="t" l="l"/>
              <a:pathLst>
                <a:path h="511683" w="511683">
                  <a:moveTo>
                    <a:pt x="0" y="0"/>
                  </a:moveTo>
                  <a:lnTo>
                    <a:pt x="511683" y="0"/>
                  </a:lnTo>
                  <a:lnTo>
                    <a:pt x="511683" y="511683"/>
                  </a:lnTo>
                  <a:lnTo>
                    <a:pt x="0" y="511683"/>
                  </a:lnTo>
                  <a:lnTo>
                    <a:pt x="0" y="0"/>
                  </a:lnTo>
                  <a:close/>
                </a:path>
              </a:pathLst>
            </a:custGeom>
            <a:blipFill>
              <a:blip r:embed="rId17"/>
              <a:stretch>
                <a:fillRect l="0" t="0" r="2" b="2"/>
              </a:stretch>
            </a:blipFill>
          </p:spPr>
        </p:sp>
      </p:grpSp>
      <p:grpSp>
        <p:nvGrpSpPr>
          <p:cNvPr name="Group 22" id="22"/>
          <p:cNvGrpSpPr/>
          <p:nvPr/>
        </p:nvGrpSpPr>
        <p:grpSpPr>
          <a:xfrm rot="0">
            <a:off x="9569648" y="6033964"/>
            <a:ext cx="767505" cy="767505"/>
            <a:chOff x="0" y="0"/>
            <a:chExt cx="511670" cy="511670"/>
          </a:xfrm>
        </p:grpSpPr>
        <p:sp>
          <p:nvSpPr>
            <p:cNvPr name="Freeform 23" id="23" descr="preencoded.png"/>
            <p:cNvSpPr/>
            <p:nvPr/>
          </p:nvSpPr>
          <p:spPr>
            <a:xfrm flipH="false" flipV="false" rot="0">
              <a:off x="0" y="0"/>
              <a:ext cx="511683" cy="511683"/>
            </a:xfrm>
            <a:custGeom>
              <a:avLst/>
              <a:gdLst/>
              <a:ahLst/>
              <a:cxnLst/>
              <a:rect r="r" b="b" t="t" l="l"/>
              <a:pathLst>
                <a:path h="511683" w="511683">
                  <a:moveTo>
                    <a:pt x="0" y="0"/>
                  </a:moveTo>
                  <a:lnTo>
                    <a:pt x="511683" y="0"/>
                  </a:lnTo>
                  <a:lnTo>
                    <a:pt x="511683" y="511683"/>
                  </a:lnTo>
                  <a:lnTo>
                    <a:pt x="0" y="511683"/>
                  </a:lnTo>
                  <a:lnTo>
                    <a:pt x="0" y="0"/>
                  </a:lnTo>
                  <a:close/>
                </a:path>
              </a:pathLst>
            </a:custGeom>
            <a:blipFill>
              <a:blip r:embed="rId18"/>
              <a:stretch>
                <a:fillRect l="0" t="0" r="2" b="2"/>
              </a:stretch>
            </a:blipFill>
          </p:spPr>
        </p:sp>
      </p:grpSp>
      <p:sp>
        <p:nvSpPr>
          <p:cNvPr name="Freeform 24" id="24"/>
          <p:cNvSpPr/>
          <p:nvPr/>
        </p:nvSpPr>
        <p:spPr>
          <a:xfrm flipH="false" flipV="false" rot="0">
            <a:off x="499034" y="9369457"/>
            <a:ext cx="17287780" cy="865270"/>
          </a:xfrm>
          <a:custGeom>
            <a:avLst/>
            <a:gdLst/>
            <a:ahLst/>
            <a:cxnLst/>
            <a:rect r="r" b="b" t="t" l="l"/>
            <a:pathLst>
              <a:path h="865270" w="17287780">
                <a:moveTo>
                  <a:pt x="0" y="0"/>
                </a:moveTo>
                <a:lnTo>
                  <a:pt x="17287780" y="0"/>
                </a:lnTo>
                <a:lnTo>
                  <a:pt x="17287780" y="865270"/>
                </a:lnTo>
                <a:lnTo>
                  <a:pt x="0" y="86527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5" id="25"/>
          <p:cNvSpPr txBox="true"/>
          <p:nvPr/>
        </p:nvSpPr>
        <p:spPr>
          <a:xfrm rot="0">
            <a:off x="5792571" y="303747"/>
            <a:ext cx="6811328" cy="830534"/>
          </a:xfrm>
          <a:prstGeom prst="rect">
            <a:avLst/>
          </a:prstGeom>
        </p:spPr>
        <p:txBody>
          <a:bodyPr anchor="t" rtlCol="false" tIns="0" lIns="0" bIns="0" rIns="0">
            <a:spAutoFit/>
          </a:bodyPr>
          <a:lstStyle/>
          <a:p>
            <a:pPr algn="l">
              <a:lnSpc>
                <a:spcPts val="6722"/>
              </a:lnSpc>
            </a:pPr>
            <a:r>
              <a:rPr lang="en-US" b="true" sz="4801">
                <a:solidFill>
                  <a:srgbClr val="FFFFFF"/>
                </a:solidFill>
                <a:latin typeface="Liberation Sans Bold"/>
                <a:ea typeface="Liberation Sans Bold"/>
                <a:cs typeface="Liberation Sans Bold"/>
                <a:sym typeface="Liberation Sans Bold"/>
              </a:rPr>
              <a:t>Défi</a:t>
            </a:r>
            <a:r>
              <a:rPr lang="en-US" b="true" sz="4801">
                <a:solidFill>
                  <a:srgbClr val="FFFFFF"/>
                </a:solidFill>
                <a:latin typeface="Liberation Sans Bold"/>
                <a:ea typeface="Liberation Sans Bold"/>
                <a:cs typeface="Liberation Sans Bold"/>
                <a:sym typeface="Liberation Sans Bold"/>
              </a:rPr>
              <a:t>s et enseignements</a:t>
            </a:r>
          </a:p>
        </p:txBody>
      </p:sp>
      <p:sp>
        <p:nvSpPr>
          <p:cNvPr name="TextBox 26" id="26"/>
          <p:cNvSpPr txBox="true"/>
          <p:nvPr/>
        </p:nvSpPr>
        <p:spPr>
          <a:xfrm rot="0">
            <a:off x="5085521" y="1322161"/>
            <a:ext cx="8871823" cy="382280"/>
          </a:xfrm>
          <a:prstGeom prst="rect">
            <a:avLst/>
          </a:prstGeom>
        </p:spPr>
        <p:txBody>
          <a:bodyPr anchor="t" rtlCol="false" tIns="0" lIns="0" bIns="0" rIns="0">
            <a:spAutoFit/>
          </a:bodyPr>
          <a:lstStyle/>
          <a:p>
            <a:pPr algn="l">
              <a:lnSpc>
                <a:spcPts val="3079"/>
              </a:lnSpc>
            </a:pPr>
            <a:r>
              <a:rPr lang="en-US" sz="2199" i="true" spc="2">
                <a:solidFill>
                  <a:srgbClr val="00C2D7"/>
                </a:solidFill>
                <a:latin typeface="Liberation Sans Italics"/>
                <a:ea typeface="Liberation Sans Italics"/>
                <a:cs typeface="Liberation Sans Italics"/>
                <a:sym typeface="Liberation Sans Italics"/>
              </a:rPr>
              <a:t>L</a:t>
            </a:r>
            <a:r>
              <a:rPr lang="en-US" sz="2199" i="true" spc="2">
                <a:solidFill>
                  <a:srgbClr val="00C2D7"/>
                </a:solidFill>
                <a:latin typeface="Liberation Sans Italics"/>
                <a:ea typeface="Liberation Sans Italics"/>
                <a:cs typeface="Liberation Sans Italics"/>
                <a:sym typeface="Liberation Sans Italics"/>
              </a:rPr>
              <a:t>es coulisses de la réalisation : les défis rencontrés et les choix retenus</a:t>
            </a:r>
          </a:p>
        </p:txBody>
      </p:sp>
      <p:sp>
        <p:nvSpPr>
          <p:cNvPr name="TextBox 27" id="27"/>
          <p:cNvSpPr txBox="true"/>
          <p:nvPr/>
        </p:nvSpPr>
        <p:spPr>
          <a:xfrm rot="0">
            <a:off x="3748335" y="2123199"/>
            <a:ext cx="1121807" cy="504851"/>
          </a:xfrm>
          <a:prstGeom prst="rect">
            <a:avLst/>
          </a:prstGeom>
        </p:spPr>
        <p:txBody>
          <a:bodyPr anchor="t" rtlCol="false" tIns="0" lIns="0" bIns="0" rIns="0">
            <a:spAutoFit/>
          </a:bodyPr>
          <a:lstStyle/>
          <a:p>
            <a:pPr algn="l">
              <a:lnSpc>
                <a:spcPts val="4198"/>
              </a:lnSpc>
            </a:pPr>
            <a:r>
              <a:rPr lang="en-US" b="true" sz="2998">
                <a:solidFill>
                  <a:srgbClr val="FFFFFF"/>
                </a:solidFill>
                <a:latin typeface="Liberation Sans Bold"/>
                <a:ea typeface="Liberation Sans Bold"/>
                <a:cs typeface="Liberation Sans Bold"/>
                <a:sym typeface="Liberation Sans Bold"/>
              </a:rPr>
              <a:t>DÉFI</a:t>
            </a:r>
            <a:r>
              <a:rPr lang="en-US" b="true" sz="2998">
                <a:solidFill>
                  <a:srgbClr val="FFFFFF"/>
                </a:solidFill>
                <a:latin typeface="Liberation Sans Bold"/>
                <a:ea typeface="Liberation Sans Bold"/>
                <a:cs typeface="Liberation Sans Bold"/>
                <a:sym typeface="Liberation Sans Bold"/>
              </a:rPr>
              <a:t>S</a:t>
            </a:r>
          </a:p>
        </p:txBody>
      </p:sp>
      <p:sp>
        <p:nvSpPr>
          <p:cNvPr name="TextBox 28" id="28"/>
          <p:cNvSpPr txBox="true"/>
          <p:nvPr/>
        </p:nvSpPr>
        <p:spPr>
          <a:xfrm rot="0">
            <a:off x="12435135" y="2123199"/>
            <a:ext cx="3068479" cy="504851"/>
          </a:xfrm>
          <a:prstGeom prst="rect">
            <a:avLst/>
          </a:prstGeom>
        </p:spPr>
        <p:txBody>
          <a:bodyPr anchor="t" rtlCol="false" tIns="0" lIns="0" bIns="0" rIns="0">
            <a:spAutoFit/>
          </a:bodyPr>
          <a:lstStyle/>
          <a:p>
            <a:pPr algn="l">
              <a:lnSpc>
                <a:spcPts val="4198"/>
              </a:lnSpc>
            </a:pPr>
            <a:r>
              <a:rPr lang="en-US" b="true" sz="2998">
                <a:solidFill>
                  <a:srgbClr val="FFFFFF"/>
                </a:solidFill>
                <a:latin typeface="Liberation Sans Bold"/>
                <a:ea typeface="Liberation Sans Bold"/>
                <a:cs typeface="Liberation Sans Bold"/>
                <a:sym typeface="Liberation Sans Bold"/>
              </a:rPr>
              <a:t>LEÇONS TIRÉES</a:t>
            </a:r>
          </a:p>
        </p:txBody>
      </p:sp>
      <p:sp>
        <p:nvSpPr>
          <p:cNvPr name="TextBox 29" id="29"/>
          <p:cNvSpPr txBox="true"/>
          <p:nvPr/>
        </p:nvSpPr>
        <p:spPr>
          <a:xfrm rot="0">
            <a:off x="1907591" y="5957764"/>
            <a:ext cx="3900011" cy="500365"/>
          </a:xfrm>
          <a:prstGeom prst="rect">
            <a:avLst/>
          </a:prstGeom>
        </p:spPr>
        <p:txBody>
          <a:bodyPr anchor="t" rtlCol="false" tIns="0" lIns="0" bIns="0" rIns="0">
            <a:spAutoFit/>
          </a:bodyPr>
          <a:lstStyle/>
          <a:p>
            <a:pPr algn="l">
              <a:lnSpc>
                <a:spcPts val="3920"/>
              </a:lnSpc>
            </a:pPr>
            <a:r>
              <a:rPr lang="en-US" b="true" sz="2800" spc="2">
                <a:solidFill>
                  <a:srgbClr val="FFFFFF"/>
                </a:solidFill>
                <a:latin typeface="Liberation Sans Bold"/>
                <a:ea typeface="Liberation Sans Bold"/>
                <a:cs typeface="Liberation Sans Bold"/>
                <a:sym typeface="Liberation Sans Bold"/>
              </a:rPr>
              <a:t>Sessions m</a:t>
            </a:r>
            <a:r>
              <a:rPr lang="en-US" b="true" sz="2800" spc="2">
                <a:solidFill>
                  <a:srgbClr val="FFFFFF"/>
                </a:solidFill>
                <a:latin typeface="Liberation Sans Bold"/>
                <a:ea typeface="Liberation Sans Bold"/>
                <a:cs typeface="Liberation Sans Bold"/>
                <a:sym typeface="Liberation Sans Bold"/>
              </a:rPr>
              <a:t>ulti-onglets</a:t>
            </a:r>
          </a:p>
        </p:txBody>
      </p:sp>
      <p:sp>
        <p:nvSpPr>
          <p:cNvPr name="TextBox 30" id="30"/>
          <p:cNvSpPr txBox="true"/>
          <p:nvPr/>
        </p:nvSpPr>
        <p:spPr>
          <a:xfrm rot="0">
            <a:off x="3454908" y="5636533"/>
            <a:ext cx="71799" cy="347339"/>
          </a:xfrm>
          <a:prstGeom prst="rect">
            <a:avLst/>
          </a:prstGeom>
        </p:spPr>
        <p:txBody>
          <a:bodyPr anchor="t" rtlCol="false" tIns="0" lIns="0" bIns="0" rIns="0">
            <a:spAutoFit/>
          </a:bodyPr>
          <a:lstStyle/>
          <a:p>
            <a:pPr algn="l">
              <a:lnSpc>
                <a:spcPts val="2801"/>
              </a:lnSpc>
            </a:pPr>
            <a:r>
              <a:rPr lang="en-US" sz="2001">
                <a:solidFill>
                  <a:srgbClr val="E8EEFC"/>
                </a:solidFill>
                <a:latin typeface="Liberation Sans"/>
                <a:ea typeface="Liberation Sans"/>
                <a:cs typeface="Liberation Sans"/>
                <a:sym typeface="Liberation Sans"/>
              </a:rPr>
              <a:t> </a:t>
            </a:r>
          </a:p>
        </p:txBody>
      </p:sp>
      <p:sp>
        <p:nvSpPr>
          <p:cNvPr name="TextBox 31" id="31"/>
          <p:cNvSpPr txBox="true"/>
          <p:nvPr/>
        </p:nvSpPr>
        <p:spPr>
          <a:xfrm rot="0">
            <a:off x="3299879" y="7648213"/>
            <a:ext cx="71799" cy="347339"/>
          </a:xfrm>
          <a:prstGeom prst="rect">
            <a:avLst/>
          </a:prstGeom>
        </p:spPr>
        <p:txBody>
          <a:bodyPr anchor="t" rtlCol="false" tIns="0" lIns="0" bIns="0" rIns="0">
            <a:spAutoFit/>
          </a:bodyPr>
          <a:lstStyle/>
          <a:p>
            <a:pPr algn="l">
              <a:lnSpc>
                <a:spcPts val="2801"/>
              </a:lnSpc>
            </a:pPr>
            <a:r>
              <a:rPr lang="en-US" sz="2001">
                <a:solidFill>
                  <a:srgbClr val="E8EEFC"/>
                </a:solidFill>
                <a:latin typeface="Liberation Sans"/>
                <a:ea typeface="Liberation Sans"/>
                <a:cs typeface="Liberation Sans"/>
                <a:sym typeface="Liberation Sans"/>
              </a:rPr>
              <a:t> </a:t>
            </a:r>
          </a:p>
        </p:txBody>
      </p:sp>
      <p:sp>
        <p:nvSpPr>
          <p:cNvPr name="TextBox 32" id="32"/>
          <p:cNvSpPr txBox="true"/>
          <p:nvPr/>
        </p:nvSpPr>
        <p:spPr>
          <a:xfrm rot="0">
            <a:off x="1928031" y="3895992"/>
            <a:ext cx="5128498" cy="500365"/>
          </a:xfrm>
          <a:prstGeom prst="rect">
            <a:avLst/>
          </a:prstGeom>
        </p:spPr>
        <p:txBody>
          <a:bodyPr anchor="t" rtlCol="false" tIns="0" lIns="0" bIns="0" rIns="0">
            <a:spAutoFit/>
          </a:bodyPr>
          <a:lstStyle/>
          <a:p>
            <a:pPr algn="l">
              <a:lnSpc>
                <a:spcPts val="3920"/>
              </a:lnSpc>
            </a:pPr>
            <a:r>
              <a:rPr lang="en-US" b="true" sz="2800" spc="2">
                <a:solidFill>
                  <a:srgbClr val="FFFFFF"/>
                </a:solidFill>
                <a:latin typeface="Liberation Sans Bold"/>
                <a:ea typeface="Liberation Sans Bold"/>
                <a:cs typeface="Liberation Sans Bold"/>
                <a:sym typeface="Liberation Sans Bold"/>
              </a:rPr>
              <a:t>Systè</a:t>
            </a:r>
            <a:r>
              <a:rPr lang="en-US" b="true" sz="2800" spc="2">
                <a:solidFill>
                  <a:srgbClr val="FFFFFF"/>
                </a:solidFill>
                <a:latin typeface="Liberation Sans Bold"/>
                <a:ea typeface="Liberation Sans Bold"/>
                <a:cs typeface="Liberation Sans Bold"/>
                <a:sym typeface="Liberation Sans Bold"/>
              </a:rPr>
              <a:t>me de fichiers éphémère</a:t>
            </a:r>
          </a:p>
        </p:txBody>
      </p:sp>
      <p:sp>
        <p:nvSpPr>
          <p:cNvPr name="TextBox 33" id="33"/>
          <p:cNvSpPr txBox="true"/>
          <p:nvPr/>
        </p:nvSpPr>
        <p:spPr>
          <a:xfrm rot="0">
            <a:off x="2933910" y="3624853"/>
            <a:ext cx="71799" cy="347339"/>
          </a:xfrm>
          <a:prstGeom prst="rect">
            <a:avLst/>
          </a:prstGeom>
        </p:spPr>
        <p:txBody>
          <a:bodyPr anchor="t" rtlCol="false" tIns="0" lIns="0" bIns="0" rIns="0">
            <a:spAutoFit/>
          </a:bodyPr>
          <a:lstStyle/>
          <a:p>
            <a:pPr algn="l">
              <a:lnSpc>
                <a:spcPts val="2801"/>
              </a:lnSpc>
            </a:pPr>
            <a:r>
              <a:rPr lang="en-US" sz="2001">
                <a:solidFill>
                  <a:srgbClr val="E8EEFC"/>
                </a:solidFill>
                <a:latin typeface="Liberation Sans"/>
                <a:ea typeface="Liberation Sans"/>
                <a:cs typeface="Liberation Sans"/>
                <a:sym typeface="Liberation Sans"/>
              </a:rPr>
              <a:t> </a:t>
            </a:r>
          </a:p>
        </p:txBody>
      </p:sp>
      <p:sp>
        <p:nvSpPr>
          <p:cNvPr name="TextBox 34" id="34"/>
          <p:cNvSpPr txBox="true"/>
          <p:nvPr/>
        </p:nvSpPr>
        <p:spPr>
          <a:xfrm rot="0">
            <a:off x="10780185" y="5957764"/>
            <a:ext cx="3880009" cy="500365"/>
          </a:xfrm>
          <a:prstGeom prst="rect">
            <a:avLst/>
          </a:prstGeom>
        </p:spPr>
        <p:txBody>
          <a:bodyPr anchor="t" rtlCol="false" tIns="0" lIns="0" bIns="0" rIns="0">
            <a:spAutoFit/>
          </a:bodyPr>
          <a:lstStyle/>
          <a:p>
            <a:pPr algn="l">
              <a:lnSpc>
                <a:spcPts val="3920"/>
              </a:lnSpc>
            </a:pPr>
            <a:r>
              <a:rPr lang="en-US" b="true" sz="2800" spc="2">
                <a:solidFill>
                  <a:srgbClr val="FFFFFF"/>
                </a:solidFill>
                <a:latin typeface="Liberation Sans Bold"/>
                <a:ea typeface="Liberation Sans Bold"/>
                <a:cs typeface="Liberation Sans Bold"/>
                <a:sym typeface="Liberation Sans Bold"/>
              </a:rPr>
              <a:t>Asynchrone par défaut</a:t>
            </a:r>
          </a:p>
        </p:txBody>
      </p:sp>
      <p:sp>
        <p:nvSpPr>
          <p:cNvPr name="TextBox 35" id="35"/>
          <p:cNvSpPr txBox="true"/>
          <p:nvPr/>
        </p:nvSpPr>
        <p:spPr>
          <a:xfrm rot="0">
            <a:off x="12282259" y="7648213"/>
            <a:ext cx="71799" cy="347339"/>
          </a:xfrm>
          <a:prstGeom prst="rect">
            <a:avLst/>
          </a:prstGeom>
        </p:spPr>
        <p:txBody>
          <a:bodyPr anchor="t" rtlCol="false" tIns="0" lIns="0" bIns="0" rIns="0">
            <a:spAutoFit/>
          </a:bodyPr>
          <a:lstStyle/>
          <a:p>
            <a:pPr algn="l">
              <a:lnSpc>
                <a:spcPts val="2801"/>
              </a:lnSpc>
            </a:pPr>
            <a:r>
              <a:rPr lang="en-US" sz="2001">
                <a:solidFill>
                  <a:srgbClr val="E8EEFC"/>
                </a:solidFill>
                <a:latin typeface="Liberation Sans"/>
                <a:ea typeface="Liberation Sans"/>
                <a:cs typeface="Liberation Sans"/>
                <a:sym typeface="Liberation Sans"/>
              </a:rPr>
              <a:t> </a:t>
            </a:r>
          </a:p>
        </p:txBody>
      </p:sp>
      <p:sp>
        <p:nvSpPr>
          <p:cNvPr name="TextBox 36" id="36"/>
          <p:cNvSpPr txBox="true"/>
          <p:nvPr/>
        </p:nvSpPr>
        <p:spPr>
          <a:xfrm rot="0">
            <a:off x="10485487" y="4030856"/>
            <a:ext cx="3899297" cy="500365"/>
          </a:xfrm>
          <a:prstGeom prst="rect">
            <a:avLst/>
          </a:prstGeom>
        </p:spPr>
        <p:txBody>
          <a:bodyPr anchor="t" rtlCol="false" tIns="0" lIns="0" bIns="0" rIns="0">
            <a:spAutoFit/>
          </a:bodyPr>
          <a:lstStyle/>
          <a:p>
            <a:pPr algn="l">
              <a:lnSpc>
                <a:spcPts val="3920"/>
              </a:lnSpc>
            </a:pPr>
            <a:r>
              <a:rPr lang="en-US" b="true" sz="2800" spc="2">
                <a:solidFill>
                  <a:srgbClr val="FFFFFF"/>
                </a:solidFill>
                <a:latin typeface="Liberation Sans Bold"/>
                <a:ea typeface="Liberation Sans Bold"/>
                <a:cs typeface="Liberation Sans Bold"/>
                <a:sym typeface="Liberation Sans Bold"/>
              </a:rPr>
              <a:t>Défense en profondeur</a:t>
            </a:r>
          </a:p>
        </p:txBody>
      </p:sp>
      <p:sp>
        <p:nvSpPr>
          <p:cNvPr name="TextBox 37" id="37"/>
          <p:cNvSpPr txBox="true"/>
          <p:nvPr/>
        </p:nvSpPr>
        <p:spPr>
          <a:xfrm rot="0">
            <a:off x="11213040" y="3624853"/>
            <a:ext cx="71799" cy="347339"/>
          </a:xfrm>
          <a:prstGeom prst="rect">
            <a:avLst/>
          </a:prstGeom>
        </p:spPr>
        <p:txBody>
          <a:bodyPr anchor="t" rtlCol="false" tIns="0" lIns="0" bIns="0" rIns="0">
            <a:spAutoFit/>
          </a:bodyPr>
          <a:lstStyle/>
          <a:p>
            <a:pPr algn="l">
              <a:lnSpc>
                <a:spcPts val="2801"/>
              </a:lnSpc>
            </a:pPr>
            <a:r>
              <a:rPr lang="en-US" sz="2001">
                <a:solidFill>
                  <a:srgbClr val="E8EEFC"/>
                </a:solidFill>
                <a:latin typeface="Liberation Sans"/>
                <a:ea typeface="Liberation Sans"/>
                <a:cs typeface="Liberation Sans"/>
                <a:sym typeface="Liberation Sans"/>
              </a:rPr>
              <a:t> </a:t>
            </a:r>
          </a:p>
        </p:txBody>
      </p:sp>
      <p:sp>
        <p:nvSpPr>
          <p:cNvPr name="TextBox 38" id="38"/>
          <p:cNvSpPr txBox="true"/>
          <p:nvPr/>
        </p:nvSpPr>
        <p:spPr>
          <a:xfrm rot="0">
            <a:off x="11929758" y="5636533"/>
            <a:ext cx="71799" cy="347339"/>
          </a:xfrm>
          <a:prstGeom prst="rect">
            <a:avLst/>
          </a:prstGeom>
        </p:spPr>
        <p:txBody>
          <a:bodyPr anchor="t" rtlCol="false" tIns="0" lIns="0" bIns="0" rIns="0">
            <a:spAutoFit/>
          </a:bodyPr>
          <a:lstStyle/>
          <a:p>
            <a:pPr algn="l">
              <a:lnSpc>
                <a:spcPts val="2801"/>
              </a:lnSpc>
            </a:pPr>
            <a:r>
              <a:rPr lang="en-US" sz="2001">
                <a:solidFill>
                  <a:srgbClr val="E8EEFC"/>
                </a:solidFill>
                <a:latin typeface="Liberation Sans"/>
                <a:ea typeface="Liberation Sans"/>
                <a:cs typeface="Liberation Sans"/>
                <a:sym typeface="Liberation Sans"/>
              </a:rPr>
              <a:t> </a:t>
            </a:r>
          </a:p>
        </p:txBody>
      </p:sp>
      <p:sp>
        <p:nvSpPr>
          <p:cNvPr name="TextBox 39" id="39"/>
          <p:cNvSpPr txBox="true"/>
          <p:nvPr/>
        </p:nvSpPr>
        <p:spPr>
          <a:xfrm rot="0">
            <a:off x="1706251" y="3971642"/>
            <a:ext cx="5614518" cy="926139"/>
          </a:xfrm>
          <a:prstGeom prst="rect">
            <a:avLst/>
          </a:prstGeom>
        </p:spPr>
        <p:txBody>
          <a:bodyPr anchor="t" rtlCol="false" tIns="0" lIns="0" bIns="0" rIns="0">
            <a:spAutoFit/>
          </a:bodyPr>
          <a:lstStyle/>
          <a:p>
            <a:pPr algn="l">
              <a:lnSpc>
                <a:spcPts val="3939"/>
              </a:lnSpc>
            </a:pPr>
          </a:p>
          <a:p>
            <a:pPr algn="l">
              <a:lnSpc>
                <a:spcPts val="3939"/>
              </a:lnSpc>
            </a:pPr>
            <a:r>
              <a:rPr lang="en-US" b="true" sz="2027" i="true">
                <a:solidFill>
                  <a:srgbClr val="F59E0B"/>
                </a:solidFill>
                <a:latin typeface="Liberation Sans Bold Italics"/>
                <a:ea typeface="Liberation Sans Bold Italics"/>
                <a:cs typeface="Liberation Sans Bold Italics"/>
                <a:sym typeface="Liberation Sans Bold Italics"/>
              </a:rPr>
              <a:t>→ Volume persistant monté sur /app/media</a:t>
            </a:r>
          </a:p>
        </p:txBody>
      </p:sp>
      <p:sp>
        <p:nvSpPr>
          <p:cNvPr name="TextBox 40" id="40"/>
          <p:cNvSpPr txBox="true"/>
          <p:nvPr/>
        </p:nvSpPr>
        <p:spPr>
          <a:xfrm rot="0">
            <a:off x="1687087" y="6076813"/>
            <a:ext cx="5984012" cy="1382790"/>
          </a:xfrm>
          <a:prstGeom prst="rect">
            <a:avLst/>
          </a:prstGeom>
        </p:spPr>
        <p:txBody>
          <a:bodyPr anchor="t" rtlCol="false" tIns="0" lIns="0" bIns="0" rIns="0">
            <a:spAutoFit/>
          </a:bodyPr>
          <a:lstStyle/>
          <a:p>
            <a:pPr algn="l">
              <a:lnSpc>
                <a:spcPts val="3888"/>
              </a:lnSpc>
            </a:pPr>
          </a:p>
          <a:p>
            <a:pPr algn="l">
              <a:lnSpc>
                <a:spcPts val="3888"/>
              </a:lnSpc>
            </a:pPr>
            <a:r>
              <a:rPr lang="en-US" b="true" sz="2001" i="true">
                <a:solidFill>
                  <a:srgbClr val="F59E0B"/>
                </a:solidFill>
                <a:latin typeface="Liberation Sans Bold Italics"/>
                <a:ea typeface="Liberation Sans Bold Italics"/>
                <a:cs typeface="Liberation Sans Bold Italics"/>
                <a:sym typeface="Liberation Sans Bold Italics"/>
              </a:rPr>
              <a:t>→ Déplacement du JWT vers sessionStorage (isolé par onglet)</a:t>
            </a:r>
          </a:p>
        </p:txBody>
      </p:sp>
      <p:sp>
        <p:nvSpPr>
          <p:cNvPr name="TextBox 41" id="41"/>
          <p:cNvSpPr txBox="true"/>
          <p:nvPr/>
        </p:nvSpPr>
        <p:spPr>
          <a:xfrm rot="0">
            <a:off x="10337154" y="4635996"/>
            <a:ext cx="6981587" cy="339695"/>
          </a:xfrm>
          <a:prstGeom prst="rect">
            <a:avLst/>
          </a:prstGeom>
        </p:spPr>
        <p:txBody>
          <a:bodyPr anchor="t" rtlCol="false" tIns="0" lIns="0" bIns="0" rIns="0">
            <a:spAutoFit/>
          </a:bodyPr>
          <a:lstStyle/>
          <a:p>
            <a:pPr algn="l">
              <a:lnSpc>
                <a:spcPts val="2801"/>
              </a:lnSpc>
            </a:pPr>
            <a:r>
              <a:rPr lang="en-US" b="true" sz="2001" i="true">
                <a:solidFill>
                  <a:srgbClr val="00C2D7"/>
                </a:solidFill>
                <a:latin typeface="Liberation Sans Bold Italics"/>
                <a:ea typeface="Liberation Sans Bold Italics"/>
                <a:cs typeface="Liberation Sans Bold Italics"/>
                <a:sym typeface="Liberation Sans Bold Italics"/>
              </a:rPr>
              <a:t>→ React + DOMPurify : ensemble contre les attaques XSS</a:t>
            </a:r>
          </a:p>
        </p:txBody>
      </p:sp>
      <p:sp>
        <p:nvSpPr>
          <p:cNvPr name="TextBox 42" id="42"/>
          <p:cNvSpPr txBox="true"/>
          <p:nvPr/>
        </p:nvSpPr>
        <p:spPr>
          <a:xfrm rot="0">
            <a:off x="10167833" y="6645986"/>
            <a:ext cx="7292102" cy="339695"/>
          </a:xfrm>
          <a:prstGeom prst="rect">
            <a:avLst/>
          </a:prstGeom>
        </p:spPr>
        <p:txBody>
          <a:bodyPr anchor="t" rtlCol="false" tIns="0" lIns="0" bIns="0" rIns="0">
            <a:spAutoFit/>
          </a:bodyPr>
          <a:lstStyle/>
          <a:p>
            <a:pPr algn="l">
              <a:lnSpc>
                <a:spcPts val="2801"/>
              </a:lnSpc>
            </a:pPr>
            <a:r>
              <a:rPr lang="en-US" b="true" sz="2001" i="true">
                <a:solidFill>
                  <a:srgbClr val="00C2D7"/>
                </a:solidFill>
                <a:latin typeface="Liberation Sans Bold Italics"/>
                <a:ea typeface="Liberation Sans Bold Italics"/>
                <a:cs typeface="Liberation Sans Bold Italics"/>
                <a:sym typeface="Liberation Sans Bold Italics"/>
              </a:rPr>
              <a:t>→ Celery + Redis pour les PDF et les notifications par e-mail</a:t>
            </a:r>
          </a:p>
        </p:txBody>
      </p:sp>
      <p:sp>
        <p:nvSpPr>
          <p:cNvPr name="TextBox 43" id="43"/>
          <p:cNvSpPr txBox="true"/>
          <p:nvPr/>
        </p:nvSpPr>
        <p:spPr>
          <a:xfrm rot="0">
            <a:off x="4465215" y="9630213"/>
            <a:ext cx="11405235" cy="415336"/>
          </a:xfrm>
          <a:prstGeom prst="rect">
            <a:avLst/>
          </a:prstGeom>
        </p:spPr>
        <p:txBody>
          <a:bodyPr anchor="t" rtlCol="false" tIns="0" lIns="0" bIns="0" rIns="0">
            <a:spAutoFit/>
          </a:bodyPr>
          <a:lstStyle/>
          <a:p>
            <a:pPr algn="l">
              <a:lnSpc>
                <a:spcPts val="3357"/>
              </a:lnSpc>
            </a:pPr>
            <a:r>
              <a:rPr lang="en-US" b="true" sz="2398">
                <a:solidFill>
                  <a:srgbClr val="1E2761"/>
                </a:solidFill>
                <a:latin typeface="Liberation Sans Bold"/>
                <a:ea typeface="Liberation Sans Bold"/>
                <a:cs typeface="Liberation Sans Bold"/>
                <a:sym typeface="Liberation Sans Bold"/>
              </a:rPr>
              <a:t>4 semaines · Plus de 20 améliorations · 1 véritable MVP prêt pour la production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sp>
        <p:nvSpPr>
          <p:cNvPr name="Freeform 2" id="2"/>
          <p:cNvSpPr/>
          <p:nvPr/>
        </p:nvSpPr>
        <p:spPr>
          <a:xfrm flipH="false" flipV="false" rot="0">
            <a:off x="233292" y="1737952"/>
            <a:ext cx="17821416" cy="6215204"/>
          </a:xfrm>
          <a:custGeom>
            <a:avLst/>
            <a:gdLst/>
            <a:ahLst/>
            <a:cxnLst/>
            <a:rect r="r" b="b" t="t" l="l"/>
            <a:pathLst>
              <a:path h="6215204" w="17821416">
                <a:moveTo>
                  <a:pt x="0" y="0"/>
                </a:moveTo>
                <a:lnTo>
                  <a:pt x="17821416" y="0"/>
                </a:lnTo>
                <a:lnTo>
                  <a:pt x="17821416" y="6215205"/>
                </a:lnTo>
                <a:lnTo>
                  <a:pt x="0" y="6215205"/>
                </a:lnTo>
                <a:lnTo>
                  <a:pt x="0" y="0"/>
                </a:lnTo>
                <a:close/>
              </a:path>
            </a:pathLst>
          </a:custGeom>
          <a:blipFill>
            <a:blip r:embed="rId3"/>
            <a:stretch>
              <a:fillRect l="0" t="0" r="0" b="-1433"/>
            </a:stretch>
          </a:blipFill>
        </p:spPr>
      </p:sp>
      <p:sp>
        <p:nvSpPr>
          <p:cNvPr name="TextBox 3" id="3"/>
          <p:cNvSpPr txBox="true"/>
          <p:nvPr/>
        </p:nvSpPr>
        <p:spPr>
          <a:xfrm rot="0">
            <a:off x="6558017" y="477728"/>
            <a:ext cx="5039796" cy="942975"/>
          </a:xfrm>
          <a:prstGeom prst="rect">
            <a:avLst/>
          </a:prstGeom>
        </p:spPr>
        <p:txBody>
          <a:bodyPr anchor="t" rtlCol="false" tIns="0" lIns="0" bIns="0" rIns="0">
            <a:spAutoFit/>
          </a:bodyPr>
          <a:lstStyle/>
          <a:p>
            <a:pPr algn="ctr">
              <a:lnSpc>
                <a:spcPts val="7200"/>
              </a:lnSpc>
              <a:spcBef>
                <a:spcPct val="0"/>
              </a:spcBef>
            </a:pPr>
            <a:r>
              <a:rPr lang="en-US" b="true" sz="6000">
                <a:solidFill>
                  <a:srgbClr val="FFFFFF"/>
                </a:solidFill>
                <a:latin typeface="Arial Bold"/>
                <a:ea typeface="Arial Bold"/>
                <a:cs typeface="Arial Bold"/>
                <a:sym typeface="Arial Bold"/>
              </a:rPr>
              <a:t>Rétrospective</a:t>
            </a:r>
          </a:p>
        </p:txBody>
      </p:sp>
      <p:grpSp>
        <p:nvGrpSpPr>
          <p:cNvPr name="Group 4" id="4"/>
          <p:cNvGrpSpPr/>
          <p:nvPr/>
        </p:nvGrpSpPr>
        <p:grpSpPr>
          <a:xfrm rot="0">
            <a:off x="485875" y="8270406"/>
            <a:ext cx="11699085" cy="949375"/>
            <a:chOff x="0" y="0"/>
            <a:chExt cx="3081240" cy="250041"/>
          </a:xfrm>
        </p:grpSpPr>
        <p:sp>
          <p:nvSpPr>
            <p:cNvPr name="Freeform 5" id="5"/>
            <p:cNvSpPr/>
            <p:nvPr/>
          </p:nvSpPr>
          <p:spPr>
            <a:xfrm flipH="false" flipV="false" rot="0">
              <a:off x="0" y="0"/>
              <a:ext cx="3081240" cy="250041"/>
            </a:xfrm>
            <a:custGeom>
              <a:avLst/>
              <a:gdLst/>
              <a:ahLst/>
              <a:cxnLst/>
              <a:rect r="r" b="b" t="t" l="l"/>
              <a:pathLst>
                <a:path h="250041" w="3081240">
                  <a:moveTo>
                    <a:pt x="11250" y="0"/>
                  </a:moveTo>
                  <a:lnTo>
                    <a:pt x="3069991" y="0"/>
                  </a:lnTo>
                  <a:cubicBezTo>
                    <a:pt x="3076204" y="0"/>
                    <a:pt x="3081240" y="5037"/>
                    <a:pt x="3081240" y="11250"/>
                  </a:cubicBezTo>
                  <a:lnTo>
                    <a:pt x="3081240" y="238791"/>
                  </a:lnTo>
                  <a:cubicBezTo>
                    <a:pt x="3081240" y="245004"/>
                    <a:pt x="3076204" y="250041"/>
                    <a:pt x="3069991" y="250041"/>
                  </a:cubicBezTo>
                  <a:lnTo>
                    <a:pt x="11250" y="250041"/>
                  </a:lnTo>
                  <a:cubicBezTo>
                    <a:pt x="5037" y="250041"/>
                    <a:pt x="0" y="245004"/>
                    <a:pt x="0" y="238791"/>
                  </a:cubicBezTo>
                  <a:lnTo>
                    <a:pt x="0" y="11250"/>
                  </a:lnTo>
                  <a:cubicBezTo>
                    <a:pt x="0" y="5037"/>
                    <a:pt x="5037" y="0"/>
                    <a:pt x="11250" y="0"/>
                  </a:cubicBezTo>
                  <a:close/>
                </a:path>
              </a:pathLst>
            </a:custGeom>
            <a:solidFill>
              <a:srgbClr val="E8EEFC"/>
            </a:solidFill>
          </p:spPr>
        </p:sp>
        <p:sp>
          <p:nvSpPr>
            <p:cNvPr name="TextBox 6" id="6"/>
            <p:cNvSpPr txBox="true"/>
            <p:nvPr/>
          </p:nvSpPr>
          <p:spPr>
            <a:xfrm>
              <a:off x="0" y="-47625"/>
              <a:ext cx="3081240" cy="297666"/>
            </a:xfrm>
            <a:prstGeom prst="rect">
              <a:avLst/>
            </a:prstGeom>
          </p:spPr>
          <p:txBody>
            <a:bodyPr anchor="ctr" rtlCol="false" tIns="50800" lIns="50800" bIns="50800" rIns="50800"/>
            <a:lstStyle/>
            <a:p>
              <a:pPr algn="ctr">
                <a:lnSpc>
                  <a:spcPts val="2801"/>
                </a:lnSpc>
              </a:pPr>
            </a:p>
          </p:txBody>
        </p:sp>
      </p:grpSp>
      <p:sp>
        <p:nvSpPr>
          <p:cNvPr name="TextBox 7" id="7"/>
          <p:cNvSpPr txBox="true"/>
          <p:nvPr/>
        </p:nvSpPr>
        <p:spPr>
          <a:xfrm rot="0">
            <a:off x="726515" y="8582691"/>
            <a:ext cx="7603902" cy="441295"/>
          </a:xfrm>
          <a:prstGeom prst="rect">
            <a:avLst/>
          </a:prstGeom>
        </p:spPr>
        <p:txBody>
          <a:bodyPr anchor="t" rtlCol="false" tIns="0" lIns="0" bIns="0" rIns="0">
            <a:spAutoFit/>
          </a:bodyPr>
          <a:lstStyle/>
          <a:p>
            <a:pPr algn="ctr">
              <a:lnSpc>
                <a:spcPts val="3501"/>
              </a:lnSpc>
              <a:spcBef>
                <a:spcPct val="0"/>
              </a:spcBef>
            </a:pPr>
            <a:r>
              <a:rPr lang="en-US" b="true" sz="2501">
                <a:solidFill>
                  <a:srgbClr val="1E2761"/>
                </a:solidFill>
                <a:latin typeface="Liberation Sans Bold"/>
                <a:ea typeface="Liberation Sans Bold"/>
                <a:cs typeface="Liberation Sans Bold"/>
                <a:sym typeface="Liberation Sans Bold"/>
              </a:rPr>
              <a:t>12 semaines · 95 % de vélocité · 0 bogue ouvert</a:t>
            </a:r>
          </a:p>
        </p:txBody>
      </p:sp>
      <p:sp>
        <p:nvSpPr>
          <p:cNvPr name="TextBox 8" id="8"/>
          <p:cNvSpPr txBox="true"/>
          <p:nvPr/>
        </p:nvSpPr>
        <p:spPr>
          <a:xfrm rot="0">
            <a:off x="8194150" y="8615712"/>
            <a:ext cx="3561159" cy="408275"/>
          </a:xfrm>
          <a:prstGeom prst="rect">
            <a:avLst/>
          </a:prstGeom>
        </p:spPr>
        <p:txBody>
          <a:bodyPr anchor="t" rtlCol="false" tIns="0" lIns="0" bIns="0" rIns="0">
            <a:spAutoFit/>
          </a:bodyPr>
          <a:lstStyle/>
          <a:p>
            <a:pPr algn="ctr">
              <a:lnSpc>
                <a:spcPts val="3221"/>
              </a:lnSpc>
              <a:spcBef>
                <a:spcPct val="0"/>
              </a:spcBef>
            </a:pPr>
            <a:r>
              <a:rPr lang="en-US" b="true" sz="2301">
                <a:solidFill>
                  <a:srgbClr val="1E2761"/>
                </a:solidFill>
                <a:latin typeface="Liberation Sans Bold"/>
                <a:ea typeface="Liberation Sans Bold"/>
                <a:cs typeface="Liberation Sans Bold"/>
                <a:sym typeface="Liberation Sans Bold"/>
              </a:rPr>
              <a:t>à l'issue de chaque sprint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738175" y="199578"/>
            <a:ext cx="11887200" cy="1658244"/>
            <a:chOff x="0" y="0"/>
            <a:chExt cx="15849600" cy="2210992"/>
          </a:xfrm>
        </p:grpSpPr>
        <p:sp>
          <p:nvSpPr>
            <p:cNvPr name="Freeform 3" id="3"/>
            <p:cNvSpPr/>
            <p:nvPr/>
          </p:nvSpPr>
          <p:spPr>
            <a:xfrm flipH="false" flipV="false" rot="0">
              <a:off x="0" y="0"/>
              <a:ext cx="15849600" cy="2210992"/>
            </a:xfrm>
            <a:custGeom>
              <a:avLst/>
              <a:gdLst/>
              <a:ahLst/>
              <a:cxnLst/>
              <a:rect r="r" b="b" t="t" l="l"/>
              <a:pathLst>
                <a:path h="2210992" w="15849600">
                  <a:moveTo>
                    <a:pt x="0" y="0"/>
                  </a:moveTo>
                  <a:lnTo>
                    <a:pt x="15849600" y="0"/>
                  </a:lnTo>
                  <a:lnTo>
                    <a:pt x="15849600" y="2210992"/>
                  </a:lnTo>
                  <a:lnTo>
                    <a:pt x="0" y="2210992"/>
                  </a:lnTo>
                  <a:close/>
                </a:path>
              </a:pathLst>
            </a:custGeom>
            <a:blipFill>
              <a:blip r:embed="rId3">
                <a:alphaModFix amt="0"/>
              </a:blip>
              <a:stretch>
                <a:fillRect l="0" t="-101079" r="0" b="-78279"/>
              </a:stretch>
            </a:blipFill>
          </p:spPr>
        </p:sp>
        <p:sp>
          <p:nvSpPr>
            <p:cNvPr name="TextBox 4" id="4"/>
            <p:cNvSpPr txBox="true"/>
            <p:nvPr/>
          </p:nvSpPr>
          <p:spPr>
            <a:xfrm>
              <a:off x="0" y="-38100"/>
              <a:ext cx="15849600" cy="2249092"/>
            </a:xfrm>
            <a:prstGeom prst="rect">
              <a:avLst/>
            </a:prstGeom>
          </p:spPr>
          <p:txBody>
            <a:bodyPr anchor="ctr" rtlCol="false" tIns="0" lIns="0" bIns="0" rIns="0"/>
            <a:lstStyle/>
            <a:p>
              <a:pPr algn="l">
                <a:lnSpc>
                  <a:spcPts val="9600"/>
                </a:lnSpc>
              </a:pPr>
              <a:r>
                <a:rPr lang="en-US" b="true" sz="8000">
                  <a:solidFill>
                    <a:srgbClr val="FFFFFF"/>
                  </a:solidFill>
                  <a:latin typeface="Arial Bold"/>
                  <a:ea typeface="Arial Bold"/>
                  <a:cs typeface="Arial Bold"/>
                  <a:sym typeface="Arial Bold"/>
                </a:rPr>
                <a:t>E</a:t>
              </a:r>
              <a:r>
                <a:rPr lang="en-US" b="true" sz="8000">
                  <a:solidFill>
                    <a:srgbClr val="FFFFFF"/>
                  </a:solidFill>
                  <a:latin typeface="Arial Bold"/>
                  <a:ea typeface="Arial Bold"/>
                  <a:cs typeface="Arial Bold"/>
                  <a:sym typeface="Arial Bold"/>
                </a:rPr>
                <a:t>t ensuite ?</a:t>
              </a:r>
            </a:p>
          </p:txBody>
        </p:sp>
      </p:grpSp>
      <p:grpSp>
        <p:nvGrpSpPr>
          <p:cNvPr name="Group 5" id="5"/>
          <p:cNvGrpSpPr/>
          <p:nvPr/>
        </p:nvGrpSpPr>
        <p:grpSpPr>
          <a:xfrm rot="0">
            <a:off x="738175" y="2024004"/>
            <a:ext cx="11887200" cy="548640"/>
            <a:chOff x="0" y="0"/>
            <a:chExt cx="15849600" cy="731520"/>
          </a:xfrm>
        </p:grpSpPr>
        <p:sp>
          <p:nvSpPr>
            <p:cNvPr name="Freeform 6" id="6"/>
            <p:cNvSpPr/>
            <p:nvPr/>
          </p:nvSpPr>
          <p:spPr>
            <a:xfrm flipH="false" flipV="false" rot="0">
              <a:off x="0" y="0"/>
              <a:ext cx="15849600" cy="731520"/>
            </a:xfrm>
            <a:custGeom>
              <a:avLst/>
              <a:gdLst/>
              <a:ahLst/>
              <a:cxnLst/>
              <a:rect r="r" b="b" t="t" l="l"/>
              <a:pathLst>
                <a:path h="731520" w="15849600">
                  <a:moveTo>
                    <a:pt x="0" y="0"/>
                  </a:moveTo>
                  <a:lnTo>
                    <a:pt x="15849600" y="0"/>
                  </a:lnTo>
                  <a:lnTo>
                    <a:pt x="15849600" y="731520"/>
                  </a:lnTo>
                  <a:lnTo>
                    <a:pt x="0" y="731520"/>
                  </a:lnTo>
                  <a:close/>
                </a:path>
              </a:pathLst>
            </a:custGeom>
            <a:blipFill>
              <a:blip r:embed="rId3">
                <a:alphaModFix amt="0"/>
              </a:blip>
              <a:stretch>
                <a:fillRect l="0" t="-372175" r="0" b="-372175"/>
              </a:stretch>
            </a:blipFill>
          </p:spPr>
        </p:sp>
        <p:sp>
          <p:nvSpPr>
            <p:cNvPr name="TextBox 7" id="7"/>
            <p:cNvSpPr txBox="true"/>
            <p:nvPr/>
          </p:nvSpPr>
          <p:spPr>
            <a:xfrm>
              <a:off x="0" y="-9525"/>
              <a:ext cx="15849600" cy="741045"/>
            </a:xfrm>
            <a:prstGeom prst="rect">
              <a:avLst/>
            </a:prstGeom>
          </p:spPr>
          <p:txBody>
            <a:bodyPr anchor="ctr" rtlCol="false" tIns="0" lIns="0" bIns="0" rIns="0"/>
            <a:lstStyle/>
            <a:p>
              <a:pPr algn="l">
                <a:lnSpc>
                  <a:spcPts val="2879"/>
                </a:lnSpc>
              </a:pPr>
              <a:r>
                <a:rPr lang="en-US" sz="2400" i="true">
                  <a:solidFill>
                    <a:srgbClr val="00C2D7"/>
                  </a:solidFill>
                  <a:latin typeface="Arial Italics"/>
                  <a:ea typeface="Arial Italics"/>
                  <a:cs typeface="Arial Italics"/>
                  <a:sym typeface="Arial Italics"/>
                </a:rPr>
                <a:t>Feuille </a:t>
              </a:r>
              <a:r>
                <a:rPr lang="en-US" sz="2400" i="true">
                  <a:solidFill>
                    <a:srgbClr val="00C2D7"/>
                  </a:solidFill>
                  <a:latin typeface="Arial Italics"/>
                  <a:ea typeface="Arial Italics"/>
                  <a:cs typeface="Arial Italics"/>
                  <a:sym typeface="Arial Italics"/>
                </a:rPr>
                <a:t>de route après le Titre RNCP 5 Développeur web et web mobile</a:t>
              </a:r>
            </a:p>
          </p:txBody>
        </p:sp>
      </p:grpSp>
      <p:sp>
        <p:nvSpPr>
          <p:cNvPr name="Freeform 8" id="8"/>
          <p:cNvSpPr/>
          <p:nvPr/>
        </p:nvSpPr>
        <p:spPr>
          <a:xfrm flipH="false" flipV="false" rot="0">
            <a:off x="385726" y="2812518"/>
            <a:ext cx="17403438" cy="7178918"/>
          </a:xfrm>
          <a:custGeom>
            <a:avLst/>
            <a:gdLst/>
            <a:ahLst/>
            <a:cxnLst/>
            <a:rect r="r" b="b" t="t" l="l"/>
            <a:pathLst>
              <a:path h="7178918" w="17403438">
                <a:moveTo>
                  <a:pt x="0" y="0"/>
                </a:moveTo>
                <a:lnTo>
                  <a:pt x="17403438" y="0"/>
                </a:lnTo>
                <a:lnTo>
                  <a:pt x="17403438" y="7178918"/>
                </a:lnTo>
                <a:lnTo>
                  <a:pt x="0" y="7178918"/>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DAHMEm5duqU</dc:identifier>
  <dcterms:modified xsi:type="dcterms:W3CDTF">2011-08-01T06:04:30Z</dcterms:modified>
  <cp:revision>1</cp:revision>
  <dc:title>CyberAudit-V2.pptx</dc:title>
</cp:coreProperties>
</file>