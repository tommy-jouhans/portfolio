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Arial Bold" charset="1" panose="020B0704020202020204"/>
      <p:regular r:id="rId32"/>
    </p:embeddedFont>
    <p:embeddedFont>
      <p:font typeface="Arial Italics" charset="1" panose="020B0604020202090204"/>
      <p:regular r:id="rId33"/>
    </p:embeddedFont>
    <p:embeddedFont>
      <p:font typeface="Arial" charset="1" panose="020B0604020202020204"/>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notesMasters/notesMaster1.xml" Type="http://schemas.openxmlformats.org/officeDocument/2006/relationships/notesMaster"/><Relationship Id="rId3" Target="viewProps.xml" Type="http://schemas.openxmlformats.org/officeDocument/2006/relationships/viewProps"/><Relationship Id="rId30" Target="theme/theme2.xml" Type="http://schemas.openxmlformats.org/officeDocument/2006/relationships/theme"/><Relationship Id="rId31" Target="notesSlides/notesSlide1.xml" Type="http://schemas.openxmlformats.org/officeDocument/2006/relationships/note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notesSlides/notesSlide2.xml" Type="http://schemas.openxmlformats.org/officeDocument/2006/relationships/notesSlide"/><Relationship Id="rId36" Target="notesSlides/notesSlide3.xml" Type="http://schemas.openxmlformats.org/officeDocument/2006/relationships/notesSlide"/><Relationship Id="rId37" Target="notesSlides/notesSlide4.xml" Type="http://schemas.openxmlformats.org/officeDocument/2006/relationships/notesSlide"/><Relationship Id="rId38" Target="notesSlides/notesSlide5.xml" Type="http://schemas.openxmlformats.org/officeDocument/2006/relationships/notesSlide"/><Relationship Id="rId39" Target="notesSlides/notesSlide6.xml" Type="http://schemas.openxmlformats.org/officeDocument/2006/relationships/notesSlide"/><Relationship Id="rId4" Target="theme/theme1.xml" Type="http://schemas.openxmlformats.org/officeDocument/2006/relationships/theme"/><Relationship Id="rId40" Target="notesSlides/notesSlide7.xml" Type="http://schemas.openxmlformats.org/officeDocument/2006/relationships/notesSlide"/><Relationship Id="rId41" Target="notesSlides/notesSlide8.xml" Type="http://schemas.openxmlformats.org/officeDocument/2006/relationships/notesSlide"/><Relationship Id="rId42" Target="notesSlides/notesSlide9.xml" Type="http://schemas.openxmlformats.org/officeDocument/2006/relationships/notesSlide"/><Relationship Id="rId43" Target="notesSlides/notesSlide10.xml" Type="http://schemas.openxmlformats.org/officeDocument/2006/relationships/notesSlide"/><Relationship Id="rId44" Target="notesSlides/notesSlide11.xml" Type="http://schemas.openxmlformats.org/officeDocument/2006/relationships/notesSlide"/><Relationship Id="rId45" Target="notesSlides/notesSlide12.xml" Type="http://schemas.openxmlformats.org/officeDocument/2006/relationships/notesSlide"/><Relationship Id="rId46" Target="notesSlides/notesSlide13.xml" Type="http://schemas.openxmlformats.org/officeDocument/2006/relationships/notesSlide"/><Relationship Id="rId47" Target="notesSlides/notesSlide14.xml" Type="http://schemas.openxmlformats.org/officeDocument/2006/relationships/notesSlide"/><Relationship Id="rId48" Target="notesSlides/notesSlide15.xml" Type="http://schemas.openxmlformats.org/officeDocument/2006/relationships/notesSlide"/><Relationship Id="rId49" Target="notesSlides/notesSlide16.xml" Type="http://schemas.openxmlformats.org/officeDocument/2006/relationships/notesSlide"/><Relationship Id="rId5" Target="tableStyles.xml" Type="http://schemas.openxmlformats.org/officeDocument/2006/relationships/tableStyles"/><Relationship Id="rId50" Target="notesSlides/notesSlide17.xml" Type="http://schemas.openxmlformats.org/officeDocument/2006/relationships/notesSlide"/><Relationship Id="rId51" Target="notesSlides/notesSlide18.xml" Type="http://schemas.openxmlformats.org/officeDocument/2006/relationships/notesSlide"/><Relationship Id="rId52" Target="notesSlides/notesSlide19.xml" Type="http://schemas.openxmlformats.org/officeDocument/2006/relationships/notesSlide"/><Relationship Id="rId53" Target="notesSlides/notesSlide20.xml" Type="http://schemas.openxmlformats.org/officeDocument/2006/relationships/notesSlide"/><Relationship Id="rId54" Target="notesSlides/notesSlide21.xml" Type="http://schemas.openxmlformats.org/officeDocument/2006/relationships/notesSlide"/><Relationship Id="rId55" Target="notesSlides/notesSlide22.xml" Type="http://schemas.openxmlformats.org/officeDocument/2006/relationships/notesSlide"/><Relationship Id="rId56" Target="notesSlides/notesSlide23.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Bonjour à toutes et à tous, je m'appelle Tommy Jouhans, je suis en formation Développeur Web et Web Mobile à Holberton School Dijon.</a:t>
            </a:r>
          </a:p>
          <a:p>
            <a:r>
              <a:rPr lang="en-US"/>
              <a:t/>
            </a:r>
          </a:p>
          <a:p>
            <a:r>
              <a:rPr lang="en-US"/>
              <a:t>Je vais vous présenter mon projet de certification, CyberAudit &amp; Solutions : une plateforme qui permet à une PME de commander un audit de cybersécurité, de suivre son avancement et de recevoir son rapport final. Je l'ai réalisé en binôme avec James Roussel, sur douze semaines. J'ai pris en charge tout le front-end, James le back-end.</a:t>
            </a:r>
          </a:p>
          <a:p>
            <a:r>
              <a:rPr lang="en-US"/>
              <a:t/>
            </a:r>
          </a:p>
          <a:p>
            <a:r>
              <a:rPr lang="en-US"/>
              <a:t>Ma présentation dure trente-cinq minutes, dont cinq minutes de démonstration en vidéo, que je commenterai en direct.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Voici le plan, qui suit celui du référentiel. D'abord le contexte et le besoin, puis la conception, avec les maquettes. </a:t>
            </a:r>
          </a:p>
          <a:p>
            <a:r>
              <a:rPr lang="en-US"/>
              <a:t/>
            </a:r>
          </a:p>
          <a:p>
            <a:r>
              <a:rPr lang="en-US"/>
              <a:t>Ensuite la démonstration, puis la réalisation front-end et back-end et le déploiement. </a:t>
            </a:r>
          </a:p>
          <a:p>
            <a:r>
              <a:rPr lang="en-US"/>
              <a:t/>
            </a:r>
          </a:p>
          <a:p>
            <a:r>
              <a:rPr lang="en-US"/>
              <a:t>Je terminerai par la qualité : tests, jeu d'essai, sécurité et veille, puis par le bilan.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Avant de parler de technique, je veux vous dire d'où vient ce projet. CyberAudit &amp; Solutions n'est pas né en formation : il fait suite à un projet d'entrepreneuriat que j'ai mené avec des étudiants de différentes écoles de Dijon, pour l'association Les Entrep' Bourgogne.</a:t>
            </a:r>
          </a:p>
          <a:p>
            <a:r>
              <a:rPr lang="en-US"/>
              <a:t/>
            </a:r>
          </a:p>
          <a:p>
            <a:r>
              <a:rPr lang="en-US"/>
              <a:t>Cette expérience a eu trois effets directs sur ma façon de travailler. D'abord, partir d'un problème réel plutôt que d'une technologie : on ne code pas avant d'avoir compris qui a le problème.</a:t>
            </a:r>
          </a:p>
          <a:p>
            <a:r>
              <a:rPr lang="en-US"/>
              <a:t/>
            </a:r>
          </a:p>
          <a:p>
            <a:r>
              <a:rPr lang="en-US"/>
              <a:t>Ensuite, travailler avec des profils très différents, d'écoles différentes, et se faire comprendre sans jargon. </a:t>
            </a:r>
          </a:p>
          <a:p>
            <a:r>
              <a:rPr lang="en-US"/>
              <a:t/>
            </a:r>
          </a:p>
          <a:p>
            <a:r>
              <a:rPr lang="en-US"/>
              <a:t>Enfin, défendre une idée devant un public : c'est pour cela que je vais commencer par le problème avant de vous montrer la solution.</a:t>
            </a:r>
          </a:p>
          <a:p>
            <a:r>
              <a:rPr lang="en-US"/>
              <a:t/>
            </a:r>
          </a:p>
          <a:p>
            <a:r>
              <a:rPr lang="en-US"/>
              <a:t>Dans mon rôle était porteur de compétence, c'est à je jouait d'un des réfèrent technique de ce projet.</a:t>
            </a:r>
          </a:p>
          <a:p>
            <a:r>
              <a:rPr lang="en-US"/>
              <a:t/>
            </a:r>
          </a:p>
          <a:p>
            <a:r>
              <a:rPr lang="en-US"/>
              <a:t>Quand j'ai dû choisir mon projet de certification, j'ai repris cette idée et je l'ai transformée en vrai produit : un site que les PME peuvent utiliser, déployé en ligne, avec un back-end sécurisé. C'est ce passage de l'idée au produit que je vous présente aujourd'hui.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point de départ est un chiffre de l'ANSSI. Dans son Panorama de la cybermenace 2023, les TPE, PME et ETI représentent trente-quatre pour cent des victimes de rançongiciels portées à la connaissance de l'agence, juste derrière les collectivités territoriales. Ces entreprises n'ont, pour la plupart, ni équipe informatique ni budget dédié.</a:t>
            </a:r>
          </a:p>
          <a:p>
            <a:r>
              <a:rPr lang="en-US"/>
              <a:t/>
            </a:r>
          </a:p>
          <a:p>
            <a:r>
              <a:rPr lang="en-US"/>
              <a:t>Quand elles veulent faire auditer leur sécurité, le parcours est mauvais, pour quatre raisons que vous voyez à l'écran : pas d'équipe ni de budget pour la cybersécurité ; des demandes traitées par e-mail, sans suivi ni traçabilité ; aucune visibilité sur l'avancement ; et des rapports envoyés en pièce jointe, impossibles à gérer.</a:t>
            </a:r>
          </a:p>
          <a:p>
            <a:r>
              <a:rPr lang="en-US"/>
              <a:t/>
            </a:r>
          </a:p>
          <a:p>
            <a:r>
              <a:rPr lang="en-US"/>
              <a:t>Mon problème à résoudre tient en une phrase, c'est celle qui est en bas de l'écran : pour une PME sans équipe informatique, CyberAudit &amp; Solutions est la plateforme qui permet de commander un audit en moins de trois minutes, de suivre son avancement en temps réel et de recevoir un rapport clair, en PDF, avec un plan d'action à trente jours.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que ce problème ne reste pas abstrait, nous avons construit deux personas. La principale, c'est Marie, quarante-cinq ans, gérante d'un cabinet comptable de douze personnes à Dijon. </a:t>
            </a:r>
          </a:p>
          <a:p>
            <a:r>
              <a:rPr lang="en-US"/>
              <a:t/>
            </a:r>
          </a:p>
          <a:p>
            <a:r>
              <a:rPr lang="en-US"/>
              <a:t>Elle utilise Excel et Gmail, rien de plus. Elle vient d'être visée par un e-mail d'hameçonnage qui a failli compromettre les données de ses clients. Elle veut une solution simple et abordable, et surtout pas un rapport technique de deux cents pages.</a:t>
            </a:r>
          </a:p>
          <a:p>
            <a:r>
              <a:rPr lang="en-US"/>
              <a:t/>
            </a:r>
          </a:p>
          <a:p>
            <a:r>
              <a:rPr lang="en-US"/>
              <a:t>Ce persona a guidé toutes mes décisions d'interface : un parcours de demande en moins de trois minutes, un vocabulaire non technique, des statuts colorés faciles à lire, un rapport vulgarisé. Nous l'avons vérifié avec trois tests utilisateurs : une personne non technicienne a pu soumettre une demande sans aide, en moins de trois minutes.</a:t>
            </a:r>
          </a:p>
          <a:p>
            <a:r>
              <a:rPr lang="en-US"/>
              <a:t/>
            </a:r>
          </a:p>
          <a:p>
            <a:r>
              <a:rPr lang="en-US"/>
              <a:t>Le second persona, c'est Karim, trente-deux ans, expert en cybersécurité. Il traite les demandes en parallèle de son activité de conseil : il consulte la file, réalise l'audit, saisit les vulnérabilités et déclenche le rapport.</a:t>
            </a:r>
          </a:p>
          <a:p>
            <a:r>
              <a:rPr lang="en-US"/>
              <a:t/>
            </a:r>
          </a:p>
          <a:p>
            <a:r>
              <a:rPr lang="en-US"/>
              <a:t> Pour lui, l'enjeu est un outil de gestion efficace, avec des filtres et un historique.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Face à ce constat, nous avons conçu une plateforme web unique qui relie les clients PME et l'expert, autour de six briques : une demande d'audit en trois étapes avec confirmation par e-mail ; un tableau de bord pour suivre quatre statuts ; une interface de gestion pour l'expert ; la génération automatique du rapport PDF ; des modules de sensibilisation ; et une authentification sécurisée par rôle.</a:t>
            </a:r>
          </a:p>
          <a:p>
            <a:r>
              <a:rPr lang="en-US"/>
              <a:t/>
            </a:r>
          </a:p>
          <a:p>
            <a:r>
              <a:rPr lang="en-US"/>
              <a:t>C'est cette chaîne, de la demande au rapport téléchargeable, que vous verrez dans la démonstration.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projet a été mené en binôme du 27 avril au 17 juillet 2026, en méthode agile inspirée de Scrum : des sprints, une démonstration et une rétrospective à chaque fin de sprint, et des user stories priorisées en MoSCoW pour définir un produit minimum réalisable en douze semaines.</a:t>
            </a:r>
          </a:p>
          <a:p>
            <a:r>
              <a:rPr lang="en-US"/>
              <a:t/>
            </a:r>
          </a:p>
          <a:p>
            <a:r>
              <a:rPr lang="en-US"/>
              <a:t>Mon périmètre : maquettage, interfaces, accessibilité, sécurité côté client et déploiement Vercel. James : modèle de données, API, sécurité serveur et déploiement Railway.</a:t>
            </a:r>
          </a:p>
          <a:p>
            <a:r>
              <a:rPr lang="en-US"/>
              <a:t/>
            </a:r>
          </a:p>
          <a:p>
            <a:r>
              <a:rPr lang="en-US"/>
              <a:t> Nous avons défini ensemble les contrats d'interface, et chaque pull request était relue par l'autre. Résultat : trente-huit points sur quarante livrés, soit quatre-vingt-quinze pour cent.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Mon environnement de travail : Windows avec WSL pour travailler dans un environnement Linux proche de la production, Visual Studio Code avec ESLint, Git et GitHub avec une branche par fonctionnalité, des commits conventionnels et des pull requests relues. Node 20 et Vite côté front, Python 3.12, PostgreSQL et Redis en local, et Docker pour l'environnement back-end.</a:t>
            </a:r>
          </a:p>
          <a:p>
            <a:r>
              <a:rPr lang="en-US"/>
              <a:t/>
            </a:r>
          </a:p>
          <a:p>
            <a:r>
              <a:rPr lang="en-US"/>
              <a:t>La stack : React, Vite et Tailwind côté front ; Django et Django REST Framework, PostgreSQL, Celery et Redis côté back ; Vercel et Railway pour l'hébergement, GitHub Actions pour l'intégration continue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Voici l'architecture.</a:t>
            </a:r>
          </a:p>
          <a:p>
            <a:r>
              <a:rPr lang="en-US"/>
              <a:t/>
            </a:r>
          </a:p>
          <a:p>
            <a:r>
              <a:rPr lang="en-US"/>
              <a:t> Le client React est servi par Vercel via un CDN, et appelle en HTTPS l'API Django hébergée sur Railway, avec un jeton JWT. </a:t>
            </a:r>
          </a:p>
          <a:p>
            <a:r>
              <a:rPr lang="en-US"/>
              <a:t/>
            </a:r>
          </a:p>
          <a:p>
            <a:r>
              <a:rPr lang="en-US"/>
              <a:t>Django expose l'API REST ; un worker Celery traite les tâches longues, génération de PDF et envoi d'e-mails, via Redis. PostgreSQL stocke les données, EmailJS relaie les notifications.</a:t>
            </a:r>
          </a:p>
          <a:p>
            <a:r>
              <a:rPr lang="en-US"/>
              <a:t/>
            </a:r>
          </a:p>
          <a:p>
            <a:r>
              <a:rPr lang="en-US"/>
              <a:t>Ce découpage permet deux déploiements indépendants et un contrôle fin des origines autorisées.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Avant d'écrire une ligne de code, j'ai maquetté sur Figma les onze écrans de l'application, en version web et en version mobile, pendant le premier sprint. [Montrer les maquettes mobile et web.]</a:t>
            </a:r>
          </a:p>
          <a:p>
            <a:r>
              <a:rPr lang="en-US"/>
              <a:t>Voici ce que j'ai décidé à la conception. Une charte graphique cohérente et des composants réutilisables. Marie au centre : peu d'éléments par écran, des libellés clairs. Les exigences de sécurité sont déjà dans les maquettes : aucun mot de passe affiché en clair, il ne se voit que sur demande avec l'icône en forme d'œil, et chaque formulaire prévoit un espace pour les messages d'erreur.</a:t>
            </a:r>
          </a:p>
          <a:p>
            <a:r>
              <a:rPr lang="en-US"/>
              <a:t/>
            </a:r>
          </a:p>
          <a:p>
            <a:r>
              <a:rPr lang="en-US"/>
              <a:t>Côté accessibilité, j'ai prévu des contrastes suffisants, des textes lisibles et une navigation simple. Côté éco-conception, des interfaces sobres et des listes paginées plutôt que de longues pages.</a:t>
            </a:r>
          </a:p>
          <a:p>
            <a:r>
              <a:rPr lang="en-US"/>
              <a:t/>
            </a:r>
          </a:p>
          <a:p>
            <a:r>
              <a:rPr lang="en-US"/>
              <a:t>À droite, vous voyez quatre écrans de l'application finale : la page d'accueil, le tableau de bord, le formulaire de demande et l'aperçu du rapport. On retrouve les mêmes écrans et les mêmes parcours que dans les maquettes : l'interface est conforme à la conception.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Voici le schéma d'enchaînement des écrans, validé avant de commencer les interfaces. Côté client : de l'accueil vers l'inscription ou la connexion, puis le tableau de bord, qui donne accès à la nouvelle demande, à la confirmation, aux modules de formation et au téléchargement du rapport. Côté administrateur : après connexion, le tableau de bord global, puis le détail d'une demande, qui mène à l'édition et à la génération du rapport.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0:00 · Accueil. « Voici la page d'accueil de CyberAudit &amp; Solutions : le service, les quatre formules d'audit, de l'audit simple au pack Premium, et deux appels à l'action, créer un compte ou se connecter. »</a:t>
            </a:r>
          </a:p>
          <a:p>
            <a:r>
              <a:rPr lang="en-US"/>
              <a:t>0:18 · Maquette Figma de l'inscription. « Je commence par la maquette Figma de l'inscription, conçue avant le développement. Dans un instant, vous retrouverez exactement ce formulaire dans l'application. »</a:t>
            </a:r>
          </a:p>
          <a:p>
            <a:r>
              <a:rPr lang="en-US"/>
              <a:t>0:32 · Création de compte. « Marie renseigne son entreprise, son identité, son e-mail et un mot de passe de dix caractères minimum, avec majuscule, minuscule, chiffre et caractère spécial. »</a:t>
            </a:r>
          </a:p>
          <a:p>
            <a:r>
              <a:rPr lang="en-US"/>
              <a:t>0:42 · Connexion. « Elle se connecte avec son e-mail et son mot de passe, qui n'est jamais affiché en clair : l'icône en forme d'œil le montre à la demande. »</a:t>
            </a:r>
          </a:p>
          <a:p>
            <a:r>
              <a:rPr lang="en-US"/>
              <a:t>0:52 · Maquette Figma du formulaire. « Même démarche pour la demande d'audit : la maquette d'abord… »</a:t>
            </a:r>
          </a:p>
          <a:p>
            <a:r>
              <a:rPr lang="en-US"/>
              <a:t>1:00 · Formulaire de demande. « …puis l'application. Marie choisit une formule : à chaque clic, le panneau de droite affiche les services inclus, le public visé, la durée estimée et le prix. Elle ajoute un message si elle veut, puis elle envoie. »</a:t>
            </a:r>
          </a:p>
          <a:p>
            <a:r>
              <a:rPr lang="en-US"/>
              <a:t>1:20 · Confirmation. « Un écran de confirmation récapitule la demande, avec son numéro de dossier unique : DOSSIER-2026-0068. »</a:t>
            </a:r>
          </a:p>
          <a:p>
            <a:r>
              <a:rPr lang="en-US"/>
              <a:t>1:29 · E-mail reçu. « Et voici l'accusé de réception, bien arrivé dans la boîte de Marie. Il est envoyé par une tâche Celery asynchrone, via EmailJS : l'application n'attend pas l'envoi pour répondre. »</a:t>
            </a:r>
          </a:p>
          <a:p>
            <a:r>
              <a:rPr lang="en-US"/>
              <a:t>1:38 · Maquette Figma du tableau de bord expert. « Je passe maintenant côté administrateur, avec la maquette du tableau de bord de l'expert… »</a:t>
            </a:r>
          </a:p>
          <a:p>
            <a:r>
              <a:rPr lang="en-US"/>
              <a:t>1:48 · Tableau de bord administrateur. « …et sa réalisation. Karim voit toutes les demandes, avec des compteurs par statut : en attente, en cours, terminées, archivées. Il filtre par statut ou par formule, puis ouvre la demande avec le bouton Edit. »</a:t>
            </a:r>
          </a:p>
          <a:p>
            <a:r>
              <a:rPr lang="en-US"/>
              <a:t>2:08 · Maquette Figma du détail. « Même principe pour le détail d'une demande. »</a:t>
            </a:r>
          </a:p>
          <a:p>
            <a:r>
              <a:rPr lang="en-US"/>
              <a:t>2:18 · Détail de la demande. « Karim consulte les informations du client, passe le statut de « en attente » à « en cours » et ajoute une note interne, invisible du client. Ce changement de statut déclenche automatiquement une notification au client. »</a:t>
            </a:r>
          </a:p>
          <a:p>
            <a:r>
              <a:rPr lang="en-US"/>
              <a:t>2:38 · Maquette Figma du rapport. « Voici maintenant la rédaction du rapport de vulnérabilités, d'abord en maquette… »</a:t>
            </a:r>
          </a:p>
          <a:p>
            <a:r>
              <a:rPr lang="en-US"/>
              <a:t>2:48 · Rédaction du rapport. « …puis dans l'application. Karim saisit un verdict et un résumé exécutif. »</a:t>
            </a:r>
          </a:p>
          <a:p>
            <a:r>
              <a:rPr lang="en-US"/>
              <a:t>3:00 · Première vulnérabilité. « Il ajoute ensuite une vulnérabilité : gravité, actif concerné, description et recommandation. Ici une vulnérabilité critique sur l'accès au serveur de fichiers, avec pour recommandation de vérifier les permissions. Elle s'ajoute à la liste du rapport. »</a:t>
            </a:r>
          </a:p>
          <a:p>
            <a:r>
              <a:rPr lang="en-US"/>
              <a:t>3:30 · Seconde vulnérabilité. « J'en ajoute une seconde, de gravité faible : un risque d'hameçonnage, avec pour recommandation de ne pas cliquer sur le message et de former les équipes. Le score de sécurité est recalculé côté serveur au moment de la génération : on ne peut pas le falsifier depuis le navigateur. Je clique sur « Generate report &amp; mark Completed ». »</a:t>
            </a:r>
          </a:p>
          <a:p>
            <a:r>
              <a:rPr lang="en-US"/>
              <a:t>4:07 · PDF généré. « Le rapport est produit en PDF par une tâche asynchrone avec WeasyPrint : l'expert n'est pas bloqué pendant la génération. Voici la page de garde, avec le client, l'entreprise et la formule. »</a:t>
            </a:r>
          </a:p>
          <a:p>
            <a:r>
              <a:rPr lang="en-US"/>
              <a:t>4:20 · Côté client. « Côté client, le rapport se télécharge depuis le tableau de bord : résumé exécutif, note B et score de sécurité de 74 sur 100, puis les vulnérabilités avec leurs recommandations. »</a:t>
            </a:r>
          </a:p>
          <a:p>
            <a:r>
              <a:rPr lang="en-US"/>
              <a:t>4:28 · Maquette des modules de formation. « Pour finir, une fonctionnalité maquettée dont le contenu reste à compléter : les modules de sensibilisation, avec une gamification prévue ensuite. Voilà le parcours complet, de la demande de Marie jusqu'au rapport de Karim.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Passons à la réalisation front-end. Les interfaces sont écrites en React avec du HTML sémantique et Tailwind, en mobile first. La partie dynamique repose sur un contexte d'authentification et une instance Axios unique, qui ajoute le jeton à chaque requête et tente un rafraîchissement automatique sur une erreur 401.</a:t>
            </a:r>
          </a:p>
          <a:p>
            <a:r>
              <a:rPr lang="en-US"/>
              <a:t/>
            </a:r>
          </a:p>
          <a:p>
            <a:r>
              <a:rPr lang="en-US"/>
              <a:t>Je vous montre deux extraits. À gauche, ProtectedRoute : si la personne n'est pas connectée, elle est renvoyée vers la connexion ; si elle n'a pas le bon rôle, vers l'accueil. C'est une protection côté client, en complément du contrôle serveur : je ne me repose jamais uniquement sur le front-end.</a:t>
            </a:r>
          </a:p>
          <a:p>
            <a:r>
              <a:rPr lang="en-US"/>
              <a:t/>
            </a:r>
          </a:p>
          <a:p>
            <a:r>
              <a:rPr lang="en-US"/>
              <a:t>À droite, la fonction sanitize, qui s'appuie sur DOMPurify. Tout ce qu'un utilisateur saisit et que l'application réaffiche passe par elle, avec une configuration volontairement stricte : aucune balise, aucun attribut conservé. C'est ce qui neutralise la tentative d'injection XSS que vous avez vue dans la démonstration.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L'accessibilité était une exigence forte avec Marie. Ce qui est en place : une structure sémantique, vingt-cinq champs associés à un label, des attributs ARIA sur les éléments non textuels, un design responsive et un parcours utilisable au clavier. Côté réglementation, l'application a ses mentions légales, sa politique de confidentialité et ses CGU, et le consentement RGPD est demandé à l'inscription. Pour le référencement, un fichier robots.txt et une description de page.</a:t>
            </a:r>
          </a:p>
          <a:p>
            <a:r>
              <a:rPr lang="en-US"/>
              <a:t/>
            </a:r>
          </a:p>
          <a:p>
            <a:r>
              <a:rPr lang="en-US"/>
              <a:t>Pour l'éco-conception : le bundle est optimisé par Vite, les ressources statiques sont mises en cache sur le CDN, les listes sont paginées, et côté serveur select_related évite les requêtes en cascade.</a:t>
            </a:r>
          </a:p>
          <a:p>
            <a:r>
              <a:rPr lang="en-US"/>
              <a:t/>
            </a:r>
          </a:p>
          <a:p>
            <a:r>
              <a:rPr lang="en-US"/>
              <a:t>Pour le prouver, voici la capture de l'audit Lighthouse, avec le score d'accessibilité. Mon objectif est le niveau AA du RGAA, avec un score d'au moins quatre-vingt-dix.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Je vous raconte le modèle de données à travers Marie. Marie est un utilisateur, de rôle client.</a:t>
            </a:r>
          </a:p>
          <a:p>
            <a:r>
              <a:rPr lang="en-US"/>
              <a:t/>
            </a:r>
          </a:p>
          <a:p>
            <a:r>
              <a:rPr lang="en-US"/>
              <a:t> Elle choisit une formule dans le catalogue et soumet une demande d'audit : c'est le cœur du modèle, avec une référence unique et un statut qui évolue. Quand Karim termine l'audit, il produit un rapport, au plus un par demande, avec un score et la liste des vulnérabilités. </a:t>
            </a:r>
          </a:p>
          <a:p>
            <a:r>
              <a:rPr lang="en-US"/>
              <a:t/>
            </a:r>
          </a:p>
          <a:p>
            <a:r>
              <a:rPr lang="en-US"/>
              <a:t>À chaque étape, une notification est envoyée à Marie. En parallèle, elle suit des modules de formation dont la progression est enregistrée.</a:t>
            </a:r>
          </a:p>
          <a:p>
            <a:r>
              <a:rPr lang="en-US"/>
              <a:t/>
            </a:r>
          </a:p>
          <a:p>
            <a:r>
              <a:rPr lang="en-US"/>
              <a:t>Ça fait sept tables en PostgreSQL, avec des clés étrangères et quatre index. </a:t>
            </a:r>
          </a:p>
          <a:p>
            <a:r>
              <a:rPr lang="en-US"/>
              <a:t/>
            </a:r>
          </a:p>
          <a:p>
            <a:r>
              <a:rPr lang="en-US"/>
              <a:t>Toutes les clés primaires métier sont des UUID : un attaquant ne peut pas deviner une ressource en incrémentant un identifiant. Les mots de passe sont hachés, et une sauvegarde de la base est déclenchée avant chaque mise en production majeure, avec quatorze jours de rétention.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Côté back-end, deux extraits. En haut, la génération de la référence unique, au format DOSSIER, année, numéro, celle de la démonstration. Elle s'exécute dans une transaction avec select_for_update, qui verrouille les lignes lues pour limiter les collisions en cas de créations simultanées ; la contrainte d'unicité en base est le filet de sécurité final. C'est ma réponse à la gestion des conflits d'accès.</a:t>
            </a:r>
          </a:p>
          <a:p>
            <a:r>
              <a:rPr lang="en-US"/>
              <a:t>En bas, le contrôle d'accès. Un administrateur voit toutes les demandes, un client uniquement les siennes. Si un client demande la ressource d'un autre, elle n'existe pas pour lui : 404, sans révéler qu'elle existe. Et si un client tente une action réservée à l'administrateur, c'est une 403. Les accès à la base passent tous par l'ORM, donc des requêtes paramétrées, et chaque entrée est validée côté serveur par un sérialiseur.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déploiement repose sur GitHub Actions. À chaque push et à chaque pull request, deux workflows se déclenchent, un par couche. Côté back-end, vous voyez le code : installation de Python 3.12 et des dépendances système de WeasyPrint, vérification du style avec ruff et black, puis les tests avec un seuil de couverture à quarante pour cent, qui bloque le workflow s'il n'est pas atteint. Côté front-end : installation, ESLint, tests Vitest, puis build Vite.</a:t>
            </a:r>
          </a:p>
          <a:p>
            <a:r>
              <a:rPr lang="en-US"/>
              <a:t>Si une étape échoue, la pull request ne passe pas : c'est un garde-fou contre les régressions. Ensuite, Vercel reconstruit et publie automatiquement le front-end, et Railway déploie le back-end à partir d'un conteneur Docker, avec les migrations appliquées au démarrage et un processus séparé pour le worker Celery.</a:t>
            </a:r>
          </a:p>
          <a:p>
            <a:r>
              <a:rPr lang="en-US"/>
              <a:t>Les secrets ne sont jamais dans le dépôt : ils sont dans les variables d'environnement des plateformes, avec un fichier d'exemple non renseigné. Et une sauvegarde manuelle de la base est faite avant chaque mise en production majeure.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fiabilité repose sur soixante-quatorze tests back-end avec pytest, pour quatre-vingt-onze pour cent de couverture, et soixante-deux tests front-end avec Vitest, exécutés à chaque push.</a:t>
            </a:r>
          </a:p>
          <a:p>
            <a:r>
              <a:rPr lang="en-US"/>
              <a:t>Je vous montre un exemple de chaque. À gauche, un test front-end : on injecte un script ou un attribut malveillant dans la fonction sanitize et on vérifie que le résultat est vide. À droite, un test back-end : le client B essaie de lire la demande du client A avec son propre jeton, et on vérifie que la réponse est un 404.</a:t>
            </a:r>
          </a:p>
          <a:p>
            <a:r>
              <a:rPr lang="en-US"/>
              <a:t>Les quatre-vingt-onze pour cent portent sur le back-end : ce sont mille deux cent quarante-deux instructions, dont cent quatorze non couvertes, surtout des branches d'erreur secondaires. Côté front, la couverture est volontairement inégale : proche de cent pour cent sur les modules critiques, validation, anti-XSS, authentification et garde de routes. Je n'ai pas de tests de bout en bout : ils étaient prévus avec Cypress et je les ai reportés pour prioriser la couverture et la sécurité. C'est un axe d'amélioration que j'assume.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Voici le jeu d'essai de la fonctionnalité la plus représentative : la soumission d'une demande d'audit, qui traverse toute la chaîne technique, du front à la tâche asynchrone. Neuf scénarios, avec la donnée en entrée, le résultat attendu et le résultat obtenu.</a:t>
            </a:r>
          </a:p>
          <a:p>
            <a:r>
              <a:rPr lang="en-US"/>
              <a:t>Le chemin nominal retourne un 201 avec la référence et l'accusé d'envoi. Ensuite, les cas d'erreur : champ manquant, formule inexistante, jeton absent ou expiré, avec rafraîchissement automatique. Enfin, les cas d'attaque : le script injecté est neutralisé, la demande d'un autre client répond 404, une action interdite répond 403, et la sixième tentative de connexion en moins d'une minute est bloquée.</a:t>
            </a:r>
          </a:p>
          <a:p>
            <a:r>
              <a:rPr lang="en-US"/>
              <a:t>Analyse des écarts : aucun écart sur les neuf scénarios. Je l'ai d'abord rejoué à la main avec Postman, puis automatisé en tests d'intégration.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sécurité a été traitée dès la conception. Je l'ai organisée autour du Top 10 OWASP. Contrôle d'accès : rôles, 404 sur les ressources d'autrui, identifiants UUID. Injection : ORM Django côté serveur, DOMPurify côté client. Authentification : jeton JWT de soixante minutes, jeton de rafraîchissement avec rotation, et limitation à cinq tentatives par minute sur la connexion. Configuration : en-têtes HTTP sur chaque réponse, dont CSP, HSTS et X-Frame-Options.</a:t>
            </a:r>
          </a:p>
          <a:p>
            <a:r>
              <a:rPr lang="en-US"/>
              <a:t>Pour vérifier tout cela, nous avons mené six tests de sécurité manuels : XSS, injection SQL, force brute, falsification de jeton, élévation de privilège et énumération de ressources. Aucune faille exploitable n'a été identifiée.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 veille est hebdomadaire, le vendredi : le Top 10 OWASP, les guides de l'ANSSI, les avis du CERT-FR, les alertes Dependabot et la documentation officielle de Django, DRF et React. Chaque élément retenu est tracé dans Notion.</a:t>
            </a:r>
          </a:p>
          <a:p>
            <a:r>
              <a:rPr lang="en-US"/>
              <a:t>Un exemple concret : au sprint 5, un avis du CERT-FR concernait une ancienne version de Django REST Framework. J'ai vérifié notre exposition : nous utilisions déjà une version corrigée. J'ai figé la version et activé Dependabot. Aujourd'hui, GitHub ne signale aucune alerte Dependabot ouverte, et l'audit npm remonte quatorze signalements, sur des dépendances de développement, dont les correctifs sont identifiés.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conclure, le bilan. Satisfactions : quatre-vingt-quinze pour cent du périmètre livré, un produit déployé et utilisable, zéro bogue ouvert à chaque fin de sprint, et la sécurité intégrée dès la conception. Je suis aussi fier d'avoir transformé l'idée d'un projet d'entrepreneuriat en produit réel.</a:t>
            </a:r>
          </a:p>
          <a:p>
            <a:r>
              <a:rPr lang="en-US"/>
              <a:t>Difficultés, avec ce qui les a résolues. Railway effaçait nos PDF à chaque déploiement : volume persistant. Le stockage local mélangeait les sessions client et administrateur dans plusieurs onglets : passage au sessionStorage, isolé par onglet. Et la synchronisation des contrats d'interface : nous les définissons désormais par écrit avant de coder.</a:t>
            </a:r>
          </a:p>
          <a:p>
            <a:r>
              <a:rPr lang="en-US"/>
              <a:t>Ce que je ferais différemment : documenter chaque contrat d'interface avant de coder, et prévoir du temps pour les tests de bout en bout dès la planification.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la suite : un tableau de bord temps réel par WebSocket, un score de sécurité assisté par intelligence artificielle, une application mobile native, l'authentification déléguée OAuth2, le contenu complet et la gamification des modules de sensibilisation, et des tests de bout en bout.</a:t>
            </a:r>
          </a:p>
          <a:p>
            <a:r>
              <a:rPr lang="en-US"/>
              <a:t>Je vous remercie pour votre attention, et je suis à votre disposition pour vos questions. L'application reste accessible avec le QR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https://portfolio-kappa-dun-65.vercel.app" TargetMode="External" Type="http://schemas.openxmlformats.org/officeDocument/2006/relationships/hyperlink"/><Relationship Id="rId6" Target="../media/image3.png" Type="http://schemas.openxmlformats.org/officeDocument/2006/relationships/image"/><Relationship Id="rId7"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14.jpeg" Type="http://schemas.openxmlformats.org/officeDocument/2006/relationships/image"/><Relationship Id="rId5" Target="../media/VAHYxce8uGk.mp4" Type="http://schemas.openxmlformats.org/officeDocument/2006/relationships/video"/><Relationship Id="rId6" Target="../media/VAHYxce8uGk.mp4" Type="http://schemas.microsoft.com/office/2007/relationships/media"/></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9.png" Type="http://schemas.openxmlformats.org/officeDocument/2006/relationships/image"/><Relationship Id="rId4"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3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3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3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3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097280" y="2834640"/>
            <a:ext cx="4754880" cy="2194560"/>
            <a:chOff x="0" y="0"/>
            <a:chExt cx="6339840" cy="2926080"/>
          </a:xfrm>
        </p:grpSpPr>
        <p:sp>
          <p:nvSpPr>
            <p:cNvPr name="Freeform 3" id="3"/>
            <p:cNvSpPr/>
            <p:nvPr/>
          </p:nvSpPr>
          <p:spPr>
            <a:xfrm flipH="false" flipV="false" rot="0">
              <a:off x="0" y="0"/>
              <a:ext cx="6339840" cy="2926080"/>
            </a:xfrm>
            <a:custGeom>
              <a:avLst/>
              <a:gdLst/>
              <a:ahLst/>
              <a:cxnLst/>
              <a:rect r="r" b="b" t="t" l="l"/>
              <a:pathLst>
                <a:path h="2926080" w="6339840">
                  <a:moveTo>
                    <a:pt x="0" y="0"/>
                  </a:moveTo>
                  <a:lnTo>
                    <a:pt x="6339840" y="0"/>
                  </a:lnTo>
                  <a:lnTo>
                    <a:pt x="6339840" y="2926080"/>
                  </a:lnTo>
                  <a:lnTo>
                    <a:pt x="0" y="2926080"/>
                  </a:lnTo>
                  <a:close/>
                </a:path>
              </a:pathLst>
            </a:custGeom>
            <a:blipFill>
              <a:blip r:embed="rId3">
                <a:alphaModFix amt="0"/>
              </a:blip>
              <a:stretch>
                <a:fillRect l="-9217" t="0" r="-9217" b="0"/>
              </a:stretch>
            </a:blipFill>
          </p:spPr>
        </p:sp>
        <p:sp>
          <p:nvSpPr>
            <p:cNvPr name="TextBox 4" id="4"/>
            <p:cNvSpPr txBox="true"/>
            <p:nvPr/>
          </p:nvSpPr>
          <p:spPr>
            <a:xfrm>
              <a:off x="0" y="-28575"/>
              <a:ext cx="6339840" cy="2954655"/>
            </a:xfrm>
            <a:prstGeom prst="rect">
              <a:avLst/>
            </a:prstGeom>
          </p:spPr>
          <p:txBody>
            <a:bodyPr anchor="ctr" rtlCol="false" tIns="0" lIns="0" bIns="0" rIns="0"/>
            <a:lstStyle/>
            <a:p>
              <a:pPr algn="ctr">
                <a:lnSpc>
                  <a:spcPts val="7679"/>
                </a:lnSpc>
              </a:pPr>
              <a:r>
                <a:rPr lang="en-US" b="true" sz="6399">
                  <a:solidFill>
                    <a:srgbClr val="1E2761"/>
                  </a:solidFill>
                  <a:latin typeface="Arial Bold"/>
                  <a:ea typeface="Arial Bold"/>
                  <a:cs typeface="Arial Bold"/>
                  <a:sym typeface="Arial Bold"/>
                </a:rPr>
                <a:t>Cyber</a:t>
              </a:r>
            </a:p>
            <a:p>
              <a:pPr algn="ctr">
                <a:lnSpc>
                  <a:spcPts val="7679"/>
                </a:lnSpc>
              </a:pPr>
              <a:r>
                <a:rPr lang="en-US" b="true" sz="6399">
                  <a:solidFill>
                    <a:srgbClr val="1E2761"/>
                  </a:solidFill>
                  <a:latin typeface="Arial Bold"/>
                  <a:ea typeface="Arial Bold"/>
                  <a:cs typeface="Arial Bold"/>
                  <a:sym typeface="Arial Bold"/>
                </a:rPr>
                <a:t>Audit</a:t>
              </a:r>
            </a:p>
          </p:txBody>
        </p:sp>
      </p:grpSp>
      <p:grpSp>
        <p:nvGrpSpPr>
          <p:cNvPr name="Group 5" id="5"/>
          <p:cNvGrpSpPr/>
          <p:nvPr/>
        </p:nvGrpSpPr>
        <p:grpSpPr>
          <a:xfrm rot="0">
            <a:off x="8034820" y="1965960"/>
            <a:ext cx="10607040" cy="1737360"/>
            <a:chOff x="0" y="0"/>
            <a:chExt cx="14142720" cy="2316480"/>
          </a:xfrm>
        </p:grpSpPr>
        <p:sp>
          <p:nvSpPr>
            <p:cNvPr name="Freeform 6" id="6"/>
            <p:cNvSpPr/>
            <p:nvPr/>
          </p:nvSpPr>
          <p:spPr>
            <a:xfrm flipH="false" flipV="false" rot="0">
              <a:off x="0" y="0"/>
              <a:ext cx="14142720" cy="2316480"/>
            </a:xfrm>
            <a:custGeom>
              <a:avLst/>
              <a:gdLst/>
              <a:ahLst/>
              <a:cxnLst/>
              <a:rect r="r" b="b" t="t" l="l"/>
              <a:pathLst>
                <a:path h="2316480" w="14142720">
                  <a:moveTo>
                    <a:pt x="0" y="0"/>
                  </a:moveTo>
                  <a:lnTo>
                    <a:pt x="14142720" y="0"/>
                  </a:lnTo>
                  <a:lnTo>
                    <a:pt x="14142720" y="2316480"/>
                  </a:lnTo>
                  <a:lnTo>
                    <a:pt x="0" y="2316480"/>
                  </a:lnTo>
                  <a:close/>
                </a:path>
              </a:pathLst>
            </a:custGeom>
            <a:blipFill>
              <a:blip r:embed="rId3">
                <a:alphaModFix amt="0"/>
              </a:blip>
              <a:stretch>
                <a:fillRect l="0" t="-68961" r="0" b="-68961"/>
              </a:stretch>
            </a:blipFill>
          </p:spPr>
        </p:sp>
        <p:sp>
          <p:nvSpPr>
            <p:cNvPr name="TextBox 7" id="7"/>
            <p:cNvSpPr txBox="true"/>
            <p:nvPr/>
          </p:nvSpPr>
          <p:spPr>
            <a:xfrm>
              <a:off x="0" y="-47625"/>
              <a:ext cx="14142720" cy="2364105"/>
            </a:xfrm>
            <a:prstGeom prst="rect">
              <a:avLst/>
            </a:prstGeom>
          </p:spPr>
          <p:txBody>
            <a:bodyPr anchor="ctr" rtlCol="false" tIns="0" lIns="0" bIns="0" rIns="0"/>
            <a:lstStyle/>
            <a:p>
              <a:pPr algn="l">
                <a:lnSpc>
                  <a:spcPts val="12960"/>
                </a:lnSpc>
              </a:pPr>
              <a:r>
                <a:rPr lang="en-US" b="true" sz="10800">
                  <a:solidFill>
                    <a:srgbClr val="FFFFFF"/>
                  </a:solidFill>
                  <a:latin typeface="Arial Bold"/>
                  <a:ea typeface="Arial Bold"/>
                  <a:cs typeface="Arial Bold"/>
                  <a:sym typeface="Arial Bold"/>
                </a:rPr>
                <a:t>CyberAudit</a:t>
              </a:r>
            </a:p>
          </p:txBody>
        </p:sp>
      </p:grpSp>
      <p:grpSp>
        <p:nvGrpSpPr>
          <p:cNvPr name="Group 8" id="8"/>
          <p:cNvGrpSpPr/>
          <p:nvPr/>
        </p:nvGrpSpPr>
        <p:grpSpPr>
          <a:xfrm rot="0">
            <a:off x="9702348" y="3504251"/>
            <a:ext cx="10607040" cy="1280160"/>
            <a:chOff x="0" y="0"/>
            <a:chExt cx="14142720" cy="1706880"/>
          </a:xfrm>
        </p:grpSpPr>
        <p:sp>
          <p:nvSpPr>
            <p:cNvPr name="Freeform 9" id="9"/>
            <p:cNvSpPr/>
            <p:nvPr/>
          </p:nvSpPr>
          <p:spPr>
            <a:xfrm flipH="false" flipV="false" rot="0">
              <a:off x="0" y="0"/>
              <a:ext cx="14142720" cy="1706880"/>
            </a:xfrm>
            <a:custGeom>
              <a:avLst/>
              <a:gdLst/>
              <a:ahLst/>
              <a:cxnLst/>
              <a:rect r="r" b="b" t="t" l="l"/>
              <a:pathLst>
                <a:path h="1706880" w="14142720">
                  <a:moveTo>
                    <a:pt x="0" y="0"/>
                  </a:moveTo>
                  <a:lnTo>
                    <a:pt x="14142720" y="0"/>
                  </a:lnTo>
                  <a:lnTo>
                    <a:pt x="14142720" y="1706880"/>
                  </a:lnTo>
                  <a:lnTo>
                    <a:pt x="0" y="1706880"/>
                  </a:lnTo>
                  <a:close/>
                </a:path>
              </a:pathLst>
            </a:custGeom>
            <a:blipFill>
              <a:blip r:embed="rId3">
                <a:alphaModFix amt="0"/>
              </a:blip>
              <a:stretch>
                <a:fillRect l="0" t="-111447" r="0" b="-111447"/>
              </a:stretch>
            </a:blipFill>
          </p:spPr>
        </p:sp>
        <p:sp>
          <p:nvSpPr>
            <p:cNvPr name="TextBox 10" id="10"/>
            <p:cNvSpPr txBox="true"/>
            <p:nvPr/>
          </p:nvSpPr>
          <p:spPr>
            <a:xfrm>
              <a:off x="0" y="-28575"/>
              <a:ext cx="14142720" cy="1735455"/>
            </a:xfrm>
            <a:prstGeom prst="rect">
              <a:avLst/>
            </a:prstGeom>
          </p:spPr>
          <p:txBody>
            <a:bodyPr anchor="ctr" rtlCol="false" tIns="0" lIns="0" bIns="0" rIns="0"/>
            <a:lstStyle/>
            <a:p>
              <a:pPr algn="l">
                <a:lnSpc>
                  <a:spcPts val="7679"/>
                </a:lnSpc>
              </a:pPr>
              <a:r>
                <a:rPr lang="en-US" sz="6399" i="true">
                  <a:solidFill>
                    <a:srgbClr val="00C2D7"/>
                  </a:solidFill>
                  <a:latin typeface="Arial Italics"/>
                  <a:ea typeface="Arial Italics"/>
                  <a:cs typeface="Arial Italics"/>
                  <a:sym typeface="Arial Italics"/>
                </a:rPr>
                <a:t>&amp; Solutions</a:t>
              </a:r>
            </a:p>
          </p:txBody>
        </p:sp>
      </p:grpSp>
      <p:grpSp>
        <p:nvGrpSpPr>
          <p:cNvPr name="Group 11" id="11"/>
          <p:cNvGrpSpPr/>
          <p:nvPr/>
        </p:nvGrpSpPr>
        <p:grpSpPr>
          <a:xfrm rot="0">
            <a:off x="7255331" y="5044820"/>
            <a:ext cx="10607040" cy="1147167"/>
            <a:chOff x="0" y="0"/>
            <a:chExt cx="14142720" cy="1529556"/>
          </a:xfrm>
        </p:grpSpPr>
        <p:sp>
          <p:nvSpPr>
            <p:cNvPr name="Freeform 12" id="12"/>
            <p:cNvSpPr/>
            <p:nvPr/>
          </p:nvSpPr>
          <p:spPr>
            <a:xfrm flipH="false" flipV="false" rot="0">
              <a:off x="0" y="0"/>
              <a:ext cx="14142720" cy="1529556"/>
            </a:xfrm>
            <a:custGeom>
              <a:avLst/>
              <a:gdLst/>
              <a:ahLst/>
              <a:cxnLst/>
              <a:rect r="r" b="b" t="t" l="l"/>
              <a:pathLst>
                <a:path h="1529556" w="14142720">
                  <a:moveTo>
                    <a:pt x="0" y="0"/>
                  </a:moveTo>
                  <a:lnTo>
                    <a:pt x="14142720" y="0"/>
                  </a:lnTo>
                  <a:lnTo>
                    <a:pt x="14142720" y="1529556"/>
                  </a:lnTo>
                  <a:lnTo>
                    <a:pt x="0" y="1529556"/>
                  </a:lnTo>
                  <a:close/>
                </a:path>
              </a:pathLst>
            </a:custGeom>
            <a:blipFill>
              <a:blip r:embed="rId3">
                <a:alphaModFix amt="0"/>
              </a:blip>
              <a:stretch>
                <a:fillRect l="0" t="-148280" r="0" b="-112048"/>
              </a:stretch>
            </a:blipFill>
          </p:spPr>
        </p:sp>
        <p:sp>
          <p:nvSpPr>
            <p:cNvPr name="TextBox 13" id="13"/>
            <p:cNvSpPr txBox="true"/>
            <p:nvPr/>
          </p:nvSpPr>
          <p:spPr>
            <a:xfrm>
              <a:off x="0" y="-28575"/>
              <a:ext cx="14142720" cy="1558131"/>
            </a:xfrm>
            <a:prstGeom prst="rect">
              <a:avLst/>
            </a:prstGeom>
          </p:spPr>
          <p:txBody>
            <a:bodyPr anchor="ctr" rtlCol="false" tIns="0" lIns="0" bIns="0" rIns="0"/>
            <a:lstStyle/>
            <a:p>
              <a:pPr algn="l">
                <a:lnSpc>
                  <a:spcPts val="3840"/>
                </a:lnSpc>
              </a:pPr>
              <a:r>
                <a:rPr lang="en-US" sz="3200">
                  <a:solidFill>
                    <a:srgbClr val="E8EEFC"/>
                  </a:solidFill>
                  <a:latin typeface="Arial"/>
                  <a:ea typeface="Arial"/>
                  <a:cs typeface="Arial"/>
                  <a:sym typeface="Arial"/>
                </a:rPr>
                <a:t>Plat</a:t>
              </a:r>
              <a:r>
                <a:rPr lang="en-US" sz="3200">
                  <a:solidFill>
                    <a:srgbClr val="E8EEFC"/>
                  </a:solidFill>
                  <a:latin typeface="Arial"/>
                  <a:ea typeface="Arial"/>
                  <a:cs typeface="Arial"/>
                  <a:sym typeface="Arial"/>
                </a:rPr>
                <a:t>eforme de gestion d'audits de cybersécurité pour PME</a:t>
              </a:r>
            </a:p>
            <a:p>
              <a:pPr algn="l">
                <a:lnSpc>
                  <a:spcPts val="3840"/>
                </a:lnSpc>
              </a:pPr>
            </a:p>
          </p:txBody>
        </p:sp>
      </p:grpSp>
      <p:sp>
        <p:nvSpPr>
          <p:cNvPr name="AutoShape 14" id="14"/>
          <p:cNvSpPr/>
          <p:nvPr/>
        </p:nvSpPr>
        <p:spPr>
          <a:xfrm>
            <a:off x="7217232" y="5925506"/>
            <a:ext cx="10645139" cy="38088"/>
          </a:xfrm>
          <a:prstGeom prst="line">
            <a:avLst/>
          </a:prstGeom>
          <a:ln cap="rnd" w="19050">
            <a:solidFill>
              <a:srgbClr val="00C2D7"/>
            </a:solidFill>
            <a:prstDash val="solid"/>
            <a:headEnd type="none" len="sm" w="sm"/>
            <a:tailEnd type="none" len="sm" w="sm"/>
          </a:ln>
        </p:spPr>
      </p:sp>
      <p:grpSp>
        <p:nvGrpSpPr>
          <p:cNvPr name="Group 15" id="15"/>
          <p:cNvGrpSpPr/>
          <p:nvPr/>
        </p:nvGrpSpPr>
        <p:grpSpPr>
          <a:xfrm rot="0">
            <a:off x="8394839" y="8778247"/>
            <a:ext cx="8726596" cy="1031243"/>
            <a:chOff x="0" y="0"/>
            <a:chExt cx="11635461" cy="1374991"/>
          </a:xfrm>
        </p:grpSpPr>
        <p:sp>
          <p:nvSpPr>
            <p:cNvPr name="Freeform 16" id="16"/>
            <p:cNvSpPr/>
            <p:nvPr/>
          </p:nvSpPr>
          <p:spPr>
            <a:xfrm flipH="false" flipV="false" rot="0">
              <a:off x="0" y="0"/>
              <a:ext cx="11635500" cy="1375029"/>
            </a:xfrm>
            <a:custGeom>
              <a:avLst/>
              <a:gdLst/>
              <a:ahLst/>
              <a:cxnLst/>
              <a:rect r="r" b="b" t="t" l="l"/>
              <a:pathLst>
                <a:path h="1375029" w="11635500">
                  <a:moveTo>
                    <a:pt x="0" y="200025"/>
                  </a:moveTo>
                  <a:cubicBezTo>
                    <a:pt x="0" y="89535"/>
                    <a:pt x="77484" y="0"/>
                    <a:pt x="173103" y="0"/>
                  </a:cubicBezTo>
                  <a:lnTo>
                    <a:pt x="11462392" y="0"/>
                  </a:lnTo>
                  <a:cubicBezTo>
                    <a:pt x="11558010" y="0"/>
                    <a:pt x="11635500" y="89535"/>
                    <a:pt x="11635500" y="200025"/>
                  </a:cubicBezTo>
                  <a:lnTo>
                    <a:pt x="11635500" y="1175004"/>
                  </a:lnTo>
                  <a:cubicBezTo>
                    <a:pt x="11635500" y="1285494"/>
                    <a:pt x="11558010" y="1375029"/>
                    <a:pt x="11462392" y="1375029"/>
                  </a:cubicBezTo>
                  <a:lnTo>
                    <a:pt x="173103" y="1375029"/>
                  </a:lnTo>
                  <a:cubicBezTo>
                    <a:pt x="77484" y="1375029"/>
                    <a:pt x="0" y="1285494"/>
                    <a:pt x="0" y="1175004"/>
                  </a:cubicBezTo>
                  <a:close/>
                </a:path>
              </a:pathLst>
            </a:custGeom>
            <a:solidFill>
              <a:srgbClr val="00C2D7"/>
            </a:solidFill>
            <a:ln w="25400" cap="sq">
              <a:solidFill>
                <a:srgbClr val="00C2D7"/>
              </a:solidFill>
              <a:prstDash val="solid"/>
              <a:miter/>
            </a:ln>
          </p:spPr>
        </p:sp>
      </p:grpSp>
      <p:grpSp>
        <p:nvGrpSpPr>
          <p:cNvPr name="Group 17" id="17"/>
          <p:cNvGrpSpPr/>
          <p:nvPr/>
        </p:nvGrpSpPr>
        <p:grpSpPr>
          <a:xfrm rot="0">
            <a:off x="8210857" y="8778247"/>
            <a:ext cx="8910578" cy="1005840"/>
            <a:chOff x="0" y="0"/>
            <a:chExt cx="11880771" cy="1341120"/>
          </a:xfrm>
        </p:grpSpPr>
        <p:sp>
          <p:nvSpPr>
            <p:cNvPr name="Freeform 18" id="18"/>
            <p:cNvSpPr/>
            <p:nvPr/>
          </p:nvSpPr>
          <p:spPr>
            <a:xfrm flipH="false" flipV="false" rot="0">
              <a:off x="0" y="0"/>
              <a:ext cx="11880771" cy="1341120"/>
            </a:xfrm>
            <a:custGeom>
              <a:avLst/>
              <a:gdLst/>
              <a:ahLst/>
              <a:cxnLst/>
              <a:rect r="r" b="b" t="t" l="l"/>
              <a:pathLst>
                <a:path h="1341120" w="11880771">
                  <a:moveTo>
                    <a:pt x="0" y="0"/>
                  </a:moveTo>
                  <a:lnTo>
                    <a:pt x="11880771" y="0"/>
                  </a:lnTo>
                  <a:lnTo>
                    <a:pt x="11880771" y="1341120"/>
                  </a:lnTo>
                  <a:lnTo>
                    <a:pt x="0" y="1341120"/>
                  </a:lnTo>
                  <a:close/>
                </a:path>
              </a:pathLst>
            </a:custGeom>
            <a:blipFill>
              <a:blip r:embed="rId4">
                <a:alphaModFix amt="0"/>
              </a:blip>
              <a:stretch>
                <a:fillRect l="-7505" t="0" r="-7505" b="0"/>
              </a:stretch>
            </a:blipFill>
          </p:spPr>
        </p:sp>
        <p:sp>
          <p:nvSpPr>
            <p:cNvPr name="TextBox 19" id="19"/>
            <p:cNvSpPr txBox="true"/>
            <p:nvPr/>
          </p:nvSpPr>
          <p:spPr>
            <a:xfrm>
              <a:off x="0" y="-19050"/>
              <a:ext cx="11880771" cy="1360170"/>
            </a:xfrm>
            <a:prstGeom prst="rect">
              <a:avLst/>
            </a:prstGeom>
          </p:spPr>
          <p:txBody>
            <a:bodyPr anchor="ctr" rtlCol="false" tIns="0" lIns="0" bIns="0" rIns="0"/>
            <a:lstStyle/>
            <a:p>
              <a:pPr algn="ctr">
                <a:lnSpc>
                  <a:spcPts val="3359"/>
                </a:lnSpc>
              </a:pPr>
              <a:r>
                <a:rPr lang="en-US" b="true" sz="2799">
                  <a:solidFill>
                    <a:srgbClr val="1E2761"/>
                  </a:solidFill>
                  <a:latin typeface="Arial Bold"/>
                  <a:ea typeface="Arial Bold"/>
                  <a:cs typeface="Arial Bold"/>
                  <a:sym typeface="Arial Bold"/>
                </a:rPr>
                <a:t>🌐  Live demo: </a:t>
              </a:r>
              <a:r>
                <a:rPr lang="en-US" b="true" sz="2799" u="sng">
                  <a:solidFill>
                    <a:srgbClr val="1E2761"/>
                  </a:solidFill>
                  <a:latin typeface="Arial Bold"/>
                  <a:ea typeface="Arial Bold"/>
                  <a:cs typeface="Arial Bold"/>
                  <a:sym typeface="Arial Bold"/>
                  <a:hlinkClick r:id="rId5" tooltip="https://portfolio-kappa-dun-65.vercel.app"/>
                </a:rPr>
                <a:t>portfolio-kappa-dun-65.vercel.app</a:t>
              </a:r>
            </a:p>
          </p:txBody>
        </p:sp>
      </p:grpSp>
      <p:sp>
        <p:nvSpPr>
          <p:cNvPr name="Freeform 20" id="20"/>
          <p:cNvSpPr/>
          <p:nvPr/>
        </p:nvSpPr>
        <p:spPr>
          <a:xfrm flipH="false" flipV="false" rot="0">
            <a:off x="0" y="-19243"/>
            <a:ext cx="7063035" cy="6356960"/>
          </a:xfrm>
          <a:custGeom>
            <a:avLst/>
            <a:gdLst/>
            <a:ahLst/>
            <a:cxnLst/>
            <a:rect r="r" b="b" t="t" l="l"/>
            <a:pathLst>
              <a:path h="6356960" w="7063035">
                <a:moveTo>
                  <a:pt x="0" y="0"/>
                </a:moveTo>
                <a:lnTo>
                  <a:pt x="7063035" y="0"/>
                </a:lnTo>
                <a:lnTo>
                  <a:pt x="7063035" y="6356960"/>
                </a:lnTo>
                <a:lnTo>
                  <a:pt x="0" y="6356960"/>
                </a:lnTo>
                <a:lnTo>
                  <a:pt x="0" y="0"/>
                </a:lnTo>
                <a:close/>
              </a:path>
            </a:pathLst>
          </a:custGeom>
          <a:blipFill>
            <a:blip r:embed="rId6"/>
            <a:stretch>
              <a:fillRect l="-2166" t="0" r="-2166" b="0"/>
            </a:stretch>
          </a:blipFill>
        </p:spPr>
      </p:sp>
      <p:sp>
        <p:nvSpPr>
          <p:cNvPr name="Freeform 21" id="21"/>
          <p:cNvSpPr/>
          <p:nvPr/>
        </p:nvSpPr>
        <p:spPr>
          <a:xfrm flipH="false" flipV="false" rot="0">
            <a:off x="0" y="6337717"/>
            <a:ext cx="7063035" cy="1650687"/>
          </a:xfrm>
          <a:custGeom>
            <a:avLst/>
            <a:gdLst/>
            <a:ahLst/>
            <a:cxnLst/>
            <a:rect r="r" b="b" t="t" l="l"/>
            <a:pathLst>
              <a:path h="1650687" w="7063035">
                <a:moveTo>
                  <a:pt x="0" y="0"/>
                </a:moveTo>
                <a:lnTo>
                  <a:pt x="7063035" y="0"/>
                </a:lnTo>
                <a:lnTo>
                  <a:pt x="7063035" y="1650687"/>
                </a:lnTo>
                <a:lnTo>
                  <a:pt x="0" y="1650687"/>
                </a:lnTo>
                <a:lnTo>
                  <a:pt x="0" y="0"/>
                </a:lnTo>
                <a:close/>
              </a:path>
            </a:pathLst>
          </a:custGeom>
          <a:blipFill>
            <a:blip r:embed="rId7"/>
            <a:stretch>
              <a:fillRect l="0" t="0" r="0" b="0"/>
            </a:stretch>
          </a:blipFill>
        </p:spPr>
      </p:sp>
      <p:sp>
        <p:nvSpPr>
          <p:cNvPr name="TextBox 22" id="22"/>
          <p:cNvSpPr txBox="true"/>
          <p:nvPr/>
        </p:nvSpPr>
        <p:spPr>
          <a:xfrm rot="0">
            <a:off x="7870416" y="6433346"/>
            <a:ext cx="10283657" cy="1346272"/>
          </a:xfrm>
          <a:prstGeom prst="rect">
            <a:avLst/>
          </a:prstGeom>
        </p:spPr>
        <p:txBody>
          <a:bodyPr anchor="t" rtlCol="false" tIns="0" lIns="0" bIns="0" rIns="0">
            <a:spAutoFit/>
          </a:bodyPr>
          <a:lstStyle/>
          <a:p>
            <a:pPr algn="l">
              <a:lnSpc>
                <a:spcPts val="3534"/>
              </a:lnSpc>
            </a:pPr>
            <a:r>
              <a:rPr lang="en-US" b="true" sz="2945">
                <a:solidFill>
                  <a:srgbClr val="E8EEFC"/>
                </a:solidFill>
                <a:latin typeface="Arial Bold"/>
                <a:ea typeface="Arial Bold"/>
                <a:cs typeface="Arial Bold"/>
                <a:sym typeface="Arial Bold"/>
              </a:rPr>
              <a:t>Holberton School Dijon </a:t>
            </a:r>
          </a:p>
          <a:p>
            <a:pPr algn="l">
              <a:lnSpc>
                <a:spcPts val="3534"/>
              </a:lnSpc>
            </a:pPr>
            <a:r>
              <a:rPr lang="en-US" b="true" sz="2945">
                <a:solidFill>
                  <a:srgbClr val="E8EEFC"/>
                </a:solidFill>
                <a:latin typeface="Arial Bold"/>
                <a:ea typeface="Arial Bold"/>
                <a:cs typeface="Arial Bold"/>
                <a:sym typeface="Arial Bold"/>
              </a:rPr>
              <a:t>Titre RCNP de niveau 5 Développeur web et web mobile</a:t>
            </a:r>
          </a:p>
          <a:p>
            <a:pPr algn="l">
              <a:lnSpc>
                <a:spcPts val="3534"/>
              </a:lnSpc>
            </a:pPr>
            <a:r>
              <a:rPr lang="en-US" b="true" sz="2945">
                <a:solidFill>
                  <a:srgbClr val="FFFFFF"/>
                </a:solidFill>
                <a:latin typeface="Arial Bold"/>
                <a:ea typeface="Arial Bold"/>
                <a:cs typeface="Arial Bold"/>
                <a:sym typeface="Arial Bold"/>
              </a:rPr>
              <a:t>Tommy JOUHANS  </a:t>
            </a:r>
          </a:p>
        </p:txBody>
      </p:sp>
      <p:sp>
        <p:nvSpPr>
          <p:cNvPr name="TextBox 23" id="23"/>
          <p:cNvSpPr txBox="true"/>
          <p:nvPr/>
        </p:nvSpPr>
        <p:spPr>
          <a:xfrm rot="0">
            <a:off x="-4014633" y="8445604"/>
            <a:ext cx="16414838" cy="438150"/>
          </a:xfrm>
          <a:prstGeom prst="rect">
            <a:avLst/>
          </a:prstGeom>
        </p:spPr>
        <p:txBody>
          <a:bodyPr anchor="t" rtlCol="false" tIns="0" lIns="0" bIns="0" rIns="0">
            <a:spAutoFit/>
          </a:bodyPr>
          <a:lstStyle/>
          <a:p>
            <a:pPr algn="ctr">
              <a:lnSpc>
                <a:spcPts val="3359"/>
              </a:lnSpc>
              <a:spcBef>
                <a:spcPct val="0"/>
              </a:spcBef>
            </a:pPr>
            <a:r>
              <a:rPr lang="en-US" b="true" sz="2799">
                <a:solidFill>
                  <a:srgbClr val="FFFFFF"/>
                </a:solidFill>
                <a:latin typeface="Arial Bold"/>
                <a:ea typeface="Arial Bold"/>
                <a:cs typeface="Arial Bold"/>
                <a:sym typeface="Arial Bold"/>
              </a:rPr>
              <a:t>Projet né des Entrep' Bourgogne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197396" y="323517"/>
            <a:ext cx="17840250" cy="9611435"/>
          </a:xfrm>
          <a:custGeom>
            <a:avLst/>
            <a:gdLst/>
            <a:ahLst/>
            <a:cxnLst/>
            <a:rect r="r" b="b" t="t" l="l"/>
            <a:pathLst>
              <a:path h="9611435" w="17840250">
                <a:moveTo>
                  <a:pt x="0" y="0"/>
                </a:moveTo>
                <a:lnTo>
                  <a:pt x="17840251" y="0"/>
                </a:lnTo>
                <a:lnTo>
                  <a:pt x="17840251" y="9611435"/>
                </a:lnTo>
                <a:lnTo>
                  <a:pt x="0" y="9611435"/>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sp>
        <p:nvSpPr>
          <p:cNvPr name="Freeform 2" id="2"/>
          <p:cNvSpPr/>
          <p:nvPr/>
        </p:nvSpPr>
        <p:spPr>
          <a:xfrm flipH="false" flipV="false" rot="0">
            <a:off x="102533" y="266759"/>
            <a:ext cx="18048059" cy="9734672"/>
          </a:xfrm>
          <a:custGeom>
            <a:avLst/>
            <a:gdLst/>
            <a:ahLst/>
            <a:cxnLst/>
            <a:rect r="r" b="b" t="t" l="l"/>
            <a:pathLst>
              <a:path h="9734672" w="18048059">
                <a:moveTo>
                  <a:pt x="0" y="0"/>
                </a:moveTo>
                <a:lnTo>
                  <a:pt x="18048060" y="0"/>
                </a:lnTo>
                <a:lnTo>
                  <a:pt x="18048060" y="9734672"/>
                </a:lnTo>
                <a:lnTo>
                  <a:pt x="0" y="9734672"/>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sp>
        <p:nvSpPr>
          <p:cNvPr name="Freeform 2" id="2"/>
          <p:cNvSpPr/>
          <p:nvPr/>
        </p:nvSpPr>
        <p:spPr>
          <a:xfrm flipH="false" flipV="false" rot="0">
            <a:off x="190642" y="369642"/>
            <a:ext cx="17732866" cy="9642246"/>
          </a:xfrm>
          <a:custGeom>
            <a:avLst/>
            <a:gdLst/>
            <a:ahLst/>
            <a:cxnLst/>
            <a:rect r="r" b="b" t="t" l="l"/>
            <a:pathLst>
              <a:path h="9642246" w="17732866">
                <a:moveTo>
                  <a:pt x="0" y="0"/>
                </a:moveTo>
                <a:lnTo>
                  <a:pt x="17732867" y="0"/>
                </a:lnTo>
                <a:lnTo>
                  <a:pt x="17732867" y="9642246"/>
                </a:lnTo>
                <a:lnTo>
                  <a:pt x="0" y="9642246"/>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144213" y="171118"/>
            <a:ext cx="17821001" cy="9846103"/>
          </a:xfrm>
          <a:custGeom>
            <a:avLst/>
            <a:gdLst/>
            <a:ahLst/>
            <a:cxnLst/>
            <a:rect r="r" b="b" t="t" l="l"/>
            <a:pathLst>
              <a:path h="9846103" w="17821001">
                <a:moveTo>
                  <a:pt x="0" y="0"/>
                </a:moveTo>
                <a:lnTo>
                  <a:pt x="17821001" y="0"/>
                </a:lnTo>
                <a:lnTo>
                  <a:pt x="17821001" y="9846103"/>
                </a:lnTo>
                <a:lnTo>
                  <a:pt x="0" y="9846103"/>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0" y="457200"/>
            <a:ext cx="18288000" cy="1243682"/>
            <a:chOff x="0" y="0"/>
            <a:chExt cx="24384000" cy="1658243"/>
          </a:xfrm>
        </p:grpSpPr>
        <p:sp>
          <p:nvSpPr>
            <p:cNvPr name="Freeform 3" id="3"/>
            <p:cNvSpPr/>
            <p:nvPr/>
          </p:nvSpPr>
          <p:spPr>
            <a:xfrm flipH="false" flipV="false" rot="0">
              <a:off x="0" y="0"/>
              <a:ext cx="24384000" cy="1658243"/>
            </a:xfrm>
            <a:custGeom>
              <a:avLst/>
              <a:gdLst/>
              <a:ahLst/>
              <a:cxnLst/>
              <a:rect r="r" b="b" t="t" l="l"/>
              <a:pathLst>
                <a:path h="1658243" w="24384000">
                  <a:moveTo>
                    <a:pt x="0" y="0"/>
                  </a:moveTo>
                  <a:lnTo>
                    <a:pt x="24384000" y="0"/>
                  </a:lnTo>
                  <a:lnTo>
                    <a:pt x="24384000" y="1658243"/>
                  </a:lnTo>
                  <a:lnTo>
                    <a:pt x="0" y="1658243"/>
                  </a:lnTo>
                  <a:close/>
                </a:path>
              </a:pathLst>
            </a:custGeom>
            <a:blipFill>
              <a:blip r:embed="rId3">
                <a:alphaModFix amt="0"/>
              </a:blip>
              <a:stretch>
                <a:fillRect l="0" t="-246084" r="0" b="-226960"/>
              </a:stretch>
            </a:blipFill>
          </p:spPr>
        </p:sp>
        <p:sp>
          <p:nvSpPr>
            <p:cNvPr name="TextBox 4" id="4"/>
            <p:cNvSpPr txBox="true"/>
            <p:nvPr/>
          </p:nvSpPr>
          <p:spPr>
            <a:xfrm>
              <a:off x="0" y="-28575"/>
              <a:ext cx="24384000" cy="1686818"/>
            </a:xfrm>
            <a:prstGeom prst="rect">
              <a:avLst/>
            </a:prstGeom>
          </p:spPr>
          <p:txBody>
            <a:bodyPr anchor="ctr" rtlCol="false" tIns="0" lIns="0" bIns="0" rIns="0"/>
            <a:lstStyle/>
            <a:p>
              <a:pPr algn="ctr">
                <a:lnSpc>
                  <a:spcPts val="7200"/>
                </a:lnSpc>
              </a:pPr>
              <a:r>
                <a:rPr lang="en-US" b="true" sz="6000">
                  <a:solidFill>
                    <a:srgbClr val="FFFFFF"/>
                  </a:solidFill>
                  <a:latin typeface="Arial Bold"/>
                  <a:ea typeface="Arial Bold"/>
                  <a:cs typeface="Arial Bold"/>
                  <a:sym typeface="Arial Bold"/>
                </a:rPr>
                <a:t>Not</a:t>
              </a:r>
              <a:r>
                <a:rPr lang="en-US" b="true" sz="6000">
                  <a:solidFill>
                    <a:srgbClr val="FFFFFF"/>
                  </a:solidFill>
                  <a:latin typeface="Arial Bold"/>
                  <a:ea typeface="Arial Bold"/>
                  <a:cs typeface="Arial Bold"/>
                  <a:sym typeface="Arial Bold"/>
                </a:rPr>
                <a:t>re solution</a:t>
              </a:r>
            </a:p>
          </p:txBody>
        </p:sp>
      </p:grpSp>
      <p:grpSp>
        <p:nvGrpSpPr>
          <p:cNvPr name="Group 5" id="5"/>
          <p:cNvGrpSpPr/>
          <p:nvPr/>
        </p:nvGrpSpPr>
        <p:grpSpPr>
          <a:xfrm rot="0">
            <a:off x="914400" y="1554480"/>
            <a:ext cx="16459200" cy="640080"/>
            <a:chOff x="0" y="0"/>
            <a:chExt cx="21945600" cy="853440"/>
          </a:xfrm>
        </p:grpSpPr>
        <p:sp>
          <p:nvSpPr>
            <p:cNvPr name="Freeform 6" id="6"/>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sp>
        <p:sp>
          <p:nvSpPr>
            <p:cNvPr name="TextBox 7" id="7"/>
            <p:cNvSpPr txBox="true"/>
            <p:nvPr/>
          </p:nvSpPr>
          <p:spPr>
            <a:xfrm>
              <a:off x="0" y="-19050"/>
              <a:ext cx="21945600" cy="872490"/>
            </a:xfrm>
            <a:prstGeom prst="rect">
              <a:avLst/>
            </a:prstGeom>
          </p:spPr>
          <p:txBody>
            <a:bodyPr anchor="ctr" rtlCol="false" tIns="0" lIns="0" bIns="0" rIns="0"/>
            <a:lstStyle/>
            <a:p>
              <a:pPr algn="ctr">
                <a:lnSpc>
                  <a:spcPts val="3120"/>
                </a:lnSpc>
              </a:pPr>
              <a:r>
                <a:rPr lang="en-US" sz="2600" i="true">
                  <a:solidFill>
                    <a:srgbClr val="00C2D7"/>
                  </a:solidFill>
                  <a:latin typeface="Arial Italics"/>
                  <a:ea typeface="Arial Italics"/>
                  <a:cs typeface="Arial Italics"/>
                  <a:sym typeface="Arial Italics"/>
                </a:rPr>
                <a:t>U</a:t>
              </a:r>
              <a:r>
                <a:rPr lang="en-US" sz="2600" i="true">
                  <a:solidFill>
                    <a:srgbClr val="00C2D7"/>
                  </a:solidFill>
                  <a:latin typeface="Arial Italics"/>
                  <a:ea typeface="Arial Italics"/>
                  <a:cs typeface="Arial Italics"/>
                  <a:sym typeface="Arial Italics"/>
                </a:rPr>
                <a:t>ne plateforme web unifiée connectant les clients PME et les opérateurs CyberAudit</a:t>
              </a:r>
            </a:p>
          </p:txBody>
        </p:sp>
      </p:grpSp>
      <p:grpSp>
        <p:nvGrpSpPr>
          <p:cNvPr name="Group 8" id="8"/>
          <p:cNvGrpSpPr/>
          <p:nvPr/>
        </p:nvGrpSpPr>
        <p:grpSpPr>
          <a:xfrm rot="0">
            <a:off x="767715" y="2550795"/>
            <a:ext cx="5414010" cy="3402330"/>
            <a:chOff x="0" y="0"/>
            <a:chExt cx="7218680" cy="4536440"/>
          </a:xfrm>
        </p:grpSpPr>
        <p:sp>
          <p:nvSpPr>
            <p:cNvPr name="Freeform 9" id="9"/>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10" id="10"/>
          <p:cNvGrpSpPr/>
          <p:nvPr/>
        </p:nvGrpSpPr>
        <p:grpSpPr>
          <a:xfrm rot="0">
            <a:off x="1051560" y="2834640"/>
            <a:ext cx="1463040" cy="640080"/>
            <a:chOff x="0" y="0"/>
            <a:chExt cx="1950720" cy="853440"/>
          </a:xfrm>
        </p:grpSpPr>
        <p:sp>
          <p:nvSpPr>
            <p:cNvPr name="Freeform 11" id="11"/>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12" id="12"/>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01</a:t>
              </a:r>
            </a:p>
          </p:txBody>
        </p:sp>
      </p:grpSp>
      <p:grpSp>
        <p:nvGrpSpPr>
          <p:cNvPr name="Group 13" id="13"/>
          <p:cNvGrpSpPr/>
          <p:nvPr/>
        </p:nvGrpSpPr>
        <p:grpSpPr>
          <a:xfrm rot="0">
            <a:off x="1590675" y="2834640"/>
            <a:ext cx="4846320" cy="1079041"/>
            <a:chOff x="0" y="0"/>
            <a:chExt cx="6461760" cy="1438721"/>
          </a:xfrm>
        </p:grpSpPr>
        <p:sp>
          <p:nvSpPr>
            <p:cNvPr name="Freeform 14" id="14"/>
            <p:cNvSpPr/>
            <p:nvPr/>
          </p:nvSpPr>
          <p:spPr>
            <a:xfrm flipH="false" flipV="false" rot="0">
              <a:off x="0" y="0"/>
              <a:ext cx="6461760" cy="1438721"/>
            </a:xfrm>
            <a:custGeom>
              <a:avLst/>
              <a:gdLst/>
              <a:ahLst/>
              <a:cxnLst/>
              <a:rect r="r" b="b" t="t" l="l"/>
              <a:pathLst>
                <a:path h="1438721" w="6461760">
                  <a:moveTo>
                    <a:pt x="0" y="0"/>
                  </a:moveTo>
                  <a:lnTo>
                    <a:pt x="6461760" y="0"/>
                  </a:lnTo>
                  <a:lnTo>
                    <a:pt x="6461760" y="1438721"/>
                  </a:lnTo>
                  <a:lnTo>
                    <a:pt x="0" y="1438721"/>
                  </a:lnTo>
                  <a:close/>
                </a:path>
              </a:pathLst>
            </a:custGeom>
            <a:blipFill>
              <a:blip r:embed="rId3">
                <a:alphaModFix amt="0"/>
              </a:blip>
              <a:stretch>
                <a:fillRect l="0" t="-49379" r="0" b="-25647"/>
              </a:stretch>
            </a:blipFill>
          </p:spPr>
        </p:sp>
        <p:sp>
          <p:nvSpPr>
            <p:cNvPr name="TextBox 15" id="15"/>
            <p:cNvSpPr txBox="true"/>
            <p:nvPr/>
          </p:nvSpPr>
          <p:spPr>
            <a:xfrm>
              <a:off x="0" y="-19050"/>
              <a:ext cx="6461760" cy="1457771"/>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Form</a:t>
              </a:r>
              <a:r>
                <a:rPr lang="en-US" b="true" sz="3000">
                  <a:solidFill>
                    <a:srgbClr val="FFFFFF"/>
                  </a:solidFill>
                  <a:latin typeface="Arial Bold"/>
                  <a:ea typeface="Arial Bold"/>
                  <a:cs typeface="Arial Bold"/>
                  <a:sym typeface="Arial Bold"/>
                </a:rPr>
                <a:t>ulaire de demande d'audit</a:t>
              </a:r>
            </a:p>
          </p:txBody>
        </p:sp>
      </p:grpSp>
      <p:sp>
        <p:nvSpPr>
          <p:cNvPr name="TextBox 16" id="16"/>
          <p:cNvSpPr txBox="true"/>
          <p:nvPr/>
        </p:nvSpPr>
        <p:spPr>
          <a:xfrm rot="0">
            <a:off x="1051560" y="4191000"/>
            <a:ext cx="4846320" cy="1266825"/>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Les c</a:t>
            </a:r>
            <a:r>
              <a:rPr lang="en-US" sz="2100">
                <a:solidFill>
                  <a:srgbClr val="E8EEFC"/>
                </a:solidFill>
                <a:latin typeface="Arial"/>
                <a:ea typeface="Arial"/>
                <a:cs typeface="Arial"/>
                <a:sym typeface="Arial"/>
              </a:rPr>
              <a:t>lients choisissent un pack, remplissent un formulaire, et reçoivent une confirmation par email instantanée via EmailJS.</a:t>
            </a:r>
          </a:p>
        </p:txBody>
      </p:sp>
      <p:grpSp>
        <p:nvGrpSpPr>
          <p:cNvPr name="Group 17" id="17"/>
          <p:cNvGrpSpPr/>
          <p:nvPr/>
        </p:nvGrpSpPr>
        <p:grpSpPr>
          <a:xfrm rot="0">
            <a:off x="6436995" y="2550795"/>
            <a:ext cx="5414010" cy="3402330"/>
            <a:chOff x="0" y="0"/>
            <a:chExt cx="7218680" cy="4536440"/>
          </a:xfrm>
        </p:grpSpPr>
        <p:sp>
          <p:nvSpPr>
            <p:cNvPr name="Freeform 18" id="18"/>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19" id="19"/>
          <p:cNvGrpSpPr/>
          <p:nvPr/>
        </p:nvGrpSpPr>
        <p:grpSpPr>
          <a:xfrm rot="0">
            <a:off x="6720840" y="2834640"/>
            <a:ext cx="1463040" cy="640080"/>
            <a:chOff x="0" y="0"/>
            <a:chExt cx="1950720" cy="853440"/>
          </a:xfrm>
        </p:grpSpPr>
        <p:sp>
          <p:nvSpPr>
            <p:cNvPr name="Freeform 20" id="20"/>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21" id="21"/>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02</a:t>
              </a:r>
            </a:p>
          </p:txBody>
        </p:sp>
      </p:grpSp>
      <p:grpSp>
        <p:nvGrpSpPr>
          <p:cNvPr name="Group 22" id="22"/>
          <p:cNvGrpSpPr/>
          <p:nvPr/>
        </p:nvGrpSpPr>
        <p:grpSpPr>
          <a:xfrm rot="0">
            <a:off x="7259955" y="2834640"/>
            <a:ext cx="4591050" cy="1079041"/>
            <a:chOff x="0" y="0"/>
            <a:chExt cx="6121400" cy="1438721"/>
          </a:xfrm>
        </p:grpSpPr>
        <p:sp>
          <p:nvSpPr>
            <p:cNvPr name="Freeform 23" id="23"/>
            <p:cNvSpPr/>
            <p:nvPr/>
          </p:nvSpPr>
          <p:spPr>
            <a:xfrm flipH="false" flipV="false" rot="0">
              <a:off x="0" y="0"/>
              <a:ext cx="6121400" cy="1438721"/>
            </a:xfrm>
            <a:custGeom>
              <a:avLst/>
              <a:gdLst/>
              <a:ahLst/>
              <a:cxnLst/>
              <a:rect r="r" b="b" t="t" l="l"/>
              <a:pathLst>
                <a:path h="1438721" w="6121400">
                  <a:moveTo>
                    <a:pt x="0" y="0"/>
                  </a:moveTo>
                  <a:lnTo>
                    <a:pt x="6121400" y="0"/>
                  </a:lnTo>
                  <a:lnTo>
                    <a:pt x="6121400" y="1438721"/>
                  </a:lnTo>
                  <a:lnTo>
                    <a:pt x="0" y="1438721"/>
                  </a:lnTo>
                  <a:close/>
                </a:path>
              </a:pathLst>
            </a:custGeom>
            <a:blipFill>
              <a:blip r:embed="rId3">
                <a:alphaModFix amt="0"/>
              </a:blip>
              <a:stretch>
                <a:fillRect l="0" t="-49379" r="-5560" b="-25647"/>
              </a:stretch>
            </a:blipFill>
          </p:spPr>
        </p:sp>
        <p:sp>
          <p:nvSpPr>
            <p:cNvPr name="TextBox 24" id="24"/>
            <p:cNvSpPr txBox="true"/>
            <p:nvPr/>
          </p:nvSpPr>
          <p:spPr>
            <a:xfrm>
              <a:off x="0" y="-19050"/>
              <a:ext cx="6121400" cy="1457771"/>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T</a:t>
              </a:r>
              <a:r>
                <a:rPr lang="en-US" b="true" sz="3000">
                  <a:solidFill>
                    <a:srgbClr val="FFFFFF"/>
                  </a:solidFill>
                  <a:latin typeface="Arial Bold"/>
                  <a:ea typeface="Arial Bold"/>
                  <a:cs typeface="Arial Bold"/>
                  <a:sym typeface="Arial Bold"/>
                </a:rPr>
                <a:t>ableau de bord en temps réel</a:t>
              </a:r>
            </a:p>
          </p:txBody>
        </p:sp>
      </p:grpSp>
      <p:sp>
        <p:nvSpPr>
          <p:cNvPr name="TextBox 25" id="25"/>
          <p:cNvSpPr txBox="true"/>
          <p:nvPr/>
        </p:nvSpPr>
        <p:spPr>
          <a:xfrm rot="0">
            <a:off x="6931342" y="4191000"/>
            <a:ext cx="4846320" cy="638175"/>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Sui</a:t>
            </a:r>
            <a:r>
              <a:rPr lang="en-US" sz="2100">
                <a:solidFill>
                  <a:srgbClr val="E8EEFC"/>
                </a:solidFill>
                <a:latin typeface="Arial"/>
                <a:ea typeface="Arial"/>
                <a:cs typeface="Arial"/>
                <a:sym typeface="Arial"/>
              </a:rPr>
              <a:t>vez chaque demande : En attente, En cours, Terminée, Archivées.</a:t>
            </a:r>
          </a:p>
        </p:txBody>
      </p:sp>
      <p:grpSp>
        <p:nvGrpSpPr>
          <p:cNvPr name="Group 26" id="26"/>
          <p:cNvGrpSpPr/>
          <p:nvPr/>
        </p:nvGrpSpPr>
        <p:grpSpPr>
          <a:xfrm rot="0">
            <a:off x="12106275" y="2550795"/>
            <a:ext cx="5414010" cy="3402330"/>
            <a:chOff x="0" y="0"/>
            <a:chExt cx="7218680" cy="4536440"/>
          </a:xfrm>
        </p:grpSpPr>
        <p:sp>
          <p:nvSpPr>
            <p:cNvPr name="Freeform 27" id="27"/>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28" id="28"/>
          <p:cNvGrpSpPr/>
          <p:nvPr/>
        </p:nvGrpSpPr>
        <p:grpSpPr>
          <a:xfrm rot="0">
            <a:off x="12390120" y="2834640"/>
            <a:ext cx="1463040" cy="640080"/>
            <a:chOff x="0" y="0"/>
            <a:chExt cx="1950720" cy="853440"/>
          </a:xfrm>
        </p:grpSpPr>
        <p:sp>
          <p:nvSpPr>
            <p:cNvPr name="Freeform 29" id="29"/>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30" id="30"/>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03</a:t>
              </a:r>
            </a:p>
          </p:txBody>
        </p:sp>
      </p:grpSp>
      <p:grpSp>
        <p:nvGrpSpPr>
          <p:cNvPr name="Group 31" id="31"/>
          <p:cNvGrpSpPr/>
          <p:nvPr/>
        </p:nvGrpSpPr>
        <p:grpSpPr>
          <a:xfrm rot="0">
            <a:off x="12927330" y="2743200"/>
            <a:ext cx="4846320" cy="822960"/>
            <a:chOff x="0" y="0"/>
            <a:chExt cx="6461760" cy="1097280"/>
          </a:xfrm>
        </p:grpSpPr>
        <p:sp>
          <p:nvSpPr>
            <p:cNvPr name="Freeform 32" id="32"/>
            <p:cNvSpPr/>
            <p:nvPr/>
          </p:nvSpPr>
          <p:spPr>
            <a:xfrm flipH="false" flipV="false" rot="0">
              <a:off x="0" y="0"/>
              <a:ext cx="6461760" cy="1097280"/>
            </a:xfrm>
            <a:custGeom>
              <a:avLst/>
              <a:gdLst/>
              <a:ahLst/>
              <a:cxnLst/>
              <a:rect r="r" b="b" t="t" l="l"/>
              <a:pathLst>
                <a:path h="1097280" w="6461760">
                  <a:moveTo>
                    <a:pt x="0" y="0"/>
                  </a:moveTo>
                  <a:lnTo>
                    <a:pt x="6461760" y="0"/>
                  </a:lnTo>
                  <a:lnTo>
                    <a:pt x="6461760" y="1097280"/>
                  </a:lnTo>
                  <a:lnTo>
                    <a:pt x="0" y="1097280"/>
                  </a:lnTo>
                  <a:close/>
                </a:path>
              </a:pathLst>
            </a:custGeom>
            <a:blipFill>
              <a:blip r:embed="rId3">
                <a:alphaModFix amt="0"/>
              </a:blip>
              <a:stretch>
                <a:fillRect l="0" t="-64745" r="0" b="-64745"/>
              </a:stretch>
            </a:blipFill>
          </p:spPr>
        </p:sp>
        <p:sp>
          <p:nvSpPr>
            <p:cNvPr name="TextBox 33" id="33"/>
            <p:cNvSpPr txBox="true"/>
            <p:nvPr/>
          </p:nvSpPr>
          <p:spPr>
            <a:xfrm>
              <a:off x="0" y="-19050"/>
              <a:ext cx="6461760" cy="11163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Gestion </a:t>
              </a:r>
              <a:r>
                <a:rPr lang="en-US" b="true" sz="3000">
                  <a:solidFill>
                    <a:srgbClr val="FFFFFF"/>
                  </a:solidFill>
                  <a:latin typeface="Arial Bold"/>
                  <a:ea typeface="Arial Bold"/>
                  <a:cs typeface="Arial Bold"/>
                  <a:sym typeface="Arial Bold"/>
                </a:rPr>
                <a:t>Admin</a:t>
              </a:r>
            </a:p>
          </p:txBody>
        </p:sp>
      </p:grpSp>
      <p:sp>
        <p:nvSpPr>
          <p:cNvPr name="TextBox 34" id="34"/>
          <p:cNvSpPr txBox="true"/>
          <p:nvPr/>
        </p:nvSpPr>
        <p:spPr>
          <a:xfrm rot="0">
            <a:off x="12527280" y="4191000"/>
            <a:ext cx="4846320" cy="952500"/>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Les o</a:t>
            </a:r>
            <a:r>
              <a:rPr lang="en-US" sz="2100">
                <a:solidFill>
                  <a:srgbClr val="E8EEFC"/>
                </a:solidFill>
                <a:latin typeface="Arial"/>
                <a:ea typeface="Arial"/>
                <a:cs typeface="Arial"/>
                <a:sym typeface="Arial"/>
              </a:rPr>
              <a:t>pérateurs gèrent toutes les demandes, mettent à jour le statut, assignent des membres de l'équipe.</a:t>
            </a:r>
          </a:p>
        </p:txBody>
      </p:sp>
      <p:grpSp>
        <p:nvGrpSpPr>
          <p:cNvPr name="Group 35" id="35"/>
          <p:cNvGrpSpPr/>
          <p:nvPr/>
        </p:nvGrpSpPr>
        <p:grpSpPr>
          <a:xfrm rot="0">
            <a:off x="767715" y="6299835"/>
            <a:ext cx="5414010" cy="3402330"/>
            <a:chOff x="0" y="0"/>
            <a:chExt cx="7218680" cy="4536440"/>
          </a:xfrm>
        </p:grpSpPr>
        <p:sp>
          <p:nvSpPr>
            <p:cNvPr name="Freeform 36" id="36"/>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37" id="37"/>
          <p:cNvGrpSpPr/>
          <p:nvPr/>
        </p:nvGrpSpPr>
        <p:grpSpPr>
          <a:xfrm rot="0">
            <a:off x="1051560" y="6583680"/>
            <a:ext cx="1463040" cy="640080"/>
            <a:chOff x="0" y="0"/>
            <a:chExt cx="1950720" cy="853440"/>
          </a:xfrm>
        </p:grpSpPr>
        <p:sp>
          <p:nvSpPr>
            <p:cNvPr name="Freeform 38" id="38"/>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39" id="39"/>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04</a:t>
              </a:r>
            </a:p>
          </p:txBody>
        </p:sp>
      </p:grpSp>
      <p:grpSp>
        <p:nvGrpSpPr>
          <p:cNvPr name="Group 40" id="40"/>
          <p:cNvGrpSpPr/>
          <p:nvPr/>
        </p:nvGrpSpPr>
        <p:grpSpPr>
          <a:xfrm rot="0">
            <a:off x="1590675" y="6492240"/>
            <a:ext cx="4846320" cy="822960"/>
            <a:chOff x="0" y="0"/>
            <a:chExt cx="6461760" cy="1097280"/>
          </a:xfrm>
        </p:grpSpPr>
        <p:sp>
          <p:nvSpPr>
            <p:cNvPr name="Freeform 41" id="41"/>
            <p:cNvSpPr/>
            <p:nvPr/>
          </p:nvSpPr>
          <p:spPr>
            <a:xfrm flipH="false" flipV="false" rot="0">
              <a:off x="0" y="0"/>
              <a:ext cx="6461760" cy="1097280"/>
            </a:xfrm>
            <a:custGeom>
              <a:avLst/>
              <a:gdLst/>
              <a:ahLst/>
              <a:cxnLst/>
              <a:rect r="r" b="b" t="t" l="l"/>
              <a:pathLst>
                <a:path h="1097280" w="6461760">
                  <a:moveTo>
                    <a:pt x="0" y="0"/>
                  </a:moveTo>
                  <a:lnTo>
                    <a:pt x="6461760" y="0"/>
                  </a:lnTo>
                  <a:lnTo>
                    <a:pt x="6461760" y="1097280"/>
                  </a:lnTo>
                  <a:lnTo>
                    <a:pt x="0" y="1097280"/>
                  </a:lnTo>
                  <a:close/>
                </a:path>
              </a:pathLst>
            </a:custGeom>
            <a:blipFill>
              <a:blip r:embed="rId3">
                <a:alphaModFix amt="0"/>
              </a:blip>
              <a:stretch>
                <a:fillRect l="0" t="-64745" r="0" b="-64745"/>
              </a:stretch>
            </a:blipFill>
          </p:spPr>
        </p:sp>
        <p:sp>
          <p:nvSpPr>
            <p:cNvPr name="TextBox 42" id="42"/>
            <p:cNvSpPr txBox="true"/>
            <p:nvPr/>
          </p:nvSpPr>
          <p:spPr>
            <a:xfrm>
              <a:off x="0" y="-19050"/>
              <a:ext cx="6461760" cy="11163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Rapports PDF</a:t>
              </a:r>
            </a:p>
          </p:txBody>
        </p:sp>
      </p:grpSp>
      <p:sp>
        <p:nvSpPr>
          <p:cNvPr name="TextBox 43" id="43"/>
          <p:cNvSpPr txBox="true"/>
          <p:nvPr/>
        </p:nvSpPr>
        <p:spPr>
          <a:xfrm rot="0">
            <a:off x="1051560" y="7658100"/>
            <a:ext cx="4846320" cy="952500"/>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Rapp</a:t>
            </a:r>
            <a:r>
              <a:rPr lang="en-US" sz="2100">
                <a:solidFill>
                  <a:srgbClr val="E8EEFC"/>
                </a:solidFill>
                <a:latin typeface="Arial"/>
                <a:ea typeface="Arial"/>
                <a:cs typeface="Arial"/>
                <a:sym typeface="Arial"/>
              </a:rPr>
              <a:t>orts de vulnérabilité générés automatiquement via WeasyPrint + tâches asynchrones Celery.</a:t>
            </a:r>
          </a:p>
        </p:txBody>
      </p:sp>
      <p:grpSp>
        <p:nvGrpSpPr>
          <p:cNvPr name="Group 44" id="44"/>
          <p:cNvGrpSpPr/>
          <p:nvPr/>
        </p:nvGrpSpPr>
        <p:grpSpPr>
          <a:xfrm rot="0">
            <a:off x="6436995" y="6299835"/>
            <a:ext cx="5414010" cy="3402330"/>
            <a:chOff x="0" y="0"/>
            <a:chExt cx="7218680" cy="4536440"/>
          </a:xfrm>
        </p:grpSpPr>
        <p:sp>
          <p:nvSpPr>
            <p:cNvPr name="Freeform 45" id="45"/>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46" id="46"/>
          <p:cNvGrpSpPr/>
          <p:nvPr/>
        </p:nvGrpSpPr>
        <p:grpSpPr>
          <a:xfrm rot="0">
            <a:off x="6720840" y="6583680"/>
            <a:ext cx="1463040" cy="640080"/>
            <a:chOff x="0" y="0"/>
            <a:chExt cx="1950720" cy="853440"/>
          </a:xfrm>
        </p:grpSpPr>
        <p:sp>
          <p:nvSpPr>
            <p:cNvPr name="Freeform 47" id="47"/>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48" id="48"/>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05</a:t>
              </a:r>
            </a:p>
          </p:txBody>
        </p:sp>
      </p:grpSp>
      <p:grpSp>
        <p:nvGrpSpPr>
          <p:cNvPr name="Group 49" id="49"/>
          <p:cNvGrpSpPr/>
          <p:nvPr/>
        </p:nvGrpSpPr>
        <p:grpSpPr>
          <a:xfrm rot="0">
            <a:off x="7259955" y="6492240"/>
            <a:ext cx="4846320" cy="822960"/>
            <a:chOff x="0" y="0"/>
            <a:chExt cx="6461760" cy="1097280"/>
          </a:xfrm>
        </p:grpSpPr>
        <p:sp>
          <p:nvSpPr>
            <p:cNvPr name="Freeform 50" id="50"/>
            <p:cNvSpPr/>
            <p:nvPr/>
          </p:nvSpPr>
          <p:spPr>
            <a:xfrm flipH="false" flipV="false" rot="0">
              <a:off x="0" y="0"/>
              <a:ext cx="6461760" cy="1097280"/>
            </a:xfrm>
            <a:custGeom>
              <a:avLst/>
              <a:gdLst/>
              <a:ahLst/>
              <a:cxnLst/>
              <a:rect r="r" b="b" t="t" l="l"/>
              <a:pathLst>
                <a:path h="1097280" w="6461760">
                  <a:moveTo>
                    <a:pt x="0" y="0"/>
                  </a:moveTo>
                  <a:lnTo>
                    <a:pt x="6461760" y="0"/>
                  </a:lnTo>
                  <a:lnTo>
                    <a:pt x="6461760" y="1097280"/>
                  </a:lnTo>
                  <a:lnTo>
                    <a:pt x="0" y="1097280"/>
                  </a:lnTo>
                  <a:close/>
                </a:path>
              </a:pathLst>
            </a:custGeom>
            <a:blipFill>
              <a:blip r:embed="rId3">
                <a:alphaModFix amt="0"/>
              </a:blip>
              <a:stretch>
                <a:fillRect l="0" t="-64745" r="0" b="-64745"/>
              </a:stretch>
            </a:blipFill>
          </p:spPr>
        </p:sp>
        <p:sp>
          <p:nvSpPr>
            <p:cNvPr name="TextBox 51" id="51"/>
            <p:cNvSpPr txBox="true"/>
            <p:nvPr/>
          </p:nvSpPr>
          <p:spPr>
            <a:xfrm>
              <a:off x="0" y="-19050"/>
              <a:ext cx="6461760" cy="11163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Modules de formation</a:t>
              </a:r>
            </a:p>
          </p:txBody>
        </p:sp>
      </p:grpSp>
      <p:sp>
        <p:nvSpPr>
          <p:cNvPr name="TextBox 52" id="52"/>
          <p:cNvSpPr txBox="true"/>
          <p:nvPr/>
        </p:nvSpPr>
        <p:spPr>
          <a:xfrm rot="0">
            <a:off x="6720840" y="7658100"/>
            <a:ext cx="4846320" cy="952500"/>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5 modules de sensibilisation à la cybersécurité avec suivi des progrès par utilisateur.</a:t>
            </a:r>
          </a:p>
        </p:txBody>
      </p:sp>
      <p:grpSp>
        <p:nvGrpSpPr>
          <p:cNvPr name="Group 53" id="53"/>
          <p:cNvGrpSpPr/>
          <p:nvPr/>
        </p:nvGrpSpPr>
        <p:grpSpPr>
          <a:xfrm rot="0">
            <a:off x="12106275" y="6299835"/>
            <a:ext cx="5414010" cy="3402330"/>
            <a:chOff x="0" y="0"/>
            <a:chExt cx="7218680" cy="4536440"/>
          </a:xfrm>
        </p:grpSpPr>
        <p:sp>
          <p:nvSpPr>
            <p:cNvPr name="Freeform 54" id="54"/>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55" id="55"/>
          <p:cNvGrpSpPr/>
          <p:nvPr/>
        </p:nvGrpSpPr>
        <p:grpSpPr>
          <a:xfrm rot="0">
            <a:off x="12390120" y="6583680"/>
            <a:ext cx="1463040" cy="640080"/>
            <a:chOff x="0" y="0"/>
            <a:chExt cx="1950720" cy="853440"/>
          </a:xfrm>
        </p:grpSpPr>
        <p:sp>
          <p:nvSpPr>
            <p:cNvPr name="Freeform 56" id="56"/>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57" id="57"/>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06</a:t>
              </a:r>
            </a:p>
          </p:txBody>
        </p:sp>
      </p:grpSp>
      <p:grpSp>
        <p:nvGrpSpPr>
          <p:cNvPr name="Group 58" id="58"/>
          <p:cNvGrpSpPr/>
          <p:nvPr/>
        </p:nvGrpSpPr>
        <p:grpSpPr>
          <a:xfrm rot="0">
            <a:off x="12927330" y="6583680"/>
            <a:ext cx="4594860" cy="1079041"/>
            <a:chOff x="0" y="0"/>
            <a:chExt cx="6126480" cy="1438721"/>
          </a:xfrm>
        </p:grpSpPr>
        <p:sp>
          <p:nvSpPr>
            <p:cNvPr name="Freeform 59" id="59"/>
            <p:cNvSpPr/>
            <p:nvPr/>
          </p:nvSpPr>
          <p:spPr>
            <a:xfrm flipH="false" flipV="false" rot="0">
              <a:off x="0" y="0"/>
              <a:ext cx="6126480" cy="1438721"/>
            </a:xfrm>
            <a:custGeom>
              <a:avLst/>
              <a:gdLst/>
              <a:ahLst/>
              <a:cxnLst/>
              <a:rect r="r" b="b" t="t" l="l"/>
              <a:pathLst>
                <a:path h="1438721" w="6126480">
                  <a:moveTo>
                    <a:pt x="0" y="0"/>
                  </a:moveTo>
                  <a:lnTo>
                    <a:pt x="6126480" y="0"/>
                  </a:lnTo>
                  <a:lnTo>
                    <a:pt x="6126480" y="1438721"/>
                  </a:lnTo>
                  <a:lnTo>
                    <a:pt x="0" y="1438721"/>
                  </a:lnTo>
                  <a:close/>
                </a:path>
              </a:pathLst>
            </a:custGeom>
            <a:blipFill>
              <a:blip r:embed="rId3">
                <a:alphaModFix amt="0"/>
              </a:blip>
              <a:stretch>
                <a:fillRect l="0" t="-49379" r="-5472" b="-25647"/>
              </a:stretch>
            </a:blipFill>
          </p:spPr>
        </p:sp>
        <p:sp>
          <p:nvSpPr>
            <p:cNvPr name="TextBox 60" id="60"/>
            <p:cNvSpPr txBox="true"/>
            <p:nvPr/>
          </p:nvSpPr>
          <p:spPr>
            <a:xfrm>
              <a:off x="0" y="-19050"/>
              <a:ext cx="6126480" cy="1457771"/>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Auth</a:t>
              </a:r>
              <a:r>
                <a:rPr lang="en-US" b="true" sz="3000">
                  <a:solidFill>
                    <a:srgbClr val="FFFFFF"/>
                  </a:solidFill>
                  <a:latin typeface="Arial Bold"/>
                  <a:ea typeface="Arial Bold"/>
                  <a:cs typeface="Arial Bold"/>
                  <a:sym typeface="Arial Bold"/>
                </a:rPr>
                <a:t>entification sécurisée</a:t>
              </a:r>
            </a:p>
          </p:txBody>
        </p:sp>
      </p:grpSp>
      <p:sp>
        <p:nvSpPr>
          <p:cNvPr name="TextBox 61" id="61"/>
          <p:cNvSpPr txBox="true"/>
          <p:nvPr/>
        </p:nvSpPr>
        <p:spPr>
          <a:xfrm rot="0">
            <a:off x="12390120" y="7842270"/>
            <a:ext cx="4846320" cy="952500"/>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A</a:t>
            </a:r>
            <a:r>
              <a:rPr lang="en-US" sz="2100">
                <a:solidFill>
                  <a:srgbClr val="E8EEFC"/>
                </a:solidFill>
                <a:latin typeface="Arial"/>
                <a:ea typeface="Arial"/>
                <a:cs typeface="Arial"/>
                <a:sym typeface="Arial"/>
              </a:rPr>
              <a:t>uthentification JWT, contrôle d'accès basé sur les rôles (client / admin), anti-enumération.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grpSp>
        <p:nvGrpSpPr>
          <p:cNvPr name="Group 2" id="2"/>
          <p:cNvGrpSpPr/>
          <p:nvPr/>
        </p:nvGrpSpPr>
        <p:grpSpPr>
          <a:xfrm rot="0">
            <a:off x="0" y="9784080"/>
            <a:ext cx="18288000" cy="457200"/>
            <a:chOff x="0" y="0"/>
            <a:chExt cx="24384000" cy="609600"/>
          </a:xfrm>
        </p:grpSpPr>
        <p:sp>
          <p:nvSpPr>
            <p:cNvPr name="Freeform 3" id="3"/>
            <p:cNvSpPr/>
            <p:nvPr/>
          </p:nvSpPr>
          <p:spPr>
            <a:xfrm flipH="false" flipV="false" rot="0">
              <a:off x="0" y="0"/>
              <a:ext cx="24384000" cy="609600"/>
            </a:xfrm>
            <a:custGeom>
              <a:avLst/>
              <a:gdLst/>
              <a:ahLst/>
              <a:cxnLst/>
              <a:rect r="r" b="b" t="t" l="l"/>
              <a:pathLst>
                <a:path h="609600" w="24384000">
                  <a:moveTo>
                    <a:pt x="0" y="0"/>
                  </a:moveTo>
                  <a:lnTo>
                    <a:pt x="24384000" y="0"/>
                  </a:lnTo>
                  <a:lnTo>
                    <a:pt x="24384000" y="609600"/>
                  </a:lnTo>
                  <a:lnTo>
                    <a:pt x="0" y="609600"/>
                  </a:lnTo>
                  <a:close/>
                </a:path>
              </a:pathLst>
            </a:custGeom>
            <a:blipFill>
              <a:blip r:embed="rId3">
                <a:alphaModFix amt="0"/>
              </a:blip>
              <a:stretch>
                <a:fillRect l="0" t="-729401" r="0" b="-729401"/>
              </a:stretch>
            </a:blipFill>
          </p:spPr>
        </p:sp>
        <p:sp>
          <p:nvSpPr>
            <p:cNvPr name="TextBox 4" id="4"/>
            <p:cNvSpPr txBox="true"/>
            <p:nvPr/>
          </p:nvSpPr>
          <p:spPr>
            <a:xfrm>
              <a:off x="0" y="-19050"/>
              <a:ext cx="24384000" cy="628650"/>
            </a:xfrm>
            <a:prstGeom prst="rect">
              <a:avLst/>
            </a:prstGeom>
          </p:spPr>
          <p:txBody>
            <a:bodyPr anchor="ctr" rtlCol="false" tIns="0" lIns="0" bIns="0" rIns="0"/>
            <a:lstStyle/>
            <a:p>
              <a:pPr algn="ctr">
                <a:lnSpc>
                  <a:spcPts val="2160"/>
                </a:lnSpc>
              </a:pPr>
            </a:p>
          </p:txBody>
        </p:sp>
      </p:grpSp>
      <p:sp>
        <p:nvSpPr>
          <p:cNvPr name="Freeform 5" id="5"/>
          <p:cNvSpPr/>
          <p:nvPr/>
        </p:nvSpPr>
        <p:spPr>
          <a:xfrm flipH="false" flipV="false" rot="0">
            <a:off x="259884" y="368996"/>
            <a:ext cx="17735601" cy="9415084"/>
          </a:xfrm>
          <a:custGeom>
            <a:avLst/>
            <a:gdLst/>
            <a:ahLst/>
            <a:cxnLst/>
            <a:rect r="r" b="b" t="t" l="l"/>
            <a:pathLst>
              <a:path h="9415084" w="17735601">
                <a:moveTo>
                  <a:pt x="0" y="0"/>
                </a:moveTo>
                <a:lnTo>
                  <a:pt x="17735601" y="0"/>
                </a:lnTo>
                <a:lnTo>
                  <a:pt x="17735601" y="9415084"/>
                </a:lnTo>
                <a:lnTo>
                  <a:pt x="0" y="9415084"/>
                </a:lnTo>
                <a:lnTo>
                  <a:pt x="0" y="0"/>
                </a:lnTo>
                <a:close/>
              </a:path>
            </a:pathLst>
          </a:custGeom>
          <a:blipFill>
            <a:blip r:embed="rId4"/>
            <a:stretch>
              <a:fillRect l="0" t="-3227" r="-4290" b="-3227"/>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sp>
        <p:nvSpPr>
          <p:cNvPr name="Freeform 2" id="2"/>
          <p:cNvSpPr/>
          <p:nvPr/>
        </p:nvSpPr>
        <p:spPr>
          <a:xfrm flipH="false" flipV="false" rot="0">
            <a:off x="301641" y="318888"/>
            <a:ext cx="17592074" cy="9598675"/>
          </a:xfrm>
          <a:custGeom>
            <a:avLst/>
            <a:gdLst/>
            <a:ahLst/>
            <a:cxnLst/>
            <a:rect r="r" b="b" t="t" l="l"/>
            <a:pathLst>
              <a:path h="9598675" w="17592074">
                <a:moveTo>
                  <a:pt x="0" y="0"/>
                </a:moveTo>
                <a:lnTo>
                  <a:pt x="17592074" y="0"/>
                </a:lnTo>
                <a:lnTo>
                  <a:pt x="17592074" y="9598675"/>
                </a:lnTo>
                <a:lnTo>
                  <a:pt x="0" y="9598675"/>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198792" y="101770"/>
            <a:ext cx="17958357" cy="10045456"/>
          </a:xfrm>
          <a:custGeom>
            <a:avLst/>
            <a:gdLst/>
            <a:ahLst/>
            <a:cxnLst/>
            <a:rect r="r" b="b" t="t" l="l"/>
            <a:pathLst>
              <a:path h="10045456" w="17958357">
                <a:moveTo>
                  <a:pt x="0" y="0"/>
                </a:moveTo>
                <a:lnTo>
                  <a:pt x="17958357" y="0"/>
                </a:lnTo>
                <a:lnTo>
                  <a:pt x="17958357" y="10045456"/>
                </a:lnTo>
                <a:lnTo>
                  <a:pt x="0" y="10045456"/>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sp>
        <p:nvSpPr>
          <p:cNvPr name="Freeform 2" id="2"/>
          <p:cNvSpPr/>
          <p:nvPr/>
        </p:nvSpPr>
        <p:spPr>
          <a:xfrm flipH="false" flipV="false" rot="0">
            <a:off x="329714" y="161589"/>
            <a:ext cx="17628572" cy="10125411"/>
          </a:xfrm>
          <a:custGeom>
            <a:avLst/>
            <a:gdLst/>
            <a:ahLst/>
            <a:cxnLst/>
            <a:rect r="r" b="b" t="t" l="l"/>
            <a:pathLst>
              <a:path h="10125411" w="17628572">
                <a:moveTo>
                  <a:pt x="0" y="0"/>
                </a:moveTo>
                <a:lnTo>
                  <a:pt x="17628572" y="0"/>
                </a:lnTo>
                <a:lnTo>
                  <a:pt x="17628572" y="10125411"/>
                </a:lnTo>
                <a:lnTo>
                  <a:pt x="0" y="10125411"/>
                </a:lnTo>
                <a:lnTo>
                  <a:pt x="0" y="0"/>
                </a:lnTo>
                <a:close/>
              </a:path>
            </a:pathLst>
          </a:custGeom>
          <a:blipFill>
            <a:blip r:embed="rId3"/>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9691852"/>
          </a:xfrm>
          <a:custGeom>
            <a:avLst/>
            <a:gdLst/>
            <a:ahLst/>
            <a:cxnLst/>
            <a:rect r="r" b="b" t="t" l="l"/>
            <a:pathLst>
              <a:path h="9691852" w="18288000">
                <a:moveTo>
                  <a:pt x="0" y="0"/>
                </a:moveTo>
                <a:lnTo>
                  <a:pt x="18288000" y="0"/>
                </a:lnTo>
                <a:lnTo>
                  <a:pt x="18288000" y="9691852"/>
                </a:lnTo>
                <a:lnTo>
                  <a:pt x="0" y="9691852"/>
                </a:lnTo>
                <a:lnTo>
                  <a:pt x="0" y="0"/>
                </a:lnTo>
                <a:close/>
              </a:path>
            </a:pathLst>
          </a:custGeom>
          <a:blipFill>
            <a:blip r:embed="rId3"/>
            <a:stretch>
              <a:fillRect l="-114" t="0" r="-114"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208313" y="-252670"/>
            <a:ext cx="18288000" cy="1569616"/>
            <a:chOff x="0" y="0"/>
            <a:chExt cx="24384000" cy="2092821"/>
          </a:xfrm>
        </p:grpSpPr>
        <p:sp>
          <p:nvSpPr>
            <p:cNvPr name="Freeform 3" id="3"/>
            <p:cNvSpPr/>
            <p:nvPr/>
          </p:nvSpPr>
          <p:spPr>
            <a:xfrm flipH="false" flipV="false" rot="0">
              <a:off x="0" y="0"/>
              <a:ext cx="24384000" cy="2092821"/>
            </a:xfrm>
            <a:custGeom>
              <a:avLst/>
              <a:gdLst/>
              <a:ahLst/>
              <a:cxnLst/>
              <a:rect r="r" b="b" t="t" l="l"/>
              <a:pathLst>
                <a:path h="2092821" w="24384000">
                  <a:moveTo>
                    <a:pt x="0" y="0"/>
                  </a:moveTo>
                  <a:lnTo>
                    <a:pt x="24384000" y="0"/>
                  </a:lnTo>
                  <a:lnTo>
                    <a:pt x="24384000" y="2092821"/>
                  </a:lnTo>
                  <a:lnTo>
                    <a:pt x="0" y="2092821"/>
                  </a:lnTo>
                  <a:close/>
                </a:path>
              </a:pathLst>
            </a:custGeom>
            <a:blipFill>
              <a:blip r:embed="rId3">
                <a:alphaModFix amt="0"/>
              </a:blip>
              <a:stretch>
                <a:fillRect l="0" t="-186245" r="0" b="-167804"/>
              </a:stretch>
            </a:blipFill>
          </p:spPr>
        </p:sp>
        <p:sp>
          <p:nvSpPr>
            <p:cNvPr name="TextBox 4" id="4"/>
            <p:cNvSpPr txBox="true"/>
            <p:nvPr/>
          </p:nvSpPr>
          <p:spPr>
            <a:xfrm>
              <a:off x="0" y="-28575"/>
              <a:ext cx="24384000" cy="2121396"/>
            </a:xfrm>
            <a:prstGeom prst="rect">
              <a:avLst/>
            </a:prstGeom>
          </p:spPr>
          <p:txBody>
            <a:bodyPr anchor="ctr" rtlCol="false" tIns="0" lIns="0" bIns="0" rIns="0"/>
            <a:lstStyle/>
            <a:p>
              <a:pPr algn="ctr">
                <a:lnSpc>
                  <a:spcPts val="7200"/>
                </a:lnSpc>
              </a:pPr>
              <a:r>
                <a:rPr lang="en-US" b="true" sz="6000">
                  <a:solidFill>
                    <a:srgbClr val="FFFFFF"/>
                  </a:solidFill>
                  <a:latin typeface="Arial Bold"/>
                  <a:ea typeface="Arial Bold"/>
                  <a:cs typeface="Arial Bold"/>
                  <a:sym typeface="Arial Bold"/>
                </a:rPr>
                <a:t>Demonstration</a:t>
              </a:r>
            </a:p>
          </p:txBody>
        </p:sp>
      </p:grpSp>
      <p:pic>
        <p:nvPicPr>
          <p:cNvPr name="Picture 5" id="5">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729" r="0" b="729"/>
          <a:stretch>
            <a:fillRect/>
          </a:stretch>
        </p:blipFill>
        <p:spPr>
          <a:xfrm flipH="false" flipV="false" rot="0">
            <a:off x="1028700" y="1028700"/>
            <a:ext cx="16230600" cy="8996539"/>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5"/>
                </p:tgtEl>
              </p:cMediaNode>
            </p:video>
          </p:childTnLst>
        </p:cTn>
      </p:par>
    </p:tnLst>
  </p:timing>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sp>
        <p:nvSpPr>
          <p:cNvPr name="Freeform 2" id="2"/>
          <p:cNvSpPr/>
          <p:nvPr/>
        </p:nvSpPr>
        <p:spPr>
          <a:xfrm flipH="false" flipV="false" rot="0">
            <a:off x="9360570" y="1552575"/>
            <a:ext cx="7051499" cy="4605979"/>
          </a:xfrm>
          <a:custGeom>
            <a:avLst/>
            <a:gdLst/>
            <a:ahLst/>
            <a:cxnLst/>
            <a:rect r="r" b="b" t="t" l="l"/>
            <a:pathLst>
              <a:path h="4605979" w="7051499">
                <a:moveTo>
                  <a:pt x="0" y="0"/>
                </a:moveTo>
                <a:lnTo>
                  <a:pt x="7051499" y="0"/>
                </a:lnTo>
                <a:lnTo>
                  <a:pt x="7051499" y="4605979"/>
                </a:lnTo>
                <a:lnTo>
                  <a:pt x="0" y="4605979"/>
                </a:lnTo>
                <a:lnTo>
                  <a:pt x="0" y="0"/>
                </a:lnTo>
                <a:close/>
              </a:path>
            </a:pathLst>
          </a:custGeom>
          <a:blipFill>
            <a:blip r:embed="rId3"/>
            <a:stretch>
              <a:fillRect l="0" t="0" r="0" b="0"/>
            </a:stretch>
          </a:blipFill>
        </p:spPr>
      </p:sp>
      <p:sp>
        <p:nvSpPr>
          <p:cNvPr name="Freeform 3" id="3"/>
          <p:cNvSpPr/>
          <p:nvPr/>
        </p:nvSpPr>
        <p:spPr>
          <a:xfrm flipH="false" flipV="false" rot="0">
            <a:off x="145060" y="1465614"/>
            <a:ext cx="8568707" cy="6757795"/>
          </a:xfrm>
          <a:custGeom>
            <a:avLst/>
            <a:gdLst/>
            <a:ahLst/>
            <a:cxnLst/>
            <a:rect r="r" b="b" t="t" l="l"/>
            <a:pathLst>
              <a:path h="6757795" w="8568707">
                <a:moveTo>
                  <a:pt x="0" y="0"/>
                </a:moveTo>
                <a:lnTo>
                  <a:pt x="8568707" y="0"/>
                </a:lnTo>
                <a:lnTo>
                  <a:pt x="8568707" y="6757795"/>
                </a:lnTo>
                <a:lnTo>
                  <a:pt x="0" y="6757795"/>
                </a:lnTo>
                <a:lnTo>
                  <a:pt x="0" y="0"/>
                </a:lnTo>
                <a:close/>
              </a:path>
            </a:pathLst>
          </a:custGeom>
          <a:blipFill>
            <a:blip r:embed="rId4"/>
            <a:stretch>
              <a:fillRect l="0" t="0" r="0" b="0"/>
            </a:stretch>
          </a:blipFill>
        </p:spPr>
      </p:sp>
      <p:sp>
        <p:nvSpPr>
          <p:cNvPr name="Freeform 4" id="4"/>
          <p:cNvSpPr/>
          <p:nvPr/>
        </p:nvSpPr>
        <p:spPr>
          <a:xfrm flipH="false" flipV="false" rot="0">
            <a:off x="145060" y="8877945"/>
            <a:ext cx="16565208" cy="1283804"/>
          </a:xfrm>
          <a:custGeom>
            <a:avLst/>
            <a:gdLst/>
            <a:ahLst/>
            <a:cxnLst/>
            <a:rect r="r" b="b" t="t" l="l"/>
            <a:pathLst>
              <a:path h="1283804" w="16565208">
                <a:moveTo>
                  <a:pt x="0" y="0"/>
                </a:moveTo>
                <a:lnTo>
                  <a:pt x="16565208" y="0"/>
                </a:lnTo>
                <a:lnTo>
                  <a:pt x="16565208" y="1283804"/>
                </a:lnTo>
                <a:lnTo>
                  <a:pt x="0" y="1283804"/>
                </a:lnTo>
                <a:lnTo>
                  <a:pt x="0" y="0"/>
                </a:lnTo>
                <a:close/>
              </a:path>
            </a:pathLst>
          </a:custGeom>
          <a:blipFill>
            <a:blip r:embed="rId5"/>
            <a:stretch>
              <a:fillRect l="0" t="0" r="0" b="0"/>
            </a:stretch>
          </a:blipFill>
        </p:spPr>
      </p:sp>
      <p:sp>
        <p:nvSpPr>
          <p:cNvPr name="Freeform 5" id="5"/>
          <p:cNvSpPr/>
          <p:nvPr/>
        </p:nvSpPr>
        <p:spPr>
          <a:xfrm flipH="false" flipV="false" rot="0">
            <a:off x="9144000" y="6499848"/>
            <a:ext cx="8606698" cy="2074912"/>
          </a:xfrm>
          <a:custGeom>
            <a:avLst/>
            <a:gdLst/>
            <a:ahLst/>
            <a:cxnLst/>
            <a:rect r="r" b="b" t="t" l="l"/>
            <a:pathLst>
              <a:path h="2074912" w="8606698">
                <a:moveTo>
                  <a:pt x="0" y="0"/>
                </a:moveTo>
                <a:lnTo>
                  <a:pt x="8606698" y="0"/>
                </a:lnTo>
                <a:lnTo>
                  <a:pt x="8606698" y="2074912"/>
                </a:lnTo>
                <a:lnTo>
                  <a:pt x="0" y="2074912"/>
                </a:lnTo>
                <a:lnTo>
                  <a:pt x="0" y="0"/>
                </a:lnTo>
                <a:close/>
              </a:path>
            </a:pathLst>
          </a:custGeom>
          <a:blipFill>
            <a:blip r:embed="rId6"/>
            <a:stretch>
              <a:fillRect l="0" t="0" r="0" b="0"/>
            </a:stretch>
          </a:blipFill>
        </p:spPr>
      </p:sp>
      <p:sp>
        <p:nvSpPr>
          <p:cNvPr name="TextBox 6" id="6"/>
          <p:cNvSpPr txBox="true"/>
          <p:nvPr/>
        </p:nvSpPr>
        <p:spPr>
          <a:xfrm rot="0">
            <a:off x="1494420" y="201478"/>
            <a:ext cx="15429102" cy="609600"/>
          </a:xfrm>
          <a:prstGeom prst="rect">
            <a:avLst/>
          </a:prstGeom>
        </p:spPr>
        <p:txBody>
          <a:bodyPr anchor="t" rtlCol="false" tIns="0" lIns="0" bIns="0" rIns="0">
            <a:spAutoFit/>
          </a:bodyPr>
          <a:lstStyle/>
          <a:p>
            <a:pPr algn="ctr">
              <a:lnSpc>
                <a:spcPts val="4799"/>
              </a:lnSpc>
              <a:spcBef>
                <a:spcPct val="0"/>
              </a:spcBef>
            </a:pPr>
            <a:r>
              <a:rPr lang="en-US" b="true" sz="3999">
                <a:solidFill>
                  <a:srgbClr val="FFFFFF"/>
                </a:solidFill>
                <a:latin typeface="Arial Bold"/>
                <a:ea typeface="Arial Bold"/>
                <a:cs typeface="Arial Bold"/>
                <a:sym typeface="Arial Bold"/>
              </a:rPr>
              <a:t>CP3</a:t>
            </a:r>
            <a:r>
              <a:rPr lang="en-US" b="true" sz="3999">
                <a:solidFill>
                  <a:srgbClr val="FFFFFF"/>
                </a:solidFill>
                <a:latin typeface="Arial Bold"/>
                <a:ea typeface="Arial Bold"/>
                <a:cs typeface="Arial Bold"/>
                <a:sym typeface="Arial Bold"/>
              </a:rPr>
              <a:t> / CP4 · Front-end : interfaces dynamiques et sécurisées</a:t>
            </a:r>
          </a:p>
        </p:txBody>
      </p:sp>
      <p:sp>
        <p:nvSpPr>
          <p:cNvPr name="TextBox 7" id="7"/>
          <p:cNvSpPr txBox="true"/>
          <p:nvPr/>
        </p:nvSpPr>
        <p:spPr>
          <a:xfrm rot="0">
            <a:off x="145060" y="976421"/>
            <a:ext cx="5226368" cy="314325"/>
          </a:xfrm>
          <a:prstGeom prst="rect">
            <a:avLst/>
          </a:prstGeom>
        </p:spPr>
        <p:txBody>
          <a:bodyPr anchor="t" rtlCol="false" tIns="0" lIns="0" bIns="0" rIns="0">
            <a:spAutoFit/>
          </a:bodyPr>
          <a:lstStyle/>
          <a:p>
            <a:pPr algn="ctr">
              <a:lnSpc>
                <a:spcPts val="2400"/>
              </a:lnSpc>
              <a:spcBef>
                <a:spcPct val="0"/>
              </a:spcBef>
            </a:pPr>
            <a:r>
              <a:rPr lang="en-US" b="true" sz="2000">
                <a:solidFill>
                  <a:srgbClr val="FFFFFF"/>
                </a:solidFill>
                <a:latin typeface="Arial Bold"/>
                <a:ea typeface="Arial Bold"/>
                <a:cs typeface="Arial Bold"/>
                <a:sym typeface="Arial Bold"/>
              </a:rPr>
              <a:t>ProtectedRoute.jsx : garde d'accès par rôle</a:t>
            </a:r>
          </a:p>
        </p:txBody>
      </p:sp>
      <p:sp>
        <p:nvSpPr>
          <p:cNvPr name="TextBox 8" id="8"/>
          <p:cNvSpPr txBox="true"/>
          <p:nvPr/>
        </p:nvSpPr>
        <p:spPr>
          <a:xfrm rot="0">
            <a:off x="9360570" y="1019175"/>
            <a:ext cx="4813816" cy="314325"/>
          </a:xfrm>
          <a:prstGeom prst="rect">
            <a:avLst/>
          </a:prstGeom>
        </p:spPr>
        <p:txBody>
          <a:bodyPr anchor="t" rtlCol="false" tIns="0" lIns="0" bIns="0" rIns="0">
            <a:spAutoFit/>
          </a:bodyPr>
          <a:lstStyle/>
          <a:p>
            <a:pPr algn="ctr">
              <a:lnSpc>
                <a:spcPts val="2400"/>
              </a:lnSpc>
              <a:spcBef>
                <a:spcPct val="0"/>
              </a:spcBef>
            </a:pPr>
            <a:r>
              <a:rPr lang="en-US" b="true" sz="2000">
                <a:solidFill>
                  <a:srgbClr val="FFFFFF"/>
                </a:solidFill>
                <a:latin typeface="Arial Bold"/>
                <a:ea typeface="Arial Bold"/>
                <a:cs typeface="Arial Bold"/>
                <a:sym typeface="Arial Bold"/>
              </a:rPr>
              <a:t>sanitize.js : assainissement des entrées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218102" y="306779"/>
            <a:ext cx="17724133" cy="9604265"/>
          </a:xfrm>
          <a:custGeom>
            <a:avLst/>
            <a:gdLst/>
            <a:ahLst/>
            <a:cxnLst/>
            <a:rect r="r" b="b" t="t" l="l"/>
            <a:pathLst>
              <a:path h="9604265" w="17724133">
                <a:moveTo>
                  <a:pt x="0" y="0"/>
                </a:moveTo>
                <a:lnTo>
                  <a:pt x="17724133" y="0"/>
                </a:lnTo>
                <a:lnTo>
                  <a:pt x="17724133" y="9604265"/>
                </a:lnTo>
                <a:lnTo>
                  <a:pt x="0" y="9604265"/>
                </a:lnTo>
                <a:lnTo>
                  <a:pt x="0" y="0"/>
                </a:lnTo>
                <a:close/>
              </a:path>
            </a:pathLst>
          </a:custGeom>
          <a:blipFill>
            <a:blip r:embed="rId3"/>
            <a:stretch>
              <a:fillRect l="0" t="0" r="0" b="0"/>
            </a:stretch>
          </a:blipFill>
        </p:spPr>
      </p:sp>
      <p:sp>
        <p:nvSpPr>
          <p:cNvPr name="Freeform 3" id="3"/>
          <p:cNvSpPr/>
          <p:nvPr/>
        </p:nvSpPr>
        <p:spPr>
          <a:xfrm flipH="false" flipV="false" rot="0">
            <a:off x="10894431" y="3108400"/>
            <a:ext cx="6158170" cy="4763225"/>
          </a:xfrm>
          <a:custGeom>
            <a:avLst/>
            <a:gdLst/>
            <a:ahLst/>
            <a:cxnLst/>
            <a:rect r="r" b="b" t="t" l="l"/>
            <a:pathLst>
              <a:path h="4763225" w="6158170">
                <a:moveTo>
                  <a:pt x="0" y="0"/>
                </a:moveTo>
                <a:lnTo>
                  <a:pt x="6158169" y="0"/>
                </a:lnTo>
                <a:lnTo>
                  <a:pt x="6158169" y="4763225"/>
                </a:lnTo>
                <a:lnTo>
                  <a:pt x="0" y="4763225"/>
                </a:lnTo>
                <a:lnTo>
                  <a:pt x="0" y="0"/>
                </a:lnTo>
                <a:close/>
              </a:path>
            </a:pathLst>
          </a:custGeom>
          <a:blipFill>
            <a:blip r:embed="rId4"/>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sp>
        <p:nvSpPr>
          <p:cNvPr name="Freeform 2" id="2"/>
          <p:cNvSpPr/>
          <p:nvPr/>
        </p:nvSpPr>
        <p:spPr>
          <a:xfrm flipH="false" flipV="false" rot="0">
            <a:off x="121575" y="119854"/>
            <a:ext cx="18033450" cy="10053648"/>
          </a:xfrm>
          <a:custGeom>
            <a:avLst/>
            <a:gdLst/>
            <a:ahLst/>
            <a:cxnLst/>
            <a:rect r="r" b="b" t="t" l="l"/>
            <a:pathLst>
              <a:path h="10053648" w="18033450">
                <a:moveTo>
                  <a:pt x="0" y="0"/>
                </a:moveTo>
                <a:lnTo>
                  <a:pt x="18033450" y="0"/>
                </a:lnTo>
                <a:lnTo>
                  <a:pt x="18033450" y="10053648"/>
                </a:lnTo>
                <a:lnTo>
                  <a:pt x="0" y="10053648"/>
                </a:lnTo>
                <a:lnTo>
                  <a:pt x="0" y="0"/>
                </a:lnTo>
                <a:close/>
              </a:path>
            </a:pathLst>
          </a:custGeom>
          <a:blipFill>
            <a:blip r:embed="rId3"/>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278765" y="1401955"/>
            <a:ext cx="9018532" cy="3570095"/>
          </a:xfrm>
          <a:custGeom>
            <a:avLst/>
            <a:gdLst/>
            <a:ahLst/>
            <a:cxnLst/>
            <a:rect r="r" b="b" t="t" l="l"/>
            <a:pathLst>
              <a:path h="3570095" w="9018532">
                <a:moveTo>
                  <a:pt x="0" y="0"/>
                </a:moveTo>
                <a:lnTo>
                  <a:pt x="9018531" y="0"/>
                </a:lnTo>
                <a:lnTo>
                  <a:pt x="9018531" y="3570095"/>
                </a:lnTo>
                <a:lnTo>
                  <a:pt x="0" y="3570095"/>
                </a:lnTo>
                <a:lnTo>
                  <a:pt x="0" y="0"/>
                </a:lnTo>
                <a:close/>
              </a:path>
            </a:pathLst>
          </a:custGeom>
          <a:blipFill>
            <a:blip r:embed="rId3"/>
            <a:stretch>
              <a:fillRect l="0" t="0" r="0" b="0"/>
            </a:stretch>
          </a:blipFill>
        </p:spPr>
      </p:sp>
      <p:sp>
        <p:nvSpPr>
          <p:cNvPr name="Freeform 3" id="3"/>
          <p:cNvSpPr/>
          <p:nvPr/>
        </p:nvSpPr>
        <p:spPr>
          <a:xfrm flipH="false" flipV="false" rot="0">
            <a:off x="278765" y="5673909"/>
            <a:ext cx="11147147" cy="4180180"/>
          </a:xfrm>
          <a:custGeom>
            <a:avLst/>
            <a:gdLst/>
            <a:ahLst/>
            <a:cxnLst/>
            <a:rect r="r" b="b" t="t" l="l"/>
            <a:pathLst>
              <a:path h="4180180" w="11147147">
                <a:moveTo>
                  <a:pt x="0" y="0"/>
                </a:moveTo>
                <a:lnTo>
                  <a:pt x="11147147" y="0"/>
                </a:lnTo>
                <a:lnTo>
                  <a:pt x="11147147" y="4180181"/>
                </a:lnTo>
                <a:lnTo>
                  <a:pt x="0" y="4180181"/>
                </a:lnTo>
                <a:lnTo>
                  <a:pt x="0" y="0"/>
                </a:lnTo>
                <a:close/>
              </a:path>
            </a:pathLst>
          </a:custGeom>
          <a:blipFill>
            <a:blip r:embed="rId4"/>
            <a:stretch>
              <a:fillRect l="0" t="0" r="0" b="0"/>
            </a:stretch>
          </a:blipFill>
        </p:spPr>
      </p:sp>
      <p:sp>
        <p:nvSpPr>
          <p:cNvPr name="Freeform 4" id="4"/>
          <p:cNvSpPr/>
          <p:nvPr/>
        </p:nvSpPr>
        <p:spPr>
          <a:xfrm flipH="false" flipV="false" rot="0">
            <a:off x="12153389" y="1401955"/>
            <a:ext cx="5733482" cy="2058883"/>
          </a:xfrm>
          <a:custGeom>
            <a:avLst/>
            <a:gdLst/>
            <a:ahLst/>
            <a:cxnLst/>
            <a:rect r="r" b="b" t="t" l="l"/>
            <a:pathLst>
              <a:path h="2058883" w="5733482">
                <a:moveTo>
                  <a:pt x="0" y="0"/>
                </a:moveTo>
                <a:lnTo>
                  <a:pt x="5733482" y="0"/>
                </a:lnTo>
                <a:lnTo>
                  <a:pt x="5733482" y="2058884"/>
                </a:lnTo>
                <a:lnTo>
                  <a:pt x="0" y="2058884"/>
                </a:lnTo>
                <a:lnTo>
                  <a:pt x="0" y="0"/>
                </a:lnTo>
                <a:close/>
              </a:path>
            </a:pathLst>
          </a:custGeom>
          <a:blipFill>
            <a:blip r:embed="rId5"/>
            <a:stretch>
              <a:fillRect l="0" t="0" r="0" b="0"/>
            </a:stretch>
          </a:blipFill>
        </p:spPr>
      </p:sp>
      <p:sp>
        <p:nvSpPr>
          <p:cNvPr name="Freeform 5" id="5"/>
          <p:cNvSpPr/>
          <p:nvPr/>
        </p:nvSpPr>
        <p:spPr>
          <a:xfrm flipH="false" flipV="false" rot="0">
            <a:off x="12153389" y="3922706"/>
            <a:ext cx="5560553" cy="2000005"/>
          </a:xfrm>
          <a:custGeom>
            <a:avLst/>
            <a:gdLst/>
            <a:ahLst/>
            <a:cxnLst/>
            <a:rect r="r" b="b" t="t" l="l"/>
            <a:pathLst>
              <a:path h="2000005" w="5560553">
                <a:moveTo>
                  <a:pt x="0" y="0"/>
                </a:moveTo>
                <a:lnTo>
                  <a:pt x="5560553" y="0"/>
                </a:lnTo>
                <a:lnTo>
                  <a:pt x="5560553" y="2000005"/>
                </a:lnTo>
                <a:lnTo>
                  <a:pt x="0" y="2000005"/>
                </a:lnTo>
                <a:lnTo>
                  <a:pt x="0" y="0"/>
                </a:lnTo>
                <a:close/>
              </a:path>
            </a:pathLst>
          </a:custGeom>
          <a:blipFill>
            <a:blip r:embed="rId6"/>
            <a:stretch>
              <a:fillRect l="0" t="0" r="0" b="0"/>
            </a:stretch>
          </a:blipFill>
        </p:spPr>
      </p:sp>
      <p:sp>
        <p:nvSpPr>
          <p:cNvPr name="Freeform 6" id="6"/>
          <p:cNvSpPr/>
          <p:nvPr/>
        </p:nvSpPr>
        <p:spPr>
          <a:xfrm flipH="false" flipV="false" rot="0">
            <a:off x="12153389" y="6379911"/>
            <a:ext cx="5419165" cy="1946012"/>
          </a:xfrm>
          <a:custGeom>
            <a:avLst/>
            <a:gdLst/>
            <a:ahLst/>
            <a:cxnLst/>
            <a:rect r="r" b="b" t="t" l="l"/>
            <a:pathLst>
              <a:path h="1946012" w="5419165">
                <a:moveTo>
                  <a:pt x="0" y="0"/>
                </a:moveTo>
                <a:lnTo>
                  <a:pt x="5419165" y="0"/>
                </a:lnTo>
                <a:lnTo>
                  <a:pt x="5419165" y="1946013"/>
                </a:lnTo>
                <a:lnTo>
                  <a:pt x="0" y="1946013"/>
                </a:lnTo>
                <a:lnTo>
                  <a:pt x="0" y="0"/>
                </a:lnTo>
                <a:close/>
              </a:path>
            </a:pathLst>
          </a:custGeom>
          <a:blipFill>
            <a:blip r:embed="rId7"/>
            <a:stretch>
              <a:fillRect l="0" t="0" r="0" b="0"/>
            </a:stretch>
          </a:blipFill>
        </p:spPr>
      </p:sp>
      <p:sp>
        <p:nvSpPr>
          <p:cNvPr name="TextBox 7" id="7"/>
          <p:cNvSpPr txBox="true"/>
          <p:nvPr/>
        </p:nvSpPr>
        <p:spPr>
          <a:xfrm rot="0">
            <a:off x="715446" y="70551"/>
            <a:ext cx="16857107" cy="809625"/>
          </a:xfrm>
          <a:prstGeom prst="rect">
            <a:avLst/>
          </a:prstGeom>
        </p:spPr>
        <p:txBody>
          <a:bodyPr anchor="t" rtlCol="false" tIns="0" lIns="0" bIns="0" rIns="0">
            <a:spAutoFit/>
          </a:bodyPr>
          <a:lstStyle/>
          <a:p>
            <a:pPr algn="ctr">
              <a:lnSpc>
                <a:spcPts val="6240"/>
              </a:lnSpc>
              <a:spcBef>
                <a:spcPct val="0"/>
              </a:spcBef>
            </a:pPr>
            <a:r>
              <a:rPr lang="en-US" b="true" sz="5200">
                <a:solidFill>
                  <a:srgbClr val="FFFFFF"/>
                </a:solidFill>
                <a:latin typeface="Arial Bold"/>
                <a:ea typeface="Arial Bold"/>
                <a:cs typeface="Arial Bold"/>
                <a:sym typeface="Arial Bold"/>
              </a:rPr>
              <a:t>CP6 / CP7</a:t>
            </a:r>
            <a:r>
              <a:rPr lang="en-US" b="true" sz="5200">
                <a:solidFill>
                  <a:srgbClr val="FFFFFF"/>
                </a:solidFill>
                <a:latin typeface="Arial Bold"/>
                <a:ea typeface="Arial Bold"/>
                <a:cs typeface="Arial Bold"/>
                <a:sym typeface="Arial Bold"/>
              </a:rPr>
              <a:t> · Accès aux données et composants métier</a:t>
            </a:r>
          </a:p>
        </p:txBody>
      </p:sp>
      <p:sp>
        <p:nvSpPr>
          <p:cNvPr name="TextBox 8" id="8"/>
          <p:cNvSpPr txBox="true"/>
          <p:nvPr/>
        </p:nvSpPr>
        <p:spPr>
          <a:xfrm rot="0">
            <a:off x="278765" y="876110"/>
            <a:ext cx="6456164" cy="400050"/>
          </a:xfrm>
          <a:prstGeom prst="rect">
            <a:avLst/>
          </a:prstGeom>
        </p:spPr>
        <p:txBody>
          <a:bodyPr anchor="t" rtlCol="false" tIns="0" lIns="0" bIns="0" rIns="0">
            <a:spAutoFit/>
          </a:bodyPr>
          <a:lstStyle/>
          <a:p>
            <a:pPr algn="ctr">
              <a:lnSpc>
                <a:spcPts val="3000"/>
              </a:lnSpc>
              <a:spcBef>
                <a:spcPct val="0"/>
              </a:spcBef>
            </a:pPr>
            <a:r>
              <a:rPr lang="en-US" b="true" sz="2500">
                <a:solidFill>
                  <a:srgbClr val="FFFFFF"/>
                </a:solidFill>
                <a:latin typeface="Arial Bold"/>
                <a:ea typeface="Arial Bold"/>
                <a:cs typeface="Arial Bold"/>
                <a:sym typeface="Arial Bold"/>
              </a:rPr>
              <a:t>models.py : référence unique anti-collision</a:t>
            </a:r>
          </a:p>
        </p:txBody>
      </p:sp>
      <p:sp>
        <p:nvSpPr>
          <p:cNvPr name="TextBox 9" id="9"/>
          <p:cNvSpPr txBox="true"/>
          <p:nvPr/>
        </p:nvSpPr>
        <p:spPr>
          <a:xfrm rot="0">
            <a:off x="278765" y="5133975"/>
            <a:ext cx="7424381" cy="371475"/>
          </a:xfrm>
          <a:prstGeom prst="rect">
            <a:avLst/>
          </a:prstGeom>
        </p:spPr>
        <p:txBody>
          <a:bodyPr anchor="t" rtlCol="false" tIns="0" lIns="0" bIns="0" rIns="0">
            <a:spAutoFit/>
          </a:bodyPr>
          <a:lstStyle/>
          <a:p>
            <a:pPr algn="ctr">
              <a:lnSpc>
                <a:spcPts val="2879"/>
              </a:lnSpc>
              <a:spcBef>
                <a:spcPct val="0"/>
              </a:spcBef>
            </a:pPr>
            <a:r>
              <a:rPr lang="en-US" b="true" sz="2400">
                <a:solidFill>
                  <a:srgbClr val="FFFFFF"/>
                </a:solidFill>
                <a:latin typeface="Arial Bold"/>
                <a:ea typeface="Arial Bold"/>
                <a:cs typeface="Arial Bold"/>
                <a:sym typeface="Arial Bold"/>
              </a:rPr>
              <a:t>views.py : contrôle d'accès par rôle (extrait abrégé)</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sp>
        <p:nvSpPr>
          <p:cNvPr name="Freeform 2" id="2"/>
          <p:cNvSpPr/>
          <p:nvPr/>
        </p:nvSpPr>
        <p:spPr>
          <a:xfrm flipH="false" flipV="false" rot="0">
            <a:off x="137453" y="144866"/>
            <a:ext cx="17915739" cy="9943235"/>
          </a:xfrm>
          <a:custGeom>
            <a:avLst/>
            <a:gdLst/>
            <a:ahLst/>
            <a:cxnLst/>
            <a:rect r="r" b="b" t="t" l="l"/>
            <a:pathLst>
              <a:path h="9943235" w="17915739">
                <a:moveTo>
                  <a:pt x="0" y="0"/>
                </a:moveTo>
                <a:lnTo>
                  <a:pt x="17915739" y="0"/>
                </a:lnTo>
                <a:lnTo>
                  <a:pt x="17915739" y="9943236"/>
                </a:lnTo>
                <a:lnTo>
                  <a:pt x="0" y="9943236"/>
                </a:lnTo>
                <a:lnTo>
                  <a:pt x="0" y="0"/>
                </a:lnTo>
                <a:close/>
              </a:path>
            </a:pathLst>
          </a:custGeom>
          <a:blipFill>
            <a:blip r:embed="rId3"/>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sp>
        <p:nvSpPr>
          <p:cNvPr name="Freeform 2" id="2"/>
          <p:cNvSpPr/>
          <p:nvPr/>
        </p:nvSpPr>
        <p:spPr>
          <a:xfrm flipH="false" flipV="false" rot="0">
            <a:off x="193306" y="237401"/>
            <a:ext cx="17758895" cy="9734094"/>
          </a:xfrm>
          <a:custGeom>
            <a:avLst/>
            <a:gdLst/>
            <a:ahLst/>
            <a:cxnLst/>
            <a:rect r="r" b="b" t="t" l="l"/>
            <a:pathLst>
              <a:path h="9734094" w="17758895">
                <a:moveTo>
                  <a:pt x="0" y="0"/>
                </a:moveTo>
                <a:lnTo>
                  <a:pt x="17758895" y="0"/>
                </a:lnTo>
                <a:lnTo>
                  <a:pt x="17758895" y="9734094"/>
                </a:lnTo>
                <a:lnTo>
                  <a:pt x="0" y="9734094"/>
                </a:lnTo>
                <a:lnTo>
                  <a:pt x="0" y="0"/>
                </a:lnTo>
                <a:close/>
              </a:path>
            </a:pathLst>
          </a:custGeom>
          <a:blipFill>
            <a:blip r:embed="rId3"/>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sp>
        <p:nvSpPr>
          <p:cNvPr name="Freeform 2" id="2"/>
          <p:cNvSpPr/>
          <p:nvPr/>
        </p:nvSpPr>
        <p:spPr>
          <a:xfrm flipH="false" flipV="false" rot="0">
            <a:off x="418976" y="274761"/>
            <a:ext cx="17587348" cy="9662049"/>
          </a:xfrm>
          <a:custGeom>
            <a:avLst/>
            <a:gdLst/>
            <a:ahLst/>
            <a:cxnLst/>
            <a:rect r="r" b="b" t="t" l="l"/>
            <a:pathLst>
              <a:path h="9662049" w="17587348">
                <a:moveTo>
                  <a:pt x="0" y="0"/>
                </a:moveTo>
                <a:lnTo>
                  <a:pt x="17587348" y="0"/>
                </a:lnTo>
                <a:lnTo>
                  <a:pt x="17587348" y="9662049"/>
                </a:lnTo>
                <a:lnTo>
                  <a:pt x="0" y="9662049"/>
                </a:lnTo>
                <a:lnTo>
                  <a:pt x="0" y="0"/>
                </a:lnTo>
                <a:close/>
              </a:path>
            </a:pathLst>
          </a:custGeom>
          <a:blipFill>
            <a:blip r:embed="rId3"/>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sp>
        <p:nvSpPr>
          <p:cNvPr name="Freeform 2" id="2"/>
          <p:cNvSpPr/>
          <p:nvPr/>
        </p:nvSpPr>
        <p:spPr>
          <a:xfrm flipH="false" flipV="false" rot="0">
            <a:off x="198496" y="229064"/>
            <a:ext cx="17749705" cy="9751244"/>
          </a:xfrm>
          <a:custGeom>
            <a:avLst/>
            <a:gdLst/>
            <a:ahLst/>
            <a:cxnLst/>
            <a:rect r="r" b="b" t="t" l="l"/>
            <a:pathLst>
              <a:path h="9751244" w="17749705">
                <a:moveTo>
                  <a:pt x="0" y="0"/>
                </a:moveTo>
                <a:lnTo>
                  <a:pt x="17749706" y="0"/>
                </a:lnTo>
                <a:lnTo>
                  <a:pt x="17749706" y="9751244"/>
                </a:lnTo>
                <a:lnTo>
                  <a:pt x="0" y="9751244"/>
                </a:lnTo>
                <a:lnTo>
                  <a:pt x="0" y="0"/>
                </a:lnTo>
                <a:close/>
              </a:path>
            </a:pathLst>
          </a:custGeom>
          <a:blipFill>
            <a:blip r:embed="rId3"/>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sp>
        <p:nvSpPr>
          <p:cNvPr name="Freeform 2" id="2"/>
          <p:cNvSpPr/>
          <p:nvPr/>
        </p:nvSpPr>
        <p:spPr>
          <a:xfrm flipH="false" flipV="false" rot="0">
            <a:off x="206859" y="110152"/>
            <a:ext cx="17928029" cy="9546675"/>
          </a:xfrm>
          <a:custGeom>
            <a:avLst/>
            <a:gdLst/>
            <a:ahLst/>
            <a:cxnLst/>
            <a:rect r="r" b="b" t="t" l="l"/>
            <a:pathLst>
              <a:path h="9546675" w="17928029">
                <a:moveTo>
                  <a:pt x="0" y="0"/>
                </a:moveTo>
                <a:lnTo>
                  <a:pt x="17928029" y="0"/>
                </a:lnTo>
                <a:lnTo>
                  <a:pt x="17928029" y="9546676"/>
                </a:lnTo>
                <a:lnTo>
                  <a:pt x="0" y="9546676"/>
                </a:lnTo>
                <a:lnTo>
                  <a:pt x="0" y="0"/>
                </a:lnTo>
                <a:close/>
              </a:path>
            </a:pathLst>
          </a:custGeom>
          <a:blipFill>
            <a:blip r:embed="rId3"/>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sp>
        <p:nvSpPr>
          <p:cNvPr name="Freeform 2" id="2"/>
          <p:cNvSpPr/>
          <p:nvPr/>
        </p:nvSpPr>
        <p:spPr>
          <a:xfrm flipH="false" flipV="false" rot="0">
            <a:off x="558162" y="334294"/>
            <a:ext cx="17057463" cy="9338961"/>
          </a:xfrm>
          <a:custGeom>
            <a:avLst/>
            <a:gdLst/>
            <a:ahLst/>
            <a:cxnLst/>
            <a:rect r="r" b="b" t="t" l="l"/>
            <a:pathLst>
              <a:path h="9338961" w="17057463">
                <a:moveTo>
                  <a:pt x="0" y="0"/>
                </a:moveTo>
                <a:lnTo>
                  <a:pt x="17057463" y="0"/>
                </a:lnTo>
                <a:lnTo>
                  <a:pt x="17057463" y="9338961"/>
                </a:lnTo>
                <a:lnTo>
                  <a:pt x="0" y="9338961"/>
                </a:lnTo>
                <a:lnTo>
                  <a:pt x="0" y="0"/>
                </a:lnTo>
                <a:close/>
              </a:path>
            </a:pathLst>
          </a:custGeom>
          <a:blipFill>
            <a:blip r:embed="rId3"/>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483514" y="353168"/>
            <a:ext cx="17239818" cy="9535774"/>
          </a:xfrm>
          <a:custGeom>
            <a:avLst/>
            <a:gdLst/>
            <a:ahLst/>
            <a:cxnLst/>
            <a:rect r="r" b="b" t="t" l="l"/>
            <a:pathLst>
              <a:path h="9535774" w="17239818">
                <a:moveTo>
                  <a:pt x="0" y="0"/>
                </a:moveTo>
                <a:lnTo>
                  <a:pt x="17239817" y="0"/>
                </a:lnTo>
                <a:lnTo>
                  <a:pt x="17239817" y="9535775"/>
                </a:lnTo>
                <a:lnTo>
                  <a:pt x="0" y="9535775"/>
                </a:lnTo>
                <a:lnTo>
                  <a:pt x="0" y="0"/>
                </a:lnTo>
                <a:close/>
              </a:path>
            </a:pathLst>
          </a:custGeom>
          <a:blipFill>
            <a:blip r:embed="rId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DAHMEm5duqU</dc:identifier>
  <dcterms:modified xsi:type="dcterms:W3CDTF">2011-08-01T06:04:30Z</dcterms:modified>
  <cp:revision>1</cp:revision>
  <dc:title>CyberAudit-V2.pptx</dc:title>
</cp:coreProperties>
</file>