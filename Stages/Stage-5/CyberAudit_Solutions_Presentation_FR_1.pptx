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3"/>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x="18288000" cy="10287000"/>
  <p:notesSz cx="6858000" cy="9144000"/>
  <p:embeddedFontLst>
    <p:embeddedFont>
      <p:font typeface="Arial Bold" charset="1" panose="020B0704020202020204"/>
      <p:regular r:id="rId26"/>
    </p:embeddedFont>
    <p:embeddedFont>
      <p:font typeface="Arial Italics" charset="1" panose="020B0604020202090204"/>
      <p:regular r:id="rId27"/>
    </p:embeddedFont>
    <p:embeddedFont>
      <p:font typeface="Arial" charset="1" panose="020B0604020202020204"/>
      <p:regular r:id="rId28"/>
    </p:embeddedFont>
    <p:embeddedFont>
      <p:font typeface="Arial Bold Italics" charset="1" panose="020B0704020202090204"/>
      <p:regular r:id="rId30"/>
    </p:embeddedFont>
    <p:embeddedFont>
      <p:font typeface="Liberation Sans Bold" charset="1" panose="020B0704020202020204"/>
      <p:regular r:id="rId44"/>
    </p:embeddedFont>
    <p:embeddedFont>
      <p:font typeface="Liberation Sans Italics" charset="1" panose="020B0604020202090204"/>
      <p:regular r:id="rId45"/>
    </p:embeddedFont>
    <p:embeddedFont>
      <p:font typeface="Liberation Sans" charset="1" panose="020B0604020202020204"/>
      <p:regular r:id="rId46"/>
    </p:embeddedFont>
    <p:embeddedFont>
      <p:font typeface="Liberation Sans Bold Italics" charset="1" panose="020B0704020202090204"/>
      <p:regular r:id="rId4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notesMasters/notesMaster1.xml" Type="http://schemas.openxmlformats.org/officeDocument/2006/relationships/notesMaster"/><Relationship Id="rId24" Target="theme/theme2.xml" Type="http://schemas.openxmlformats.org/officeDocument/2006/relationships/theme"/><Relationship Id="rId25" Target="notesSlides/notesSlide1.xml" Type="http://schemas.openxmlformats.org/officeDocument/2006/relationships/notesSlide"/><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notesSlides/notesSlide2.xml" Type="http://schemas.openxmlformats.org/officeDocument/2006/relationships/notesSlide"/><Relationship Id="rId3" Target="viewProps.xml" Type="http://schemas.openxmlformats.org/officeDocument/2006/relationships/viewProps"/><Relationship Id="rId30" Target="fonts/font30.fntdata" Type="http://schemas.openxmlformats.org/officeDocument/2006/relationships/font"/><Relationship Id="rId31" Target="notesSlides/notesSlide3.xml" Type="http://schemas.openxmlformats.org/officeDocument/2006/relationships/notesSlide"/><Relationship Id="rId32" Target="notesSlides/notesSlide4.xml" Type="http://schemas.openxmlformats.org/officeDocument/2006/relationships/notesSlide"/><Relationship Id="rId33" Target="notesSlides/notesSlide5.xml" Type="http://schemas.openxmlformats.org/officeDocument/2006/relationships/notesSlide"/><Relationship Id="rId34" Target="notesSlides/notesSlide6.xml" Type="http://schemas.openxmlformats.org/officeDocument/2006/relationships/notesSlide"/><Relationship Id="rId35" Target="notesSlides/notesSlide7.xml" Type="http://schemas.openxmlformats.org/officeDocument/2006/relationships/notesSlide"/><Relationship Id="rId36" Target="notesSlides/notesSlide8.xml" Type="http://schemas.openxmlformats.org/officeDocument/2006/relationships/notesSlide"/><Relationship Id="rId37" Target="notesSlides/notesSlide9.xml" Type="http://schemas.openxmlformats.org/officeDocument/2006/relationships/notesSlide"/><Relationship Id="rId38" Target="notesSlides/notesSlide10.xml" Type="http://schemas.openxmlformats.org/officeDocument/2006/relationships/notesSlide"/><Relationship Id="rId39" Target="notesSlides/notesSlide11.xml" Type="http://schemas.openxmlformats.org/officeDocument/2006/relationships/notesSlide"/><Relationship Id="rId4" Target="theme/theme1.xml" Type="http://schemas.openxmlformats.org/officeDocument/2006/relationships/theme"/><Relationship Id="rId40" Target="notesSlides/notesSlide12.xml" Type="http://schemas.openxmlformats.org/officeDocument/2006/relationships/notesSlide"/><Relationship Id="rId41" Target="notesSlides/notesSlide13.xml" Type="http://schemas.openxmlformats.org/officeDocument/2006/relationships/notesSlide"/><Relationship Id="rId42" Target="notesSlides/notesSlide14.xml" Type="http://schemas.openxmlformats.org/officeDocument/2006/relationships/notesSlide"/><Relationship Id="rId43" Target="notesSlides/notesSlide15.xml" Type="http://schemas.openxmlformats.org/officeDocument/2006/relationships/notesSlide"/><Relationship Id="rId44" Target="fonts/font44.fntdata" Type="http://schemas.openxmlformats.org/officeDocument/2006/relationships/font"/><Relationship Id="rId45" Target="fonts/font45.fntdata" Type="http://schemas.openxmlformats.org/officeDocument/2006/relationships/font"/><Relationship Id="rId46" Target="fonts/font46.fntdata" Type="http://schemas.openxmlformats.org/officeDocument/2006/relationships/font"/><Relationship Id="rId47" Target="fonts/font47.fntdata" Type="http://schemas.openxmlformats.org/officeDocument/2006/relationships/font"/><Relationship Id="rId48" Target="notesSlides/notesSlide16.xml" Type="http://schemas.openxmlformats.org/officeDocument/2006/relationships/notesSlide"/><Relationship Id="rId49" Target="notesSlides/notesSlide17.xml" Type="http://schemas.openxmlformats.org/officeDocument/2006/relationships/notesSlid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Bonjour à tous.</a:t>
            </a:r>
          </a:p>
          <a:p>
            <a:r>
              <a:rPr lang="en-US"/>
              <a:t/>
            </a:r>
          </a:p>
          <a:p>
            <a:r>
              <a:rPr lang="en-US"/>
              <a:t>Je me présente Tommy Jouhans, Etudiant à Holberton School à Dijon.</a:t>
            </a:r>
          </a:p>
          <a:p>
            <a:r>
              <a:rPr lang="en-US"/>
              <a:t/>
            </a:r>
          </a:p>
          <a:p>
            <a:r>
              <a:rPr lang="en-US"/>
              <a:t>Je vais vous présenter CyberAudit &amp; Solutions :</a:t>
            </a:r>
          </a:p>
          <a:p>
            <a:r>
              <a:rPr lang="en-US"/>
              <a:t/>
            </a:r>
          </a:p>
          <a:p>
            <a:r>
              <a:rPr lang="en-US"/>
              <a:t>une plateforme de gestion d'audits de cybersécurité conçue pour les petites et moyennes entreprises.</a:t>
            </a:r>
          </a:p>
          <a:p>
            <a:r>
              <a:rPr lang="en-US"/>
              <a:t/>
            </a:r>
          </a:p>
          <a:p>
            <a:r>
              <a:rPr lang="en-US"/>
              <a:t>Il s'agit de notre projet de fin de cursus en collaboration avec  mon camarade James Roussel, développé à l'école Holberton de Dijon en partenariat avec Les Entrep' Bourgogne.</a:t>
            </a:r>
          </a:p>
          <a:p>
            <a:r>
              <a:rPr lang="en-US"/>
              <a:t/>
            </a:r>
          </a:p>
          <a:p>
            <a:r>
              <a:rPr lang="en-US"/>
              <a:t>Auquel j'avais participé à cette association qui forment des étudiant de differentes écoles à se former sur l'entreprenariat et un des projet des étudiants qui s'appel "CyberAudit &amp; Solutions" comme le nom indiqué à la plateforme, qui propose des audits et de la sensibilisation à la cybersécurité.</a:t>
            </a:r>
          </a:p>
          <a:p>
            <a:r>
              <a:rPr lang="en-US"/>
              <a:t/>
            </a:r>
          </a:p>
          <a:p>
            <a:r>
              <a:rPr lang="en-US"/>
              <a:t>Je vais vous présenter le contexte, les choix techniques, la sécurité, et je vous montrerai l'application en fonctionnement.</a:t>
            </a:r>
          </a:p>
          <a:p>
            <a:r>
              <a:rPr lang="en-US"/>
              <a:t/>
            </a:r>
          </a:p>
          <a:p>
            <a:r>
              <a:rPr lang="en-US"/>
              <a:t>Nous pouvons commencé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Avant de vous présenter la solution, je veux d'abord poser le</a:t>
            </a:r>
          </a:p>
          <a:p>
            <a:r>
              <a:rPr lang="en-US"/>
              <a:t>Aujourd'hui, les petites et moyennes entreprises sont des cibles très fréquentes pour les cyberattaques.</a:t>
            </a:r>
          </a:p>
          <a:p>
            <a:r>
              <a:rPr lang="en-US"/>
              <a:t>Mais elles n'ont presque jamais les moyens de s'en protéger correctement.</a:t>
            </a:r>
          </a:p>
          <a:p>
            <a:r>
              <a:rPr lang="en-US"/>
              <a:t/>
            </a:r>
          </a:p>
          <a:p>
            <a:r>
              <a:rPr lang="en-US"/>
              <a:t>Selon l'ANSSI, près de la moitié des PME françaises n'ont aucune équipe informatique dédiée en interne.</a:t>
            </a:r>
          </a:p>
          <a:p>
            <a:r>
              <a:rPr lang="en-US"/>
              <a:t>Et selon le baromètre annuel du CESIN, la part des entreprises touchées par une cyberattaque augmente chaque année.</a:t>
            </a:r>
          </a:p>
          <a:p>
            <a:r>
              <a:rPr lang="en-US"/>
              <a:t/>
            </a:r>
          </a:p>
          <a:p>
            <a:r>
              <a:rPr lang="en-US"/>
              <a:t>Concrètement, ça donne quatre problèmes très concrets sur le terrain.</a:t>
            </a:r>
          </a:p>
          <a:p>
            <a:r>
              <a:rPr lang="en-US"/>
              <a:t/>
            </a:r>
          </a:p>
          <a:p>
            <a:r>
              <a:rPr lang="en-US"/>
              <a:t>Premièrement, il n'y a aucune sécurité informatique structurée.</a:t>
            </a:r>
          </a:p>
          <a:p>
            <a:r>
              <a:rPr lang="en-US"/>
              <a:t/>
            </a:r>
          </a:p>
          <a:p>
            <a:r>
              <a:rPr lang="en-US"/>
              <a:t>Deuxièmement, quand un audit existe, il est souvent manuel, long, et coûteux à réaliser.</a:t>
            </a:r>
          </a:p>
          <a:p>
            <a:r>
              <a:rPr lang="en-US"/>
              <a:t/>
            </a:r>
          </a:p>
          <a:p>
            <a:r>
              <a:rPr lang="en-US"/>
              <a:t>Troisièmement, en cas d'incident, la capacité de réaction est très lente.</a:t>
            </a:r>
          </a:p>
          <a:p>
            <a:r>
              <a:rPr lang="en-US"/>
              <a:t/>
            </a:r>
          </a:p>
          <a:p>
            <a:r>
              <a:rPr lang="en-US"/>
              <a:t>Et quatrièmement, il n'y a pas d'outil de reporting simple, compréhensible par un dirigeant qui n'est pas technicien.</a:t>
            </a:r>
          </a:p>
          <a:p>
            <a:r>
              <a:rPr lang="en-US"/>
              <a:t/>
            </a:r>
          </a:p>
          <a:p>
            <a:r>
              <a:rPr lang="en-US"/>
              <a:t>C'est exactement ce vide-là que nous avons voulu combler avec CyberAudit &amp; Solutions.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p>
          <a:p>
            <a:r>
              <a:rPr lang="en-US"/>
              <a:t>Face à ce problème, nous avons construit une plateforme autour de six fonctionnalités principales.</a:t>
            </a:r>
          </a:p>
          <a:p>
            <a:r>
              <a:rPr lang="en-US"/>
              <a:t/>
            </a:r>
          </a:p>
          <a:p>
            <a:r>
              <a:rPr lang="en-US"/>
              <a:t>La première, c'est un formulaire de demande d'audit. Le client choisit une formule : Audit, Security, Protection, ou Premium.</a:t>
            </a:r>
          </a:p>
          <a:p>
            <a:r>
              <a:rPr lang="en-US"/>
              <a:t/>
            </a:r>
          </a:p>
          <a:p>
            <a:r>
              <a:rPr lang="en-US"/>
              <a:t>La deuxième, c'est un tableau de bord en temps réel. Le client peut suivre l'avancement de sa demande, à tout moment.</a:t>
            </a:r>
          </a:p>
          <a:p>
            <a:r>
              <a:rPr lang="en-US"/>
              <a:t/>
            </a:r>
          </a:p>
          <a:p>
            <a:r>
              <a:rPr lang="en-US"/>
              <a:t>La troisième, c'est un espace de gestion pour l'administrateur. Il peut traiter les demandes, ajouter des notes internes, et changer le statut d'un dossier.</a:t>
            </a:r>
          </a:p>
          <a:p>
            <a:r>
              <a:rPr lang="en-US"/>
              <a:t/>
            </a:r>
          </a:p>
          <a:p>
            <a:r>
              <a:rPr lang="en-US"/>
              <a:t>La quatrième, c'est la génération automatique d'un rapport PDF. Il contient un score de sécurité, la liste des vulnérabilités trouvées, et un plan d'action sur trente jours.</a:t>
            </a:r>
          </a:p>
          <a:p>
            <a:r>
              <a:rPr lang="en-US"/>
              <a:t/>
            </a:r>
          </a:p>
          <a:p>
            <a:r>
              <a:rPr lang="en-US"/>
              <a:t>La cinquième, ce sont des modules de formation. Des modules courts, pour sensibiliser les équipes du client : reconnaître un email de phishing, activer une authentification à plusieurs facteurs, et ainsi de suite.</a:t>
            </a:r>
          </a:p>
          <a:p>
            <a:r>
              <a:rPr lang="en-US"/>
              <a:t/>
            </a:r>
          </a:p>
          <a:p>
            <a:r>
              <a:rPr lang="en-US"/>
              <a:t>Et la sixième, c'est l'authentification. Elle repose sur des jetons JWT, avec une rotation systématique, pour plus de sécurité.</a:t>
            </a:r>
          </a:p>
          <a:p>
            <a:r>
              <a:rPr lang="en-US"/>
              <a:t/>
            </a:r>
          </a:p>
          <a:p>
            <a:r>
              <a:rPr lang="en-US"/>
              <a:t>Ces six briques, ensemble, forment un parcours complet : de la demande du client, jusqu'à la remise d'un rapport exploitable.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"Ce projet s'est déroulé sur douze semaines, du 27 avril au 17 juillet 2026.</a:t>
            </a:r>
          </a:p>
          <a:p>
            <a:r>
              <a:rPr lang="en-US"/>
              <a:t/>
            </a:r>
          </a:p>
          <a:p>
            <a:r>
              <a:rPr lang="en-US"/>
              <a:t>Nous avons travaillé en méthode agile, avec des sprints, une priorisation MoSCoW, et un point de synthèse chaque vendredi.</a:t>
            </a:r>
          </a:p>
          <a:p>
            <a:r>
              <a:rPr lang="en-US"/>
              <a:t/>
            </a:r>
          </a:p>
          <a:p>
            <a:r>
              <a:rPr lang="en-US"/>
              <a:t>La répartition des rôles était claire.</a:t>
            </a:r>
          </a:p>
          <a:p>
            <a:r>
              <a:rPr lang="en-US"/>
              <a:t/>
            </a:r>
          </a:p>
          <a:p>
            <a:r>
              <a:rPr lang="en-US"/>
              <a:t>J'ai pris en charge tout le périmètre front-end : maquettage, interfaces, logique dynamique, sécurité côté client, et accessibilité.</a:t>
            </a:r>
          </a:p>
          <a:p>
            <a:r>
              <a:rPr lang="en-US"/>
              <a:t/>
            </a:r>
          </a:p>
          <a:p>
            <a:r>
              <a:rPr lang="en-US"/>
              <a:t>James Roussel s'est occupé du back-end : l'API, la base de données, l'authentification, et les tâches asynchrones.</a:t>
            </a:r>
          </a:p>
          <a:p>
            <a:r>
              <a:rPr lang="en-US"/>
              <a:t/>
            </a:r>
          </a:p>
          <a:p>
            <a:r>
              <a:rPr lang="en-US"/>
              <a:t>Sur les quarante points de complexité prévus au départ, nous en avons livré trente-huit. Soit une vélocité de 95 pourcent.</a:t>
            </a:r>
          </a:p>
          <a:p>
            <a:r>
              <a:rPr lang="en-US"/>
              <a:t/>
            </a:r>
          </a:p>
          <a:p>
            <a:r>
              <a:rPr lang="en-US"/>
              <a:t>Les deux points restants concernaient des tests de bout en bout, que nous avons reportés à une itération suivante."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Parlons maintenant de la stack technique.</a:t>
            </a:r>
          </a:p>
          <a:p>
            <a:r>
              <a:rPr lang="en-US"/>
              <a:t/>
            </a:r>
          </a:p>
          <a:p>
            <a:r>
              <a:rPr lang="en-US"/>
              <a:t>Côté front-end, j'ai utilisé React 19, l'outil de build Vite, et Tailwind CSS pour le style. Et j'ai ajouté DOMPurify, pour assainir tout contenu affiché, et me protéger des attaques XSS.</a:t>
            </a:r>
          </a:p>
          <a:p>
            <a:r>
              <a:rPr lang="en-US"/>
              <a:t/>
            </a:r>
          </a:p>
          <a:p>
            <a:r>
              <a:rPr lang="en-US"/>
              <a:t>Côté back-end, James a utilisé Django, avec Django REST Framework. L'authentification repose sur SimpleJWT.</a:t>
            </a:r>
          </a:p>
          <a:p>
            <a:r>
              <a:rPr lang="en-US"/>
              <a:t/>
            </a:r>
          </a:p>
          <a:p>
            <a:r>
              <a:rPr lang="en-US"/>
              <a:t> Et un worker Celery gère les tâches asynchrones, comme la génération des rapports PDF avec WeasyPrint.</a:t>
            </a:r>
          </a:p>
          <a:p>
            <a:r>
              <a:rPr lang="en-US"/>
              <a:t/>
            </a:r>
          </a:p>
          <a:p>
            <a:r>
              <a:rPr lang="en-US"/>
              <a:t>Pour les données, nous utilisons PostgreSQL, et Redis comme courtier de messages.</a:t>
            </a:r>
          </a:p>
          <a:p>
            <a:r>
              <a:rPr lang="en-US"/>
              <a:t/>
            </a:r>
          </a:p>
          <a:p>
            <a:r>
              <a:rPr lang="en-US"/>
              <a:t>Et pour l'infrastructure, le front-end est déployé sur Vercel, le back-end sur Railway, avec un pipeline d'intégration continue GitHub Actions.</a:t>
            </a:r>
          </a:p>
          <a:p>
            <a:r>
              <a:rPr lang="en-US"/>
              <a:t/>
            </a:r>
          </a:p>
          <a:p>
            <a:r>
              <a:rPr lang="en-US"/>
              <a:t>Ce pipeline exécute, à chaque poussée de code, cinquante-cinq tests back-end avec pytest, et cinquante-six tests front-end</a:t>
            </a:r>
          </a:p>
          <a:p>
            <a:r>
              <a:rPr lang="en-US"/>
              <a:t>avec Vitest.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Voici le schéma d'architecture de l'application.</a:t>
            </a:r>
          </a:p>
          <a:p>
            <a:r>
              <a:rPr lang="en-US"/>
              <a:t/>
            </a:r>
          </a:p>
          <a:p>
            <a:r>
              <a:rPr lang="en-US"/>
              <a:t>Le navigateur du client exécute une application React, en une seule page.</a:t>
            </a:r>
          </a:p>
          <a:p>
            <a:r>
              <a:rPr lang="en-US"/>
              <a:t/>
            </a:r>
          </a:p>
          <a:p>
            <a:r>
              <a:rPr lang="en-US"/>
              <a:t>Elle communique en HTTPS avec deux destinations différentes.</a:t>
            </a:r>
          </a:p>
          <a:p>
            <a:r>
              <a:rPr lang="en-US"/>
              <a:t/>
            </a:r>
          </a:p>
          <a:p>
            <a:r>
              <a:rPr lang="en-US"/>
              <a:t>D'un côté, le CDN de Vercel, pour récupérer les fichiers statiques.</a:t>
            </a:r>
          </a:p>
          <a:p>
            <a:r>
              <a:rPr lang="en-US"/>
              <a:t/>
            </a:r>
          </a:p>
          <a:p>
            <a:r>
              <a:rPr lang="en-US"/>
              <a:t>De l'autre, l'API Django, hébergée sur Railway, pour toutes les opérations authentifiées, sécurisées par un jeton JWT.</a:t>
            </a:r>
          </a:p>
          <a:p>
            <a:r>
              <a:rPr lang="en-US"/>
              <a:t/>
            </a:r>
          </a:p>
          <a:p>
            <a:r>
              <a:rPr lang="en-US"/>
              <a:t>L'API dialogue avec la base PostgreSQL grâce à l'ORM de Django.</a:t>
            </a:r>
          </a:p>
          <a:p>
            <a:r>
              <a:rPr lang="en-US"/>
              <a:t/>
            </a:r>
          </a:p>
          <a:p>
            <a:r>
              <a:rPr lang="en-US"/>
              <a:t>Et pour les traitements longs, comme la génération d'un rapport PDF, ou l'envoi d'un email, elle délègue le travail à un worker Celery, de façon asynchrone, via une file de messages Redis.</a:t>
            </a:r>
          </a:p>
          <a:p>
            <a:r>
              <a:rPr lang="en-US"/>
              <a:t/>
            </a:r>
          </a:p>
          <a:p>
            <a:r>
              <a:rPr lang="en-US"/>
              <a:t>Ce découplage entre le front et le back a plusieurs avantages : deux déploiements indépendants, un contrôle fin des origines autorisées avec CORS, et une mise en cache efficace des ressources statiques.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Je vous propose maintenant de voir l'application en fonctionnement.</a:t>
            </a:r>
          </a:p>
          <a:p>
            <a:r>
              <a:rPr lang="en-US"/>
              <a:t>[Ouvrir le lien de démonstration : portfolio-kappa-dun-65.vercel.app]</a:t>
            </a:r>
          </a:p>
          <a:p>
            <a:r>
              <a:rPr lang="en-US"/>
              <a:t/>
            </a:r>
          </a:p>
          <a:p>
            <a:r>
              <a:rPr lang="en-US"/>
              <a:t>Je me connecte ici avec un compte client. Je vais soumettre une nouvelle demande d'audit.</a:t>
            </a:r>
          </a:p>
          <a:p>
            <a:r>
              <a:rPr lang="en-US"/>
              <a:t/>
            </a:r>
          </a:p>
          <a:p>
            <a:r>
              <a:rPr lang="en-US"/>
              <a:t>Je choisis une formule par exemple, la formule Audit. Et je remplis les notes de périmètre : par exemple, « audit du</a:t>
            </a:r>
          </a:p>
          <a:p>
            <a:r>
              <a:rPr lang="en-US"/>
              <a:t>serveur de fichiers et de douze postes Windows ». </a:t>
            </a:r>
          </a:p>
          <a:p>
            <a:r>
              <a:rPr lang="en-US"/>
              <a:t/>
            </a:r>
          </a:p>
          <a:p>
            <a:r>
              <a:rPr lang="en-US"/>
              <a:t>Je valide.</a:t>
            </a:r>
          </a:p>
          <a:p>
            <a:r>
              <a:rPr lang="en-US"/>
              <a:t>Vous voyez que la demande apparaît immédiatement dans mon tableau de bord, avec le statut « en attente ».</a:t>
            </a:r>
          </a:p>
          <a:p>
            <a:r>
              <a:rPr lang="en-US"/>
              <a:t/>
            </a:r>
          </a:p>
          <a:p>
            <a:r>
              <a:rPr lang="en-US"/>
              <a:t>Et elle reçoit une référence unique, au format DOSSIER, année, numéro — celle-là même que nous venons de voir générée dans le code, à l'instant.</a:t>
            </a:r>
          </a:p>
          <a:p>
            <a:r>
              <a:rPr lang="en-US"/>
              <a:t/>
            </a:r>
          </a:p>
          <a:p>
            <a:r>
              <a:rPr lang="en-US"/>
              <a:t>Je bascule maintenant côté administrateur. [Se déconnecter, se reconnecter avec un compte admin]</a:t>
            </a:r>
          </a:p>
          <a:p>
            <a:r>
              <a:rPr lang="en-US"/>
              <a:t>La demande apparaît dans la file de traitement. </a:t>
            </a:r>
          </a:p>
          <a:p>
            <a:r>
              <a:rPr lang="en-US"/>
              <a:t/>
            </a:r>
          </a:p>
          <a:p>
            <a:r>
              <a:rPr lang="en-US"/>
              <a:t>Je peux l'assigner à un opérateur, changer son statut par exemple « en attente » vers « en cours »  et ajouter une note interne.</a:t>
            </a:r>
          </a:p>
          <a:p>
            <a:r>
              <a:rPr lang="en-US"/>
              <a:t>Je déclenche la génération du rapport PDF. </a:t>
            </a:r>
          </a:p>
          <a:p>
            <a:r>
              <a:rPr lang="en-US"/>
              <a:t/>
            </a:r>
          </a:p>
          <a:p>
            <a:r>
              <a:rPr lang="en-US"/>
              <a:t>Cette génération est traitée de façon asynchrone, par le worker Celery. Ça veut dire que je peux continuer à travailler pendant que le PDF se génère en arrière-plan.</a:t>
            </a:r>
          </a:p>
          <a:p>
            <a:r>
              <a:rPr lang="en-US"/>
              <a:t/>
            </a:r>
          </a:p>
          <a:p>
            <a:r>
              <a:rPr lang="en-US"/>
              <a:t>Une fois le rapport prêt, le client reçoit une notification par email, et peut le télécharger directement depuis son tableau de bord. [Revenir sur le compte client, télécharger le rapport]</a:t>
            </a:r>
          </a:p>
          <a:p>
            <a:r>
              <a:rPr lang="en-US"/>
              <a:t/>
            </a:r>
          </a:p>
          <a:p>
            <a:r>
              <a:rPr lang="en-US"/>
              <a:t>Voilà : vous venez de voir le parcours complet, de la demande initiale du client, jusqu'à la remise du rapport final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Je vous montre maintenant deux extraits de code, représentatifs de mon travail côté front-end.</a:t>
            </a:r>
          </a:p>
          <a:p>
            <a:r>
              <a:rPr lang="en-US"/>
              <a:t>Le premier, à gauche, c'est le composant ProtectedRoute. C'est lui qui protège l'accès aux pages selon le rôle de l'utilisateur.</a:t>
            </a:r>
          </a:p>
          <a:p>
            <a:r>
              <a:rPr lang="en-US"/>
              <a:t/>
            </a:r>
          </a:p>
          <a:p>
            <a:r>
              <a:rPr lang="en-US"/>
              <a:t>Si la personne n'est pas connectée, elle est redirigée vers la page de connexion. Si elle n'a pas le bon rôle  par exemple, un client qui tente d'accéder à une page réservée à l'administrateur, elle est redirigée vers l'accueil.</a:t>
            </a:r>
          </a:p>
          <a:p>
            <a:r>
              <a:rPr lang="en-US"/>
              <a:t/>
            </a:r>
          </a:p>
          <a:p>
            <a:r>
              <a:rPr lang="en-US"/>
              <a:t>Le deuxième extrait, à droite, c'est la fonction sanitize. Elle s'appuie sur la bibliothèque DOMPurify.</a:t>
            </a:r>
          </a:p>
          <a:p>
            <a:r>
              <a:rPr lang="en-US"/>
              <a:t>Chaque donnée saisie par un utilisateur, et réaffichée ailleurs dans l'application, passe par cette fonction avant d'être insérée dans la page.</a:t>
            </a:r>
          </a:p>
          <a:p>
            <a:r>
              <a:rPr lang="en-US"/>
              <a:t/>
            </a:r>
          </a:p>
          <a:p>
            <a:r>
              <a:rPr lang="en-US"/>
              <a:t>Et la configuration est volontairement stricte : aucune balise HTML, aucun attribut n'est conservé.</a:t>
            </a:r>
          </a:p>
          <a:p>
            <a:r>
              <a:rPr lang="en-US"/>
              <a:t>C'est ce mécanisme qui a neutralisé, sans aucun problème, la tentative d'injection XSS que nous avons testée dans notre jeu d'essai.</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Côté back-end, voici deux extraits que je trouve particulièrement représentatifs.</a:t>
            </a:r>
          </a:p>
          <a:p>
            <a:r>
              <a:rPr lang="en-US"/>
              <a:t/>
            </a:r>
          </a:p>
          <a:p>
            <a:r>
              <a:rPr lang="en-US"/>
              <a:t>À gauche, la méthode qui génère la référence unique d'une demande d'audit, au format DOSSIER, année, numéro.</a:t>
            </a:r>
          </a:p>
          <a:p>
            <a:r>
              <a:rPr lang="en-US"/>
              <a:t/>
            </a:r>
          </a:p>
          <a:p>
            <a:r>
              <a:rPr lang="en-US"/>
              <a:t>Elle utilise select_for_update, pour verrouiller la ligne pendant toute la transaction. Ça garantit que deux demandes, soumises à la même seconde, ne pourront jamais recevoir la même référence.</a:t>
            </a:r>
          </a:p>
          <a:p>
            <a:r>
              <a:rPr lang="en-US"/>
              <a:t/>
            </a:r>
          </a:p>
          <a:p>
            <a:r>
              <a:rPr lang="en-US"/>
              <a:t>À droite, la classe de permission IsAdminOrOwner. C'est elle qui gère le contrôle d'accès par rôle, côté serveur.</a:t>
            </a:r>
          </a:p>
          <a:p>
            <a:r>
              <a:rPr lang="en-US"/>
              <a:t/>
            </a:r>
          </a:p>
          <a:p>
            <a:r>
              <a:rPr lang="en-US"/>
              <a:t>Un administrateur a accès à tout. Un client, uniquement à ses propres demandes.</a:t>
            </a:r>
          </a:p>
          <a:p>
            <a:r>
              <a:rPr lang="en-US"/>
              <a:t>Et surtout, si l'accès est refusé, la vue renvoie un code 404, et non 403.</a:t>
            </a:r>
          </a:p>
          <a:p>
            <a:r>
              <a:rPr lang="en-US"/>
              <a:t/>
            </a:r>
          </a:p>
          <a:p>
            <a:r>
              <a:rPr lang="en-US"/>
              <a:t>L'objectif, c'est de ne jamais révéler à un attaquant qu'une ressource existe, même s'il n'a pas le droit d'y accéder.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Voici le modèle de données de l'application.</a:t>
            </a:r>
          </a:p>
          <a:p>
            <a:r>
              <a:rPr lang="en-US"/>
              <a:t>La base PostgreSQL s'organise autour de sept entités principales.</a:t>
            </a:r>
          </a:p>
          <a:p>
            <a:r>
              <a:rPr lang="en-US"/>
              <a:t/>
            </a:r>
          </a:p>
          <a:p>
            <a:r>
              <a:rPr lang="en-US"/>
              <a:t>L'utilisateur, qui peut être client ou administrateur. Le catalogue des formules d'audit. </a:t>
            </a:r>
          </a:p>
          <a:p>
            <a:r>
              <a:rPr lang="en-US"/>
              <a:t/>
            </a:r>
          </a:p>
          <a:p>
            <a:r>
              <a:rPr lang="en-US"/>
              <a:t>La demande d'audit elle-même avec sa référence unique, issue de façon atomique, comme je viens de vous le montrer.</a:t>
            </a:r>
          </a:p>
          <a:p>
            <a:r>
              <a:rPr lang="en-US"/>
              <a:t/>
            </a:r>
          </a:p>
          <a:p>
            <a:r>
              <a:rPr lang="en-US"/>
              <a:t>Le rapport d'audit, avec son score de sécurité, et la liste des vulnérabilités, au format JSON. Les modules de formation, et la progression de chaque utilisateur sur ces modules. Et enfin, les notifications.</a:t>
            </a:r>
          </a:p>
          <a:p>
            <a:r>
              <a:rPr lang="en-US"/>
              <a:t/>
            </a:r>
          </a:p>
          <a:p>
            <a:r>
              <a:rPr lang="en-US"/>
              <a:t>Un choix que je veux souligner : toutes les clés primaires sont des UUID, et non des entières auto-incrémentées.</a:t>
            </a:r>
          </a:p>
          <a:p>
            <a:r>
              <a:rPr lang="en-US"/>
              <a:t>C'est un choix de sécurité délibéré. </a:t>
            </a:r>
          </a:p>
          <a:p>
            <a:r>
              <a:rPr lang="en-US"/>
              <a:t/>
            </a:r>
          </a:p>
          <a:p>
            <a:r>
              <a:rPr lang="en-US"/>
              <a:t>Ça empêche un attaquant de deviner l'existence d'autres ressources, simplement en incrémentant un identifiant dans l'URL.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Le parcours côté client a été pensé pour rester simple, pour un utilisateur non technicien.</a:t>
            </a:r>
          </a:p>
          <a:p>
            <a:r>
              <a:rPr lang="en-US"/>
              <a:t/>
            </a:r>
          </a:p>
          <a:p>
            <a:r>
              <a:rPr lang="en-US"/>
              <a:t>C'est le persona principal du projet : Marie, dirigeante de PME, peu à l'aise avec l'informatique.</a:t>
            </a:r>
          </a:p>
          <a:p>
            <a:r>
              <a:rPr lang="en-US"/>
              <a:t/>
            </a:r>
          </a:p>
          <a:p>
            <a:r>
              <a:rPr lang="en-US"/>
              <a:t>Depuis la page d'accueil, elle s'inscrit, ou se connecte. Elle arrive sur un tableau de bord, qui liste ses demandes, avec un statut coloré.</a:t>
            </a:r>
          </a:p>
          <a:p>
            <a:r>
              <a:rPr lang="en-US"/>
              <a:t/>
            </a:r>
          </a:p>
          <a:p>
            <a:r>
              <a:rPr lang="en-US"/>
              <a:t>Elle peut soumettre une nouvelle demande, consulter le détail d'une demande existante avec son historique complet, et télécharger son rapport dès qu'il est disponible.</a:t>
            </a:r>
          </a:p>
          <a:p>
            <a:r>
              <a:rPr lang="en-US"/>
              <a:t/>
            </a:r>
          </a:p>
          <a:p>
            <a:r>
              <a:rPr lang="en-US"/>
              <a:t>Ce parcours a été validé avant même le début du développement des interfaces.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Côté administrateur, l'application propose un tableau de bord global.</a:t>
            </a:r>
          </a:p>
          <a:p>
            <a:r>
              <a:rPr lang="en-US"/>
              <a:t/>
            </a:r>
          </a:p>
          <a:p>
            <a:r>
              <a:rPr lang="en-US"/>
              <a:t>On peut filtrer l'ensemble des demandes par statut, et ouvrir le détail d'une demande pour consulter les informations du client.</a:t>
            </a:r>
          </a:p>
          <a:p>
            <a:r>
              <a:rPr lang="en-US"/>
              <a:t/>
            </a:r>
          </a:p>
          <a:p>
            <a:r>
              <a:rPr lang="en-US"/>
              <a:t>Changer le statut, assigner la demande, ajouter des notes internes.</a:t>
            </a:r>
          </a:p>
          <a:p>
            <a:r>
              <a:rPr lang="en-US"/>
              <a:t/>
            </a:r>
          </a:p>
          <a:p>
            <a:r>
              <a:rPr lang="en-US"/>
              <a:t>Déclencher la génération du rapport PDF en un clic, envoyer une notification au client, et archiver une demande une fois qu'elle est traitée.</a:t>
            </a:r>
          </a:p>
          <a:p>
            <a:r>
              <a:rPr lang="en-US"/>
              <a:t/>
            </a:r>
          </a:p>
          <a:p>
            <a:r>
              <a:rPr lang="en-US"/>
              <a:t>Un point que je veux souligner : chaque action est consignée dans un historique immuable. Ça garantit la traçabilité, exigée par le RGPD.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Le déploiement suit une démarche d'intégration et de livraison continues.</a:t>
            </a:r>
          </a:p>
          <a:p>
            <a:r>
              <a:rPr lang="en-US"/>
              <a:t/>
            </a:r>
          </a:p>
          <a:p>
            <a:r>
              <a:rPr lang="en-US"/>
              <a:t>À chaque poussée de code, GitHub Actions exécute l'analyse statique du code, la suite de tests, et déclenche le</a:t>
            </a:r>
          </a:p>
          <a:p>
            <a:r>
              <a:rPr lang="en-US"/>
              <a:t>déploiement.</a:t>
            </a:r>
          </a:p>
          <a:p>
            <a:r>
              <a:rPr lang="en-US"/>
              <a:t/>
            </a:r>
          </a:p>
          <a:p>
            <a:r>
              <a:rPr lang="en-US"/>
              <a:t>Le front-end est reconstruit et publié sur le CDN mondial de Vercel.</a:t>
            </a:r>
          </a:p>
          <a:p>
            <a:r>
              <a:rPr lang="en-US"/>
              <a:t/>
            </a:r>
          </a:p>
          <a:p>
            <a:r>
              <a:rPr lang="en-US"/>
              <a:t>Le back-end est déployé sur Railway, à partir d'un conteneur Docker. Les migrations de base de données sont appliquées automatiquement, et un processus séparé exécute le worker Celery.</a:t>
            </a:r>
          </a:p>
          <a:p>
            <a:r>
              <a:rPr lang="en-US"/>
              <a:t/>
            </a:r>
          </a:p>
          <a:p>
            <a:r>
              <a:rPr lang="en-US"/>
              <a:t>Les identifiants sensibles ne figurent jamais dans le dépôt de code.</a:t>
            </a:r>
          </a:p>
          <a:p>
            <a:r>
              <a:rPr lang="en-US"/>
              <a:t/>
            </a:r>
          </a:p>
          <a:p>
            <a:r>
              <a:rPr lang="en-US"/>
              <a:t>Et une sauvegarde manuelle de la base de production est déclenchée avant chaque mise en production majeure, avec une rétention de quatorze jours.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La sécurité a été traitée comme une exigence transversale, présente dès la conception.</a:t>
            </a:r>
          </a:p>
          <a:p>
            <a:r>
              <a:rPr lang="en-US"/>
              <a:t/>
            </a:r>
          </a:p>
          <a:p>
            <a:r>
              <a:rPr lang="en-US"/>
              <a:t>Vous venez de voir deux extraits de code qui l'illustrent très concrètement.</a:t>
            </a:r>
          </a:p>
          <a:p>
            <a:r>
              <a:rPr lang="en-US"/>
              <a:t/>
            </a:r>
          </a:p>
          <a:p>
            <a:r>
              <a:rPr lang="en-US"/>
              <a:t>Côté front-end : assainissement systématique contre les attaques XSS, en-têtes de sécurité HTTP sur chaque réponse, et jetons stockés en sessionStorage.</a:t>
            </a:r>
          </a:p>
          <a:p>
            <a:r>
              <a:rPr lang="en-US"/>
              <a:t/>
            </a:r>
          </a:p>
          <a:p>
            <a:r>
              <a:rPr lang="en-US"/>
              <a:t>Côté back-end : l'ORM Django élimine par construction le risque d'injection SQL. Le contrôle d'accès par rôle renvoie un 404, plutôt qu'un 403. Et les points d'entrée sensibles sont protégés par une limitation de débit.</a:t>
            </a:r>
          </a:p>
          <a:p>
            <a:r>
              <a:rPr lang="en-US"/>
              <a:t/>
            </a:r>
          </a:p>
          <a:p>
            <a:r>
              <a:rPr lang="en-US"/>
              <a:t>Pour vérifier concrètement l'efficacité de toutes ces mesures, nous avons mené un audit manuel de sécurité.</a:t>
            </a:r>
          </a:p>
          <a:p>
            <a:r>
              <a:rPr lang="en-US"/>
              <a:t/>
            </a:r>
          </a:p>
          <a:p>
            <a:r>
              <a:rPr lang="en-US"/>
              <a:t>Six scénarios d'attaque testés : injection XSS, injection SQL, force brute, falsification de jeton, élévation de privilège, et</a:t>
            </a:r>
          </a:p>
          <a:p>
            <a:r>
              <a:rPr lang="en-US"/>
              <a:t>énumération de ressources.</a:t>
            </a:r>
          </a:p>
          <a:p>
            <a:r>
              <a:rPr lang="en-US"/>
              <a:t/>
            </a:r>
          </a:p>
          <a:p>
            <a:r>
              <a:rPr lang="en-US"/>
              <a:t>Résultat : aucune faille exploitable n'a été identifiée.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Nous avons dû relever plusieurs défis.</a:t>
            </a:r>
          </a:p>
          <a:p>
            <a:r>
              <a:rPr lang="en-US"/>
              <a:t/>
            </a:r>
          </a:p>
          <a:p>
            <a:r>
              <a:rPr lang="en-US"/>
              <a:t>Railway effaçait nos fichiers PDF à chaque déploiement en raison de son système de fichiers éphémère ; nous avons résolu ce problème en utilisant un volume persistant.</a:t>
            </a:r>
          </a:p>
          <a:p>
            <a:r>
              <a:rPr lang="en-US"/>
              <a:t/>
            </a:r>
          </a:p>
          <a:p>
            <a:r>
              <a:rPr lang="en-US"/>
              <a:t>Nous avons également rencontré un problème de session lié à l'utilisation de plusieurs onglets : le `localStorage` entrait en conflit avec les connexions simultanées des clients et des administrateurs. Nous sommes donc passés au `sessionStorage`, qui est isolé par onglet.</a:t>
            </a:r>
          </a:p>
          <a:p>
            <a:r>
              <a:rPr lang="en-US"/>
              <a:t/>
            </a:r>
          </a:p>
          <a:p>
            <a:r>
              <a:rPr lang="en-US"/>
              <a:t>La leçon principale :</a:t>
            </a:r>
          </a:p>
          <a:p>
            <a:r>
              <a:rPr lang="en-US"/>
              <a:t>l'association de React et DOMPurify pour se protéger contre les failles XSS, et la nécessité de traiter de manière asynchrone, via Celery et Redis, toute tâche dont l'exécution dépasse une seconde.</a:t>
            </a:r>
          </a:p>
          <a:p>
            <a:r>
              <a:rPr lang="en-US"/>
              <a:t/>
            </a:r>
          </a:p>
          <a:p>
            <a:r>
              <a:rPr lang="en-US"/>
              <a:t>En quatre semaines, nous avons mis en œuvre plus de 20 améliorations,</a:t>
            </a:r>
          </a:p>
          <a:p>
            <a:r>
              <a:rPr lang="en-US"/>
              <a:t>aboutissant au déploiement d'un véritable MVP en production.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Pour conclure sur la méthode, je voudrais partager notre rétrospective d'équipe. Nous faisions ce point chaque vendredi avec James.</a:t>
            </a:r>
          </a:p>
          <a:p>
            <a:r>
              <a:rPr lang="en-US"/>
              <a:t/>
            </a:r>
          </a:p>
          <a:p>
            <a:r>
              <a:rPr lang="en-US"/>
              <a:t>Ce que nous avons choisi de continuer : les revues de code croisées sur chaque pull request, la veille sécurité</a:t>
            </a:r>
          </a:p>
          <a:p>
            <a:r>
              <a:rPr lang="en-US"/>
              <a:t>hebdomadaire, et le réflexe d'intégrer la sécurité dès la conception, plutôt qu'à la fin.</a:t>
            </a:r>
          </a:p>
          <a:p>
            <a:r>
              <a:rPr lang="en-US"/>
              <a:t/>
            </a:r>
          </a:p>
          <a:p>
            <a:r>
              <a:rPr lang="en-US"/>
              <a:t>Ce que nous avons choisi d'arrêter : discuter les contrats d'interface entre le front et le back uniquement à l'oral, sans les tracer par écrit  ça nous a coûté des allers-retours évitables. </a:t>
            </a:r>
          </a:p>
          <a:p>
            <a:r>
              <a:rPr lang="en-US"/>
              <a:t/>
            </a:r>
          </a:p>
          <a:p>
            <a:r>
              <a:rPr lang="en-US"/>
              <a:t>Et sous-estimer le temps que prennent réellement les tests</a:t>
            </a:r>
          </a:p>
          <a:p>
            <a:r>
              <a:rPr lang="en-US"/>
              <a:t>de bout en bout  c'est d'ailleurs pour ça que nous avons reporté les deux points de tests Cypress.</a:t>
            </a:r>
          </a:p>
          <a:p>
            <a:r>
              <a:rPr lang="en-US"/>
              <a:t/>
            </a:r>
          </a:p>
          <a:p>
            <a:r>
              <a:rPr lang="en-US"/>
              <a:t>Et ce que nous ferions différemment, sur un prochain projet : documenter chaque contrat d'interface par écrit avant de commencer à coder, et provisionner du temps pour les tests de bout en bout dès la planification du sprint.</a:t>
            </a:r>
          </a:p>
          <a:p>
            <a:r>
              <a:rPr lang="en-US"/>
              <a:t/>
            </a:r>
          </a:p>
          <a:p>
            <a:r>
              <a:rPr lang="en-US"/>
              <a:t>Au final, sur ces douze semaines : 95 pourcent du périmètre livré, et zéro bogue ouvert à l'issue de chaque sprint.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Pour terminer, voici quelques pistes d'évolution pour une future version du produit.</a:t>
            </a:r>
          </a:p>
          <a:p>
            <a:r>
              <a:rPr lang="en-US"/>
              <a:t/>
            </a:r>
          </a:p>
          <a:p>
            <a:r>
              <a:rPr lang="en-US"/>
              <a:t>Un tableau de bord réellement temps réel, avec WebSocket. Un calcul de score de sécurité assisté par intelligence artificielle. </a:t>
            </a:r>
          </a:p>
          <a:p>
            <a:r>
              <a:rPr lang="en-US"/>
              <a:t/>
            </a:r>
          </a:p>
          <a:p>
            <a:r>
              <a:rPr lang="en-US"/>
              <a:t>Une déclinaison en application mobile native.</a:t>
            </a:r>
          </a:p>
          <a:p>
            <a:r>
              <a:rPr lang="en-US"/>
              <a:t/>
            </a:r>
          </a:p>
          <a:p>
            <a:r>
              <a:rPr lang="en-US"/>
              <a:t>La gamification des modules de sensibilisation. Une authentification déléguée, via Google ou LinkedIn.</a:t>
            </a:r>
          </a:p>
          <a:p>
            <a:r>
              <a:rPr lang="en-US"/>
              <a:t/>
            </a:r>
          </a:p>
          <a:p>
            <a:r>
              <a:rPr lang="en-US"/>
              <a:t> Et un journal d'audit applicatif complet, pour renforcer encore la traçabilité RGPD.</a:t>
            </a:r>
          </a:p>
          <a:p>
            <a:r>
              <a:rPr lang="en-US"/>
              <a:t>Je vous remercie de votre attention.</a:t>
            </a:r>
          </a:p>
          <a:p>
            <a:r>
              <a:rPr lang="en-US"/>
              <a:t/>
            </a:r>
          </a:p>
          <a:p>
            <a:r>
              <a:rPr lang="en-US"/>
              <a:t>Et je reste à votre disposition pour toutes vos questions.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 Id="rId4" Target="https://portfolio-kappa-dun-65.vercel.app" TargetMode="External" Type="http://schemas.openxmlformats.org/officeDocument/2006/relationships/hyperlink"/><Relationship Id="rId5" Target="../media/image2.png" Type="http://schemas.openxmlformats.org/officeDocument/2006/relationships/image"/><Relationship Id="rId6"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jpeg" Type="http://schemas.openxmlformats.org/officeDocument/2006/relationships/image"/><Relationship Id="rId4" Target="../media/image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jpeg" Type="http://schemas.openxmlformats.org/officeDocument/2006/relationships/image"/><Relationship Id="rId4" Target="../media/image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png" Type="http://schemas.openxmlformats.org/officeDocument/2006/relationships/image"/><Relationship Id="rId11" Target="../media/image13.png" Type="http://schemas.openxmlformats.org/officeDocument/2006/relationships/image"/><Relationship Id="rId12" Target="../media/image14.png" Type="http://schemas.openxmlformats.org/officeDocument/2006/relationships/image"/><Relationship Id="rId13" Target="../media/image15.png" Type="http://schemas.openxmlformats.org/officeDocument/2006/relationships/image"/><Relationship Id="rId14" Target="../media/image16.png" Type="http://schemas.openxmlformats.org/officeDocument/2006/relationships/image"/><Relationship Id="rId15" Target="../media/image17.png" Type="http://schemas.openxmlformats.org/officeDocument/2006/relationships/image"/><Relationship Id="rId2" Target="../notesSlides/notesSlide5.xml" Type="http://schemas.openxmlformats.org/officeDocument/2006/relationships/notesSlide"/><Relationship Id="rId3" Target="../media/image1.jpeg" Type="http://schemas.openxmlformats.org/officeDocument/2006/relationships/image"/><Relationship Id="rId4" Target="../media/image6.png" Type="http://schemas.openxmlformats.org/officeDocument/2006/relationships/image"/><Relationship Id="rId5" Target="../media/image7.png" Type="http://schemas.openxmlformats.org/officeDocument/2006/relationships/image"/><Relationship Id="rId6" Target="../media/image8.png" Type="http://schemas.openxmlformats.org/officeDocument/2006/relationships/image"/><Relationship Id="rId7" Target="../media/image9.png" Type="http://schemas.openxmlformats.org/officeDocument/2006/relationships/image"/><Relationship Id="rId8" Target="../media/image10.png" Type="http://schemas.openxmlformats.org/officeDocument/2006/relationships/image"/><Relationship Id="rId9" Target="../media/image1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jpeg" Type="http://schemas.openxmlformats.org/officeDocument/2006/relationships/image"/><Relationship Id="rId4" Target="../media/image18.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jpeg" Type="http://schemas.openxmlformats.org/officeDocument/2006/relationships/image"/><Relationship Id="rId4" Target="https://portfolio-kappa-dun-65.vercel.app" TargetMode="External" Type="http://schemas.openxmlformats.org/officeDocument/2006/relationships/hyperlink"/></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9.png" Type="http://schemas.openxmlformats.org/officeDocument/2006/relationships/image"/><Relationship Id="rId4" Target="../media/image20.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21.png" Type="http://schemas.openxmlformats.org/officeDocument/2006/relationships/image"/><Relationship Id="rId4" Target="../media/image22.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jpeg" Type="http://schemas.openxmlformats.org/officeDocument/2006/relationships/image"/><Relationship Id="rId4" Target="../media/image23.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1.jpeg" Type="http://schemas.openxmlformats.org/officeDocument/2006/relationships/image"/><Relationship Id="rId4" Target="../media/image24.png" Type="http://schemas.openxmlformats.org/officeDocument/2006/relationships/image"/><Relationship Id="rId5" Target="../media/image25.png" Type="http://schemas.openxmlformats.org/officeDocument/2006/relationships/image"/><Relationship Id="rId6" Target="../media/image26.png" Type="http://schemas.openxmlformats.org/officeDocument/2006/relationships/image"/><Relationship Id="rId7" Target="../media/image27.png" Type="http://schemas.openxmlformats.org/officeDocument/2006/relationships/image"/><Relationship Id="rId8" Target="../media/image28.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1.jpeg" Type="http://schemas.openxmlformats.org/officeDocument/2006/relationships/image"/><Relationship Id="rId4" Target="../media/image29.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1.jpeg" Type="http://schemas.openxmlformats.org/officeDocument/2006/relationships/image"/><Relationship Id="rId4" Target="../media/image30.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31.png" Type="http://schemas.openxmlformats.org/officeDocument/2006/relationships/image"/><Relationship Id="rId4" Target="../media/image1.jpeg" Type="http://schemas.openxmlformats.org/officeDocument/2006/relationships/image"/><Relationship Id="rId5" Target="../media/image32.png" Type="http://schemas.openxmlformats.org/officeDocument/2006/relationships/image"/><Relationship Id="rId6" Target="../media/image33.png" Type="http://schemas.openxmlformats.org/officeDocument/2006/relationships/image"/><Relationship Id="rId7" Target="../media/image34.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2.png" Type="http://schemas.openxmlformats.org/officeDocument/2006/relationships/image"/><Relationship Id="rId11" Target="../media/image43.png" Type="http://schemas.openxmlformats.org/officeDocument/2006/relationships/image"/><Relationship Id="rId12" Target="../media/image44.png" Type="http://schemas.openxmlformats.org/officeDocument/2006/relationships/image"/><Relationship Id="rId13" Target="../media/image45.svg" Type="http://schemas.openxmlformats.org/officeDocument/2006/relationships/image"/><Relationship Id="rId14" Target="../media/image46.png" Type="http://schemas.openxmlformats.org/officeDocument/2006/relationships/image"/><Relationship Id="rId15" Target="../media/image47.png" Type="http://schemas.openxmlformats.org/officeDocument/2006/relationships/image"/><Relationship Id="rId16" Target="../media/image48.svg" Type="http://schemas.openxmlformats.org/officeDocument/2006/relationships/image"/><Relationship Id="rId17" Target="../media/image49.png" Type="http://schemas.openxmlformats.org/officeDocument/2006/relationships/image"/><Relationship Id="rId18" Target="../media/image50.png" Type="http://schemas.openxmlformats.org/officeDocument/2006/relationships/image"/><Relationship Id="rId19" Target="../media/image51.png" Type="http://schemas.openxmlformats.org/officeDocument/2006/relationships/image"/><Relationship Id="rId2" Target="../notesSlides/notesSlide15.xml" Type="http://schemas.openxmlformats.org/officeDocument/2006/relationships/notesSlide"/><Relationship Id="rId20" Target="../media/image52.svg" Type="http://schemas.openxmlformats.org/officeDocument/2006/relationships/image"/><Relationship Id="rId3" Target="../media/image35.png" Type="http://schemas.openxmlformats.org/officeDocument/2006/relationships/image"/><Relationship Id="rId4" Target="../media/image36.png" Type="http://schemas.openxmlformats.org/officeDocument/2006/relationships/image"/><Relationship Id="rId5" Target="../media/image37.svg" Type="http://schemas.openxmlformats.org/officeDocument/2006/relationships/image"/><Relationship Id="rId6" Target="../media/image38.png" Type="http://schemas.openxmlformats.org/officeDocument/2006/relationships/image"/><Relationship Id="rId7" Target="../media/image39.png" Type="http://schemas.openxmlformats.org/officeDocument/2006/relationships/image"/><Relationship Id="rId8" Target="../media/image40.png" Type="http://schemas.openxmlformats.org/officeDocument/2006/relationships/image"/><Relationship Id="rId9" Target="../media/image41.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 Id="rId3" Target="../media/image53.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 Id="rId3" Target="../media/image1.jpeg" Type="http://schemas.openxmlformats.org/officeDocument/2006/relationships/image"/><Relationship Id="rId4" Target="../media/image54.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E2761"/>
        </a:solidFill>
      </p:bgPr>
    </p:bg>
    <p:spTree>
      <p:nvGrpSpPr>
        <p:cNvPr id="1" name=""/>
        <p:cNvGrpSpPr/>
        <p:nvPr/>
      </p:nvGrpSpPr>
      <p:grpSpPr>
        <a:xfrm>
          <a:off x="0" y="0"/>
          <a:ext cx="0" cy="0"/>
          <a:chOff x="0" y="0"/>
          <a:chExt cx="0" cy="0"/>
        </a:xfrm>
      </p:grpSpPr>
      <p:grpSp>
        <p:nvGrpSpPr>
          <p:cNvPr name="Group 2" id="2"/>
          <p:cNvGrpSpPr/>
          <p:nvPr/>
        </p:nvGrpSpPr>
        <p:grpSpPr>
          <a:xfrm rot="0">
            <a:off x="1097280" y="2834640"/>
            <a:ext cx="4754880" cy="2194560"/>
            <a:chOff x="0" y="0"/>
            <a:chExt cx="6339840" cy="2926080"/>
          </a:xfrm>
        </p:grpSpPr>
        <p:sp>
          <p:nvSpPr>
            <p:cNvPr name="Freeform 3" id="3"/>
            <p:cNvSpPr/>
            <p:nvPr/>
          </p:nvSpPr>
          <p:spPr>
            <a:xfrm flipH="false" flipV="false" rot="0">
              <a:off x="0" y="0"/>
              <a:ext cx="6339840" cy="2926080"/>
            </a:xfrm>
            <a:custGeom>
              <a:avLst/>
              <a:gdLst/>
              <a:ahLst/>
              <a:cxnLst/>
              <a:rect r="r" b="b" t="t" l="l"/>
              <a:pathLst>
                <a:path h="2926080" w="6339840">
                  <a:moveTo>
                    <a:pt x="0" y="0"/>
                  </a:moveTo>
                  <a:lnTo>
                    <a:pt x="6339840" y="0"/>
                  </a:lnTo>
                  <a:lnTo>
                    <a:pt x="6339840" y="2926080"/>
                  </a:lnTo>
                  <a:lnTo>
                    <a:pt x="0" y="2926080"/>
                  </a:lnTo>
                  <a:close/>
                </a:path>
              </a:pathLst>
            </a:custGeom>
            <a:blipFill>
              <a:blip r:embed="rId3">
                <a:alphaModFix amt="0"/>
              </a:blip>
              <a:stretch>
                <a:fillRect l="-9217" t="0" r="-9217" b="0"/>
              </a:stretch>
            </a:blipFill>
          </p:spPr>
        </p:sp>
        <p:sp>
          <p:nvSpPr>
            <p:cNvPr name="TextBox 4" id="4"/>
            <p:cNvSpPr txBox="true"/>
            <p:nvPr/>
          </p:nvSpPr>
          <p:spPr>
            <a:xfrm>
              <a:off x="0" y="-28575"/>
              <a:ext cx="6339840" cy="2954655"/>
            </a:xfrm>
            <a:prstGeom prst="rect">
              <a:avLst/>
            </a:prstGeom>
          </p:spPr>
          <p:txBody>
            <a:bodyPr anchor="ctr" rtlCol="false" tIns="0" lIns="0" bIns="0" rIns="0"/>
            <a:lstStyle/>
            <a:p>
              <a:pPr algn="ctr">
                <a:lnSpc>
                  <a:spcPts val="7679"/>
                </a:lnSpc>
              </a:pPr>
              <a:r>
                <a:rPr lang="en-US" b="true" sz="6399">
                  <a:solidFill>
                    <a:srgbClr val="1E2761"/>
                  </a:solidFill>
                  <a:latin typeface="Arial Bold"/>
                  <a:ea typeface="Arial Bold"/>
                  <a:cs typeface="Arial Bold"/>
                  <a:sym typeface="Arial Bold"/>
                </a:rPr>
                <a:t>Cyber</a:t>
              </a:r>
            </a:p>
            <a:p>
              <a:pPr algn="ctr">
                <a:lnSpc>
                  <a:spcPts val="7679"/>
                </a:lnSpc>
              </a:pPr>
              <a:r>
                <a:rPr lang="en-US" b="true" sz="6399">
                  <a:solidFill>
                    <a:srgbClr val="1E2761"/>
                  </a:solidFill>
                  <a:latin typeface="Arial Bold"/>
                  <a:ea typeface="Arial Bold"/>
                  <a:cs typeface="Arial Bold"/>
                  <a:sym typeface="Arial Bold"/>
                </a:rPr>
                <a:t>Audit</a:t>
              </a:r>
            </a:p>
          </p:txBody>
        </p:sp>
      </p:grpSp>
      <p:grpSp>
        <p:nvGrpSpPr>
          <p:cNvPr name="Group 5" id="5"/>
          <p:cNvGrpSpPr/>
          <p:nvPr/>
        </p:nvGrpSpPr>
        <p:grpSpPr>
          <a:xfrm rot="0">
            <a:off x="8034820" y="1965960"/>
            <a:ext cx="10607040" cy="1737360"/>
            <a:chOff x="0" y="0"/>
            <a:chExt cx="14142720" cy="2316480"/>
          </a:xfrm>
        </p:grpSpPr>
        <p:sp>
          <p:nvSpPr>
            <p:cNvPr name="Freeform 6" id="6"/>
            <p:cNvSpPr/>
            <p:nvPr/>
          </p:nvSpPr>
          <p:spPr>
            <a:xfrm flipH="false" flipV="false" rot="0">
              <a:off x="0" y="0"/>
              <a:ext cx="14142720" cy="2316480"/>
            </a:xfrm>
            <a:custGeom>
              <a:avLst/>
              <a:gdLst/>
              <a:ahLst/>
              <a:cxnLst/>
              <a:rect r="r" b="b" t="t" l="l"/>
              <a:pathLst>
                <a:path h="2316480" w="14142720">
                  <a:moveTo>
                    <a:pt x="0" y="0"/>
                  </a:moveTo>
                  <a:lnTo>
                    <a:pt x="14142720" y="0"/>
                  </a:lnTo>
                  <a:lnTo>
                    <a:pt x="14142720" y="2316480"/>
                  </a:lnTo>
                  <a:lnTo>
                    <a:pt x="0" y="2316480"/>
                  </a:lnTo>
                  <a:close/>
                </a:path>
              </a:pathLst>
            </a:custGeom>
            <a:blipFill>
              <a:blip r:embed="rId3">
                <a:alphaModFix amt="0"/>
              </a:blip>
              <a:stretch>
                <a:fillRect l="0" t="-68961" r="0" b="-68961"/>
              </a:stretch>
            </a:blipFill>
          </p:spPr>
        </p:sp>
        <p:sp>
          <p:nvSpPr>
            <p:cNvPr name="TextBox 7" id="7"/>
            <p:cNvSpPr txBox="true"/>
            <p:nvPr/>
          </p:nvSpPr>
          <p:spPr>
            <a:xfrm>
              <a:off x="0" y="-47625"/>
              <a:ext cx="14142720" cy="2364105"/>
            </a:xfrm>
            <a:prstGeom prst="rect">
              <a:avLst/>
            </a:prstGeom>
          </p:spPr>
          <p:txBody>
            <a:bodyPr anchor="ctr" rtlCol="false" tIns="0" lIns="0" bIns="0" rIns="0"/>
            <a:lstStyle/>
            <a:p>
              <a:pPr algn="l">
                <a:lnSpc>
                  <a:spcPts val="12960"/>
                </a:lnSpc>
              </a:pPr>
              <a:r>
                <a:rPr lang="en-US" b="true" sz="10800">
                  <a:solidFill>
                    <a:srgbClr val="FFFFFF"/>
                  </a:solidFill>
                  <a:latin typeface="Arial Bold"/>
                  <a:ea typeface="Arial Bold"/>
                  <a:cs typeface="Arial Bold"/>
                  <a:sym typeface="Arial Bold"/>
                </a:rPr>
                <a:t>CyberAudit</a:t>
              </a:r>
            </a:p>
          </p:txBody>
        </p:sp>
      </p:grpSp>
      <p:grpSp>
        <p:nvGrpSpPr>
          <p:cNvPr name="Group 8" id="8"/>
          <p:cNvGrpSpPr/>
          <p:nvPr/>
        </p:nvGrpSpPr>
        <p:grpSpPr>
          <a:xfrm rot="0">
            <a:off x="9702348" y="3504251"/>
            <a:ext cx="10607040" cy="1280160"/>
            <a:chOff x="0" y="0"/>
            <a:chExt cx="14142720" cy="1706880"/>
          </a:xfrm>
        </p:grpSpPr>
        <p:sp>
          <p:nvSpPr>
            <p:cNvPr name="Freeform 9" id="9"/>
            <p:cNvSpPr/>
            <p:nvPr/>
          </p:nvSpPr>
          <p:spPr>
            <a:xfrm flipH="false" flipV="false" rot="0">
              <a:off x="0" y="0"/>
              <a:ext cx="14142720" cy="1706880"/>
            </a:xfrm>
            <a:custGeom>
              <a:avLst/>
              <a:gdLst/>
              <a:ahLst/>
              <a:cxnLst/>
              <a:rect r="r" b="b" t="t" l="l"/>
              <a:pathLst>
                <a:path h="1706880" w="14142720">
                  <a:moveTo>
                    <a:pt x="0" y="0"/>
                  </a:moveTo>
                  <a:lnTo>
                    <a:pt x="14142720" y="0"/>
                  </a:lnTo>
                  <a:lnTo>
                    <a:pt x="14142720" y="1706880"/>
                  </a:lnTo>
                  <a:lnTo>
                    <a:pt x="0" y="1706880"/>
                  </a:lnTo>
                  <a:close/>
                </a:path>
              </a:pathLst>
            </a:custGeom>
            <a:blipFill>
              <a:blip r:embed="rId3">
                <a:alphaModFix amt="0"/>
              </a:blip>
              <a:stretch>
                <a:fillRect l="0" t="-111447" r="0" b="-111447"/>
              </a:stretch>
            </a:blipFill>
          </p:spPr>
        </p:sp>
        <p:sp>
          <p:nvSpPr>
            <p:cNvPr name="TextBox 10" id="10"/>
            <p:cNvSpPr txBox="true"/>
            <p:nvPr/>
          </p:nvSpPr>
          <p:spPr>
            <a:xfrm>
              <a:off x="0" y="-28575"/>
              <a:ext cx="14142720" cy="1735455"/>
            </a:xfrm>
            <a:prstGeom prst="rect">
              <a:avLst/>
            </a:prstGeom>
          </p:spPr>
          <p:txBody>
            <a:bodyPr anchor="ctr" rtlCol="false" tIns="0" lIns="0" bIns="0" rIns="0"/>
            <a:lstStyle/>
            <a:p>
              <a:pPr algn="l">
                <a:lnSpc>
                  <a:spcPts val="7679"/>
                </a:lnSpc>
              </a:pPr>
              <a:r>
                <a:rPr lang="en-US" sz="6399" i="true">
                  <a:solidFill>
                    <a:srgbClr val="00C2D7"/>
                  </a:solidFill>
                  <a:latin typeface="Arial Italics"/>
                  <a:ea typeface="Arial Italics"/>
                  <a:cs typeface="Arial Italics"/>
                  <a:sym typeface="Arial Italics"/>
                </a:rPr>
                <a:t>&amp; Solutions</a:t>
              </a:r>
            </a:p>
          </p:txBody>
        </p:sp>
      </p:grpSp>
      <p:grpSp>
        <p:nvGrpSpPr>
          <p:cNvPr name="Group 11" id="11"/>
          <p:cNvGrpSpPr/>
          <p:nvPr/>
        </p:nvGrpSpPr>
        <p:grpSpPr>
          <a:xfrm rot="0">
            <a:off x="7255331" y="5044820"/>
            <a:ext cx="10607040" cy="1147167"/>
            <a:chOff x="0" y="0"/>
            <a:chExt cx="14142720" cy="1529556"/>
          </a:xfrm>
        </p:grpSpPr>
        <p:sp>
          <p:nvSpPr>
            <p:cNvPr name="Freeform 12" id="12"/>
            <p:cNvSpPr/>
            <p:nvPr/>
          </p:nvSpPr>
          <p:spPr>
            <a:xfrm flipH="false" flipV="false" rot="0">
              <a:off x="0" y="0"/>
              <a:ext cx="14142720" cy="1529556"/>
            </a:xfrm>
            <a:custGeom>
              <a:avLst/>
              <a:gdLst/>
              <a:ahLst/>
              <a:cxnLst/>
              <a:rect r="r" b="b" t="t" l="l"/>
              <a:pathLst>
                <a:path h="1529556" w="14142720">
                  <a:moveTo>
                    <a:pt x="0" y="0"/>
                  </a:moveTo>
                  <a:lnTo>
                    <a:pt x="14142720" y="0"/>
                  </a:lnTo>
                  <a:lnTo>
                    <a:pt x="14142720" y="1529556"/>
                  </a:lnTo>
                  <a:lnTo>
                    <a:pt x="0" y="1529556"/>
                  </a:lnTo>
                  <a:close/>
                </a:path>
              </a:pathLst>
            </a:custGeom>
            <a:blipFill>
              <a:blip r:embed="rId3">
                <a:alphaModFix amt="0"/>
              </a:blip>
              <a:stretch>
                <a:fillRect l="0" t="-148280" r="0" b="-112048"/>
              </a:stretch>
            </a:blipFill>
          </p:spPr>
        </p:sp>
        <p:sp>
          <p:nvSpPr>
            <p:cNvPr name="TextBox 13" id="13"/>
            <p:cNvSpPr txBox="true"/>
            <p:nvPr/>
          </p:nvSpPr>
          <p:spPr>
            <a:xfrm>
              <a:off x="0" y="-28575"/>
              <a:ext cx="14142720" cy="1558131"/>
            </a:xfrm>
            <a:prstGeom prst="rect">
              <a:avLst/>
            </a:prstGeom>
          </p:spPr>
          <p:txBody>
            <a:bodyPr anchor="ctr" rtlCol="false" tIns="0" lIns="0" bIns="0" rIns="0"/>
            <a:lstStyle/>
            <a:p>
              <a:pPr algn="l">
                <a:lnSpc>
                  <a:spcPts val="3840"/>
                </a:lnSpc>
              </a:pPr>
              <a:r>
                <a:rPr lang="en-US" sz="3200">
                  <a:solidFill>
                    <a:srgbClr val="E8EEFC"/>
                  </a:solidFill>
                  <a:latin typeface="Arial"/>
                  <a:ea typeface="Arial"/>
                  <a:cs typeface="Arial"/>
                  <a:sym typeface="Arial"/>
                </a:rPr>
                <a:t>Plat</a:t>
              </a:r>
              <a:r>
                <a:rPr lang="en-US" sz="3200">
                  <a:solidFill>
                    <a:srgbClr val="E8EEFC"/>
                  </a:solidFill>
                  <a:latin typeface="Arial"/>
                  <a:ea typeface="Arial"/>
                  <a:cs typeface="Arial"/>
                  <a:sym typeface="Arial"/>
                </a:rPr>
                <a:t>eforme de gestion d'audits de cybersécurité pour PME</a:t>
              </a:r>
            </a:p>
            <a:p>
              <a:pPr algn="l">
                <a:lnSpc>
                  <a:spcPts val="3840"/>
                </a:lnSpc>
              </a:pPr>
            </a:p>
          </p:txBody>
        </p:sp>
      </p:grpSp>
      <p:sp>
        <p:nvSpPr>
          <p:cNvPr name="AutoShape 14" id="14"/>
          <p:cNvSpPr/>
          <p:nvPr/>
        </p:nvSpPr>
        <p:spPr>
          <a:xfrm>
            <a:off x="7217232" y="5925506"/>
            <a:ext cx="10645139" cy="38088"/>
          </a:xfrm>
          <a:prstGeom prst="line">
            <a:avLst/>
          </a:prstGeom>
          <a:ln cap="rnd" w="19050">
            <a:solidFill>
              <a:srgbClr val="00C2D7"/>
            </a:solidFill>
            <a:prstDash val="solid"/>
            <a:headEnd type="none" len="sm" w="sm"/>
            <a:tailEnd type="none" len="sm" w="sm"/>
          </a:ln>
        </p:spPr>
      </p:sp>
      <p:sp>
        <p:nvSpPr>
          <p:cNvPr name="TextBox 15" id="15"/>
          <p:cNvSpPr txBox="true"/>
          <p:nvPr/>
        </p:nvSpPr>
        <p:spPr>
          <a:xfrm rot="0">
            <a:off x="7870416" y="6433346"/>
            <a:ext cx="12016218" cy="1788680"/>
          </a:xfrm>
          <a:prstGeom prst="rect">
            <a:avLst/>
          </a:prstGeom>
        </p:spPr>
        <p:txBody>
          <a:bodyPr anchor="t" rtlCol="false" tIns="0" lIns="0" bIns="0" rIns="0">
            <a:spAutoFit/>
          </a:bodyPr>
          <a:lstStyle/>
          <a:p>
            <a:pPr algn="l">
              <a:lnSpc>
                <a:spcPts val="3534"/>
              </a:lnSpc>
            </a:pPr>
            <a:r>
              <a:rPr lang="en-US" b="true" sz="2945">
                <a:solidFill>
                  <a:srgbClr val="E8EEFC"/>
                </a:solidFill>
                <a:latin typeface="Arial Bold"/>
                <a:ea typeface="Arial Bold"/>
                <a:cs typeface="Arial Bold"/>
                <a:sym typeface="Arial Bold"/>
              </a:rPr>
              <a:t>Holberton School Dijon </a:t>
            </a:r>
          </a:p>
          <a:p>
            <a:pPr algn="l">
              <a:lnSpc>
                <a:spcPts val="3534"/>
              </a:lnSpc>
            </a:pPr>
            <a:r>
              <a:rPr lang="en-US" b="true" sz="2945">
                <a:solidFill>
                  <a:srgbClr val="E8EEFC"/>
                </a:solidFill>
                <a:latin typeface="Arial Bold"/>
                <a:ea typeface="Arial Bold"/>
                <a:cs typeface="Arial Bold"/>
                <a:sym typeface="Arial Bold"/>
              </a:rPr>
              <a:t>Titre RCNP de niveau 5 Développeur web et web mobile</a:t>
            </a:r>
          </a:p>
          <a:p>
            <a:pPr algn="l">
              <a:lnSpc>
                <a:spcPts val="3534"/>
              </a:lnSpc>
            </a:pPr>
            <a:r>
              <a:rPr lang="en-US" b="true" sz="2945">
                <a:solidFill>
                  <a:srgbClr val="FFFFFF"/>
                </a:solidFill>
                <a:latin typeface="Arial Bold"/>
                <a:ea typeface="Arial Bold"/>
                <a:cs typeface="Arial Bold"/>
                <a:sym typeface="Arial Bold"/>
              </a:rPr>
              <a:t>Tommy JOUHANS  en collaboration avec </a:t>
            </a:r>
          </a:p>
          <a:p>
            <a:pPr algn="l">
              <a:lnSpc>
                <a:spcPts val="3534"/>
              </a:lnSpc>
            </a:pPr>
            <a:r>
              <a:rPr lang="en-US" b="true" sz="2945">
                <a:solidFill>
                  <a:srgbClr val="FFFFFF"/>
                </a:solidFill>
                <a:latin typeface="Arial Bold"/>
                <a:ea typeface="Arial Bold"/>
                <a:cs typeface="Arial Bold"/>
                <a:sym typeface="Arial Bold"/>
              </a:rPr>
              <a:t>James ROUSSEL</a:t>
            </a:r>
          </a:p>
        </p:txBody>
      </p:sp>
      <p:grpSp>
        <p:nvGrpSpPr>
          <p:cNvPr name="Group 16" id="16"/>
          <p:cNvGrpSpPr/>
          <p:nvPr/>
        </p:nvGrpSpPr>
        <p:grpSpPr>
          <a:xfrm rot="0">
            <a:off x="7612959" y="8698276"/>
            <a:ext cx="9224707" cy="1031243"/>
            <a:chOff x="0" y="0"/>
            <a:chExt cx="12299610" cy="1374991"/>
          </a:xfrm>
        </p:grpSpPr>
        <p:sp>
          <p:nvSpPr>
            <p:cNvPr name="Freeform 17" id="17"/>
            <p:cNvSpPr/>
            <p:nvPr/>
          </p:nvSpPr>
          <p:spPr>
            <a:xfrm flipH="false" flipV="false" rot="0">
              <a:off x="0" y="0"/>
              <a:ext cx="12299648" cy="1375029"/>
            </a:xfrm>
            <a:custGeom>
              <a:avLst/>
              <a:gdLst/>
              <a:ahLst/>
              <a:cxnLst/>
              <a:rect r="r" b="b" t="t" l="l"/>
              <a:pathLst>
                <a:path h="1375029" w="12299648">
                  <a:moveTo>
                    <a:pt x="0" y="200025"/>
                  </a:moveTo>
                  <a:cubicBezTo>
                    <a:pt x="0" y="89535"/>
                    <a:pt x="81907" y="0"/>
                    <a:pt x="182984" y="0"/>
                  </a:cubicBezTo>
                  <a:lnTo>
                    <a:pt x="12116662" y="0"/>
                  </a:lnTo>
                  <a:cubicBezTo>
                    <a:pt x="12217738" y="0"/>
                    <a:pt x="12299648" y="89535"/>
                    <a:pt x="12299648" y="200025"/>
                  </a:cubicBezTo>
                  <a:lnTo>
                    <a:pt x="12299648" y="1175004"/>
                  </a:lnTo>
                  <a:cubicBezTo>
                    <a:pt x="12299648" y="1285494"/>
                    <a:pt x="12217738" y="1375029"/>
                    <a:pt x="12116662" y="1375029"/>
                  </a:cubicBezTo>
                  <a:lnTo>
                    <a:pt x="182984" y="1375029"/>
                  </a:lnTo>
                  <a:cubicBezTo>
                    <a:pt x="81907" y="1375029"/>
                    <a:pt x="0" y="1285494"/>
                    <a:pt x="0" y="1175004"/>
                  </a:cubicBezTo>
                  <a:close/>
                </a:path>
              </a:pathLst>
            </a:custGeom>
            <a:solidFill>
              <a:srgbClr val="00C2D7"/>
            </a:solidFill>
            <a:ln w="25400" cap="sq">
              <a:solidFill>
                <a:srgbClr val="00C2D7"/>
              </a:solidFill>
              <a:prstDash val="solid"/>
              <a:miter/>
            </a:ln>
          </p:spPr>
        </p:sp>
      </p:grpSp>
      <p:grpSp>
        <p:nvGrpSpPr>
          <p:cNvPr name="Group 18" id="18"/>
          <p:cNvGrpSpPr/>
          <p:nvPr/>
        </p:nvGrpSpPr>
        <p:grpSpPr>
          <a:xfrm rot="0">
            <a:off x="7063035" y="8778247"/>
            <a:ext cx="10058400" cy="1005840"/>
            <a:chOff x="0" y="0"/>
            <a:chExt cx="13411200" cy="1341120"/>
          </a:xfrm>
        </p:grpSpPr>
        <p:sp>
          <p:nvSpPr>
            <p:cNvPr name="Freeform 19" id="19"/>
            <p:cNvSpPr/>
            <p:nvPr/>
          </p:nvSpPr>
          <p:spPr>
            <a:xfrm flipH="false" flipV="false" rot="0">
              <a:off x="0" y="0"/>
              <a:ext cx="13411200" cy="1341120"/>
            </a:xfrm>
            <a:custGeom>
              <a:avLst/>
              <a:gdLst/>
              <a:ahLst/>
              <a:cxnLst/>
              <a:rect r="r" b="b" t="t" l="l"/>
              <a:pathLst>
                <a:path h="1341120" w="13411200">
                  <a:moveTo>
                    <a:pt x="0" y="0"/>
                  </a:moveTo>
                  <a:lnTo>
                    <a:pt x="13411200" y="0"/>
                  </a:lnTo>
                  <a:lnTo>
                    <a:pt x="13411200" y="1341120"/>
                  </a:lnTo>
                  <a:lnTo>
                    <a:pt x="0" y="1341120"/>
                  </a:lnTo>
                  <a:close/>
                </a:path>
              </a:pathLst>
            </a:custGeom>
            <a:blipFill>
              <a:blip r:embed="rId3">
                <a:alphaModFix amt="0"/>
              </a:blip>
              <a:stretch>
                <a:fillRect l="0" t="-144850" r="0" b="-144850"/>
              </a:stretch>
            </a:blipFill>
          </p:spPr>
        </p:sp>
        <p:sp>
          <p:nvSpPr>
            <p:cNvPr name="TextBox 20" id="20"/>
            <p:cNvSpPr txBox="true"/>
            <p:nvPr/>
          </p:nvSpPr>
          <p:spPr>
            <a:xfrm>
              <a:off x="0" y="-19050"/>
              <a:ext cx="13411200" cy="1360170"/>
            </a:xfrm>
            <a:prstGeom prst="rect">
              <a:avLst/>
            </a:prstGeom>
          </p:spPr>
          <p:txBody>
            <a:bodyPr anchor="ctr" rtlCol="false" tIns="0" lIns="0" bIns="0" rIns="0"/>
            <a:lstStyle/>
            <a:p>
              <a:pPr algn="ctr">
                <a:lnSpc>
                  <a:spcPts val="3359"/>
                </a:lnSpc>
              </a:pPr>
              <a:r>
                <a:rPr lang="en-US" b="true" sz="2799">
                  <a:solidFill>
                    <a:srgbClr val="1E2761"/>
                  </a:solidFill>
                  <a:latin typeface="Arial Bold"/>
                  <a:ea typeface="Arial Bold"/>
                  <a:cs typeface="Arial Bold"/>
                  <a:sym typeface="Arial Bold"/>
                </a:rPr>
                <a:t>🌐  Live demo: </a:t>
              </a:r>
              <a:r>
                <a:rPr lang="en-US" b="true" sz="2799" u="sng">
                  <a:solidFill>
                    <a:srgbClr val="1E2761"/>
                  </a:solidFill>
                  <a:latin typeface="Arial Bold"/>
                  <a:ea typeface="Arial Bold"/>
                  <a:cs typeface="Arial Bold"/>
                  <a:sym typeface="Arial Bold"/>
                  <a:hlinkClick r:id="rId4" tooltip="https://portfolio-kappa-dun-65.vercel.app"/>
                </a:rPr>
                <a:t>portfolio-kappa-dun-65.vercel.app</a:t>
              </a:r>
            </a:p>
          </p:txBody>
        </p:sp>
      </p:grpSp>
      <p:sp>
        <p:nvSpPr>
          <p:cNvPr name="Freeform 21" id="21"/>
          <p:cNvSpPr/>
          <p:nvPr/>
        </p:nvSpPr>
        <p:spPr>
          <a:xfrm flipH="false" flipV="false" rot="0">
            <a:off x="0" y="-19243"/>
            <a:ext cx="7063035" cy="6356960"/>
          </a:xfrm>
          <a:custGeom>
            <a:avLst/>
            <a:gdLst/>
            <a:ahLst/>
            <a:cxnLst/>
            <a:rect r="r" b="b" t="t" l="l"/>
            <a:pathLst>
              <a:path h="6356960" w="7063035">
                <a:moveTo>
                  <a:pt x="0" y="0"/>
                </a:moveTo>
                <a:lnTo>
                  <a:pt x="7063035" y="0"/>
                </a:lnTo>
                <a:lnTo>
                  <a:pt x="7063035" y="6356960"/>
                </a:lnTo>
                <a:lnTo>
                  <a:pt x="0" y="6356960"/>
                </a:lnTo>
                <a:lnTo>
                  <a:pt x="0" y="0"/>
                </a:lnTo>
                <a:close/>
              </a:path>
            </a:pathLst>
          </a:custGeom>
          <a:blipFill>
            <a:blip r:embed="rId5"/>
            <a:stretch>
              <a:fillRect l="-2166" t="0" r="-2166" b="0"/>
            </a:stretch>
          </a:blipFill>
        </p:spPr>
      </p:sp>
      <p:sp>
        <p:nvSpPr>
          <p:cNvPr name="Freeform 22" id="22"/>
          <p:cNvSpPr/>
          <p:nvPr/>
        </p:nvSpPr>
        <p:spPr>
          <a:xfrm flipH="false" flipV="false" rot="0">
            <a:off x="0" y="6337717"/>
            <a:ext cx="7063035" cy="1650687"/>
          </a:xfrm>
          <a:custGeom>
            <a:avLst/>
            <a:gdLst/>
            <a:ahLst/>
            <a:cxnLst/>
            <a:rect r="r" b="b" t="t" l="l"/>
            <a:pathLst>
              <a:path h="1650687" w="7063035">
                <a:moveTo>
                  <a:pt x="0" y="0"/>
                </a:moveTo>
                <a:lnTo>
                  <a:pt x="7063035" y="0"/>
                </a:lnTo>
                <a:lnTo>
                  <a:pt x="7063035" y="1650687"/>
                </a:lnTo>
                <a:lnTo>
                  <a:pt x="0" y="1650687"/>
                </a:lnTo>
                <a:lnTo>
                  <a:pt x="0" y="0"/>
                </a:lnTo>
                <a:close/>
              </a:path>
            </a:pathLst>
          </a:custGeom>
          <a:blipFill>
            <a:blip r:embed="rId6"/>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8EEFC"/>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1579883"/>
            <a:chOff x="0" y="0"/>
            <a:chExt cx="24417871" cy="2106511"/>
          </a:xfrm>
        </p:grpSpPr>
        <p:sp>
          <p:nvSpPr>
            <p:cNvPr name="Freeform 3" id="3"/>
            <p:cNvSpPr/>
            <p:nvPr/>
          </p:nvSpPr>
          <p:spPr>
            <a:xfrm flipH="false" flipV="false" rot="0">
              <a:off x="0" y="0"/>
              <a:ext cx="24417910" cy="2106549"/>
            </a:xfrm>
            <a:custGeom>
              <a:avLst/>
              <a:gdLst/>
              <a:ahLst/>
              <a:cxnLst/>
              <a:rect r="r" b="b" t="t" l="l"/>
              <a:pathLst>
                <a:path h="2106549" w="24417910">
                  <a:moveTo>
                    <a:pt x="0" y="0"/>
                  </a:moveTo>
                  <a:lnTo>
                    <a:pt x="24417910" y="0"/>
                  </a:lnTo>
                  <a:lnTo>
                    <a:pt x="24417910" y="2106549"/>
                  </a:lnTo>
                  <a:lnTo>
                    <a:pt x="0" y="2106549"/>
                  </a:lnTo>
                  <a:close/>
                </a:path>
              </a:pathLst>
            </a:custGeom>
            <a:solidFill>
              <a:srgbClr val="1E2761"/>
            </a:solidFill>
            <a:ln w="25400" cap="sq">
              <a:solidFill>
                <a:srgbClr val="1E2761"/>
              </a:solidFill>
              <a:prstDash val="solid"/>
              <a:miter/>
            </a:ln>
          </p:spPr>
        </p:sp>
      </p:grpSp>
      <p:grpSp>
        <p:nvGrpSpPr>
          <p:cNvPr name="Group 4" id="4"/>
          <p:cNvGrpSpPr/>
          <p:nvPr/>
        </p:nvGrpSpPr>
        <p:grpSpPr>
          <a:xfrm rot="0">
            <a:off x="0" y="0"/>
            <a:ext cx="18288000" cy="1554480"/>
            <a:chOff x="0" y="0"/>
            <a:chExt cx="24384000" cy="2072640"/>
          </a:xfrm>
        </p:grpSpPr>
        <p:sp>
          <p:nvSpPr>
            <p:cNvPr name="Freeform 5" id="5"/>
            <p:cNvSpPr/>
            <p:nvPr/>
          </p:nvSpPr>
          <p:spPr>
            <a:xfrm flipH="false" flipV="false" rot="0">
              <a:off x="0" y="0"/>
              <a:ext cx="24384000" cy="2072640"/>
            </a:xfrm>
            <a:custGeom>
              <a:avLst/>
              <a:gdLst/>
              <a:ahLst/>
              <a:cxnLst/>
              <a:rect r="r" b="b" t="t" l="l"/>
              <a:pathLst>
                <a:path h="2072640" w="24384000">
                  <a:moveTo>
                    <a:pt x="0" y="0"/>
                  </a:moveTo>
                  <a:lnTo>
                    <a:pt x="24384000" y="0"/>
                  </a:lnTo>
                  <a:lnTo>
                    <a:pt x="24384000" y="2072640"/>
                  </a:lnTo>
                  <a:lnTo>
                    <a:pt x="0" y="2072640"/>
                  </a:lnTo>
                  <a:close/>
                </a:path>
              </a:pathLst>
            </a:custGeom>
            <a:blipFill>
              <a:blip r:embed="rId3">
                <a:alphaModFix amt="0"/>
              </a:blip>
              <a:stretch>
                <a:fillRect l="0" t="-179235" r="0" b="-179235"/>
              </a:stretch>
            </a:blipFill>
          </p:spPr>
        </p:sp>
        <p:sp>
          <p:nvSpPr>
            <p:cNvPr name="TextBox 6" id="6"/>
            <p:cNvSpPr txBox="true"/>
            <p:nvPr/>
          </p:nvSpPr>
          <p:spPr>
            <a:xfrm>
              <a:off x="0" y="-19050"/>
              <a:ext cx="24384000" cy="2091690"/>
            </a:xfrm>
            <a:prstGeom prst="rect">
              <a:avLst/>
            </a:prstGeom>
          </p:spPr>
          <p:txBody>
            <a:bodyPr anchor="ctr" rtlCol="false" tIns="0" lIns="0" bIns="0" rIns="0"/>
            <a:lstStyle/>
            <a:p>
              <a:pPr algn="ctr">
                <a:lnSpc>
                  <a:spcPts val="6239"/>
                </a:lnSpc>
              </a:pPr>
              <a:r>
                <a:rPr lang="en-US" b="true" sz="5199">
                  <a:solidFill>
                    <a:srgbClr val="FFFFFF"/>
                  </a:solidFill>
                  <a:latin typeface="Arial Bold"/>
                  <a:ea typeface="Arial Bold"/>
                  <a:cs typeface="Arial Bold"/>
                  <a:sym typeface="Arial Bold"/>
                </a:rPr>
                <a:t>L</a:t>
              </a:r>
              <a:r>
                <a:rPr lang="en-US" b="true" sz="5199">
                  <a:solidFill>
                    <a:srgbClr val="FFFFFF"/>
                  </a:solidFill>
                  <a:latin typeface="Arial Bold"/>
                  <a:ea typeface="Arial Bold"/>
                  <a:cs typeface="Arial Bold"/>
                  <a:sym typeface="Arial Bold"/>
                </a:rPr>
                <a:t>e Problème</a:t>
              </a:r>
            </a:p>
          </p:txBody>
        </p:sp>
      </p:grpSp>
      <p:grpSp>
        <p:nvGrpSpPr>
          <p:cNvPr name="Group 7" id="7"/>
          <p:cNvGrpSpPr/>
          <p:nvPr/>
        </p:nvGrpSpPr>
        <p:grpSpPr>
          <a:xfrm rot="0">
            <a:off x="914400" y="1920240"/>
            <a:ext cx="16459200" cy="914400"/>
            <a:chOff x="0" y="0"/>
            <a:chExt cx="21945600" cy="1219200"/>
          </a:xfrm>
        </p:grpSpPr>
        <p:sp>
          <p:nvSpPr>
            <p:cNvPr name="Freeform 8" id="8"/>
            <p:cNvSpPr/>
            <p:nvPr/>
          </p:nvSpPr>
          <p:spPr>
            <a:xfrm flipH="false" flipV="false" rot="0">
              <a:off x="0" y="0"/>
              <a:ext cx="21945600" cy="1219200"/>
            </a:xfrm>
            <a:custGeom>
              <a:avLst/>
              <a:gdLst/>
              <a:ahLst/>
              <a:cxnLst/>
              <a:rect r="r" b="b" t="t" l="l"/>
              <a:pathLst>
                <a:path h="1219200" w="21945600">
                  <a:moveTo>
                    <a:pt x="0" y="0"/>
                  </a:moveTo>
                  <a:lnTo>
                    <a:pt x="21945600" y="0"/>
                  </a:lnTo>
                  <a:lnTo>
                    <a:pt x="21945600" y="1219200"/>
                  </a:lnTo>
                  <a:lnTo>
                    <a:pt x="0" y="1219200"/>
                  </a:lnTo>
                  <a:close/>
                </a:path>
              </a:pathLst>
            </a:custGeom>
            <a:blipFill>
              <a:blip r:embed="rId3">
                <a:alphaModFix amt="0"/>
              </a:blip>
              <a:stretch>
                <a:fillRect l="0" t="-300730" r="0" b="-300730"/>
              </a:stretch>
            </a:blipFill>
          </p:spPr>
        </p:sp>
        <p:sp>
          <p:nvSpPr>
            <p:cNvPr name="TextBox 9" id="9"/>
            <p:cNvSpPr txBox="true"/>
            <p:nvPr/>
          </p:nvSpPr>
          <p:spPr>
            <a:xfrm>
              <a:off x="0" y="-28575"/>
              <a:ext cx="21945600" cy="1247775"/>
            </a:xfrm>
            <a:prstGeom prst="rect">
              <a:avLst/>
            </a:prstGeom>
          </p:spPr>
          <p:txBody>
            <a:bodyPr anchor="ctr" rtlCol="false" tIns="0" lIns="0" bIns="0" rIns="0"/>
            <a:lstStyle/>
            <a:p>
              <a:pPr algn="ctr">
                <a:lnSpc>
                  <a:spcPts val="4320"/>
                </a:lnSpc>
              </a:pPr>
              <a:r>
                <a:rPr lang="en-US" b="true" sz="3600" i="true">
                  <a:solidFill>
                    <a:srgbClr val="1E2761"/>
                  </a:solidFill>
                  <a:latin typeface="Arial Bold Italics"/>
                  <a:ea typeface="Arial Bold Italics"/>
                  <a:cs typeface="Arial Bold Italics"/>
                  <a:sym typeface="Arial Bold Italics"/>
                </a:rPr>
                <a:t>60 % des PME touchées par des cyberattaques en 2024</a:t>
              </a:r>
            </a:p>
          </p:txBody>
        </p:sp>
      </p:grpSp>
      <p:grpSp>
        <p:nvGrpSpPr>
          <p:cNvPr name="Group 10" id="10"/>
          <p:cNvGrpSpPr/>
          <p:nvPr/>
        </p:nvGrpSpPr>
        <p:grpSpPr>
          <a:xfrm rot="0">
            <a:off x="914400" y="2743200"/>
            <a:ext cx="16459200" cy="548640"/>
            <a:chOff x="0" y="0"/>
            <a:chExt cx="21945600" cy="731520"/>
          </a:xfrm>
        </p:grpSpPr>
        <p:sp>
          <p:nvSpPr>
            <p:cNvPr name="Freeform 11" id="11"/>
            <p:cNvSpPr/>
            <p:nvPr/>
          </p:nvSpPr>
          <p:spPr>
            <a:xfrm flipH="false" flipV="false" rot="0">
              <a:off x="0" y="0"/>
              <a:ext cx="21945600" cy="731520"/>
            </a:xfrm>
            <a:custGeom>
              <a:avLst/>
              <a:gdLst/>
              <a:ahLst/>
              <a:cxnLst/>
              <a:rect r="r" b="b" t="t" l="l"/>
              <a:pathLst>
                <a:path h="731520" w="21945600">
                  <a:moveTo>
                    <a:pt x="0" y="0"/>
                  </a:moveTo>
                  <a:lnTo>
                    <a:pt x="21945600" y="0"/>
                  </a:lnTo>
                  <a:lnTo>
                    <a:pt x="21945600" y="731520"/>
                  </a:lnTo>
                  <a:lnTo>
                    <a:pt x="0" y="731520"/>
                  </a:lnTo>
                  <a:close/>
                </a:path>
              </a:pathLst>
            </a:custGeom>
            <a:blipFill>
              <a:blip r:embed="rId3">
                <a:alphaModFix amt="0"/>
              </a:blip>
              <a:stretch>
                <a:fillRect l="0" t="-534551" r="0" b="-534551"/>
              </a:stretch>
            </a:blipFill>
          </p:spPr>
        </p:sp>
        <p:sp>
          <p:nvSpPr>
            <p:cNvPr name="TextBox 12" id="12"/>
            <p:cNvSpPr txBox="true"/>
            <p:nvPr/>
          </p:nvSpPr>
          <p:spPr>
            <a:xfrm>
              <a:off x="0" y="-9525"/>
              <a:ext cx="21945600" cy="741045"/>
            </a:xfrm>
            <a:prstGeom prst="rect">
              <a:avLst/>
            </a:prstGeom>
          </p:spPr>
          <p:txBody>
            <a:bodyPr anchor="ctr" rtlCol="false" tIns="0" lIns="0" bIns="0" rIns="0"/>
            <a:lstStyle/>
            <a:p>
              <a:pPr algn="ctr">
                <a:lnSpc>
                  <a:spcPts val="2400"/>
                </a:lnSpc>
              </a:pPr>
              <a:r>
                <a:rPr lang="en-US" sz="2000" i="true">
                  <a:solidFill>
                    <a:srgbClr val="64748B"/>
                  </a:solidFill>
                  <a:latin typeface="Arial Italics"/>
                  <a:ea typeface="Arial Italics"/>
                  <a:cs typeface="Arial Italics"/>
                  <a:sym typeface="Arial Italics"/>
                </a:rPr>
                <a:t>Source : Baromètre de la cybersécurité CESIN 2024</a:t>
              </a:r>
            </a:p>
          </p:txBody>
        </p:sp>
      </p:grpSp>
      <p:grpSp>
        <p:nvGrpSpPr>
          <p:cNvPr name="Group 13" id="13"/>
          <p:cNvGrpSpPr/>
          <p:nvPr/>
        </p:nvGrpSpPr>
        <p:grpSpPr>
          <a:xfrm rot="0">
            <a:off x="904875" y="3648075"/>
            <a:ext cx="7882890" cy="2762250"/>
            <a:chOff x="0" y="0"/>
            <a:chExt cx="10510520" cy="3683000"/>
          </a:xfrm>
        </p:grpSpPr>
        <p:sp>
          <p:nvSpPr>
            <p:cNvPr name="Freeform 14" id="14"/>
            <p:cNvSpPr/>
            <p:nvPr/>
          </p:nvSpPr>
          <p:spPr>
            <a:xfrm flipH="false" flipV="false" rot="0">
              <a:off x="0" y="0"/>
              <a:ext cx="10510520" cy="3683000"/>
            </a:xfrm>
            <a:custGeom>
              <a:avLst/>
              <a:gdLst/>
              <a:ahLst/>
              <a:cxnLst/>
              <a:rect r="r" b="b" t="t" l="l"/>
              <a:pathLst>
                <a:path h="3683000" w="10510520">
                  <a:moveTo>
                    <a:pt x="0" y="196469"/>
                  </a:moveTo>
                  <a:cubicBezTo>
                    <a:pt x="0" y="87884"/>
                    <a:pt x="87884" y="0"/>
                    <a:pt x="196469" y="0"/>
                  </a:cubicBezTo>
                  <a:lnTo>
                    <a:pt x="10314051" y="0"/>
                  </a:lnTo>
                  <a:cubicBezTo>
                    <a:pt x="10422509" y="0"/>
                    <a:pt x="10510520" y="87884"/>
                    <a:pt x="10510520" y="196469"/>
                  </a:cubicBezTo>
                  <a:lnTo>
                    <a:pt x="10510520" y="3486531"/>
                  </a:lnTo>
                  <a:cubicBezTo>
                    <a:pt x="10510520" y="3594989"/>
                    <a:pt x="10422636" y="3683000"/>
                    <a:pt x="10314051" y="3683000"/>
                  </a:cubicBezTo>
                  <a:lnTo>
                    <a:pt x="196469" y="3683000"/>
                  </a:lnTo>
                  <a:cubicBezTo>
                    <a:pt x="87884" y="3683000"/>
                    <a:pt x="0" y="3595116"/>
                    <a:pt x="0" y="3486531"/>
                  </a:cubicBezTo>
                  <a:close/>
                </a:path>
              </a:pathLst>
            </a:custGeom>
            <a:solidFill>
              <a:srgbClr val="FFFFFF"/>
            </a:solidFill>
            <a:ln w="19050" cap="sq">
              <a:solidFill>
                <a:srgbClr val="94A3B8"/>
              </a:solidFill>
              <a:prstDash val="solid"/>
              <a:miter/>
            </a:ln>
          </p:spPr>
        </p:sp>
      </p:grpSp>
      <p:grpSp>
        <p:nvGrpSpPr>
          <p:cNvPr name="Group 15" id="15"/>
          <p:cNvGrpSpPr/>
          <p:nvPr/>
        </p:nvGrpSpPr>
        <p:grpSpPr>
          <a:xfrm rot="0">
            <a:off x="901703" y="3644903"/>
            <a:ext cx="171707" cy="2768603"/>
            <a:chOff x="0" y="0"/>
            <a:chExt cx="228943" cy="3691471"/>
          </a:xfrm>
        </p:grpSpPr>
        <p:sp>
          <p:nvSpPr>
            <p:cNvPr name="Freeform 16" id="16"/>
            <p:cNvSpPr/>
            <p:nvPr/>
          </p:nvSpPr>
          <p:spPr>
            <a:xfrm flipH="false" flipV="false" rot="0">
              <a:off x="0" y="0"/>
              <a:ext cx="228981" cy="3691509"/>
            </a:xfrm>
            <a:custGeom>
              <a:avLst/>
              <a:gdLst/>
              <a:ahLst/>
              <a:cxnLst/>
              <a:rect r="r" b="b" t="t" l="l"/>
              <a:pathLst>
                <a:path h="3691509" w="228981">
                  <a:moveTo>
                    <a:pt x="0" y="0"/>
                  </a:moveTo>
                  <a:lnTo>
                    <a:pt x="228981" y="0"/>
                  </a:lnTo>
                  <a:lnTo>
                    <a:pt x="228981" y="3691509"/>
                  </a:lnTo>
                  <a:lnTo>
                    <a:pt x="0" y="3691509"/>
                  </a:lnTo>
                  <a:close/>
                </a:path>
              </a:pathLst>
            </a:custGeom>
            <a:solidFill>
              <a:srgbClr val="DC2626"/>
            </a:solidFill>
            <a:ln w="25400" cap="sq">
              <a:solidFill>
                <a:srgbClr val="DC2626"/>
              </a:solidFill>
              <a:prstDash val="solid"/>
              <a:miter/>
            </a:ln>
          </p:spPr>
        </p:sp>
      </p:grpSp>
      <p:grpSp>
        <p:nvGrpSpPr>
          <p:cNvPr name="Group 17" id="17"/>
          <p:cNvGrpSpPr/>
          <p:nvPr/>
        </p:nvGrpSpPr>
        <p:grpSpPr>
          <a:xfrm rot="0">
            <a:off x="2286000" y="3840480"/>
            <a:ext cx="6309360" cy="822960"/>
            <a:chOff x="0" y="0"/>
            <a:chExt cx="8412480" cy="1097280"/>
          </a:xfrm>
        </p:grpSpPr>
        <p:sp>
          <p:nvSpPr>
            <p:cNvPr name="Freeform 18" id="18"/>
            <p:cNvSpPr/>
            <p:nvPr/>
          </p:nvSpPr>
          <p:spPr>
            <a:xfrm flipH="false" flipV="false" rot="0">
              <a:off x="0" y="0"/>
              <a:ext cx="8412480" cy="1097280"/>
            </a:xfrm>
            <a:custGeom>
              <a:avLst/>
              <a:gdLst/>
              <a:ahLst/>
              <a:cxnLst/>
              <a:rect r="r" b="b" t="t" l="l"/>
              <a:pathLst>
                <a:path h="1097280" w="8412480">
                  <a:moveTo>
                    <a:pt x="0" y="0"/>
                  </a:moveTo>
                  <a:lnTo>
                    <a:pt x="8412480" y="0"/>
                  </a:lnTo>
                  <a:lnTo>
                    <a:pt x="8412480" y="1097280"/>
                  </a:lnTo>
                  <a:lnTo>
                    <a:pt x="0" y="1097280"/>
                  </a:lnTo>
                  <a:close/>
                </a:path>
              </a:pathLst>
            </a:custGeom>
            <a:blipFill>
              <a:blip r:embed="rId4">
                <a:alphaModFix amt="0"/>
              </a:blip>
              <a:stretch>
                <a:fillRect l="0" t="-319883" r="0" b="-319883"/>
              </a:stretch>
            </a:blipFill>
          </p:spPr>
        </p:sp>
        <p:sp>
          <p:nvSpPr>
            <p:cNvPr name="TextBox 19" id="19"/>
            <p:cNvSpPr txBox="true"/>
            <p:nvPr/>
          </p:nvSpPr>
          <p:spPr>
            <a:xfrm>
              <a:off x="0" y="-28575"/>
              <a:ext cx="8412480" cy="1125855"/>
            </a:xfrm>
            <a:prstGeom prst="rect">
              <a:avLst/>
            </a:prstGeom>
          </p:spPr>
          <p:txBody>
            <a:bodyPr anchor="ctr" rtlCol="false" tIns="0" lIns="0" bIns="0" rIns="0"/>
            <a:lstStyle/>
            <a:p>
              <a:pPr algn="l">
                <a:lnSpc>
                  <a:spcPts val="3840"/>
                </a:lnSpc>
              </a:pPr>
              <a:r>
                <a:rPr lang="en-US" b="true" sz="3200">
                  <a:solidFill>
                    <a:srgbClr val="1E2761"/>
                  </a:solidFill>
                  <a:latin typeface="Arial Bold"/>
                  <a:ea typeface="Arial Bold"/>
                  <a:cs typeface="Arial Bold"/>
                  <a:sym typeface="Arial Bold"/>
                </a:rPr>
                <a:t>Pas</a:t>
              </a:r>
              <a:r>
                <a:rPr lang="en-US" b="true" sz="3200">
                  <a:solidFill>
                    <a:srgbClr val="1E2761"/>
                  </a:solidFill>
                  <a:latin typeface="Arial Bold"/>
                  <a:ea typeface="Arial Bold"/>
                  <a:cs typeface="Arial Bold"/>
                  <a:sym typeface="Arial Bold"/>
                </a:rPr>
                <a:t> de sécurité informatique</a:t>
              </a:r>
            </a:p>
          </p:txBody>
        </p:sp>
      </p:grpSp>
      <p:grpSp>
        <p:nvGrpSpPr>
          <p:cNvPr name="Group 20" id="20"/>
          <p:cNvGrpSpPr/>
          <p:nvPr/>
        </p:nvGrpSpPr>
        <p:grpSpPr>
          <a:xfrm rot="0">
            <a:off x="9500235" y="3648075"/>
            <a:ext cx="7882890" cy="2762250"/>
            <a:chOff x="0" y="0"/>
            <a:chExt cx="10510520" cy="3683000"/>
          </a:xfrm>
        </p:grpSpPr>
        <p:sp>
          <p:nvSpPr>
            <p:cNvPr name="Freeform 21" id="21"/>
            <p:cNvSpPr/>
            <p:nvPr/>
          </p:nvSpPr>
          <p:spPr>
            <a:xfrm flipH="false" flipV="false" rot="0">
              <a:off x="0" y="0"/>
              <a:ext cx="10510520" cy="3683000"/>
            </a:xfrm>
            <a:custGeom>
              <a:avLst/>
              <a:gdLst/>
              <a:ahLst/>
              <a:cxnLst/>
              <a:rect r="r" b="b" t="t" l="l"/>
              <a:pathLst>
                <a:path h="3683000" w="10510520">
                  <a:moveTo>
                    <a:pt x="0" y="196469"/>
                  </a:moveTo>
                  <a:cubicBezTo>
                    <a:pt x="0" y="87884"/>
                    <a:pt x="87884" y="0"/>
                    <a:pt x="196469" y="0"/>
                  </a:cubicBezTo>
                  <a:lnTo>
                    <a:pt x="10314051" y="0"/>
                  </a:lnTo>
                  <a:cubicBezTo>
                    <a:pt x="10422509" y="0"/>
                    <a:pt x="10510520" y="87884"/>
                    <a:pt x="10510520" y="196469"/>
                  </a:cubicBezTo>
                  <a:lnTo>
                    <a:pt x="10510520" y="3486531"/>
                  </a:lnTo>
                  <a:cubicBezTo>
                    <a:pt x="10510520" y="3594989"/>
                    <a:pt x="10422636" y="3683000"/>
                    <a:pt x="10314051" y="3683000"/>
                  </a:cubicBezTo>
                  <a:lnTo>
                    <a:pt x="196469" y="3683000"/>
                  </a:lnTo>
                  <a:cubicBezTo>
                    <a:pt x="87884" y="3683000"/>
                    <a:pt x="0" y="3595116"/>
                    <a:pt x="0" y="3486531"/>
                  </a:cubicBezTo>
                  <a:close/>
                </a:path>
              </a:pathLst>
            </a:custGeom>
            <a:solidFill>
              <a:srgbClr val="FFFFFF"/>
            </a:solidFill>
            <a:ln w="19050" cap="sq">
              <a:solidFill>
                <a:srgbClr val="94A3B8"/>
              </a:solidFill>
              <a:prstDash val="solid"/>
              <a:miter/>
            </a:ln>
          </p:spPr>
        </p:sp>
      </p:grpSp>
      <p:grpSp>
        <p:nvGrpSpPr>
          <p:cNvPr name="Group 22" id="22"/>
          <p:cNvGrpSpPr/>
          <p:nvPr/>
        </p:nvGrpSpPr>
        <p:grpSpPr>
          <a:xfrm rot="0">
            <a:off x="9497063" y="3644903"/>
            <a:ext cx="171707" cy="2768603"/>
            <a:chOff x="0" y="0"/>
            <a:chExt cx="228943" cy="3691471"/>
          </a:xfrm>
        </p:grpSpPr>
        <p:sp>
          <p:nvSpPr>
            <p:cNvPr name="Freeform 23" id="23"/>
            <p:cNvSpPr/>
            <p:nvPr/>
          </p:nvSpPr>
          <p:spPr>
            <a:xfrm flipH="false" flipV="false" rot="0">
              <a:off x="0" y="0"/>
              <a:ext cx="228981" cy="3691509"/>
            </a:xfrm>
            <a:custGeom>
              <a:avLst/>
              <a:gdLst/>
              <a:ahLst/>
              <a:cxnLst/>
              <a:rect r="r" b="b" t="t" l="l"/>
              <a:pathLst>
                <a:path h="3691509" w="228981">
                  <a:moveTo>
                    <a:pt x="0" y="0"/>
                  </a:moveTo>
                  <a:lnTo>
                    <a:pt x="228981" y="0"/>
                  </a:lnTo>
                  <a:lnTo>
                    <a:pt x="228981" y="3691509"/>
                  </a:lnTo>
                  <a:lnTo>
                    <a:pt x="0" y="3691509"/>
                  </a:lnTo>
                  <a:close/>
                </a:path>
              </a:pathLst>
            </a:custGeom>
            <a:solidFill>
              <a:srgbClr val="F59E0B"/>
            </a:solidFill>
            <a:ln w="25400" cap="sq">
              <a:solidFill>
                <a:srgbClr val="F59E0B"/>
              </a:solidFill>
              <a:prstDash val="solid"/>
              <a:miter/>
            </a:ln>
          </p:spPr>
        </p:sp>
      </p:grpSp>
      <p:grpSp>
        <p:nvGrpSpPr>
          <p:cNvPr name="Group 24" id="24"/>
          <p:cNvGrpSpPr/>
          <p:nvPr/>
        </p:nvGrpSpPr>
        <p:grpSpPr>
          <a:xfrm rot="0">
            <a:off x="10881360" y="3840480"/>
            <a:ext cx="6309360" cy="822960"/>
            <a:chOff x="0" y="0"/>
            <a:chExt cx="8412480" cy="1097280"/>
          </a:xfrm>
        </p:grpSpPr>
        <p:sp>
          <p:nvSpPr>
            <p:cNvPr name="Freeform 25" id="25"/>
            <p:cNvSpPr/>
            <p:nvPr/>
          </p:nvSpPr>
          <p:spPr>
            <a:xfrm flipH="false" flipV="false" rot="0">
              <a:off x="0" y="0"/>
              <a:ext cx="8412480" cy="1097280"/>
            </a:xfrm>
            <a:custGeom>
              <a:avLst/>
              <a:gdLst/>
              <a:ahLst/>
              <a:cxnLst/>
              <a:rect r="r" b="b" t="t" l="l"/>
              <a:pathLst>
                <a:path h="1097280" w="8412480">
                  <a:moveTo>
                    <a:pt x="0" y="0"/>
                  </a:moveTo>
                  <a:lnTo>
                    <a:pt x="8412480" y="0"/>
                  </a:lnTo>
                  <a:lnTo>
                    <a:pt x="8412480" y="1097280"/>
                  </a:lnTo>
                  <a:lnTo>
                    <a:pt x="0" y="1097280"/>
                  </a:lnTo>
                  <a:close/>
                </a:path>
              </a:pathLst>
            </a:custGeom>
            <a:blipFill>
              <a:blip r:embed="rId3">
                <a:alphaModFix amt="0"/>
              </a:blip>
              <a:stretch>
                <a:fillRect l="0" t="-99385" r="0" b="-99385"/>
              </a:stretch>
            </a:blipFill>
          </p:spPr>
        </p:sp>
        <p:sp>
          <p:nvSpPr>
            <p:cNvPr name="TextBox 26" id="26"/>
            <p:cNvSpPr txBox="true"/>
            <p:nvPr/>
          </p:nvSpPr>
          <p:spPr>
            <a:xfrm>
              <a:off x="0" y="-28575"/>
              <a:ext cx="8412480" cy="1125855"/>
            </a:xfrm>
            <a:prstGeom prst="rect">
              <a:avLst/>
            </a:prstGeom>
          </p:spPr>
          <p:txBody>
            <a:bodyPr anchor="ctr" rtlCol="false" tIns="0" lIns="0" bIns="0" rIns="0"/>
            <a:lstStyle/>
            <a:p>
              <a:pPr algn="l">
                <a:lnSpc>
                  <a:spcPts val="3840"/>
                </a:lnSpc>
              </a:pPr>
              <a:r>
                <a:rPr lang="en-US" b="true" sz="3200">
                  <a:solidFill>
                    <a:srgbClr val="1E2761"/>
                  </a:solidFill>
                  <a:latin typeface="Arial Bold"/>
                  <a:ea typeface="Arial Bold"/>
                  <a:cs typeface="Arial Bold"/>
                  <a:sym typeface="Arial Bold"/>
                </a:rPr>
                <a:t>P</a:t>
              </a:r>
              <a:r>
                <a:rPr lang="en-US" b="true" sz="3200">
                  <a:solidFill>
                    <a:srgbClr val="1E2761"/>
                  </a:solidFill>
                  <a:latin typeface="Arial Bold"/>
                  <a:ea typeface="Arial Bold"/>
                  <a:cs typeface="Arial Bold"/>
                  <a:sym typeface="Arial Bold"/>
                </a:rPr>
                <a:t>rocessus manuels</a:t>
              </a:r>
            </a:p>
          </p:txBody>
        </p:sp>
      </p:grpSp>
      <p:grpSp>
        <p:nvGrpSpPr>
          <p:cNvPr name="Group 27" id="27"/>
          <p:cNvGrpSpPr/>
          <p:nvPr/>
        </p:nvGrpSpPr>
        <p:grpSpPr>
          <a:xfrm rot="0">
            <a:off x="904875" y="6665595"/>
            <a:ext cx="7882890" cy="2762250"/>
            <a:chOff x="0" y="0"/>
            <a:chExt cx="10510520" cy="3683000"/>
          </a:xfrm>
        </p:grpSpPr>
        <p:sp>
          <p:nvSpPr>
            <p:cNvPr name="Freeform 28" id="28"/>
            <p:cNvSpPr/>
            <p:nvPr/>
          </p:nvSpPr>
          <p:spPr>
            <a:xfrm flipH="false" flipV="false" rot="0">
              <a:off x="0" y="0"/>
              <a:ext cx="10510520" cy="3683000"/>
            </a:xfrm>
            <a:custGeom>
              <a:avLst/>
              <a:gdLst/>
              <a:ahLst/>
              <a:cxnLst/>
              <a:rect r="r" b="b" t="t" l="l"/>
              <a:pathLst>
                <a:path h="3683000" w="10510520">
                  <a:moveTo>
                    <a:pt x="0" y="196469"/>
                  </a:moveTo>
                  <a:cubicBezTo>
                    <a:pt x="0" y="87884"/>
                    <a:pt x="87884" y="0"/>
                    <a:pt x="196469" y="0"/>
                  </a:cubicBezTo>
                  <a:lnTo>
                    <a:pt x="10314051" y="0"/>
                  </a:lnTo>
                  <a:cubicBezTo>
                    <a:pt x="10422509" y="0"/>
                    <a:pt x="10510520" y="87884"/>
                    <a:pt x="10510520" y="196469"/>
                  </a:cubicBezTo>
                  <a:lnTo>
                    <a:pt x="10510520" y="3486531"/>
                  </a:lnTo>
                  <a:cubicBezTo>
                    <a:pt x="10510520" y="3594989"/>
                    <a:pt x="10422636" y="3683000"/>
                    <a:pt x="10314051" y="3683000"/>
                  </a:cubicBezTo>
                  <a:lnTo>
                    <a:pt x="196469" y="3683000"/>
                  </a:lnTo>
                  <a:cubicBezTo>
                    <a:pt x="87884" y="3683000"/>
                    <a:pt x="0" y="3595116"/>
                    <a:pt x="0" y="3486531"/>
                  </a:cubicBezTo>
                  <a:close/>
                </a:path>
              </a:pathLst>
            </a:custGeom>
            <a:solidFill>
              <a:srgbClr val="FFFFFF"/>
            </a:solidFill>
            <a:ln w="19050" cap="sq">
              <a:solidFill>
                <a:srgbClr val="94A3B8"/>
              </a:solidFill>
              <a:prstDash val="solid"/>
              <a:miter/>
            </a:ln>
          </p:spPr>
        </p:sp>
      </p:grpSp>
      <p:grpSp>
        <p:nvGrpSpPr>
          <p:cNvPr name="Group 29" id="29"/>
          <p:cNvGrpSpPr/>
          <p:nvPr/>
        </p:nvGrpSpPr>
        <p:grpSpPr>
          <a:xfrm rot="0">
            <a:off x="901703" y="6662423"/>
            <a:ext cx="171707" cy="2768603"/>
            <a:chOff x="0" y="0"/>
            <a:chExt cx="228943" cy="3691471"/>
          </a:xfrm>
        </p:grpSpPr>
        <p:sp>
          <p:nvSpPr>
            <p:cNvPr name="Freeform 30" id="30"/>
            <p:cNvSpPr/>
            <p:nvPr/>
          </p:nvSpPr>
          <p:spPr>
            <a:xfrm flipH="false" flipV="false" rot="0">
              <a:off x="0" y="0"/>
              <a:ext cx="228981" cy="3691509"/>
            </a:xfrm>
            <a:custGeom>
              <a:avLst/>
              <a:gdLst/>
              <a:ahLst/>
              <a:cxnLst/>
              <a:rect r="r" b="b" t="t" l="l"/>
              <a:pathLst>
                <a:path h="3691509" w="228981">
                  <a:moveTo>
                    <a:pt x="0" y="0"/>
                  </a:moveTo>
                  <a:lnTo>
                    <a:pt x="228981" y="0"/>
                  </a:lnTo>
                  <a:lnTo>
                    <a:pt x="228981" y="3691509"/>
                  </a:lnTo>
                  <a:lnTo>
                    <a:pt x="0" y="3691509"/>
                  </a:lnTo>
                  <a:close/>
                </a:path>
              </a:pathLst>
            </a:custGeom>
            <a:solidFill>
              <a:srgbClr val="8B5CF6"/>
            </a:solidFill>
            <a:ln w="25400" cap="sq">
              <a:solidFill>
                <a:srgbClr val="8B5CF6"/>
              </a:solidFill>
              <a:prstDash val="solid"/>
              <a:miter/>
            </a:ln>
          </p:spPr>
        </p:sp>
      </p:grpSp>
      <p:grpSp>
        <p:nvGrpSpPr>
          <p:cNvPr name="Group 31" id="31"/>
          <p:cNvGrpSpPr/>
          <p:nvPr/>
        </p:nvGrpSpPr>
        <p:grpSpPr>
          <a:xfrm rot="0">
            <a:off x="2286000" y="6858000"/>
            <a:ext cx="6309360" cy="822960"/>
            <a:chOff x="0" y="0"/>
            <a:chExt cx="8412480" cy="1097280"/>
          </a:xfrm>
        </p:grpSpPr>
        <p:sp>
          <p:nvSpPr>
            <p:cNvPr name="Freeform 32" id="32"/>
            <p:cNvSpPr/>
            <p:nvPr/>
          </p:nvSpPr>
          <p:spPr>
            <a:xfrm flipH="false" flipV="false" rot="0">
              <a:off x="0" y="0"/>
              <a:ext cx="8412480" cy="1097280"/>
            </a:xfrm>
            <a:custGeom>
              <a:avLst/>
              <a:gdLst/>
              <a:ahLst/>
              <a:cxnLst/>
              <a:rect r="r" b="b" t="t" l="l"/>
              <a:pathLst>
                <a:path h="1097280" w="8412480">
                  <a:moveTo>
                    <a:pt x="0" y="0"/>
                  </a:moveTo>
                  <a:lnTo>
                    <a:pt x="8412480" y="0"/>
                  </a:lnTo>
                  <a:lnTo>
                    <a:pt x="8412480" y="1097280"/>
                  </a:lnTo>
                  <a:lnTo>
                    <a:pt x="0" y="1097280"/>
                  </a:lnTo>
                  <a:close/>
                </a:path>
              </a:pathLst>
            </a:custGeom>
            <a:blipFill>
              <a:blip r:embed="rId3">
                <a:alphaModFix amt="0"/>
              </a:blip>
              <a:stretch>
                <a:fillRect l="0" t="-99385" r="0" b="-99385"/>
              </a:stretch>
            </a:blipFill>
          </p:spPr>
        </p:sp>
        <p:sp>
          <p:nvSpPr>
            <p:cNvPr name="TextBox 33" id="33"/>
            <p:cNvSpPr txBox="true"/>
            <p:nvPr/>
          </p:nvSpPr>
          <p:spPr>
            <a:xfrm>
              <a:off x="0" y="-28575"/>
              <a:ext cx="8412480" cy="1125855"/>
            </a:xfrm>
            <a:prstGeom prst="rect">
              <a:avLst/>
            </a:prstGeom>
          </p:spPr>
          <p:txBody>
            <a:bodyPr anchor="ctr" rtlCol="false" tIns="0" lIns="0" bIns="0" rIns="0"/>
            <a:lstStyle/>
            <a:p>
              <a:pPr algn="l">
                <a:lnSpc>
                  <a:spcPts val="3840"/>
                </a:lnSpc>
              </a:pPr>
              <a:r>
                <a:rPr lang="en-US" b="true" sz="3200">
                  <a:solidFill>
                    <a:srgbClr val="1E2761"/>
                  </a:solidFill>
                  <a:latin typeface="Arial Bold"/>
                  <a:ea typeface="Arial Bold"/>
                  <a:cs typeface="Arial Bold"/>
                  <a:sym typeface="Arial Bold"/>
                </a:rPr>
                <a:t>Ré</a:t>
              </a:r>
              <a:r>
                <a:rPr lang="en-US" b="true" sz="3200">
                  <a:solidFill>
                    <a:srgbClr val="1E2761"/>
                  </a:solidFill>
                  <a:latin typeface="Arial Bold"/>
                  <a:ea typeface="Arial Bold"/>
                  <a:cs typeface="Arial Bold"/>
                  <a:sym typeface="Arial Bold"/>
                </a:rPr>
                <a:t>ponse lente</a:t>
              </a:r>
            </a:p>
          </p:txBody>
        </p:sp>
      </p:grpSp>
      <p:grpSp>
        <p:nvGrpSpPr>
          <p:cNvPr name="Group 34" id="34"/>
          <p:cNvGrpSpPr/>
          <p:nvPr/>
        </p:nvGrpSpPr>
        <p:grpSpPr>
          <a:xfrm rot="0">
            <a:off x="9500235" y="6665595"/>
            <a:ext cx="7882890" cy="2762250"/>
            <a:chOff x="0" y="0"/>
            <a:chExt cx="10510520" cy="3683000"/>
          </a:xfrm>
        </p:grpSpPr>
        <p:sp>
          <p:nvSpPr>
            <p:cNvPr name="Freeform 35" id="35"/>
            <p:cNvSpPr/>
            <p:nvPr/>
          </p:nvSpPr>
          <p:spPr>
            <a:xfrm flipH="false" flipV="false" rot="0">
              <a:off x="0" y="0"/>
              <a:ext cx="10510520" cy="3683000"/>
            </a:xfrm>
            <a:custGeom>
              <a:avLst/>
              <a:gdLst/>
              <a:ahLst/>
              <a:cxnLst/>
              <a:rect r="r" b="b" t="t" l="l"/>
              <a:pathLst>
                <a:path h="3683000" w="10510520">
                  <a:moveTo>
                    <a:pt x="0" y="196469"/>
                  </a:moveTo>
                  <a:cubicBezTo>
                    <a:pt x="0" y="87884"/>
                    <a:pt x="87884" y="0"/>
                    <a:pt x="196469" y="0"/>
                  </a:cubicBezTo>
                  <a:lnTo>
                    <a:pt x="10314051" y="0"/>
                  </a:lnTo>
                  <a:cubicBezTo>
                    <a:pt x="10422509" y="0"/>
                    <a:pt x="10510520" y="87884"/>
                    <a:pt x="10510520" y="196469"/>
                  </a:cubicBezTo>
                  <a:lnTo>
                    <a:pt x="10510520" y="3486531"/>
                  </a:lnTo>
                  <a:cubicBezTo>
                    <a:pt x="10510520" y="3594989"/>
                    <a:pt x="10422636" y="3683000"/>
                    <a:pt x="10314051" y="3683000"/>
                  </a:cubicBezTo>
                  <a:lnTo>
                    <a:pt x="196469" y="3683000"/>
                  </a:lnTo>
                  <a:cubicBezTo>
                    <a:pt x="87884" y="3683000"/>
                    <a:pt x="0" y="3595116"/>
                    <a:pt x="0" y="3486531"/>
                  </a:cubicBezTo>
                  <a:close/>
                </a:path>
              </a:pathLst>
            </a:custGeom>
            <a:solidFill>
              <a:srgbClr val="FFFFFF"/>
            </a:solidFill>
            <a:ln w="19050" cap="sq">
              <a:solidFill>
                <a:srgbClr val="94A3B8"/>
              </a:solidFill>
              <a:prstDash val="solid"/>
              <a:miter/>
            </a:ln>
          </p:spPr>
        </p:sp>
      </p:grpSp>
      <p:grpSp>
        <p:nvGrpSpPr>
          <p:cNvPr name="Group 36" id="36"/>
          <p:cNvGrpSpPr/>
          <p:nvPr/>
        </p:nvGrpSpPr>
        <p:grpSpPr>
          <a:xfrm rot="0">
            <a:off x="9497063" y="6662423"/>
            <a:ext cx="171707" cy="2768603"/>
            <a:chOff x="0" y="0"/>
            <a:chExt cx="228943" cy="3691471"/>
          </a:xfrm>
        </p:grpSpPr>
        <p:sp>
          <p:nvSpPr>
            <p:cNvPr name="Freeform 37" id="37"/>
            <p:cNvSpPr/>
            <p:nvPr/>
          </p:nvSpPr>
          <p:spPr>
            <a:xfrm flipH="false" flipV="false" rot="0">
              <a:off x="0" y="0"/>
              <a:ext cx="228981" cy="3691509"/>
            </a:xfrm>
            <a:custGeom>
              <a:avLst/>
              <a:gdLst/>
              <a:ahLst/>
              <a:cxnLst/>
              <a:rect r="r" b="b" t="t" l="l"/>
              <a:pathLst>
                <a:path h="3691509" w="228981">
                  <a:moveTo>
                    <a:pt x="0" y="0"/>
                  </a:moveTo>
                  <a:lnTo>
                    <a:pt x="228981" y="0"/>
                  </a:lnTo>
                  <a:lnTo>
                    <a:pt x="228981" y="3691509"/>
                  </a:lnTo>
                  <a:lnTo>
                    <a:pt x="0" y="3691509"/>
                  </a:lnTo>
                  <a:close/>
                </a:path>
              </a:pathLst>
            </a:custGeom>
            <a:solidFill>
              <a:srgbClr val="3B82F6"/>
            </a:solidFill>
            <a:ln w="25400" cap="sq">
              <a:solidFill>
                <a:srgbClr val="3B82F6"/>
              </a:solidFill>
              <a:prstDash val="solid"/>
              <a:miter/>
            </a:ln>
          </p:spPr>
        </p:sp>
      </p:grpSp>
      <p:grpSp>
        <p:nvGrpSpPr>
          <p:cNvPr name="Group 38" id="38"/>
          <p:cNvGrpSpPr/>
          <p:nvPr/>
        </p:nvGrpSpPr>
        <p:grpSpPr>
          <a:xfrm rot="0">
            <a:off x="10881360" y="6858000"/>
            <a:ext cx="6309360" cy="822960"/>
            <a:chOff x="0" y="0"/>
            <a:chExt cx="8412480" cy="1097280"/>
          </a:xfrm>
        </p:grpSpPr>
        <p:sp>
          <p:nvSpPr>
            <p:cNvPr name="Freeform 39" id="39"/>
            <p:cNvSpPr/>
            <p:nvPr/>
          </p:nvSpPr>
          <p:spPr>
            <a:xfrm flipH="false" flipV="false" rot="0">
              <a:off x="0" y="0"/>
              <a:ext cx="8412480" cy="1097280"/>
            </a:xfrm>
            <a:custGeom>
              <a:avLst/>
              <a:gdLst/>
              <a:ahLst/>
              <a:cxnLst/>
              <a:rect r="r" b="b" t="t" l="l"/>
              <a:pathLst>
                <a:path h="1097280" w="8412480">
                  <a:moveTo>
                    <a:pt x="0" y="0"/>
                  </a:moveTo>
                  <a:lnTo>
                    <a:pt x="8412480" y="0"/>
                  </a:lnTo>
                  <a:lnTo>
                    <a:pt x="8412480" y="1097280"/>
                  </a:lnTo>
                  <a:lnTo>
                    <a:pt x="0" y="1097280"/>
                  </a:lnTo>
                  <a:close/>
                </a:path>
              </a:pathLst>
            </a:custGeom>
            <a:blipFill>
              <a:blip r:embed="rId3">
                <a:alphaModFix amt="0"/>
              </a:blip>
              <a:stretch>
                <a:fillRect l="0" t="-99385" r="0" b="-99385"/>
              </a:stretch>
            </a:blipFill>
          </p:spPr>
        </p:sp>
        <p:sp>
          <p:nvSpPr>
            <p:cNvPr name="TextBox 40" id="40"/>
            <p:cNvSpPr txBox="true"/>
            <p:nvPr/>
          </p:nvSpPr>
          <p:spPr>
            <a:xfrm>
              <a:off x="0" y="-28575"/>
              <a:ext cx="8412480" cy="1125855"/>
            </a:xfrm>
            <a:prstGeom prst="rect">
              <a:avLst/>
            </a:prstGeom>
          </p:spPr>
          <p:txBody>
            <a:bodyPr anchor="ctr" rtlCol="false" tIns="0" lIns="0" bIns="0" rIns="0"/>
            <a:lstStyle/>
            <a:p>
              <a:pPr algn="l">
                <a:lnSpc>
                  <a:spcPts val="3840"/>
                </a:lnSpc>
              </a:pPr>
              <a:r>
                <a:rPr lang="en-US" b="true" sz="3200">
                  <a:solidFill>
                    <a:srgbClr val="1E2761"/>
                  </a:solidFill>
                  <a:latin typeface="Arial Bold"/>
                  <a:ea typeface="Arial Bold"/>
                  <a:cs typeface="Arial Bold"/>
                  <a:sym typeface="Arial Bold"/>
                </a:rPr>
                <a:t>Pas</a:t>
              </a:r>
              <a:r>
                <a:rPr lang="en-US" b="true" sz="3200">
                  <a:solidFill>
                    <a:srgbClr val="1E2761"/>
                  </a:solidFill>
                  <a:latin typeface="Arial Bold"/>
                  <a:ea typeface="Arial Bold"/>
                  <a:cs typeface="Arial Bold"/>
                  <a:sym typeface="Arial Bold"/>
                </a:rPr>
                <a:t> de rapport</a:t>
              </a:r>
            </a:p>
          </p:txBody>
        </p:sp>
      </p:grpSp>
      <p:grpSp>
        <p:nvGrpSpPr>
          <p:cNvPr name="Group 41" id="41"/>
          <p:cNvGrpSpPr/>
          <p:nvPr/>
        </p:nvGrpSpPr>
        <p:grpSpPr>
          <a:xfrm rot="0">
            <a:off x="0" y="9784080"/>
            <a:ext cx="18288000" cy="457200"/>
            <a:chOff x="0" y="0"/>
            <a:chExt cx="24384000" cy="609600"/>
          </a:xfrm>
        </p:grpSpPr>
        <p:sp>
          <p:nvSpPr>
            <p:cNvPr name="Freeform 42" id="42"/>
            <p:cNvSpPr/>
            <p:nvPr/>
          </p:nvSpPr>
          <p:spPr>
            <a:xfrm flipH="false" flipV="false" rot="0">
              <a:off x="0" y="0"/>
              <a:ext cx="24384000" cy="609600"/>
            </a:xfrm>
            <a:custGeom>
              <a:avLst/>
              <a:gdLst/>
              <a:ahLst/>
              <a:cxnLst/>
              <a:rect r="r" b="b" t="t" l="l"/>
              <a:pathLst>
                <a:path h="609600" w="24384000">
                  <a:moveTo>
                    <a:pt x="0" y="0"/>
                  </a:moveTo>
                  <a:lnTo>
                    <a:pt x="24384000" y="0"/>
                  </a:lnTo>
                  <a:lnTo>
                    <a:pt x="24384000" y="609600"/>
                  </a:lnTo>
                  <a:lnTo>
                    <a:pt x="0" y="609600"/>
                  </a:lnTo>
                  <a:close/>
                </a:path>
              </a:pathLst>
            </a:custGeom>
            <a:blipFill>
              <a:blip r:embed="rId3">
                <a:alphaModFix amt="0"/>
              </a:blip>
              <a:stretch>
                <a:fillRect l="0" t="-729401" r="0" b="-729401"/>
              </a:stretch>
            </a:blipFill>
          </p:spPr>
        </p:sp>
        <p:sp>
          <p:nvSpPr>
            <p:cNvPr name="TextBox 43" id="43"/>
            <p:cNvSpPr txBox="true"/>
            <p:nvPr/>
          </p:nvSpPr>
          <p:spPr>
            <a:xfrm>
              <a:off x="0" y="-19050"/>
              <a:ext cx="24384000" cy="628650"/>
            </a:xfrm>
            <a:prstGeom prst="rect">
              <a:avLst/>
            </a:prstGeom>
          </p:spPr>
          <p:txBody>
            <a:bodyPr anchor="ctr" rtlCol="false" tIns="0" lIns="0" bIns="0" rIns="0"/>
            <a:lstStyle/>
            <a:p>
              <a:pPr algn="ctr">
                <a:lnSpc>
                  <a:spcPts val="2160"/>
                </a:lnSpc>
              </a:pPr>
            </a:p>
          </p:txBody>
        </p:sp>
      </p:grpSp>
      <p:sp>
        <p:nvSpPr>
          <p:cNvPr name="TextBox 44" id="44"/>
          <p:cNvSpPr txBox="true"/>
          <p:nvPr/>
        </p:nvSpPr>
        <p:spPr>
          <a:xfrm rot="0">
            <a:off x="1371600" y="4735830"/>
            <a:ext cx="7223760" cy="685800"/>
          </a:xfrm>
          <a:prstGeom prst="rect">
            <a:avLst/>
          </a:prstGeom>
        </p:spPr>
        <p:txBody>
          <a:bodyPr anchor="t" rtlCol="false" tIns="0" lIns="0" bIns="0" rIns="0">
            <a:spAutoFit/>
          </a:bodyPr>
          <a:lstStyle/>
          <a:p>
            <a:pPr algn="l">
              <a:lnSpc>
                <a:spcPts val="2639"/>
              </a:lnSpc>
            </a:pPr>
            <a:r>
              <a:rPr lang="en-US" sz="2199">
                <a:solidFill>
                  <a:srgbClr val="64748B"/>
                </a:solidFill>
                <a:latin typeface="Arial"/>
                <a:ea typeface="Arial"/>
                <a:cs typeface="Arial"/>
                <a:sym typeface="Arial"/>
              </a:rPr>
              <a:t>La plupart des P</a:t>
            </a:r>
            <a:r>
              <a:rPr lang="en-US" sz="2199">
                <a:solidFill>
                  <a:srgbClr val="64748B"/>
                </a:solidFill>
                <a:latin typeface="Arial"/>
                <a:ea typeface="Arial"/>
                <a:cs typeface="Arial"/>
                <a:sym typeface="Arial"/>
              </a:rPr>
              <a:t>ME n'ont pas d'équipe ou de budget dédié à la cybersécurité pour protéger leur infrastructure.</a:t>
            </a:r>
          </a:p>
        </p:txBody>
      </p:sp>
      <p:sp>
        <p:nvSpPr>
          <p:cNvPr name="TextBox 45" id="45"/>
          <p:cNvSpPr txBox="true"/>
          <p:nvPr/>
        </p:nvSpPr>
        <p:spPr>
          <a:xfrm rot="0">
            <a:off x="9966960" y="4735830"/>
            <a:ext cx="7223760" cy="685800"/>
          </a:xfrm>
          <a:prstGeom prst="rect">
            <a:avLst/>
          </a:prstGeom>
        </p:spPr>
        <p:txBody>
          <a:bodyPr anchor="t" rtlCol="false" tIns="0" lIns="0" bIns="0" rIns="0">
            <a:spAutoFit/>
          </a:bodyPr>
          <a:lstStyle/>
          <a:p>
            <a:pPr algn="l">
              <a:lnSpc>
                <a:spcPts val="2639"/>
              </a:lnSpc>
            </a:pPr>
            <a:r>
              <a:rPr lang="en-US" sz="2199">
                <a:solidFill>
                  <a:srgbClr val="64748B"/>
                </a:solidFill>
                <a:latin typeface="Arial"/>
                <a:ea typeface="Arial"/>
                <a:cs typeface="Arial"/>
                <a:sym typeface="Arial"/>
              </a:rPr>
              <a:t>L</a:t>
            </a:r>
            <a:r>
              <a:rPr lang="en-US" sz="2199">
                <a:solidFill>
                  <a:srgbClr val="64748B"/>
                </a:solidFill>
                <a:latin typeface="Arial"/>
                <a:ea typeface="Arial"/>
                <a:cs typeface="Arial"/>
                <a:sym typeface="Arial"/>
              </a:rPr>
              <a:t>es demandes d'audit traitées par email, pas de suivi, pas de traçabilité.</a:t>
            </a:r>
          </a:p>
        </p:txBody>
      </p:sp>
      <p:sp>
        <p:nvSpPr>
          <p:cNvPr name="TextBox 46" id="46"/>
          <p:cNvSpPr txBox="true"/>
          <p:nvPr/>
        </p:nvSpPr>
        <p:spPr>
          <a:xfrm rot="0">
            <a:off x="1371600" y="7753350"/>
            <a:ext cx="7223760" cy="685800"/>
          </a:xfrm>
          <a:prstGeom prst="rect">
            <a:avLst/>
          </a:prstGeom>
        </p:spPr>
        <p:txBody>
          <a:bodyPr anchor="t" rtlCol="false" tIns="0" lIns="0" bIns="0" rIns="0">
            <a:spAutoFit/>
          </a:bodyPr>
          <a:lstStyle/>
          <a:p>
            <a:pPr algn="l">
              <a:lnSpc>
                <a:spcPts val="2639"/>
              </a:lnSpc>
            </a:pPr>
            <a:r>
              <a:rPr lang="en-US" sz="2199">
                <a:solidFill>
                  <a:srgbClr val="64748B"/>
                </a:solidFill>
                <a:latin typeface="Arial"/>
                <a:ea typeface="Arial"/>
                <a:cs typeface="Arial"/>
                <a:sym typeface="Arial"/>
              </a:rPr>
              <a:t>Pas</a:t>
            </a:r>
            <a:r>
              <a:rPr lang="en-US" sz="2199">
                <a:solidFill>
                  <a:srgbClr val="64748B"/>
                </a:solidFill>
                <a:latin typeface="Arial"/>
                <a:ea typeface="Arial"/>
                <a:cs typeface="Arial"/>
                <a:sym typeface="Arial"/>
              </a:rPr>
              <a:t> de mises à jour en temps réel. Les clients restent dans le flou après avoir envoyé une demande.</a:t>
            </a:r>
          </a:p>
        </p:txBody>
      </p:sp>
      <p:sp>
        <p:nvSpPr>
          <p:cNvPr name="TextBox 47" id="47"/>
          <p:cNvSpPr txBox="true"/>
          <p:nvPr/>
        </p:nvSpPr>
        <p:spPr>
          <a:xfrm rot="0">
            <a:off x="9966960" y="7753350"/>
            <a:ext cx="7223760" cy="685800"/>
          </a:xfrm>
          <a:prstGeom prst="rect">
            <a:avLst/>
          </a:prstGeom>
        </p:spPr>
        <p:txBody>
          <a:bodyPr anchor="t" rtlCol="false" tIns="0" lIns="0" bIns="0" rIns="0">
            <a:spAutoFit/>
          </a:bodyPr>
          <a:lstStyle/>
          <a:p>
            <a:pPr algn="l">
              <a:lnSpc>
                <a:spcPts val="2639"/>
              </a:lnSpc>
            </a:pPr>
            <a:r>
              <a:rPr lang="en-US" sz="2199">
                <a:solidFill>
                  <a:srgbClr val="64748B"/>
                </a:solidFill>
                <a:latin typeface="Arial"/>
                <a:ea typeface="Arial"/>
                <a:cs typeface="Arial"/>
                <a:sym typeface="Arial"/>
              </a:rPr>
              <a:t>Les rapports de v</a:t>
            </a:r>
            <a:r>
              <a:rPr lang="en-US" sz="2199">
                <a:solidFill>
                  <a:srgbClr val="64748B"/>
                </a:solidFill>
                <a:latin typeface="Arial"/>
                <a:ea typeface="Arial"/>
                <a:cs typeface="Arial"/>
                <a:sym typeface="Arial"/>
              </a:rPr>
              <a:t>ulnérabilité envoyés en pièces jointes d'e-mail sont impossibles à gérer à grande échelle.</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1E2761"/>
        </a:solidFill>
      </p:bgPr>
    </p:bg>
    <p:spTree>
      <p:nvGrpSpPr>
        <p:cNvPr id="1" name=""/>
        <p:cNvGrpSpPr/>
        <p:nvPr/>
      </p:nvGrpSpPr>
      <p:grpSpPr>
        <a:xfrm>
          <a:off x="0" y="0"/>
          <a:ext cx="0" cy="0"/>
          <a:chOff x="0" y="0"/>
          <a:chExt cx="0" cy="0"/>
        </a:xfrm>
      </p:grpSpPr>
      <p:grpSp>
        <p:nvGrpSpPr>
          <p:cNvPr name="Group 2" id="2"/>
          <p:cNvGrpSpPr/>
          <p:nvPr/>
        </p:nvGrpSpPr>
        <p:grpSpPr>
          <a:xfrm rot="0">
            <a:off x="0" y="457200"/>
            <a:ext cx="18288000" cy="1243682"/>
            <a:chOff x="0" y="0"/>
            <a:chExt cx="24384000" cy="1658243"/>
          </a:xfrm>
        </p:grpSpPr>
        <p:sp>
          <p:nvSpPr>
            <p:cNvPr name="Freeform 3" id="3"/>
            <p:cNvSpPr/>
            <p:nvPr/>
          </p:nvSpPr>
          <p:spPr>
            <a:xfrm flipH="false" flipV="false" rot="0">
              <a:off x="0" y="0"/>
              <a:ext cx="24384000" cy="1658243"/>
            </a:xfrm>
            <a:custGeom>
              <a:avLst/>
              <a:gdLst/>
              <a:ahLst/>
              <a:cxnLst/>
              <a:rect r="r" b="b" t="t" l="l"/>
              <a:pathLst>
                <a:path h="1658243" w="24384000">
                  <a:moveTo>
                    <a:pt x="0" y="0"/>
                  </a:moveTo>
                  <a:lnTo>
                    <a:pt x="24384000" y="0"/>
                  </a:lnTo>
                  <a:lnTo>
                    <a:pt x="24384000" y="1658243"/>
                  </a:lnTo>
                  <a:lnTo>
                    <a:pt x="0" y="1658243"/>
                  </a:lnTo>
                  <a:close/>
                </a:path>
              </a:pathLst>
            </a:custGeom>
            <a:blipFill>
              <a:blip r:embed="rId3">
                <a:alphaModFix amt="0"/>
              </a:blip>
              <a:stretch>
                <a:fillRect l="0" t="-246084" r="0" b="-226960"/>
              </a:stretch>
            </a:blipFill>
          </p:spPr>
        </p:sp>
        <p:sp>
          <p:nvSpPr>
            <p:cNvPr name="TextBox 4" id="4"/>
            <p:cNvSpPr txBox="true"/>
            <p:nvPr/>
          </p:nvSpPr>
          <p:spPr>
            <a:xfrm>
              <a:off x="0" y="-28575"/>
              <a:ext cx="24384000" cy="1686818"/>
            </a:xfrm>
            <a:prstGeom prst="rect">
              <a:avLst/>
            </a:prstGeom>
          </p:spPr>
          <p:txBody>
            <a:bodyPr anchor="ctr" rtlCol="false" tIns="0" lIns="0" bIns="0" rIns="0"/>
            <a:lstStyle/>
            <a:p>
              <a:pPr algn="ctr">
                <a:lnSpc>
                  <a:spcPts val="7200"/>
                </a:lnSpc>
              </a:pPr>
              <a:r>
                <a:rPr lang="en-US" b="true" sz="6000">
                  <a:solidFill>
                    <a:srgbClr val="FFFFFF"/>
                  </a:solidFill>
                  <a:latin typeface="Arial Bold"/>
                  <a:ea typeface="Arial Bold"/>
                  <a:cs typeface="Arial Bold"/>
                  <a:sym typeface="Arial Bold"/>
                </a:rPr>
                <a:t>Not</a:t>
              </a:r>
              <a:r>
                <a:rPr lang="en-US" b="true" sz="6000">
                  <a:solidFill>
                    <a:srgbClr val="FFFFFF"/>
                  </a:solidFill>
                  <a:latin typeface="Arial Bold"/>
                  <a:ea typeface="Arial Bold"/>
                  <a:cs typeface="Arial Bold"/>
                  <a:sym typeface="Arial Bold"/>
                </a:rPr>
                <a:t>re solution</a:t>
              </a:r>
            </a:p>
          </p:txBody>
        </p:sp>
      </p:grpSp>
      <p:grpSp>
        <p:nvGrpSpPr>
          <p:cNvPr name="Group 5" id="5"/>
          <p:cNvGrpSpPr/>
          <p:nvPr/>
        </p:nvGrpSpPr>
        <p:grpSpPr>
          <a:xfrm rot="0">
            <a:off x="914400" y="1554480"/>
            <a:ext cx="16459200" cy="640080"/>
            <a:chOff x="0" y="0"/>
            <a:chExt cx="21945600" cy="853440"/>
          </a:xfrm>
        </p:grpSpPr>
        <p:sp>
          <p:nvSpPr>
            <p:cNvPr name="Freeform 6" id="6"/>
            <p:cNvSpPr/>
            <p:nvPr/>
          </p:nvSpPr>
          <p:spPr>
            <a:xfrm flipH="false" flipV="false" rot="0">
              <a:off x="0" y="0"/>
              <a:ext cx="21945600" cy="853440"/>
            </a:xfrm>
            <a:custGeom>
              <a:avLst/>
              <a:gdLst/>
              <a:ahLst/>
              <a:cxnLst/>
              <a:rect r="r" b="b" t="t" l="l"/>
              <a:pathLst>
                <a:path h="853440" w="21945600">
                  <a:moveTo>
                    <a:pt x="0" y="0"/>
                  </a:moveTo>
                  <a:lnTo>
                    <a:pt x="21945600" y="0"/>
                  </a:lnTo>
                  <a:lnTo>
                    <a:pt x="21945600" y="853440"/>
                  </a:lnTo>
                  <a:lnTo>
                    <a:pt x="0" y="853440"/>
                  </a:lnTo>
                  <a:close/>
                </a:path>
              </a:pathLst>
            </a:custGeom>
            <a:blipFill>
              <a:blip r:embed="rId3">
                <a:alphaModFix amt="0"/>
              </a:blip>
              <a:stretch>
                <a:fillRect l="0" t="-451043" r="0" b="-451043"/>
              </a:stretch>
            </a:blipFill>
          </p:spPr>
        </p:sp>
        <p:sp>
          <p:nvSpPr>
            <p:cNvPr name="TextBox 7" id="7"/>
            <p:cNvSpPr txBox="true"/>
            <p:nvPr/>
          </p:nvSpPr>
          <p:spPr>
            <a:xfrm>
              <a:off x="0" y="-19050"/>
              <a:ext cx="21945600" cy="872490"/>
            </a:xfrm>
            <a:prstGeom prst="rect">
              <a:avLst/>
            </a:prstGeom>
          </p:spPr>
          <p:txBody>
            <a:bodyPr anchor="ctr" rtlCol="false" tIns="0" lIns="0" bIns="0" rIns="0"/>
            <a:lstStyle/>
            <a:p>
              <a:pPr algn="ctr">
                <a:lnSpc>
                  <a:spcPts val="3120"/>
                </a:lnSpc>
              </a:pPr>
              <a:r>
                <a:rPr lang="en-US" sz="2600" i="true">
                  <a:solidFill>
                    <a:srgbClr val="00C2D7"/>
                  </a:solidFill>
                  <a:latin typeface="Arial Italics"/>
                  <a:ea typeface="Arial Italics"/>
                  <a:cs typeface="Arial Italics"/>
                  <a:sym typeface="Arial Italics"/>
                </a:rPr>
                <a:t>U</a:t>
              </a:r>
              <a:r>
                <a:rPr lang="en-US" sz="2600" i="true">
                  <a:solidFill>
                    <a:srgbClr val="00C2D7"/>
                  </a:solidFill>
                  <a:latin typeface="Arial Italics"/>
                  <a:ea typeface="Arial Italics"/>
                  <a:cs typeface="Arial Italics"/>
                  <a:sym typeface="Arial Italics"/>
                </a:rPr>
                <a:t>ne plateforme web unifiée connectant les clients PME et les opérateurs CyberAudit</a:t>
              </a:r>
            </a:p>
          </p:txBody>
        </p:sp>
      </p:grpSp>
      <p:grpSp>
        <p:nvGrpSpPr>
          <p:cNvPr name="Group 8" id="8"/>
          <p:cNvGrpSpPr/>
          <p:nvPr/>
        </p:nvGrpSpPr>
        <p:grpSpPr>
          <a:xfrm rot="0">
            <a:off x="767715" y="2550795"/>
            <a:ext cx="5414010" cy="3402330"/>
            <a:chOff x="0" y="0"/>
            <a:chExt cx="7218680" cy="4536440"/>
          </a:xfrm>
        </p:grpSpPr>
        <p:sp>
          <p:nvSpPr>
            <p:cNvPr name="Freeform 9" id="9"/>
            <p:cNvSpPr/>
            <p:nvPr/>
          </p:nvSpPr>
          <p:spPr>
            <a:xfrm flipH="false" flipV="false" rot="0">
              <a:off x="0" y="0"/>
              <a:ext cx="7218680" cy="4536440"/>
            </a:xfrm>
            <a:custGeom>
              <a:avLst/>
              <a:gdLst/>
              <a:ahLst/>
              <a:cxnLst/>
              <a:rect r="r" b="b" t="t" l="l"/>
              <a:pathLst>
                <a:path h="4536440" w="7218680">
                  <a:moveTo>
                    <a:pt x="0" y="196215"/>
                  </a:moveTo>
                  <a:cubicBezTo>
                    <a:pt x="0" y="87884"/>
                    <a:pt x="87884" y="0"/>
                    <a:pt x="196215" y="0"/>
                  </a:cubicBezTo>
                  <a:lnTo>
                    <a:pt x="7022465" y="0"/>
                  </a:lnTo>
                  <a:cubicBezTo>
                    <a:pt x="7130797" y="0"/>
                    <a:pt x="7218680" y="87884"/>
                    <a:pt x="7218680" y="196215"/>
                  </a:cubicBezTo>
                  <a:lnTo>
                    <a:pt x="7218680" y="4340225"/>
                  </a:lnTo>
                  <a:cubicBezTo>
                    <a:pt x="7218680" y="4448556"/>
                    <a:pt x="7130797" y="4536440"/>
                    <a:pt x="7022465" y="4536440"/>
                  </a:cubicBezTo>
                  <a:lnTo>
                    <a:pt x="196215" y="4536440"/>
                  </a:lnTo>
                  <a:cubicBezTo>
                    <a:pt x="87884" y="4536440"/>
                    <a:pt x="0" y="4448556"/>
                    <a:pt x="0" y="4340225"/>
                  </a:cubicBezTo>
                  <a:close/>
                </a:path>
              </a:pathLst>
            </a:custGeom>
            <a:solidFill>
              <a:srgbClr val="2E3D7C"/>
            </a:solidFill>
            <a:ln w="19050" cap="sq">
              <a:solidFill>
                <a:srgbClr val="00C2D7"/>
              </a:solidFill>
              <a:prstDash val="solid"/>
              <a:miter/>
            </a:ln>
          </p:spPr>
        </p:sp>
      </p:grpSp>
      <p:grpSp>
        <p:nvGrpSpPr>
          <p:cNvPr name="Group 10" id="10"/>
          <p:cNvGrpSpPr/>
          <p:nvPr/>
        </p:nvGrpSpPr>
        <p:grpSpPr>
          <a:xfrm rot="0">
            <a:off x="1051560" y="2834640"/>
            <a:ext cx="1463040" cy="640080"/>
            <a:chOff x="0" y="0"/>
            <a:chExt cx="1950720" cy="853440"/>
          </a:xfrm>
        </p:grpSpPr>
        <p:sp>
          <p:nvSpPr>
            <p:cNvPr name="Freeform 11" id="11"/>
            <p:cNvSpPr/>
            <p:nvPr/>
          </p:nvSpPr>
          <p:spPr>
            <a:xfrm flipH="false" flipV="false" rot="0">
              <a:off x="0" y="0"/>
              <a:ext cx="1950720" cy="853440"/>
            </a:xfrm>
            <a:custGeom>
              <a:avLst/>
              <a:gdLst/>
              <a:ahLst/>
              <a:cxnLst/>
              <a:rect r="r" b="b" t="t" l="l"/>
              <a:pathLst>
                <a:path h="853440" w="1950720">
                  <a:moveTo>
                    <a:pt x="0" y="0"/>
                  </a:moveTo>
                  <a:lnTo>
                    <a:pt x="1950720" y="0"/>
                  </a:lnTo>
                  <a:lnTo>
                    <a:pt x="1950720" y="853440"/>
                  </a:lnTo>
                  <a:lnTo>
                    <a:pt x="0" y="853440"/>
                  </a:lnTo>
                  <a:close/>
                </a:path>
              </a:pathLst>
            </a:custGeom>
            <a:blipFill>
              <a:blip r:embed="rId3">
                <a:alphaModFix amt="0"/>
              </a:blip>
              <a:stretch>
                <a:fillRect l="-6132" t="0" r="-6132" b="0"/>
              </a:stretch>
            </a:blipFill>
          </p:spPr>
        </p:sp>
        <p:sp>
          <p:nvSpPr>
            <p:cNvPr name="TextBox 12" id="12"/>
            <p:cNvSpPr txBox="true"/>
            <p:nvPr/>
          </p:nvSpPr>
          <p:spPr>
            <a:xfrm>
              <a:off x="0" y="-19050"/>
              <a:ext cx="1950720" cy="872490"/>
            </a:xfrm>
            <a:prstGeom prst="rect">
              <a:avLst/>
            </a:prstGeom>
          </p:spPr>
          <p:txBody>
            <a:bodyPr anchor="ctr" rtlCol="false" tIns="0" lIns="0" bIns="0" rIns="0"/>
            <a:lstStyle/>
            <a:p>
              <a:pPr algn="l">
                <a:lnSpc>
                  <a:spcPts val="3359"/>
                </a:lnSpc>
              </a:pPr>
              <a:r>
                <a:rPr lang="en-US" b="true" sz="2799">
                  <a:solidFill>
                    <a:srgbClr val="00C2D7"/>
                  </a:solidFill>
                  <a:latin typeface="Arial Bold"/>
                  <a:ea typeface="Arial Bold"/>
                  <a:cs typeface="Arial Bold"/>
                  <a:sym typeface="Arial Bold"/>
                </a:rPr>
                <a:t>01</a:t>
              </a:r>
            </a:p>
          </p:txBody>
        </p:sp>
      </p:grpSp>
      <p:grpSp>
        <p:nvGrpSpPr>
          <p:cNvPr name="Group 13" id="13"/>
          <p:cNvGrpSpPr/>
          <p:nvPr/>
        </p:nvGrpSpPr>
        <p:grpSpPr>
          <a:xfrm rot="0">
            <a:off x="1590675" y="2834640"/>
            <a:ext cx="4846320" cy="1079041"/>
            <a:chOff x="0" y="0"/>
            <a:chExt cx="6461760" cy="1438721"/>
          </a:xfrm>
        </p:grpSpPr>
        <p:sp>
          <p:nvSpPr>
            <p:cNvPr name="Freeform 14" id="14"/>
            <p:cNvSpPr/>
            <p:nvPr/>
          </p:nvSpPr>
          <p:spPr>
            <a:xfrm flipH="false" flipV="false" rot="0">
              <a:off x="0" y="0"/>
              <a:ext cx="6461760" cy="1438721"/>
            </a:xfrm>
            <a:custGeom>
              <a:avLst/>
              <a:gdLst/>
              <a:ahLst/>
              <a:cxnLst/>
              <a:rect r="r" b="b" t="t" l="l"/>
              <a:pathLst>
                <a:path h="1438721" w="6461760">
                  <a:moveTo>
                    <a:pt x="0" y="0"/>
                  </a:moveTo>
                  <a:lnTo>
                    <a:pt x="6461760" y="0"/>
                  </a:lnTo>
                  <a:lnTo>
                    <a:pt x="6461760" y="1438721"/>
                  </a:lnTo>
                  <a:lnTo>
                    <a:pt x="0" y="1438721"/>
                  </a:lnTo>
                  <a:close/>
                </a:path>
              </a:pathLst>
            </a:custGeom>
            <a:blipFill>
              <a:blip r:embed="rId3">
                <a:alphaModFix amt="0"/>
              </a:blip>
              <a:stretch>
                <a:fillRect l="0" t="-49379" r="0" b="-25647"/>
              </a:stretch>
            </a:blipFill>
          </p:spPr>
        </p:sp>
        <p:sp>
          <p:nvSpPr>
            <p:cNvPr name="TextBox 15" id="15"/>
            <p:cNvSpPr txBox="true"/>
            <p:nvPr/>
          </p:nvSpPr>
          <p:spPr>
            <a:xfrm>
              <a:off x="0" y="-19050"/>
              <a:ext cx="6461760" cy="1457771"/>
            </a:xfrm>
            <a:prstGeom prst="rect">
              <a:avLst/>
            </a:prstGeom>
          </p:spPr>
          <p:txBody>
            <a:bodyPr anchor="ctr" rtlCol="false" tIns="0" lIns="0" bIns="0" rIns="0"/>
            <a:lstStyle/>
            <a:p>
              <a:pPr algn="l">
                <a:lnSpc>
                  <a:spcPts val="3600"/>
                </a:lnSpc>
              </a:pPr>
              <a:r>
                <a:rPr lang="en-US" b="true" sz="3000">
                  <a:solidFill>
                    <a:srgbClr val="FFFFFF"/>
                  </a:solidFill>
                  <a:latin typeface="Arial Bold"/>
                  <a:ea typeface="Arial Bold"/>
                  <a:cs typeface="Arial Bold"/>
                  <a:sym typeface="Arial Bold"/>
                </a:rPr>
                <a:t>Form</a:t>
              </a:r>
              <a:r>
                <a:rPr lang="en-US" b="true" sz="3000">
                  <a:solidFill>
                    <a:srgbClr val="FFFFFF"/>
                  </a:solidFill>
                  <a:latin typeface="Arial Bold"/>
                  <a:ea typeface="Arial Bold"/>
                  <a:cs typeface="Arial Bold"/>
                  <a:sym typeface="Arial Bold"/>
                </a:rPr>
                <a:t>ulaire de demande d'audit</a:t>
              </a:r>
            </a:p>
          </p:txBody>
        </p:sp>
      </p:grpSp>
      <p:sp>
        <p:nvSpPr>
          <p:cNvPr name="TextBox 16" id="16"/>
          <p:cNvSpPr txBox="true"/>
          <p:nvPr/>
        </p:nvSpPr>
        <p:spPr>
          <a:xfrm rot="0">
            <a:off x="1051560" y="4191000"/>
            <a:ext cx="4846320" cy="1266825"/>
          </a:xfrm>
          <a:prstGeom prst="rect">
            <a:avLst/>
          </a:prstGeom>
        </p:spPr>
        <p:txBody>
          <a:bodyPr anchor="t" rtlCol="false" tIns="0" lIns="0" bIns="0" rIns="0">
            <a:spAutoFit/>
          </a:bodyPr>
          <a:lstStyle/>
          <a:p>
            <a:pPr algn="l">
              <a:lnSpc>
                <a:spcPts val="2520"/>
              </a:lnSpc>
            </a:pPr>
            <a:r>
              <a:rPr lang="en-US" sz="2100">
                <a:solidFill>
                  <a:srgbClr val="E8EEFC"/>
                </a:solidFill>
                <a:latin typeface="Arial"/>
                <a:ea typeface="Arial"/>
                <a:cs typeface="Arial"/>
                <a:sym typeface="Arial"/>
              </a:rPr>
              <a:t>Les c</a:t>
            </a:r>
            <a:r>
              <a:rPr lang="en-US" sz="2100">
                <a:solidFill>
                  <a:srgbClr val="E8EEFC"/>
                </a:solidFill>
                <a:latin typeface="Arial"/>
                <a:ea typeface="Arial"/>
                <a:cs typeface="Arial"/>
                <a:sym typeface="Arial"/>
              </a:rPr>
              <a:t>lients choisissent un pack, remplissent un formulaire, et reçoivent une confirmation par email instantanée via EmailJS.</a:t>
            </a:r>
          </a:p>
        </p:txBody>
      </p:sp>
      <p:grpSp>
        <p:nvGrpSpPr>
          <p:cNvPr name="Group 17" id="17"/>
          <p:cNvGrpSpPr/>
          <p:nvPr/>
        </p:nvGrpSpPr>
        <p:grpSpPr>
          <a:xfrm rot="0">
            <a:off x="6436995" y="2550795"/>
            <a:ext cx="5414010" cy="3402330"/>
            <a:chOff x="0" y="0"/>
            <a:chExt cx="7218680" cy="4536440"/>
          </a:xfrm>
        </p:grpSpPr>
        <p:sp>
          <p:nvSpPr>
            <p:cNvPr name="Freeform 18" id="18"/>
            <p:cNvSpPr/>
            <p:nvPr/>
          </p:nvSpPr>
          <p:spPr>
            <a:xfrm flipH="false" flipV="false" rot="0">
              <a:off x="0" y="0"/>
              <a:ext cx="7218680" cy="4536440"/>
            </a:xfrm>
            <a:custGeom>
              <a:avLst/>
              <a:gdLst/>
              <a:ahLst/>
              <a:cxnLst/>
              <a:rect r="r" b="b" t="t" l="l"/>
              <a:pathLst>
                <a:path h="4536440" w="7218680">
                  <a:moveTo>
                    <a:pt x="0" y="196215"/>
                  </a:moveTo>
                  <a:cubicBezTo>
                    <a:pt x="0" y="87884"/>
                    <a:pt x="87884" y="0"/>
                    <a:pt x="196215" y="0"/>
                  </a:cubicBezTo>
                  <a:lnTo>
                    <a:pt x="7022465" y="0"/>
                  </a:lnTo>
                  <a:cubicBezTo>
                    <a:pt x="7130797" y="0"/>
                    <a:pt x="7218680" y="87884"/>
                    <a:pt x="7218680" y="196215"/>
                  </a:cubicBezTo>
                  <a:lnTo>
                    <a:pt x="7218680" y="4340225"/>
                  </a:lnTo>
                  <a:cubicBezTo>
                    <a:pt x="7218680" y="4448556"/>
                    <a:pt x="7130797" y="4536440"/>
                    <a:pt x="7022465" y="4536440"/>
                  </a:cubicBezTo>
                  <a:lnTo>
                    <a:pt x="196215" y="4536440"/>
                  </a:lnTo>
                  <a:cubicBezTo>
                    <a:pt x="87884" y="4536440"/>
                    <a:pt x="0" y="4448556"/>
                    <a:pt x="0" y="4340225"/>
                  </a:cubicBezTo>
                  <a:close/>
                </a:path>
              </a:pathLst>
            </a:custGeom>
            <a:solidFill>
              <a:srgbClr val="2E3D7C"/>
            </a:solidFill>
            <a:ln w="19050" cap="sq">
              <a:solidFill>
                <a:srgbClr val="00C2D7"/>
              </a:solidFill>
              <a:prstDash val="solid"/>
              <a:miter/>
            </a:ln>
          </p:spPr>
        </p:sp>
      </p:grpSp>
      <p:grpSp>
        <p:nvGrpSpPr>
          <p:cNvPr name="Group 19" id="19"/>
          <p:cNvGrpSpPr/>
          <p:nvPr/>
        </p:nvGrpSpPr>
        <p:grpSpPr>
          <a:xfrm rot="0">
            <a:off x="6720840" y="2834640"/>
            <a:ext cx="1463040" cy="640080"/>
            <a:chOff x="0" y="0"/>
            <a:chExt cx="1950720" cy="853440"/>
          </a:xfrm>
        </p:grpSpPr>
        <p:sp>
          <p:nvSpPr>
            <p:cNvPr name="Freeform 20" id="20"/>
            <p:cNvSpPr/>
            <p:nvPr/>
          </p:nvSpPr>
          <p:spPr>
            <a:xfrm flipH="false" flipV="false" rot="0">
              <a:off x="0" y="0"/>
              <a:ext cx="1950720" cy="853440"/>
            </a:xfrm>
            <a:custGeom>
              <a:avLst/>
              <a:gdLst/>
              <a:ahLst/>
              <a:cxnLst/>
              <a:rect r="r" b="b" t="t" l="l"/>
              <a:pathLst>
                <a:path h="853440" w="1950720">
                  <a:moveTo>
                    <a:pt x="0" y="0"/>
                  </a:moveTo>
                  <a:lnTo>
                    <a:pt x="1950720" y="0"/>
                  </a:lnTo>
                  <a:lnTo>
                    <a:pt x="1950720" y="853440"/>
                  </a:lnTo>
                  <a:lnTo>
                    <a:pt x="0" y="853440"/>
                  </a:lnTo>
                  <a:close/>
                </a:path>
              </a:pathLst>
            </a:custGeom>
            <a:blipFill>
              <a:blip r:embed="rId3">
                <a:alphaModFix amt="0"/>
              </a:blip>
              <a:stretch>
                <a:fillRect l="-6132" t="0" r="-6132" b="0"/>
              </a:stretch>
            </a:blipFill>
          </p:spPr>
        </p:sp>
        <p:sp>
          <p:nvSpPr>
            <p:cNvPr name="TextBox 21" id="21"/>
            <p:cNvSpPr txBox="true"/>
            <p:nvPr/>
          </p:nvSpPr>
          <p:spPr>
            <a:xfrm>
              <a:off x="0" y="-19050"/>
              <a:ext cx="1950720" cy="872490"/>
            </a:xfrm>
            <a:prstGeom prst="rect">
              <a:avLst/>
            </a:prstGeom>
          </p:spPr>
          <p:txBody>
            <a:bodyPr anchor="ctr" rtlCol="false" tIns="0" lIns="0" bIns="0" rIns="0"/>
            <a:lstStyle/>
            <a:p>
              <a:pPr algn="l">
                <a:lnSpc>
                  <a:spcPts val="3359"/>
                </a:lnSpc>
              </a:pPr>
              <a:r>
                <a:rPr lang="en-US" b="true" sz="2799">
                  <a:solidFill>
                    <a:srgbClr val="00C2D7"/>
                  </a:solidFill>
                  <a:latin typeface="Arial Bold"/>
                  <a:ea typeface="Arial Bold"/>
                  <a:cs typeface="Arial Bold"/>
                  <a:sym typeface="Arial Bold"/>
                </a:rPr>
                <a:t>02</a:t>
              </a:r>
            </a:p>
          </p:txBody>
        </p:sp>
      </p:grpSp>
      <p:grpSp>
        <p:nvGrpSpPr>
          <p:cNvPr name="Group 22" id="22"/>
          <p:cNvGrpSpPr/>
          <p:nvPr/>
        </p:nvGrpSpPr>
        <p:grpSpPr>
          <a:xfrm rot="0">
            <a:off x="7259955" y="2834640"/>
            <a:ext cx="4591050" cy="1079041"/>
            <a:chOff x="0" y="0"/>
            <a:chExt cx="6121400" cy="1438721"/>
          </a:xfrm>
        </p:grpSpPr>
        <p:sp>
          <p:nvSpPr>
            <p:cNvPr name="Freeform 23" id="23"/>
            <p:cNvSpPr/>
            <p:nvPr/>
          </p:nvSpPr>
          <p:spPr>
            <a:xfrm flipH="false" flipV="false" rot="0">
              <a:off x="0" y="0"/>
              <a:ext cx="6121400" cy="1438721"/>
            </a:xfrm>
            <a:custGeom>
              <a:avLst/>
              <a:gdLst/>
              <a:ahLst/>
              <a:cxnLst/>
              <a:rect r="r" b="b" t="t" l="l"/>
              <a:pathLst>
                <a:path h="1438721" w="6121400">
                  <a:moveTo>
                    <a:pt x="0" y="0"/>
                  </a:moveTo>
                  <a:lnTo>
                    <a:pt x="6121400" y="0"/>
                  </a:lnTo>
                  <a:lnTo>
                    <a:pt x="6121400" y="1438721"/>
                  </a:lnTo>
                  <a:lnTo>
                    <a:pt x="0" y="1438721"/>
                  </a:lnTo>
                  <a:close/>
                </a:path>
              </a:pathLst>
            </a:custGeom>
            <a:blipFill>
              <a:blip r:embed="rId3">
                <a:alphaModFix amt="0"/>
              </a:blip>
              <a:stretch>
                <a:fillRect l="0" t="-49379" r="-5560" b="-25647"/>
              </a:stretch>
            </a:blipFill>
          </p:spPr>
        </p:sp>
        <p:sp>
          <p:nvSpPr>
            <p:cNvPr name="TextBox 24" id="24"/>
            <p:cNvSpPr txBox="true"/>
            <p:nvPr/>
          </p:nvSpPr>
          <p:spPr>
            <a:xfrm>
              <a:off x="0" y="-19050"/>
              <a:ext cx="6121400" cy="1457771"/>
            </a:xfrm>
            <a:prstGeom prst="rect">
              <a:avLst/>
            </a:prstGeom>
          </p:spPr>
          <p:txBody>
            <a:bodyPr anchor="ctr" rtlCol="false" tIns="0" lIns="0" bIns="0" rIns="0"/>
            <a:lstStyle/>
            <a:p>
              <a:pPr algn="l">
                <a:lnSpc>
                  <a:spcPts val="3600"/>
                </a:lnSpc>
              </a:pPr>
              <a:r>
                <a:rPr lang="en-US" b="true" sz="3000">
                  <a:solidFill>
                    <a:srgbClr val="FFFFFF"/>
                  </a:solidFill>
                  <a:latin typeface="Arial Bold"/>
                  <a:ea typeface="Arial Bold"/>
                  <a:cs typeface="Arial Bold"/>
                  <a:sym typeface="Arial Bold"/>
                </a:rPr>
                <a:t>T</a:t>
              </a:r>
              <a:r>
                <a:rPr lang="en-US" b="true" sz="3000">
                  <a:solidFill>
                    <a:srgbClr val="FFFFFF"/>
                  </a:solidFill>
                  <a:latin typeface="Arial Bold"/>
                  <a:ea typeface="Arial Bold"/>
                  <a:cs typeface="Arial Bold"/>
                  <a:sym typeface="Arial Bold"/>
                </a:rPr>
                <a:t>ableau de bord en temps réel</a:t>
              </a:r>
            </a:p>
          </p:txBody>
        </p:sp>
      </p:grpSp>
      <p:sp>
        <p:nvSpPr>
          <p:cNvPr name="TextBox 25" id="25"/>
          <p:cNvSpPr txBox="true"/>
          <p:nvPr/>
        </p:nvSpPr>
        <p:spPr>
          <a:xfrm rot="0">
            <a:off x="6931342" y="4191000"/>
            <a:ext cx="4846320" cy="638175"/>
          </a:xfrm>
          <a:prstGeom prst="rect">
            <a:avLst/>
          </a:prstGeom>
        </p:spPr>
        <p:txBody>
          <a:bodyPr anchor="t" rtlCol="false" tIns="0" lIns="0" bIns="0" rIns="0">
            <a:spAutoFit/>
          </a:bodyPr>
          <a:lstStyle/>
          <a:p>
            <a:pPr algn="l">
              <a:lnSpc>
                <a:spcPts val="2520"/>
              </a:lnSpc>
            </a:pPr>
            <a:r>
              <a:rPr lang="en-US" sz="2100">
                <a:solidFill>
                  <a:srgbClr val="E8EEFC"/>
                </a:solidFill>
                <a:latin typeface="Arial"/>
                <a:ea typeface="Arial"/>
                <a:cs typeface="Arial"/>
                <a:sym typeface="Arial"/>
              </a:rPr>
              <a:t>Sui</a:t>
            </a:r>
            <a:r>
              <a:rPr lang="en-US" sz="2100">
                <a:solidFill>
                  <a:srgbClr val="E8EEFC"/>
                </a:solidFill>
                <a:latin typeface="Arial"/>
                <a:ea typeface="Arial"/>
                <a:cs typeface="Arial"/>
                <a:sym typeface="Arial"/>
              </a:rPr>
              <a:t>vez chaque demande : En attente, En cours, Terminée, Archivées.</a:t>
            </a:r>
          </a:p>
        </p:txBody>
      </p:sp>
      <p:grpSp>
        <p:nvGrpSpPr>
          <p:cNvPr name="Group 26" id="26"/>
          <p:cNvGrpSpPr/>
          <p:nvPr/>
        </p:nvGrpSpPr>
        <p:grpSpPr>
          <a:xfrm rot="0">
            <a:off x="12106275" y="2550795"/>
            <a:ext cx="5414010" cy="3402330"/>
            <a:chOff x="0" y="0"/>
            <a:chExt cx="7218680" cy="4536440"/>
          </a:xfrm>
        </p:grpSpPr>
        <p:sp>
          <p:nvSpPr>
            <p:cNvPr name="Freeform 27" id="27"/>
            <p:cNvSpPr/>
            <p:nvPr/>
          </p:nvSpPr>
          <p:spPr>
            <a:xfrm flipH="false" flipV="false" rot="0">
              <a:off x="0" y="0"/>
              <a:ext cx="7218680" cy="4536440"/>
            </a:xfrm>
            <a:custGeom>
              <a:avLst/>
              <a:gdLst/>
              <a:ahLst/>
              <a:cxnLst/>
              <a:rect r="r" b="b" t="t" l="l"/>
              <a:pathLst>
                <a:path h="4536440" w="7218680">
                  <a:moveTo>
                    <a:pt x="0" y="196215"/>
                  </a:moveTo>
                  <a:cubicBezTo>
                    <a:pt x="0" y="87884"/>
                    <a:pt x="87884" y="0"/>
                    <a:pt x="196215" y="0"/>
                  </a:cubicBezTo>
                  <a:lnTo>
                    <a:pt x="7022465" y="0"/>
                  </a:lnTo>
                  <a:cubicBezTo>
                    <a:pt x="7130797" y="0"/>
                    <a:pt x="7218680" y="87884"/>
                    <a:pt x="7218680" y="196215"/>
                  </a:cubicBezTo>
                  <a:lnTo>
                    <a:pt x="7218680" y="4340225"/>
                  </a:lnTo>
                  <a:cubicBezTo>
                    <a:pt x="7218680" y="4448556"/>
                    <a:pt x="7130797" y="4536440"/>
                    <a:pt x="7022465" y="4536440"/>
                  </a:cubicBezTo>
                  <a:lnTo>
                    <a:pt x="196215" y="4536440"/>
                  </a:lnTo>
                  <a:cubicBezTo>
                    <a:pt x="87884" y="4536440"/>
                    <a:pt x="0" y="4448556"/>
                    <a:pt x="0" y="4340225"/>
                  </a:cubicBezTo>
                  <a:close/>
                </a:path>
              </a:pathLst>
            </a:custGeom>
            <a:solidFill>
              <a:srgbClr val="2E3D7C"/>
            </a:solidFill>
            <a:ln w="19050" cap="sq">
              <a:solidFill>
                <a:srgbClr val="00C2D7"/>
              </a:solidFill>
              <a:prstDash val="solid"/>
              <a:miter/>
            </a:ln>
          </p:spPr>
        </p:sp>
      </p:grpSp>
      <p:grpSp>
        <p:nvGrpSpPr>
          <p:cNvPr name="Group 28" id="28"/>
          <p:cNvGrpSpPr/>
          <p:nvPr/>
        </p:nvGrpSpPr>
        <p:grpSpPr>
          <a:xfrm rot="0">
            <a:off x="12390120" y="2834640"/>
            <a:ext cx="1463040" cy="640080"/>
            <a:chOff x="0" y="0"/>
            <a:chExt cx="1950720" cy="853440"/>
          </a:xfrm>
        </p:grpSpPr>
        <p:sp>
          <p:nvSpPr>
            <p:cNvPr name="Freeform 29" id="29"/>
            <p:cNvSpPr/>
            <p:nvPr/>
          </p:nvSpPr>
          <p:spPr>
            <a:xfrm flipH="false" flipV="false" rot="0">
              <a:off x="0" y="0"/>
              <a:ext cx="1950720" cy="853440"/>
            </a:xfrm>
            <a:custGeom>
              <a:avLst/>
              <a:gdLst/>
              <a:ahLst/>
              <a:cxnLst/>
              <a:rect r="r" b="b" t="t" l="l"/>
              <a:pathLst>
                <a:path h="853440" w="1950720">
                  <a:moveTo>
                    <a:pt x="0" y="0"/>
                  </a:moveTo>
                  <a:lnTo>
                    <a:pt x="1950720" y="0"/>
                  </a:lnTo>
                  <a:lnTo>
                    <a:pt x="1950720" y="853440"/>
                  </a:lnTo>
                  <a:lnTo>
                    <a:pt x="0" y="853440"/>
                  </a:lnTo>
                  <a:close/>
                </a:path>
              </a:pathLst>
            </a:custGeom>
            <a:blipFill>
              <a:blip r:embed="rId3">
                <a:alphaModFix amt="0"/>
              </a:blip>
              <a:stretch>
                <a:fillRect l="-6132" t="0" r="-6132" b="0"/>
              </a:stretch>
            </a:blipFill>
          </p:spPr>
        </p:sp>
        <p:sp>
          <p:nvSpPr>
            <p:cNvPr name="TextBox 30" id="30"/>
            <p:cNvSpPr txBox="true"/>
            <p:nvPr/>
          </p:nvSpPr>
          <p:spPr>
            <a:xfrm>
              <a:off x="0" y="-19050"/>
              <a:ext cx="1950720" cy="872490"/>
            </a:xfrm>
            <a:prstGeom prst="rect">
              <a:avLst/>
            </a:prstGeom>
          </p:spPr>
          <p:txBody>
            <a:bodyPr anchor="ctr" rtlCol="false" tIns="0" lIns="0" bIns="0" rIns="0"/>
            <a:lstStyle/>
            <a:p>
              <a:pPr algn="l">
                <a:lnSpc>
                  <a:spcPts val="3359"/>
                </a:lnSpc>
              </a:pPr>
              <a:r>
                <a:rPr lang="en-US" b="true" sz="2799">
                  <a:solidFill>
                    <a:srgbClr val="00C2D7"/>
                  </a:solidFill>
                  <a:latin typeface="Arial Bold"/>
                  <a:ea typeface="Arial Bold"/>
                  <a:cs typeface="Arial Bold"/>
                  <a:sym typeface="Arial Bold"/>
                </a:rPr>
                <a:t>03</a:t>
              </a:r>
            </a:p>
          </p:txBody>
        </p:sp>
      </p:grpSp>
      <p:grpSp>
        <p:nvGrpSpPr>
          <p:cNvPr name="Group 31" id="31"/>
          <p:cNvGrpSpPr/>
          <p:nvPr/>
        </p:nvGrpSpPr>
        <p:grpSpPr>
          <a:xfrm rot="0">
            <a:off x="12927330" y="2743200"/>
            <a:ext cx="4846320" cy="822960"/>
            <a:chOff x="0" y="0"/>
            <a:chExt cx="6461760" cy="1097280"/>
          </a:xfrm>
        </p:grpSpPr>
        <p:sp>
          <p:nvSpPr>
            <p:cNvPr name="Freeform 32" id="32"/>
            <p:cNvSpPr/>
            <p:nvPr/>
          </p:nvSpPr>
          <p:spPr>
            <a:xfrm flipH="false" flipV="false" rot="0">
              <a:off x="0" y="0"/>
              <a:ext cx="6461760" cy="1097280"/>
            </a:xfrm>
            <a:custGeom>
              <a:avLst/>
              <a:gdLst/>
              <a:ahLst/>
              <a:cxnLst/>
              <a:rect r="r" b="b" t="t" l="l"/>
              <a:pathLst>
                <a:path h="1097280" w="6461760">
                  <a:moveTo>
                    <a:pt x="0" y="0"/>
                  </a:moveTo>
                  <a:lnTo>
                    <a:pt x="6461760" y="0"/>
                  </a:lnTo>
                  <a:lnTo>
                    <a:pt x="6461760" y="1097280"/>
                  </a:lnTo>
                  <a:lnTo>
                    <a:pt x="0" y="1097280"/>
                  </a:lnTo>
                  <a:close/>
                </a:path>
              </a:pathLst>
            </a:custGeom>
            <a:blipFill>
              <a:blip r:embed="rId3">
                <a:alphaModFix amt="0"/>
              </a:blip>
              <a:stretch>
                <a:fillRect l="0" t="-64745" r="0" b="-64745"/>
              </a:stretch>
            </a:blipFill>
          </p:spPr>
        </p:sp>
        <p:sp>
          <p:nvSpPr>
            <p:cNvPr name="TextBox 33" id="33"/>
            <p:cNvSpPr txBox="true"/>
            <p:nvPr/>
          </p:nvSpPr>
          <p:spPr>
            <a:xfrm>
              <a:off x="0" y="-19050"/>
              <a:ext cx="6461760" cy="1116330"/>
            </a:xfrm>
            <a:prstGeom prst="rect">
              <a:avLst/>
            </a:prstGeom>
          </p:spPr>
          <p:txBody>
            <a:bodyPr anchor="ctr" rtlCol="false" tIns="0" lIns="0" bIns="0" rIns="0"/>
            <a:lstStyle/>
            <a:p>
              <a:pPr algn="l">
                <a:lnSpc>
                  <a:spcPts val="3600"/>
                </a:lnSpc>
              </a:pPr>
              <a:r>
                <a:rPr lang="en-US" b="true" sz="3000">
                  <a:solidFill>
                    <a:srgbClr val="FFFFFF"/>
                  </a:solidFill>
                  <a:latin typeface="Arial Bold"/>
                  <a:ea typeface="Arial Bold"/>
                  <a:cs typeface="Arial Bold"/>
                  <a:sym typeface="Arial Bold"/>
                </a:rPr>
                <a:t>Gestion </a:t>
              </a:r>
              <a:r>
                <a:rPr lang="en-US" b="true" sz="3000">
                  <a:solidFill>
                    <a:srgbClr val="FFFFFF"/>
                  </a:solidFill>
                  <a:latin typeface="Arial Bold"/>
                  <a:ea typeface="Arial Bold"/>
                  <a:cs typeface="Arial Bold"/>
                  <a:sym typeface="Arial Bold"/>
                </a:rPr>
                <a:t>Admin</a:t>
              </a:r>
            </a:p>
          </p:txBody>
        </p:sp>
      </p:grpSp>
      <p:sp>
        <p:nvSpPr>
          <p:cNvPr name="TextBox 34" id="34"/>
          <p:cNvSpPr txBox="true"/>
          <p:nvPr/>
        </p:nvSpPr>
        <p:spPr>
          <a:xfrm rot="0">
            <a:off x="12527280" y="4191000"/>
            <a:ext cx="4846320" cy="952500"/>
          </a:xfrm>
          <a:prstGeom prst="rect">
            <a:avLst/>
          </a:prstGeom>
        </p:spPr>
        <p:txBody>
          <a:bodyPr anchor="t" rtlCol="false" tIns="0" lIns="0" bIns="0" rIns="0">
            <a:spAutoFit/>
          </a:bodyPr>
          <a:lstStyle/>
          <a:p>
            <a:pPr algn="l">
              <a:lnSpc>
                <a:spcPts val="2520"/>
              </a:lnSpc>
            </a:pPr>
            <a:r>
              <a:rPr lang="en-US" sz="2100">
                <a:solidFill>
                  <a:srgbClr val="E8EEFC"/>
                </a:solidFill>
                <a:latin typeface="Arial"/>
                <a:ea typeface="Arial"/>
                <a:cs typeface="Arial"/>
                <a:sym typeface="Arial"/>
              </a:rPr>
              <a:t>Les o</a:t>
            </a:r>
            <a:r>
              <a:rPr lang="en-US" sz="2100">
                <a:solidFill>
                  <a:srgbClr val="E8EEFC"/>
                </a:solidFill>
                <a:latin typeface="Arial"/>
                <a:ea typeface="Arial"/>
                <a:cs typeface="Arial"/>
                <a:sym typeface="Arial"/>
              </a:rPr>
              <a:t>pérateurs gèrent toutes les demandes, mettent à jour le statut, assignent des membres de l'équipe.</a:t>
            </a:r>
          </a:p>
        </p:txBody>
      </p:sp>
      <p:grpSp>
        <p:nvGrpSpPr>
          <p:cNvPr name="Group 35" id="35"/>
          <p:cNvGrpSpPr/>
          <p:nvPr/>
        </p:nvGrpSpPr>
        <p:grpSpPr>
          <a:xfrm rot="0">
            <a:off x="767715" y="6299835"/>
            <a:ext cx="5414010" cy="3402330"/>
            <a:chOff x="0" y="0"/>
            <a:chExt cx="7218680" cy="4536440"/>
          </a:xfrm>
        </p:grpSpPr>
        <p:sp>
          <p:nvSpPr>
            <p:cNvPr name="Freeform 36" id="36"/>
            <p:cNvSpPr/>
            <p:nvPr/>
          </p:nvSpPr>
          <p:spPr>
            <a:xfrm flipH="false" flipV="false" rot="0">
              <a:off x="0" y="0"/>
              <a:ext cx="7218680" cy="4536440"/>
            </a:xfrm>
            <a:custGeom>
              <a:avLst/>
              <a:gdLst/>
              <a:ahLst/>
              <a:cxnLst/>
              <a:rect r="r" b="b" t="t" l="l"/>
              <a:pathLst>
                <a:path h="4536440" w="7218680">
                  <a:moveTo>
                    <a:pt x="0" y="196215"/>
                  </a:moveTo>
                  <a:cubicBezTo>
                    <a:pt x="0" y="87884"/>
                    <a:pt x="87884" y="0"/>
                    <a:pt x="196215" y="0"/>
                  </a:cubicBezTo>
                  <a:lnTo>
                    <a:pt x="7022465" y="0"/>
                  </a:lnTo>
                  <a:cubicBezTo>
                    <a:pt x="7130797" y="0"/>
                    <a:pt x="7218680" y="87884"/>
                    <a:pt x="7218680" y="196215"/>
                  </a:cubicBezTo>
                  <a:lnTo>
                    <a:pt x="7218680" y="4340225"/>
                  </a:lnTo>
                  <a:cubicBezTo>
                    <a:pt x="7218680" y="4448556"/>
                    <a:pt x="7130797" y="4536440"/>
                    <a:pt x="7022465" y="4536440"/>
                  </a:cubicBezTo>
                  <a:lnTo>
                    <a:pt x="196215" y="4536440"/>
                  </a:lnTo>
                  <a:cubicBezTo>
                    <a:pt x="87884" y="4536440"/>
                    <a:pt x="0" y="4448556"/>
                    <a:pt x="0" y="4340225"/>
                  </a:cubicBezTo>
                  <a:close/>
                </a:path>
              </a:pathLst>
            </a:custGeom>
            <a:solidFill>
              <a:srgbClr val="2E3D7C"/>
            </a:solidFill>
            <a:ln w="19050" cap="sq">
              <a:solidFill>
                <a:srgbClr val="00C2D7"/>
              </a:solidFill>
              <a:prstDash val="solid"/>
              <a:miter/>
            </a:ln>
          </p:spPr>
        </p:sp>
      </p:grpSp>
      <p:grpSp>
        <p:nvGrpSpPr>
          <p:cNvPr name="Group 37" id="37"/>
          <p:cNvGrpSpPr/>
          <p:nvPr/>
        </p:nvGrpSpPr>
        <p:grpSpPr>
          <a:xfrm rot="0">
            <a:off x="1051560" y="6583680"/>
            <a:ext cx="1463040" cy="640080"/>
            <a:chOff x="0" y="0"/>
            <a:chExt cx="1950720" cy="853440"/>
          </a:xfrm>
        </p:grpSpPr>
        <p:sp>
          <p:nvSpPr>
            <p:cNvPr name="Freeform 38" id="38"/>
            <p:cNvSpPr/>
            <p:nvPr/>
          </p:nvSpPr>
          <p:spPr>
            <a:xfrm flipH="false" flipV="false" rot="0">
              <a:off x="0" y="0"/>
              <a:ext cx="1950720" cy="853440"/>
            </a:xfrm>
            <a:custGeom>
              <a:avLst/>
              <a:gdLst/>
              <a:ahLst/>
              <a:cxnLst/>
              <a:rect r="r" b="b" t="t" l="l"/>
              <a:pathLst>
                <a:path h="853440" w="1950720">
                  <a:moveTo>
                    <a:pt x="0" y="0"/>
                  </a:moveTo>
                  <a:lnTo>
                    <a:pt x="1950720" y="0"/>
                  </a:lnTo>
                  <a:lnTo>
                    <a:pt x="1950720" y="853440"/>
                  </a:lnTo>
                  <a:lnTo>
                    <a:pt x="0" y="853440"/>
                  </a:lnTo>
                  <a:close/>
                </a:path>
              </a:pathLst>
            </a:custGeom>
            <a:blipFill>
              <a:blip r:embed="rId3">
                <a:alphaModFix amt="0"/>
              </a:blip>
              <a:stretch>
                <a:fillRect l="-6132" t="0" r="-6132" b="0"/>
              </a:stretch>
            </a:blipFill>
          </p:spPr>
        </p:sp>
        <p:sp>
          <p:nvSpPr>
            <p:cNvPr name="TextBox 39" id="39"/>
            <p:cNvSpPr txBox="true"/>
            <p:nvPr/>
          </p:nvSpPr>
          <p:spPr>
            <a:xfrm>
              <a:off x="0" y="-19050"/>
              <a:ext cx="1950720" cy="872490"/>
            </a:xfrm>
            <a:prstGeom prst="rect">
              <a:avLst/>
            </a:prstGeom>
          </p:spPr>
          <p:txBody>
            <a:bodyPr anchor="ctr" rtlCol="false" tIns="0" lIns="0" bIns="0" rIns="0"/>
            <a:lstStyle/>
            <a:p>
              <a:pPr algn="l">
                <a:lnSpc>
                  <a:spcPts val="3359"/>
                </a:lnSpc>
              </a:pPr>
              <a:r>
                <a:rPr lang="en-US" b="true" sz="2799">
                  <a:solidFill>
                    <a:srgbClr val="00C2D7"/>
                  </a:solidFill>
                  <a:latin typeface="Arial Bold"/>
                  <a:ea typeface="Arial Bold"/>
                  <a:cs typeface="Arial Bold"/>
                  <a:sym typeface="Arial Bold"/>
                </a:rPr>
                <a:t>04</a:t>
              </a:r>
            </a:p>
          </p:txBody>
        </p:sp>
      </p:grpSp>
      <p:grpSp>
        <p:nvGrpSpPr>
          <p:cNvPr name="Group 40" id="40"/>
          <p:cNvGrpSpPr/>
          <p:nvPr/>
        </p:nvGrpSpPr>
        <p:grpSpPr>
          <a:xfrm rot="0">
            <a:off x="1590675" y="6492240"/>
            <a:ext cx="4846320" cy="822960"/>
            <a:chOff x="0" y="0"/>
            <a:chExt cx="6461760" cy="1097280"/>
          </a:xfrm>
        </p:grpSpPr>
        <p:sp>
          <p:nvSpPr>
            <p:cNvPr name="Freeform 41" id="41"/>
            <p:cNvSpPr/>
            <p:nvPr/>
          </p:nvSpPr>
          <p:spPr>
            <a:xfrm flipH="false" flipV="false" rot="0">
              <a:off x="0" y="0"/>
              <a:ext cx="6461760" cy="1097280"/>
            </a:xfrm>
            <a:custGeom>
              <a:avLst/>
              <a:gdLst/>
              <a:ahLst/>
              <a:cxnLst/>
              <a:rect r="r" b="b" t="t" l="l"/>
              <a:pathLst>
                <a:path h="1097280" w="6461760">
                  <a:moveTo>
                    <a:pt x="0" y="0"/>
                  </a:moveTo>
                  <a:lnTo>
                    <a:pt x="6461760" y="0"/>
                  </a:lnTo>
                  <a:lnTo>
                    <a:pt x="6461760" y="1097280"/>
                  </a:lnTo>
                  <a:lnTo>
                    <a:pt x="0" y="1097280"/>
                  </a:lnTo>
                  <a:close/>
                </a:path>
              </a:pathLst>
            </a:custGeom>
            <a:blipFill>
              <a:blip r:embed="rId3">
                <a:alphaModFix amt="0"/>
              </a:blip>
              <a:stretch>
                <a:fillRect l="0" t="-64745" r="0" b="-64745"/>
              </a:stretch>
            </a:blipFill>
          </p:spPr>
        </p:sp>
        <p:sp>
          <p:nvSpPr>
            <p:cNvPr name="TextBox 42" id="42"/>
            <p:cNvSpPr txBox="true"/>
            <p:nvPr/>
          </p:nvSpPr>
          <p:spPr>
            <a:xfrm>
              <a:off x="0" y="-19050"/>
              <a:ext cx="6461760" cy="1116330"/>
            </a:xfrm>
            <a:prstGeom prst="rect">
              <a:avLst/>
            </a:prstGeom>
          </p:spPr>
          <p:txBody>
            <a:bodyPr anchor="ctr" rtlCol="false" tIns="0" lIns="0" bIns="0" rIns="0"/>
            <a:lstStyle/>
            <a:p>
              <a:pPr algn="l">
                <a:lnSpc>
                  <a:spcPts val="3600"/>
                </a:lnSpc>
              </a:pPr>
              <a:r>
                <a:rPr lang="en-US" b="true" sz="3000">
                  <a:solidFill>
                    <a:srgbClr val="FFFFFF"/>
                  </a:solidFill>
                  <a:latin typeface="Arial Bold"/>
                  <a:ea typeface="Arial Bold"/>
                  <a:cs typeface="Arial Bold"/>
                  <a:sym typeface="Arial Bold"/>
                </a:rPr>
                <a:t>Rapports PDF</a:t>
              </a:r>
            </a:p>
          </p:txBody>
        </p:sp>
      </p:grpSp>
      <p:sp>
        <p:nvSpPr>
          <p:cNvPr name="TextBox 43" id="43"/>
          <p:cNvSpPr txBox="true"/>
          <p:nvPr/>
        </p:nvSpPr>
        <p:spPr>
          <a:xfrm rot="0">
            <a:off x="1051560" y="7658100"/>
            <a:ext cx="4846320" cy="952500"/>
          </a:xfrm>
          <a:prstGeom prst="rect">
            <a:avLst/>
          </a:prstGeom>
        </p:spPr>
        <p:txBody>
          <a:bodyPr anchor="t" rtlCol="false" tIns="0" lIns="0" bIns="0" rIns="0">
            <a:spAutoFit/>
          </a:bodyPr>
          <a:lstStyle/>
          <a:p>
            <a:pPr algn="l">
              <a:lnSpc>
                <a:spcPts val="2520"/>
              </a:lnSpc>
            </a:pPr>
            <a:r>
              <a:rPr lang="en-US" sz="2100">
                <a:solidFill>
                  <a:srgbClr val="E8EEFC"/>
                </a:solidFill>
                <a:latin typeface="Arial"/>
                <a:ea typeface="Arial"/>
                <a:cs typeface="Arial"/>
                <a:sym typeface="Arial"/>
              </a:rPr>
              <a:t>Rapp</a:t>
            </a:r>
            <a:r>
              <a:rPr lang="en-US" sz="2100">
                <a:solidFill>
                  <a:srgbClr val="E8EEFC"/>
                </a:solidFill>
                <a:latin typeface="Arial"/>
                <a:ea typeface="Arial"/>
                <a:cs typeface="Arial"/>
                <a:sym typeface="Arial"/>
              </a:rPr>
              <a:t>orts de vulnérabilité générés automatiquement via WeasyPrint + tâches asynchrones Celery.</a:t>
            </a:r>
          </a:p>
        </p:txBody>
      </p:sp>
      <p:grpSp>
        <p:nvGrpSpPr>
          <p:cNvPr name="Group 44" id="44"/>
          <p:cNvGrpSpPr/>
          <p:nvPr/>
        </p:nvGrpSpPr>
        <p:grpSpPr>
          <a:xfrm rot="0">
            <a:off x="6436995" y="6299835"/>
            <a:ext cx="5414010" cy="3402330"/>
            <a:chOff x="0" y="0"/>
            <a:chExt cx="7218680" cy="4536440"/>
          </a:xfrm>
        </p:grpSpPr>
        <p:sp>
          <p:nvSpPr>
            <p:cNvPr name="Freeform 45" id="45"/>
            <p:cNvSpPr/>
            <p:nvPr/>
          </p:nvSpPr>
          <p:spPr>
            <a:xfrm flipH="false" flipV="false" rot="0">
              <a:off x="0" y="0"/>
              <a:ext cx="7218680" cy="4536440"/>
            </a:xfrm>
            <a:custGeom>
              <a:avLst/>
              <a:gdLst/>
              <a:ahLst/>
              <a:cxnLst/>
              <a:rect r="r" b="b" t="t" l="l"/>
              <a:pathLst>
                <a:path h="4536440" w="7218680">
                  <a:moveTo>
                    <a:pt x="0" y="196215"/>
                  </a:moveTo>
                  <a:cubicBezTo>
                    <a:pt x="0" y="87884"/>
                    <a:pt x="87884" y="0"/>
                    <a:pt x="196215" y="0"/>
                  </a:cubicBezTo>
                  <a:lnTo>
                    <a:pt x="7022465" y="0"/>
                  </a:lnTo>
                  <a:cubicBezTo>
                    <a:pt x="7130797" y="0"/>
                    <a:pt x="7218680" y="87884"/>
                    <a:pt x="7218680" y="196215"/>
                  </a:cubicBezTo>
                  <a:lnTo>
                    <a:pt x="7218680" y="4340225"/>
                  </a:lnTo>
                  <a:cubicBezTo>
                    <a:pt x="7218680" y="4448556"/>
                    <a:pt x="7130797" y="4536440"/>
                    <a:pt x="7022465" y="4536440"/>
                  </a:cubicBezTo>
                  <a:lnTo>
                    <a:pt x="196215" y="4536440"/>
                  </a:lnTo>
                  <a:cubicBezTo>
                    <a:pt x="87884" y="4536440"/>
                    <a:pt x="0" y="4448556"/>
                    <a:pt x="0" y="4340225"/>
                  </a:cubicBezTo>
                  <a:close/>
                </a:path>
              </a:pathLst>
            </a:custGeom>
            <a:solidFill>
              <a:srgbClr val="2E3D7C"/>
            </a:solidFill>
            <a:ln w="19050" cap="sq">
              <a:solidFill>
                <a:srgbClr val="00C2D7"/>
              </a:solidFill>
              <a:prstDash val="solid"/>
              <a:miter/>
            </a:ln>
          </p:spPr>
        </p:sp>
      </p:grpSp>
      <p:grpSp>
        <p:nvGrpSpPr>
          <p:cNvPr name="Group 46" id="46"/>
          <p:cNvGrpSpPr/>
          <p:nvPr/>
        </p:nvGrpSpPr>
        <p:grpSpPr>
          <a:xfrm rot="0">
            <a:off x="6720840" y="6583680"/>
            <a:ext cx="1463040" cy="640080"/>
            <a:chOff x="0" y="0"/>
            <a:chExt cx="1950720" cy="853440"/>
          </a:xfrm>
        </p:grpSpPr>
        <p:sp>
          <p:nvSpPr>
            <p:cNvPr name="Freeform 47" id="47"/>
            <p:cNvSpPr/>
            <p:nvPr/>
          </p:nvSpPr>
          <p:spPr>
            <a:xfrm flipH="false" flipV="false" rot="0">
              <a:off x="0" y="0"/>
              <a:ext cx="1950720" cy="853440"/>
            </a:xfrm>
            <a:custGeom>
              <a:avLst/>
              <a:gdLst/>
              <a:ahLst/>
              <a:cxnLst/>
              <a:rect r="r" b="b" t="t" l="l"/>
              <a:pathLst>
                <a:path h="853440" w="1950720">
                  <a:moveTo>
                    <a:pt x="0" y="0"/>
                  </a:moveTo>
                  <a:lnTo>
                    <a:pt x="1950720" y="0"/>
                  </a:lnTo>
                  <a:lnTo>
                    <a:pt x="1950720" y="853440"/>
                  </a:lnTo>
                  <a:lnTo>
                    <a:pt x="0" y="853440"/>
                  </a:lnTo>
                  <a:close/>
                </a:path>
              </a:pathLst>
            </a:custGeom>
            <a:blipFill>
              <a:blip r:embed="rId3">
                <a:alphaModFix amt="0"/>
              </a:blip>
              <a:stretch>
                <a:fillRect l="-6132" t="0" r="-6132" b="0"/>
              </a:stretch>
            </a:blipFill>
          </p:spPr>
        </p:sp>
        <p:sp>
          <p:nvSpPr>
            <p:cNvPr name="TextBox 48" id="48"/>
            <p:cNvSpPr txBox="true"/>
            <p:nvPr/>
          </p:nvSpPr>
          <p:spPr>
            <a:xfrm>
              <a:off x="0" y="-19050"/>
              <a:ext cx="1950720" cy="872490"/>
            </a:xfrm>
            <a:prstGeom prst="rect">
              <a:avLst/>
            </a:prstGeom>
          </p:spPr>
          <p:txBody>
            <a:bodyPr anchor="ctr" rtlCol="false" tIns="0" lIns="0" bIns="0" rIns="0"/>
            <a:lstStyle/>
            <a:p>
              <a:pPr algn="l">
                <a:lnSpc>
                  <a:spcPts val="3359"/>
                </a:lnSpc>
              </a:pPr>
              <a:r>
                <a:rPr lang="en-US" b="true" sz="2799">
                  <a:solidFill>
                    <a:srgbClr val="00C2D7"/>
                  </a:solidFill>
                  <a:latin typeface="Arial Bold"/>
                  <a:ea typeface="Arial Bold"/>
                  <a:cs typeface="Arial Bold"/>
                  <a:sym typeface="Arial Bold"/>
                </a:rPr>
                <a:t>05</a:t>
              </a:r>
            </a:p>
          </p:txBody>
        </p:sp>
      </p:grpSp>
      <p:grpSp>
        <p:nvGrpSpPr>
          <p:cNvPr name="Group 49" id="49"/>
          <p:cNvGrpSpPr/>
          <p:nvPr/>
        </p:nvGrpSpPr>
        <p:grpSpPr>
          <a:xfrm rot="0">
            <a:off x="7259955" y="6492240"/>
            <a:ext cx="4846320" cy="822960"/>
            <a:chOff x="0" y="0"/>
            <a:chExt cx="6461760" cy="1097280"/>
          </a:xfrm>
        </p:grpSpPr>
        <p:sp>
          <p:nvSpPr>
            <p:cNvPr name="Freeform 50" id="50"/>
            <p:cNvSpPr/>
            <p:nvPr/>
          </p:nvSpPr>
          <p:spPr>
            <a:xfrm flipH="false" flipV="false" rot="0">
              <a:off x="0" y="0"/>
              <a:ext cx="6461760" cy="1097280"/>
            </a:xfrm>
            <a:custGeom>
              <a:avLst/>
              <a:gdLst/>
              <a:ahLst/>
              <a:cxnLst/>
              <a:rect r="r" b="b" t="t" l="l"/>
              <a:pathLst>
                <a:path h="1097280" w="6461760">
                  <a:moveTo>
                    <a:pt x="0" y="0"/>
                  </a:moveTo>
                  <a:lnTo>
                    <a:pt x="6461760" y="0"/>
                  </a:lnTo>
                  <a:lnTo>
                    <a:pt x="6461760" y="1097280"/>
                  </a:lnTo>
                  <a:lnTo>
                    <a:pt x="0" y="1097280"/>
                  </a:lnTo>
                  <a:close/>
                </a:path>
              </a:pathLst>
            </a:custGeom>
            <a:blipFill>
              <a:blip r:embed="rId3">
                <a:alphaModFix amt="0"/>
              </a:blip>
              <a:stretch>
                <a:fillRect l="0" t="-64745" r="0" b="-64745"/>
              </a:stretch>
            </a:blipFill>
          </p:spPr>
        </p:sp>
        <p:sp>
          <p:nvSpPr>
            <p:cNvPr name="TextBox 51" id="51"/>
            <p:cNvSpPr txBox="true"/>
            <p:nvPr/>
          </p:nvSpPr>
          <p:spPr>
            <a:xfrm>
              <a:off x="0" y="-19050"/>
              <a:ext cx="6461760" cy="1116330"/>
            </a:xfrm>
            <a:prstGeom prst="rect">
              <a:avLst/>
            </a:prstGeom>
          </p:spPr>
          <p:txBody>
            <a:bodyPr anchor="ctr" rtlCol="false" tIns="0" lIns="0" bIns="0" rIns="0"/>
            <a:lstStyle/>
            <a:p>
              <a:pPr algn="l">
                <a:lnSpc>
                  <a:spcPts val="3600"/>
                </a:lnSpc>
              </a:pPr>
              <a:r>
                <a:rPr lang="en-US" b="true" sz="3000">
                  <a:solidFill>
                    <a:srgbClr val="FFFFFF"/>
                  </a:solidFill>
                  <a:latin typeface="Arial Bold"/>
                  <a:ea typeface="Arial Bold"/>
                  <a:cs typeface="Arial Bold"/>
                  <a:sym typeface="Arial Bold"/>
                </a:rPr>
                <a:t>Modules de formation</a:t>
              </a:r>
            </a:p>
          </p:txBody>
        </p:sp>
      </p:grpSp>
      <p:sp>
        <p:nvSpPr>
          <p:cNvPr name="TextBox 52" id="52"/>
          <p:cNvSpPr txBox="true"/>
          <p:nvPr/>
        </p:nvSpPr>
        <p:spPr>
          <a:xfrm rot="0">
            <a:off x="6720840" y="7658100"/>
            <a:ext cx="4846320" cy="952500"/>
          </a:xfrm>
          <a:prstGeom prst="rect">
            <a:avLst/>
          </a:prstGeom>
        </p:spPr>
        <p:txBody>
          <a:bodyPr anchor="t" rtlCol="false" tIns="0" lIns="0" bIns="0" rIns="0">
            <a:spAutoFit/>
          </a:bodyPr>
          <a:lstStyle/>
          <a:p>
            <a:pPr algn="l">
              <a:lnSpc>
                <a:spcPts val="2520"/>
              </a:lnSpc>
            </a:pPr>
            <a:r>
              <a:rPr lang="en-US" sz="2100">
                <a:solidFill>
                  <a:srgbClr val="E8EEFC"/>
                </a:solidFill>
                <a:latin typeface="Arial"/>
                <a:ea typeface="Arial"/>
                <a:cs typeface="Arial"/>
                <a:sym typeface="Arial"/>
              </a:rPr>
              <a:t>5 modules de sensibilisation à la cybersécurité avec suivi des progrès par utilisateur.</a:t>
            </a:r>
          </a:p>
        </p:txBody>
      </p:sp>
      <p:grpSp>
        <p:nvGrpSpPr>
          <p:cNvPr name="Group 53" id="53"/>
          <p:cNvGrpSpPr/>
          <p:nvPr/>
        </p:nvGrpSpPr>
        <p:grpSpPr>
          <a:xfrm rot="0">
            <a:off x="12106275" y="6299835"/>
            <a:ext cx="5414010" cy="3402330"/>
            <a:chOff x="0" y="0"/>
            <a:chExt cx="7218680" cy="4536440"/>
          </a:xfrm>
        </p:grpSpPr>
        <p:sp>
          <p:nvSpPr>
            <p:cNvPr name="Freeform 54" id="54"/>
            <p:cNvSpPr/>
            <p:nvPr/>
          </p:nvSpPr>
          <p:spPr>
            <a:xfrm flipH="false" flipV="false" rot="0">
              <a:off x="0" y="0"/>
              <a:ext cx="7218680" cy="4536440"/>
            </a:xfrm>
            <a:custGeom>
              <a:avLst/>
              <a:gdLst/>
              <a:ahLst/>
              <a:cxnLst/>
              <a:rect r="r" b="b" t="t" l="l"/>
              <a:pathLst>
                <a:path h="4536440" w="7218680">
                  <a:moveTo>
                    <a:pt x="0" y="196215"/>
                  </a:moveTo>
                  <a:cubicBezTo>
                    <a:pt x="0" y="87884"/>
                    <a:pt x="87884" y="0"/>
                    <a:pt x="196215" y="0"/>
                  </a:cubicBezTo>
                  <a:lnTo>
                    <a:pt x="7022465" y="0"/>
                  </a:lnTo>
                  <a:cubicBezTo>
                    <a:pt x="7130797" y="0"/>
                    <a:pt x="7218680" y="87884"/>
                    <a:pt x="7218680" y="196215"/>
                  </a:cubicBezTo>
                  <a:lnTo>
                    <a:pt x="7218680" y="4340225"/>
                  </a:lnTo>
                  <a:cubicBezTo>
                    <a:pt x="7218680" y="4448556"/>
                    <a:pt x="7130797" y="4536440"/>
                    <a:pt x="7022465" y="4536440"/>
                  </a:cubicBezTo>
                  <a:lnTo>
                    <a:pt x="196215" y="4536440"/>
                  </a:lnTo>
                  <a:cubicBezTo>
                    <a:pt x="87884" y="4536440"/>
                    <a:pt x="0" y="4448556"/>
                    <a:pt x="0" y="4340225"/>
                  </a:cubicBezTo>
                  <a:close/>
                </a:path>
              </a:pathLst>
            </a:custGeom>
            <a:solidFill>
              <a:srgbClr val="2E3D7C"/>
            </a:solidFill>
            <a:ln w="19050" cap="sq">
              <a:solidFill>
                <a:srgbClr val="00C2D7"/>
              </a:solidFill>
              <a:prstDash val="solid"/>
              <a:miter/>
            </a:ln>
          </p:spPr>
        </p:sp>
      </p:grpSp>
      <p:grpSp>
        <p:nvGrpSpPr>
          <p:cNvPr name="Group 55" id="55"/>
          <p:cNvGrpSpPr/>
          <p:nvPr/>
        </p:nvGrpSpPr>
        <p:grpSpPr>
          <a:xfrm rot="0">
            <a:off x="12390120" y="6583680"/>
            <a:ext cx="1463040" cy="640080"/>
            <a:chOff x="0" y="0"/>
            <a:chExt cx="1950720" cy="853440"/>
          </a:xfrm>
        </p:grpSpPr>
        <p:sp>
          <p:nvSpPr>
            <p:cNvPr name="Freeform 56" id="56"/>
            <p:cNvSpPr/>
            <p:nvPr/>
          </p:nvSpPr>
          <p:spPr>
            <a:xfrm flipH="false" flipV="false" rot="0">
              <a:off x="0" y="0"/>
              <a:ext cx="1950720" cy="853440"/>
            </a:xfrm>
            <a:custGeom>
              <a:avLst/>
              <a:gdLst/>
              <a:ahLst/>
              <a:cxnLst/>
              <a:rect r="r" b="b" t="t" l="l"/>
              <a:pathLst>
                <a:path h="853440" w="1950720">
                  <a:moveTo>
                    <a:pt x="0" y="0"/>
                  </a:moveTo>
                  <a:lnTo>
                    <a:pt x="1950720" y="0"/>
                  </a:lnTo>
                  <a:lnTo>
                    <a:pt x="1950720" y="853440"/>
                  </a:lnTo>
                  <a:lnTo>
                    <a:pt x="0" y="853440"/>
                  </a:lnTo>
                  <a:close/>
                </a:path>
              </a:pathLst>
            </a:custGeom>
            <a:blipFill>
              <a:blip r:embed="rId3">
                <a:alphaModFix amt="0"/>
              </a:blip>
              <a:stretch>
                <a:fillRect l="-6132" t="0" r="-6132" b="0"/>
              </a:stretch>
            </a:blipFill>
          </p:spPr>
        </p:sp>
        <p:sp>
          <p:nvSpPr>
            <p:cNvPr name="TextBox 57" id="57"/>
            <p:cNvSpPr txBox="true"/>
            <p:nvPr/>
          </p:nvSpPr>
          <p:spPr>
            <a:xfrm>
              <a:off x="0" y="-19050"/>
              <a:ext cx="1950720" cy="872490"/>
            </a:xfrm>
            <a:prstGeom prst="rect">
              <a:avLst/>
            </a:prstGeom>
          </p:spPr>
          <p:txBody>
            <a:bodyPr anchor="ctr" rtlCol="false" tIns="0" lIns="0" bIns="0" rIns="0"/>
            <a:lstStyle/>
            <a:p>
              <a:pPr algn="l">
                <a:lnSpc>
                  <a:spcPts val="3359"/>
                </a:lnSpc>
              </a:pPr>
              <a:r>
                <a:rPr lang="en-US" b="true" sz="2799">
                  <a:solidFill>
                    <a:srgbClr val="00C2D7"/>
                  </a:solidFill>
                  <a:latin typeface="Arial Bold"/>
                  <a:ea typeface="Arial Bold"/>
                  <a:cs typeface="Arial Bold"/>
                  <a:sym typeface="Arial Bold"/>
                </a:rPr>
                <a:t>06</a:t>
              </a:r>
            </a:p>
          </p:txBody>
        </p:sp>
      </p:grpSp>
      <p:grpSp>
        <p:nvGrpSpPr>
          <p:cNvPr name="Group 58" id="58"/>
          <p:cNvGrpSpPr/>
          <p:nvPr/>
        </p:nvGrpSpPr>
        <p:grpSpPr>
          <a:xfrm rot="0">
            <a:off x="12927330" y="6583680"/>
            <a:ext cx="4594860" cy="1079041"/>
            <a:chOff x="0" y="0"/>
            <a:chExt cx="6126480" cy="1438721"/>
          </a:xfrm>
        </p:grpSpPr>
        <p:sp>
          <p:nvSpPr>
            <p:cNvPr name="Freeform 59" id="59"/>
            <p:cNvSpPr/>
            <p:nvPr/>
          </p:nvSpPr>
          <p:spPr>
            <a:xfrm flipH="false" flipV="false" rot="0">
              <a:off x="0" y="0"/>
              <a:ext cx="6126480" cy="1438721"/>
            </a:xfrm>
            <a:custGeom>
              <a:avLst/>
              <a:gdLst/>
              <a:ahLst/>
              <a:cxnLst/>
              <a:rect r="r" b="b" t="t" l="l"/>
              <a:pathLst>
                <a:path h="1438721" w="6126480">
                  <a:moveTo>
                    <a:pt x="0" y="0"/>
                  </a:moveTo>
                  <a:lnTo>
                    <a:pt x="6126480" y="0"/>
                  </a:lnTo>
                  <a:lnTo>
                    <a:pt x="6126480" y="1438721"/>
                  </a:lnTo>
                  <a:lnTo>
                    <a:pt x="0" y="1438721"/>
                  </a:lnTo>
                  <a:close/>
                </a:path>
              </a:pathLst>
            </a:custGeom>
            <a:blipFill>
              <a:blip r:embed="rId3">
                <a:alphaModFix amt="0"/>
              </a:blip>
              <a:stretch>
                <a:fillRect l="0" t="-49379" r="-5472" b="-25647"/>
              </a:stretch>
            </a:blipFill>
          </p:spPr>
        </p:sp>
        <p:sp>
          <p:nvSpPr>
            <p:cNvPr name="TextBox 60" id="60"/>
            <p:cNvSpPr txBox="true"/>
            <p:nvPr/>
          </p:nvSpPr>
          <p:spPr>
            <a:xfrm>
              <a:off x="0" y="-19050"/>
              <a:ext cx="6126480" cy="1457771"/>
            </a:xfrm>
            <a:prstGeom prst="rect">
              <a:avLst/>
            </a:prstGeom>
          </p:spPr>
          <p:txBody>
            <a:bodyPr anchor="ctr" rtlCol="false" tIns="0" lIns="0" bIns="0" rIns="0"/>
            <a:lstStyle/>
            <a:p>
              <a:pPr algn="l">
                <a:lnSpc>
                  <a:spcPts val="3600"/>
                </a:lnSpc>
              </a:pPr>
              <a:r>
                <a:rPr lang="en-US" b="true" sz="3000">
                  <a:solidFill>
                    <a:srgbClr val="FFFFFF"/>
                  </a:solidFill>
                  <a:latin typeface="Arial Bold"/>
                  <a:ea typeface="Arial Bold"/>
                  <a:cs typeface="Arial Bold"/>
                  <a:sym typeface="Arial Bold"/>
                </a:rPr>
                <a:t>Auth</a:t>
              </a:r>
              <a:r>
                <a:rPr lang="en-US" b="true" sz="3000">
                  <a:solidFill>
                    <a:srgbClr val="FFFFFF"/>
                  </a:solidFill>
                  <a:latin typeface="Arial Bold"/>
                  <a:ea typeface="Arial Bold"/>
                  <a:cs typeface="Arial Bold"/>
                  <a:sym typeface="Arial Bold"/>
                </a:rPr>
                <a:t>entification sécurisée</a:t>
              </a:r>
            </a:p>
          </p:txBody>
        </p:sp>
      </p:grpSp>
      <p:sp>
        <p:nvSpPr>
          <p:cNvPr name="TextBox 61" id="61"/>
          <p:cNvSpPr txBox="true"/>
          <p:nvPr/>
        </p:nvSpPr>
        <p:spPr>
          <a:xfrm rot="0">
            <a:off x="12390120" y="7842270"/>
            <a:ext cx="4846320" cy="952500"/>
          </a:xfrm>
          <a:prstGeom prst="rect">
            <a:avLst/>
          </a:prstGeom>
        </p:spPr>
        <p:txBody>
          <a:bodyPr anchor="t" rtlCol="false" tIns="0" lIns="0" bIns="0" rIns="0">
            <a:spAutoFit/>
          </a:bodyPr>
          <a:lstStyle/>
          <a:p>
            <a:pPr algn="l">
              <a:lnSpc>
                <a:spcPts val="2520"/>
              </a:lnSpc>
            </a:pPr>
            <a:r>
              <a:rPr lang="en-US" sz="2100">
                <a:solidFill>
                  <a:srgbClr val="E8EEFC"/>
                </a:solidFill>
                <a:latin typeface="Arial"/>
                <a:ea typeface="Arial"/>
                <a:cs typeface="Arial"/>
                <a:sym typeface="Arial"/>
              </a:rPr>
              <a:t>A</a:t>
            </a:r>
            <a:r>
              <a:rPr lang="en-US" sz="2100">
                <a:solidFill>
                  <a:srgbClr val="E8EEFC"/>
                </a:solidFill>
                <a:latin typeface="Arial"/>
                <a:ea typeface="Arial"/>
                <a:cs typeface="Arial"/>
                <a:sym typeface="Arial"/>
              </a:rPr>
              <a:t>uthentification JWT, contrôle d'accès basé sur les rôles (client / admin), anti-enumération.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8EEFC"/>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1579883"/>
            <a:chOff x="0" y="0"/>
            <a:chExt cx="24417871" cy="2106511"/>
          </a:xfrm>
        </p:grpSpPr>
        <p:sp>
          <p:nvSpPr>
            <p:cNvPr name="Freeform 3" id="3"/>
            <p:cNvSpPr/>
            <p:nvPr/>
          </p:nvSpPr>
          <p:spPr>
            <a:xfrm flipH="false" flipV="false" rot="0">
              <a:off x="0" y="0"/>
              <a:ext cx="24417910" cy="2106549"/>
            </a:xfrm>
            <a:custGeom>
              <a:avLst/>
              <a:gdLst/>
              <a:ahLst/>
              <a:cxnLst/>
              <a:rect r="r" b="b" t="t" l="l"/>
              <a:pathLst>
                <a:path h="2106549" w="24417910">
                  <a:moveTo>
                    <a:pt x="0" y="0"/>
                  </a:moveTo>
                  <a:lnTo>
                    <a:pt x="24417910" y="0"/>
                  </a:lnTo>
                  <a:lnTo>
                    <a:pt x="24417910" y="2106549"/>
                  </a:lnTo>
                  <a:lnTo>
                    <a:pt x="0" y="2106549"/>
                  </a:lnTo>
                  <a:close/>
                </a:path>
              </a:pathLst>
            </a:custGeom>
            <a:solidFill>
              <a:srgbClr val="1E2761"/>
            </a:solidFill>
            <a:ln w="25400" cap="sq">
              <a:solidFill>
                <a:srgbClr val="1E2761"/>
              </a:solidFill>
              <a:prstDash val="solid"/>
              <a:miter/>
            </a:ln>
          </p:spPr>
        </p:sp>
      </p:grpSp>
      <p:grpSp>
        <p:nvGrpSpPr>
          <p:cNvPr name="Group 4" id="4"/>
          <p:cNvGrpSpPr/>
          <p:nvPr/>
        </p:nvGrpSpPr>
        <p:grpSpPr>
          <a:xfrm rot="0">
            <a:off x="0" y="0"/>
            <a:ext cx="18288000" cy="1554480"/>
            <a:chOff x="0" y="0"/>
            <a:chExt cx="24384000" cy="2072640"/>
          </a:xfrm>
        </p:grpSpPr>
        <p:sp>
          <p:nvSpPr>
            <p:cNvPr name="Freeform 5" id="5"/>
            <p:cNvSpPr/>
            <p:nvPr/>
          </p:nvSpPr>
          <p:spPr>
            <a:xfrm flipH="false" flipV="false" rot="0">
              <a:off x="0" y="0"/>
              <a:ext cx="24384000" cy="2072640"/>
            </a:xfrm>
            <a:custGeom>
              <a:avLst/>
              <a:gdLst/>
              <a:ahLst/>
              <a:cxnLst/>
              <a:rect r="r" b="b" t="t" l="l"/>
              <a:pathLst>
                <a:path h="2072640" w="24384000">
                  <a:moveTo>
                    <a:pt x="0" y="0"/>
                  </a:moveTo>
                  <a:lnTo>
                    <a:pt x="24384000" y="0"/>
                  </a:lnTo>
                  <a:lnTo>
                    <a:pt x="24384000" y="2072640"/>
                  </a:lnTo>
                  <a:lnTo>
                    <a:pt x="0" y="2072640"/>
                  </a:lnTo>
                  <a:close/>
                </a:path>
              </a:pathLst>
            </a:custGeom>
            <a:blipFill>
              <a:blip r:embed="rId3">
                <a:alphaModFix amt="0"/>
              </a:blip>
              <a:stretch>
                <a:fillRect l="0" t="-179235" r="0" b="-179235"/>
              </a:stretch>
            </a:blipFill>
          </p:spPr>
        </p:sp>
        <p:sp>
          <p:nvSpPr>
            <p:cNvPr name="TextBox 6" id="6"/>
            <p:cNvSpPr txBox="true"/>
            <p:nvPr/>
          </p:nvSpPr>
          <p:spPr>
            <a:xfrm>
              <a:off x="0" y="-19050"/>
              <a:ext cx="24384000" cy="2091690"/>
            </a:xfrm>
            <a:prstGeom prst="rect">
              <a:avLst/>
            </a:prstGeom>
          </p:spPr>
          <p:txBody>
            <a:bodyPr anchor="ctr" rtlCol="false" tIns="0" lIns="0" bIns="0" rIns="0"/>
            <a:lstStyle/>
            <a:p>
              <a:pPr algn="ctr">
                <a:lnSpc>
                  <a:spcPts val="6239"/>
                </a:lnSpc>
              </a:pPr>
              <a:r>
                <a:rPr lang="en-US" b="true" sz="5199">
                  <a:solidFill>
                    <a:srgbClr val="FFFFFF"/>
                  </a:solidFill>
                  <a:latin typeface="Arial Bold"/>
                  <a:ea typeface="Arial Bold"/>
                  <a:cs typeface="Arial Bold"/>
                  <a:sym typeface="Arial Bold"/>
                </a:rPr>
                <a:t>Équip</a:t>
              </a:r>
              <a:r>
                <a:rPr lang="en-US" b="true" sz="5199">
                  <a:solidFill>
                    <a:srgbClr val="FFFFFF"/>
                  </a:solidFill>
                  <a:latin typeface="Arial Bold"/>
                  <a:ea typeface="Arial Bold"/>
                  <a:cs typeface="Arial Bold"/>
                  <a:sym typeface="Arial Bold"/>
                </a:rPr>
                <a:t>e et contexte</a:t>
              </a:r>
            </a:p>
          </p:txBody>
        </p:sp>
      </p:grpSp>
      <p:grpSp>
        <p:nvGrpSpPr>
          <p:cNvPr name="Group 7" id="7"/>
          <p:cNvGrpSpPr/>
          <p:nvPr/>
        </p:nvGrpSpPr>
        <p:grpSpPr>
          <a:xfrm rot="0">
            <a:off x="1267463" y="1998983"/>
            <a:ext cx="7340603" cy="3408683"/>
            <a:chOff x="0" y="0"/>
            <a:chExt cx="9787471" cy="4544911"/>
          </a:xfrm>
        </p:grpSpPr>
        <p:sp>
          <p:nvSpPr>
            <p:cNvPr name="Freeform 8" id="8"/>
            <p:cNvSpPr/>
            <p:nvPr/>
          </p:nvSpPr>
          <p:spPr>
            <a:xfrm flipH="false" flipV="false" rot="0">
              <a:off x="0" y="0"/>
              <a:ext cx="9787510" cy="4544949"/>
            </a:xfrm>
            <a:custGeom>
              <a:avLst/>
              <a:gdLst/>
              <a:ahLst/>
              <a:cxnLst/>
              <a:rect r="r" b="b" t="t" l="l"/>
              <a:pathLst>
                <a:path h="4544949" w="9787510">
                  <a:moveTo>
                    <a:pt x="0" y="294767"/>
                  </a:moveTo>
                  <a:cubicBezTo>
                    <a:pt x="0" y="131953"/>
                    <a:pt x="131953" y="0"/>
                    <a:pt x="294767" y="0"/>
                  </a:cubicBezTo>
                  <a:lnTo>
                    <a:pt x="9492742" y="0"/>
                  </a:lnTo>
                  <a:cubicBezTo>
                    <a:pt x="9655556" y="0"/>
                    <a:pt x="9787510" y="131953"/>
                    <a:pt x="9787510" y="294767"/>
                  </a:cubicBezTo>
                  <a:lnTo>
                    <a:pt x="9787510" y="4250182"/>
                  </a:lnTo>
                  <a:cubicBezTo>
                    <a:pt x="9787510" y="4412996"/>
                    <a:pt x="9655556" y="4544949"/>
                    <a:pt x="9492742" y="4544949"/>
                  </a:cubicBezTo>
                  <a:lnTo>
                    <a:pt x="294767" y="4544949"/>
                  </a:lnTo>
                  <a:cubicBezTo>
                    <a:pt x="131953" y="4544949"/>
                    <a:pt x="0" y="4412869"/>
                    <a:pt x="0" y="4250182"/>
                  </a:cubicBezTo>
                  <a:close/>
                </a:path>
              </a:pathLst>
            </a:custGeom>
            <a:solidFill>
              <a:srgbClr val="FFFFFF"/>
            </a:solidFill>
            <a:ln w="25400" cap="sq">
              <a:solidFill>
                <a:srgbClr val="1E2761"/>
              </a:solidFill>
              <a:prstDash val="solid"/>
              <a:miter/>
            </a:ln>
          </p:spPr>
        </p:sp>
      </p:grpSp>
      <p:grpSp>
        <p:nvGrpSpPr>
          <p:cNvPr name="Group 9" id="9"/>
          <p:cNvGrpSpPr/>
          <p:nvPr/>
        </p:nvGrpSpPr>
        <p:grpSpPr>
          <a:xfrm rot="0">
            <a:off x="1724663" y="2364743"/>
            <a:ext cx="1579883" cy="1579883"/>
            <a:chOff x="0" y="0"/>
            <a:chExt cx="2106511" cy="2106511"/>
          </a:xfrm>
        </p:grpSpPr>
        <p:sp>
          <p:nvSpPr>
            <p:cNvPr name="Freeform 10" id="10"/>
            <p:cNvSpPr/>
            <p:nvPr/>
          </p:nvSpPr>
          <p:spPr>
            <a:xfrm flipH="false" flipV="false" rot="0">
              <a:off x="0" y="0"/>
              <a:ext cx="2106422" cy="2106422"/>
            </a:xfrm>
            <a:custGeom>
              <a:avLst/>
              <a:gdLst/>
              <a:ahLst/>
              <a:cxnLst/>
              <a:rect r="r" b="b" t="t" l="l"/>
              <a:pathLst>
                <a:path h="2106422" w="2106422">
                  <a:moveTo>
                    <a:pt x="0" y="1053211"/>
                  </a:moveTo>
                  <a:cubicBezTo>
                    <a:pt x="0" y="471551"/>
                    <a:pt x="471551" y="0"/>
                    <a:pt x="1053211" y="0"/>
                  </a:cubicBezTo>
                  <a:cubicBezTo>
                    <a:pt x="1634871" y="0"/>
                    <a:pt x="2106422" y="471551"/>
                    <a:pt x="2106422" y="1053211"/>
                  </a:cubicBezTo>
                  <a:cubicBezTo>
                    <a:pt x="2106422" y="1634871"/>
                    <a:pt x="1634871" y="2106422"/>
                    <a:pt x="1053211" y="2106422"/>
                  </a:cubicBezTo>
                  <a:cubicBezTo>
                    <a:pt x="471551" y="2106422"/>
                    <a:pt x="0" y="1634998"/>
                    <a:pt x="0" y="1053211"/>
                  </a:cubicBezTo>
                  <a:close/>
                </a:path>
              </a:pathLst>
            </a:custGeom>
            <a:solidFill>
              <a:srgbClr val="1E2761"/>
            </a:solidFill>
            <a:ln w="25400" cap="sq">
              <a:solidFill>
                <a:srgbClr val="1E2761"/>
              </a:solidFill>
              <a:prstDash val="solid"/>
              <a:miter/>
            </a:ln>
          </p:spPr>
        </p:sp>
      </p:grpSp>
      <p:grpSp>
        <p:nvGrpSpPr>
          <p:cNvPr name="Group 11" id="11"/>
          <p:cNvGrpSpPr/>
          <p:nvPr/>
        </p:nvGrpSpPr>
        <p:grpSpPr>
          <a:xfrm rot="0">
            <a:off x="1737360" y="2377440"/>
            <a:ext cx="1554480" cy="1554480"/>
            <a:chOff x="0" y="0"/>
            <a:chExt cx="2072640" cy="2072640"/>
          </a:xfrm>
        </p:grpSpPr>
        <p:sp>
          <p:nvSpPr>
            <p:cNvPr name="Freeform 12" id="12"/>
            <p:cNvSpPr/>
            <p:nvPr/>
          </p:nvSpPr>
          <p:spPr>
            <a:xfrm flipH="false" flipV="false" rot="0">
              <a:off x="0" y="0"/>
              <a:ext cx="2072640" cy="2072640"/>
            </a:xfrm>
            <a:custGeom>
              <a:avLst/>
              <a:gdLst/>
              <a:ahLst/>
              <a:cxnLst/>
              <a:rect r="r" b="b" t="t" l="l"/>
              <a:pathLst>
                <a:path h="2072640" w="2072640">
                  <a:moveTo>
                    <a:pt x="0" y="0"/>
                  </a:moveTo>
                  <a:lnTo>
                    <a:pt x="2072640" y="0"/>
                  </a:lnTo>
                  <a:lnTo>
                    <a:pt x="2072640" y="2072640"/>
                  </a:lnTo>
                  <a:lnTo>
                    <a:pt x="0" y="2072640"/>
                  </a:lnTo>
                  <a:close/>
                </a:path>
              </a:pathLst>
            </a:custGeom>
            <a:blipFill>
              <a:blip r:embed="rId3">
                <a:alphaModFix amt="0"/>
              </a:blip>
              <a:stretch>
                <a:fillRect l="-78303" t="0" r="-78303" b="0"/>
              </a:stretch>
            </a:blipFill>
          </p:spPr>
        </p:sp>
        <p:sp>
          <p:nvSpPr>
            <p:cNvPr name="TextBox 13" id="13"/>
            <p:cNvSpPr txBox="true"/>
            <p:nvPr/>
          </p:nvSpPr>
          <p:spPr>
            <a:xfrm>
              <a:off x="0" y="-19050"/>
              <a:ext cx="2072640" cy="2091690"/>
            </a:xfrm>
            <a:prstGeom prst="rect">
              <a:avLst/>
            </a:prstGeom>
          </p:spPr>
          <p:txBody>
            <a:bodyPr anchor="ctr" rtlCol="false" tIns="0" lIns="0" bIns="0" rIns="0"/>
            <a:lstStyle/>
            <a:p>
              <a:pPr algn="ctr">
                <a:lnSpc>
                  <a:spcPts val="5280"/>
                </a:lnSpc>
              </a:pPr>
              <a:r>
                <a:rPr lang="en-US" b="true" sz="4400">
                  <a:solidFill>
                    <a:srgbClr val="FFFFFF"/>
                  </a:solidFill>
                  <a:latin typeface="Arial Bold"/>
                  <a:ea typeface="Arial Bold"/>
                  <a:cs typeface="Arial Bold"/>
                  <a:sym typeface="Arial Bold"/>
                </a:rPr>
                <a:t>TJ</a:t>
              </a:r>
            </a:p>
          </p:txBody>
        </p:sp>
      </p:grpSp>
      <p:grpSp>
        <p:nvGrpSpPr>
          <p:cNvPr name="Group 14" id="14"/>
          <p:cNvGrpSpPr/>
          <p:nvPr/>
        </p:nvGrpSpPr>
        <p:grpSpPr>
          <a:xfrm rot="0">
            <a:off x="3474720" y="2377440"/>
            <a:ext cx="4937760" cy="731520"/>
            <a:chOff x="0" y="0"/>
            <a:chExt cx="6583680" cy="975360"/>
          </a:xfrm>
        </p:grpSpPr>
        <p:sp>
          <p:nvSpPr>
            <p:cNvPr name="Freeform 15" id="15"/>
            <p:cNvSpPr/>
            <p:nvPr/>
          </p:nvSpPr>
          <p:spPr>
            <a:xfrm flipH="false" flipV="false" rot="0">
              <a:off x="0" y="0"/>
              <a:ext cx="6583680" cy="975360"/>
            </a:xfrm>
            <a:custGeom>
              <a:avLst/>
              <a:gdLst/>
              <a:ahLst/>
              <a:cxnLst/>
              <a:rect r="r" b="b" t="t" l="l"/>
              <a:pathLst>
                <a:path h="975360" w="6583680">
                  <a:moveTo>
                    <a:pt x="0" y="0"/>
                  </a:moveTo>
                  <a:lnTo>
                    <a:pt x="6583680" y="0"/>
                  </a:lnTo>
                  <a:lnTo>
                    <a:pt x="6583680" y="975360"/>
                  </a:lnTo>
                  <a:lnTo>
                    <a:pt x="0" y="975360"/>
                  </a:lnTo>
                  <a:close/>
                </a:path>
              </a:pathLst>
            </a:custGeom>
            <a:blipFill>
              <a:blip r:embed="rId3">
                <a:alphaModFix amt="0"/>
              </a:blip>
              <a:stretch>
                <a:fillRect l="0" t="-81524" r="0" b="-81524"/>
              </a:stretch>
            </a:blipFill>
          </p:spPr>
        </p:sp>
        <p:sp>
          <p:nvSpPr>
            <p:cNvPr name="TextBox 16" id="16"/>
            <p:cNvSpPr txBox="true"/>
            <p:nvPr/>
          </p:nvSpPr>
          <p:spPr>
            <a:xfrm>
              <a:off x="0" y="-19050"/>
              <a:ext cx="6583680" cy="994410"/>
            </a:xfrm>
            <a:prstGeom prst="rect">
              <a:avLst/>
            </a:prstGeom>
          </p:spPr>
          <p:txBody>
            <a:bodyPr anchor="ctr" rtlCol="false" tIns="0" lIns="0" bIns="0" rIns="0"/>
            <a:lstStyle/>
            <a:p>
              <a:pPr algn="l">
                <a:lnSpc>
                  <a:spcPts val="4079"/>
                </a:lnSpc>
              </a:pPr>
              <a:r>
                <a:rPr lang="en-US" b="true" sz="3399">
                  <a:solidFill>
                    <a:srgbClr val="1E2761"/>
                  </a:solidFill>
                  <a:latin typeface="Arial Bold"/>
                  <a:ea typeface="Arial Bold"/>
                  <a:cs typeface="Arial Bold"/>
                  <a:sym typeface="Arial Bold"/>
                </a:rPr>
                <a:t>Tommy JOUHANS</a:t>
              </a:r>
            </a:p>
          </p:txBody>
        </p:sp>
      </p:grpSp>
      <p:grpSp>
        <p:nvGrpSpPr>
          <p:cNvPr name="Group 17" id="17"/>
          <p:cNvGrpSpPr/>
          <p:nvPr/>
        </p:nvGrpSpPr>
        <p:grpSpPr>
          <a:xfrm rot="0">
            <a:off x="3474720" y="3108960"/>
            <a:ext cx="4937760" cy="548640"/>
            <a:chOff x="0" y="0"/>
            <a:chExt cx="6583680" cy="731520"/>
          </a:xfrm>
        </p:grpSpPr>
        <p:sp>
          <p:nvSpPr>
            <p:cNvPr name="Freeform 18" id="18"/>
            <p:cNvSpPr/>
            <p:nvPr/>
          </p:nvSpPr>
          <p:spPr>
            <a:xfrm flipH="false" flipV="false" rot="0">
              <a:off x="0" y="0"/>
              <a:ext cx="6583680" cy="731520"/>
            </a:xfrm>
            <a:custGeom>
              <a:avLst/>
              <a:gdLst/>
              <a:ahLst/>
              <a:cxnLst/>
              <a:rect r="r" b="b" t="t" l="l"/>
              <a:pathLst>
                <a:path h="731520" w="6583680">
                  <a:moveTo>
                    <a:pt x="0" y="0"/>
                  </a:moveTo>
                  <a:lnTo>
                    <a:pt x="6583680" y="0"/>
                  </a:lnTo>
                  <a:lnTo>
                    <a:pt x="6583680" y="731520"/>
                  </a:lnTo>
                  <a:lnTo>
                    <a:pt x="0" y="731520"/>
                  </a:lnTo>
                  <a:close/>
                </a:path>
              </a:pathLst>
            </a:custGeom>
            <a:blipFill>
              <a:blip r:embed="rId3">
                <a:alphaModFix amt="0"/>
              </a:blip>
              <a:stretch>
                <a:fillRect l="0" t="-125365" r="0" b="-125365"/>
              </a:stretch>
            </a:blipFill>
          </p:spPr>
        </p:sp>
        <p:sp>
          <p:nvSpPr>
            <p:cNvPr name="TextBox 19" id="19"/>
            <p:cNvSpPr txBox="true"/>
            <p:nvPr/>
          </p:nvSpPr>
          <p:spPr>
            <a:xfrm>
              <a:off x="0" y="-19050"/>
              <a:ext cx="6583680" cy="750570"/>
            </a:xfrm>
            <a:prstGeom prst="rect">
              <a:avLst/>
            </a:prstGeom>
          </p:spPr>
          <p:txBody>
            <a:bodyPr anchor="ctr" rtlCol="false" tIns="0" lIns="0" bIns="0" rIns="0"/>
            <a:lstStyle/>
            <a:p>
              <a:pPr algn="l">
                <a:lnSpc>
                  <a:spcPts val="2639"/>
                </a:lnSpc>
              </a:pPr>
              <a:r>
                <a:rPr lang="en-US" sz="2199" i="true">
                  <a:solidFill>
                    <a:srgbClr val="00C2D7"/>
                  </a:solidFill>
                  <a:latin typeface="Arial Italics"/>
                  <a:ea typeface="Arial Italics"/>
                  <a:cs typeface="Arial Italics"/>
                  <a:sym typeface="Arial Italics"/>
                </a:rPr>
                <a:t>Frontend &amp; UI/UX Lead</a:t>
              </a:r>
            </a:p>
          </p:txBody>
        </p:sp>
      </p:grpSp>
      <p:grpSp>
        <p:nvGrpSpPr>
          <p:cNvPr name="Group 20" id="20"/>
          <p:cNvGrpSpPr/>
          <p:nvPr/>
        </p:nvGrpSpPr>
        <p:grpSpPr>
          <a:xfrm rot="0">
            <a:off x="1309267" y="5655647"/>
            <a:ext cx="7340603" cy="3408683"/>
            <a:chOff x="0" y="0"/>
            <a:chExt cx="9787471" cy="4544911"/>
          </a:xfrm>
        </p:grpSpPr>
        <p:sp>
          <p:nvSpPr>
            <p:cNvPr name="Freeform 21" id="21"/>
            <p:cNvSpPr/>
            <p:nvPr/>
          </p:nvSpPr>
          <p:spPr>
            <a:xfrm flipH="false" flipV="false" rot="0">
              <a:off x="0" y="0"/>
              <a:ext cx="9787510" cy="4544949"/>
            </a:xfrm>
            <a:custGeom>
              <a:avLst/>
              <a:gdLst/>
              <a:ahLst/>
              <a:cxnLst/>
              <a:rect r="r" b="b" t="t" l="l"/>
              <a:pathLst>
                <a:path h="4544949" w="9787510">
                  <a:moveTo>
                    <a:pt x="0" y="294767"/>
                  </a:moveTo>
                  <a:cubicBezTo>
                    <a:pt x="0" y="131953"/>
                    <a:pt x="131953" y="0"/>
                    <a:pt x="294767" y="0"/>
                  </a:cubicBezTo>
                  <a:lnTo>
                    <a:pt x="9492742" y="0"/>
                  </a:lnTo>
                  <a:cubicBezTo>
                    <a:pt x="9655556" y="0"/>
                    <a:pt x="9787510" y="131953"/>
                    <a:pt x="9787510" y="294767"/>
                  </a:cubicBezTo>
                  <a:lnTo>
                    <a:pt x="9787510" y="4250182"/>
                  </a:lnTo>
                  <a:cubicBezTo>
                    <a:pt x="9787510" y="4412996"/>
                    <a:pt x="9655556" y="4544949"/>
                    <a:pt x="9492742" y="4544949"/>
                  </a:cubicBezTo>
                  <a:lnTo>
                    <a:pt x="294767" y="4544949"/>
                  </a:lnTo>
                  <a:cubicBezTo>
                    <a:pt x="131953" y="4544949"/>
                    <a:pt x="0" y="4412869"/>
                    <a:pt x="0" y="4250182"/>
                  </a:cubicBezTo>
                  <a:close/>
                </a:path>
              </a:pathLst>
            </a:custGeom>
            <a:solidFill>
              <a:srgbClr val="FFFFFF"/>
            </a:solidFill>
            <a:ln w="25400" cap="sq">
              <a:solidFill>
                <a:srgbClr val="1E2761"/>
              </a:solidFill>
              <a:prstDash val="solid"/>
              <a:miter/>
            </a:ln>
          </p:spPr>
        </p:sp>
      </p:grpSp>
      <p:grpSp>
        <p:nvGrpSpPr>
          <p:cNvPr name="Group 22" id="22"/>
          <p:cNvGrpSpPr/>
          <p:nvPr/>
        </p:nvGrpSpPr>
        <p:grpSpPr>
          <a:xfrm rot="0">
            <a:off x="1766467" y="6021407"/>
            <a:ext cx="1579883" cy="1579883"/>
            <a:chOff x="0" y="0"/>
            <a:chExt cx="2106511" cy="2106511"/>
          </a:xfrm>
        </p:grpSpPr>
        <p:sp>
          <p:nvSpPr>
            <p:cNvPr name="Freeform 23" id="23"/>
            <p:cNvSpPr/>
            <p:nvPr/>
          </p:nvSpPr>
          <p:spPr>
            <a:xfrm flipH="false" flipV="false" rot="0">
              <a:off x="0" y="0"/>
              <a:ext cx="2106422" cy="2106422"/>
            </a:xfrm>
            <a:custGeom>
              <a:avLst/>
              <a:gdLst/>
              <a:ahLst/>
              <a:cxnLst/>
              <a:rect r="r" b="b" t="t" l="l"/>
              <a:pathLst>
                <a:path h="2106422" w="2106422">
                  <a:moveTo>
                    <a:pt x="0" y="1053211"/>
                  </a:moveTo>
                  <a:cubicBezTo>
                    <a:pt x="0" y="471551"/>
                    <a:pt x="471551" y="0"/>
                    <a:pt x="1053211" y="0"/>
                  </a:cubicBezTo>
                  <a:cubicBezTo>
                    <a:pt x="1634871" y="0"/>
                    <a:pt x="2106422" y="471551"/>
                    <a:pt x="2106422" y="1053211"/>
                  </a:cubicBezTo>
                  <a:cubicBezTo>
                    <a:pt x="2106422" y="1634871"/>
                    <a:pt x="1634871" y="2106422"/>
                    <a:pt x="1053211" y="2106422"/>
                  </a:cubicBezTo>
                  <a:cubicBezTo>
                    <a:pt x="471551" y="2106422"/>
                    <a:pt x="0" y="1634998"/>
                    <a:pt x="0" y="1053211"/>
                  </a:cubicBezTo>
                  <a:close/>
                </a:path>
              </a:pathLst>
            </a:custGeom>
            <a:solidFill>
              <a:srgbClr val="1E2761"/>
            </a:solidFill>
            <a:ln w="25400" cap="sq">
              <a:solidFill>
                <a:srgbClr val="1E2761"/>
              </a:solidFill>
              <a:prstDash val="solid"/>
              <a:miter/>
            </a:ln>
          </p:spPr>
        </p:sp>
      </p:grpSp>
      <p:grpSp>
        <p:nvGrpSpPr>
          <p:cNvPr name="Group 24" id="24"/>
          <p:cNvGrpSpPr/>
          <p:nvPr/>
        </p:nvGrpSpPr>
        <p:grpSpPr>
          <a:xfrm rot="0">
            <a:off x="1779164" y="6034104"/>
            <a:ext cx="1554480" cy="1554480"/>
            <a:chOff x="0" y="0"/>
            <a:chExt cx="2072640" cy="2072640"/>
          </a:xfrm>
        </p:grpSpPr>
        <p:sp>
          <p:nvSpPr>
            <p:cNvPr name="Freeform 25" id="25"/>
            <p:cNvSpPr/>
            <p:nvPr/>
          </p:nvSpPr>
          <p:spPr>
            <a:xfrm flipH="false" flipV="false" rot="0">
              <a:off x="0" y="0"/>
              <a:ext cx="2072640" cy="2072640"/>
            </a:xfrm>
            <a:custGeom>
              <a:avLst/>
              <a:gdLst/>
              <a:ahLst/>
              <a:cxnLst/>
              <a:rect r="r" b="b" t="t" l="l"/>
              <a:pathLst>
                <a:path h="2072640" w="2072640">
                  <a:moveTo>
                    <a:pt x="0" y="0"/>
                  </a:moveTo>
                  <a:lnTo>
                    <a:pt x="2072640" y="0"/>
                  </a:lnTo>
                  <a:lnTo>
                    <a:pt x="2072640" y="2072640"/>
                  </a:lnTo>
                  <a:lnTo>
                    <a:pt x="0" y="2072640"/>
                  </a:lnTo>
                  <a:close/>
                </a:path>
              </a:pathLst>
            </a:custGeom>
            <a:blipFill>
              <a:blip r:embed="rId3">
                <a:alphaModFix amt="0"/>
              </a:blip>
              <a:stretch>
                <a:fillRect l="-78303" t="0" r="-78303" b="0"/>
              </a:stretch>
            </a:blipFill>
          </p:spPr>
        </p:sp>
        <p:sp>
          <p:nvSpPr>
            <p:cNvPr name="TextBox 26" id="26"/>
            <p:cNvSpPr txBox="true"/>
            <p:nvPr/>
          </p:nvSpPr>
          <p:spPr>
            <a:xfrm>
              <a:off x="0" y="-19050"/>
              <a:ext cx="2072640" cy="2091690"/>
            </a:xfrm>
            <a:prstGeom prst="rect">
              <a:avLst/>
            </a:prstGeom>
          </p:spPr>
          <p:txBody>
            <a:bodyPr anchor="ctr" rtlCol="false" tIns="0" lIns="0" bIns="0" rIns="0"/>
            <a:lstStyle/>
            <a:p>
              <a:pPr algn="ctr">
                <a:lnSpc>
                  <a:spcPts val="5280"/>
                </a:lnSpc>
              </a:pPr>
              <a:r>
                <a:rPr lang="en-US" b="true" sz="4400">
                  <a:solidFill>
                    <a:srgbClr val="FFFFFF"/>
                  </a:solidFill>
                  <a:latin typeface="Arial Bold"/>
                  <a:ea typeface="Arial Bold"/>
                  <a:cs typeface="Arial Bold"/>
                  <a:sym typeface="Arial Bold"/>
                </a:rPr>
                <a:t>JR</a:t>
              </a:r>
            </a:p>
          </p:txBody>
        </p:sp>
      </p:grpSp>
      <p:grpSp>
        <p:nvGrpSpPr>
          <p:cNvPr name="Group 27" id="27"/>
          <p:cNvGrpSpPr/>
          <p:nvPr/>
        </p:nvGrpSpPr>
        <p:grpSpPr>
          <a:xfrm rot="0">
            <a:off x="3516524" y="6034104"/>
            <a:ext cx="4937760" cy="731520"/>
            <a:chOff x="0" y="0"/>
            <a:chExt cx="6583680" cy="975360"/>
          </a:xfrm>
        </p:grpSpPr>
        <p:sp>
          <p:nvSpPr>
            <p:cNvPr name="Freeform 28" id="28"/>
            <p:cNvSpPr/>
            <p:nvPr/>
          </p:nvSpPr>
          <p:spPr>
            <a:xfrm flipH="false" flipV="false" rot="0">
              <a:off x="0" y="0"/>
              <a:ext cx="6583680" cy="975360"/>
            </a:xfrm>
            <a:custGeom>
              <a:avLst/>
              <a:gdLst/>
              <a:ahLst/>
              <a:cxnLst/>
              <a:rect r="r" b="b" t="t" l="l"/>
              <a:pathLst>
                <a:path h="975360" w="6583680">
                  <a:moveTo>
                    <a:pt x="0" y="0"/>
                  </a:moveTo>
                  <a:lnTo>
                    <a:pt x="6583680" y="0"/>
                  </a:lnTo>
                  <a:lnTo>
                    <a:pt x="6583680" y="975360"/>
                  </a:lnTo>
                  <a:lnTo>
                    <a:pt x="0" y="975360"/>
                  </a:lnTo>
                  <a:close/>
                </a:path>
              </a:pathLst>
            </a:custGeom>
            <a:blipFill>
              <a:blip r:embed="rId3">
                <a:alphaModFix amt="0"/>
              </a:blip>
              <a:stretch>
                <a:fillRect l="0" t="-81524" r="0" b="-81524"/>
              </a:stretch>
            </a:blipFill>
          </p:spPr>
        </p:sp>
        <p:sp>
          <p:nvSpPr>
            <p:cNvPr name="TextBox 29" id="29"/>
            <p:cNvSpPr txBox="true"/>
            <p:nvPr/>
          </p:nvSpPr>
          <p:spPr>
            <a:xfrm>
              <a:off x="0" y="-19050"/>
              <a:ext cx="6583680" cy="994410"/>
            </a:xfrm>
            <a:prstGeom prst="rect">
              <a:avLst/>
            </a:prstGeom>
          </p:spPr>
          <p:txBody>
            <a:bodyPr anchor="ctr" rtlCol="false" tIns="0" lIns="0" bIns="0" rIns="0"/>
            <a:lstStyle/>
            <a:p>
              <a:pPr algn="l">
                <a:lnSpc>
                  <a:spcPts val="4079"/>
                </a:lnSpc>
              </a:pPr>
              <a:r>
                <a:rPr lang="en-US" b="true" sz="3399">
                  <a:solidFill>
                    <a:srgbClr val="1E2761"/>
                  </a:solidFill>
                  <a:latin typeface="Arial Bold"/>
                  <a:ea typeface="Arial Bold"/>
                  <a:cs typeface="Arial Bold"/>
                  <a:sym typeface="Arial Bold"/>
                </a:rPr>
                <a:t>James ROUSSEL</a:t>
              </a:r>
            </a:p>
          </p:txBody>
        </p:sp>
      </p:grpSp>
      <p:grpSp>
        <p:nvGrpSpPr>
          <p:cNvPr name="Group 30" id="30"/>
          <p:cNvGrpSpPr/>
          <p:nvPr/>
        </p:nvGrpSpPr>
        <p:grpSpPr>
          <a:xfrm rot="0">
            <a:off x="3516524" y="6765624"/>
            <a:ext cx="4937760" cy="548640"/>
            <a:chOff x="0" y="0"/>
            <a:chExt cx="6583680" cy="731520"/>
          </a:xfrm>
        </p:grpSpPr>
        <p:sp>
          <p:nvSpPr>
            <p:cNvPr name="Freeform 31" id="31"/>
            <p:cNvSpPr/>
            <p:nvPr/>
          </p:nvSpPr>
          <p:spPr>
            <a:xfrm flipH="false" flipV="false" rot="0">
              <a:off x="0" y="0"/>
              <a:ext cx="6583680" cy="731520"/>
            </a:xfrm>
            <a:custGeom>
              <a:avLst/>
              <a:gdLst/>
              <a:ahLst/>
              <a:cxnLst/>
              <a:rect r="r" b="b" t="t" l="l"/>
              <a:pathLst>
                <a:path h="731520" w="6583680">
                  <a:moveTo>
                    <a:pt x="0" y="0"/>
                  </a:moveTo>
                  <a:lnTo>
                    <a:pt x="6583680" y="0"/>
                  </a:lnTo>
                  <a:lnTo>
                    <a:pt x="6583680" y="731520"/>
                  </a:lnTo>
                  <a:lnTo>
                    <a:pt x="0" y="731520"/>
                  </a:lnTo>
                  <a:close/>
                </a:path>
              </a:pathLst>
            </a:custGeom>
            <a:blipFill>
              <a:blip r:embed="rId3">
                <a:alphaModFix amt="0"/>
              </a:blip>
              <a:stretch>
                <a:fillRect l="0" t="-125365" r="0" b="-125365"/>
              </a:stretch>
            </a:blipFill>
          </p:spPr>
        </p:sp>
        <p:sp>
          <p:nvSpPr>
            <p:cNvPr name="TextBox 32" id="32"/>
            <p:cNvSpPr txBox="true"/>
            <p:nvPr/>
          </p:nvSpPr>
          <p:spPr>
            <a:xfrm>
              <a:off x="0" y="-19050"/>
              <a:ext cx="6583680" cy="750570"/>
            </a:xfrm>
            <a:prstGeom prst="rect">
              <a:avLst/>
            </a:prstGeom>
          </p:spPr>
          <p:txBody>
            <a:bodyPr anchor="ctr" rtlCol="false" tIns="0" lIns="0" bIns="0" rIns="0"/>
            <a:lstStyle/>
            <a:p>
              <a:pPr algn="l">
                <a:lnSpc>
                  <a:spcPts val="2639"/>
                </a:lnSpc>
              </a:pPr>
              <a:r>
                <a:rPr lang="en-US" sz="2199" i="true">
                  <a:solidFill>
                    <a:srgbClr val="00C2D7"/>
                  </a:solidFill>
                  <a:latin typeface="Arial Italics"/>
                  <a:ea typeface="Arial Italics"/>
                  <a:cs typeface="Arial Italics"/>
                  <a:sym typeface="Arial Italics"/>
                </a:rPr>
                <a:t>Backend &amp; DevOps Lead</a:t>
              </a:r>
            </a:p>
          </p:txBody>
        </p:sp>
      </p:grpSp>
      <p:grpSp>
        <p:nvGrpSpPr>
          <p:cNvPr name="Group 33" id="33"/>
          <p:cNvGrpSpPr/>
          <p:nvPr/>
        </p:nvGrpSpPr>
        <p:grpSpPr>
          <a:xfrm rot="0">
            <a:off x="11113408" y="1971888"/>
            <a:ext cx="4960535" cy="740494"/>
            <a:chOff x="0" y="0"/>
            <a:chExt cx="6614046" cy="987326"/>
          </a:xfrm>
        </p:grpSpPr>
        <p:sp>
          <p:nvSpPr>
            <p:cNvPr name="Freeform 34" id="34"/>
            <p:cNvSpPr/>
            <p:nvPr/>
          </p:nvSpPr>
          <p:spPr>
            <a:xfrm flipH="false" flipV="false" rot="0">
              <a:off x="0" y="0"/>
              <a:ext cx="6614046" cy="987326"/>
            </a:xfrm>
            <a:custGeom>
              <a:avLst/>
              <a:gdLst/>
              <a:ahLst/>
              <a:cxnLst/>
              <a:rect r="r" b="b" t="t" l="l"/>
              <a:pathLst>
                <a:path h="987326" w="6614046">
                  <a:moveTo>
                    <a:pt x="0" y="0"/>
                  </a:moveTo>
                  <a:lnTo>
                    <a:pt x="6614046" y="0"/>
                  </a:lnTo>
                  <a:lnTo>
                    <a:pt x="6614046" y="987326"/>
                  </a:lnTo>
                  <a:lnTo>
                    <a:pt x="0" y="987326"/>
                  </a:lnTo>
                  <a:close/>
                </a:path>
              </a:pathLst>
            </a:custGeom>
            <a:blipFill>
              <a:blip r:embed="rId3">
                <a:alphaModFix amt="0"/>
              </a:blip>
              <a:stretch>
                <a:fillRect l="0" t="-383706" r="-231802" b="-382494"/>
              </a:stretch>
            </a:blipFill>
          </p:spPr>
        </p:sp>
        <p:sp>
          <p:nvSpPr>
            <p:cNvPr name="TextBox 35" id="35"/>
            <p:cNvSpPr txBox="true"/>
            <p:nvPr/>
          </p:nvSpPr>
          <p:spPr>
            <a:xfrm>
              <a:off x="0" y="-28575"/>
              <a:ext cx="6614046" cy="1015901"/>
            </a:xfrm>
            <a:prstGeom prst="rect">
              <a:avLst/>
            </a:prstGeom>
          </p:spPr>
          <p:txBody>
            <a:bodyPr anchor="ctr" rtlCol="false" tIns="0" lIns="0" bIns="0" rIns="0"/>
            <a:lstStyle/>
            <a:p>
              <a:pPr algn="ctr">
                <a:lnSpc>
                  <a:spcPts val="4320"/>
                </a:lnSpc>
              </a:pPr>
              <a:r>
                <a:rPr lang="en-US" b="true" sz="3600">
                  <a:solidFill>
                    <a:srgbClr val="1E2761"/>
                  </a:solidFill>
                  <a:latin typeface="Arial Bold"/>
                  <a:ea typeface="Arial Bold"/>
                  <a:cs typeface="Arial Bold"/>
                  <a:sym typeface="Arial Bold"/>
                </a:rPr>
                <a:t>C</a:t>
              </a:r>
              <a:r>
                <a:rPr lang="en-US" b="true" sz="3600">
                  <a:solidFill>
                    <a:srgbClr val="1E2761"/>
                  </a:solidFill>
                  <a:latin typeface="Arial Bold"/>
                  <a:ea typeface="Arial Bold"/>
                  <a:cs typeface="Arial Bold"/>
                  <a:sym typeface="Arial Bold"/>
                </a:rPr>
                <a:t>ontexte du projet</a:t>
              </a:r>
            </a:p>
          </p:txBody>
        </p:sp>
      </p:grpSp>
      <p:grpSp>
        <p:nvGrpSpPr>
          <p:cNvPr name="Group 36" id="36"/>
          <p:cNvGrpSpPr/>
          <p:nvPr/>
        </p:nvGrpSpPr>
        <p:grpSpPr>
          <a:xfrm rot="0">
            <a:off x="0" y="9784080"/>
            <a:ext cx="18288000" cy="457200"/>
            <a:chOff x="0" y="0"/>
            <a:chExt cx="24384000" cy="609600"/>
          </a:xfrm>
        </p:grpSpPr>
        <p:sp>
          <p:nvSpPr>
            <p:cNvPr name="Freeform 37" id="37"/>
            <p:cNvSpPr/>
            <p:nvPr/>
          </p:nvSpPr>
          <p:spPr>
            <a:xfrm flipH="false" flipV="false" rot="0">
              <a:off x="0" y="0"/>
              <a:ext cx="24384000" cy="609600"/>
            </a:xfrm>
            <a:custGeom>
              <a:avLst/>
              <a:gdLst/>
              <a:ahLst/>
              <a:cxnLst/>
              <a:rect r="r" b="b" t="t" l="l"/>
              <a:pathLst>
                <a:path h="609600" w="24384000">
                  <a:moveTo>
                    <a:pt x="0" y="0"/>
                  </a:moveTo>
                  <a:lnTo>
                    <a:pt x="24384000" y="0"/>
                  </a:lnTo>
                  <a:lnTo>
                    <a:pt x="24384000" y="609600"/>
                  </a:lnTo>
                  <a:lnTo>
                    <a:pt x="0" y="609600"/>
                  </a:lnTo>
                  <a:close/>
                </a:path>
              </a:pathLst>
            </a:custGeom>
            <a:blipFill>
              <a:blip r:embed="rId3">
                <a:alphaModFix amt="0"/>
              </a:blip>
              <a:stretch>
                <a:fillRect l="0" t="-729401" r="0" b="-729401"/>
              </a:stretch>
            </a:blipFill>
          </p:spPr>
        </p:sp>
        <p:sp>
          <p:nvSpPr>
            <p:cNvPr name="TextBox 38" id="38"/>
            <p:cNvSpPr txBox="true"/>
            <p:nvPr/>
          </p:nvSpPr>
          <p:spPr>
            <a:xfrm>
              <a:off x="0" y="-19050"/>
              <a:ext cx="24384000" cy="628650"/>
            </a:xfrm>
            <a:prstGeom prst="rect">
              <a:avLst/>
            </a:prstGeom>
          </p:spPr>
          <p:txBody>
            <a:bodyPr anchor="ctr" rtlCol="false" tIns="0" lIns="0" bIns="0" rIns="0"/>
            <a:lstStyle/>
            <a:p>
              <a:pPr algn="ctr">
                <a:lnSpc>
                  <a:spcPts val="2160"/>
                </a:lnSpc>
              </a:pPr>
            </a:p>
          </p:txBody>
        </p:sp>
      </p:grpSp>
      <p:sp>
        <p:nvSpPr>
          <p:cNvPr name="Freeform 39" id="39"/>
          <p:cNvSpPr/>
          <p:nvPr/>
        </p:nvSpPr>
        <p:spPr>
          <a:xfrm flipH="false" flipV="false" rot="0">
            <a:off x="9861301" y="2765167"/>
            <a:ext cx="7152341" cy="6701384"/>
          </a:xfrm>
          <a:custGeom>
            <a:avLst/>
            <a:gdLst/>
            <a:ahLst/>
            <a:cxnLst/>
            <a:rect r="r" b="b" t="t" l="l"/>
            <a:pathLst>
              <a:path h="6701384" w="7152341">
                <a:moveTo>
                  <a:pt x="0" y="0"/>
                </a:moveTo>
                <a:lnTo>
                  <a:pt x="7152341" y="0"/>
                </a:lnTo>
                <a:lnTo>
                  <a:pt x="7152341" y="6701383"/>
                </a:lnTo>
                <a:lnTo>
                  <a:pt x="0" y="6701383"/>
                </a:lnTo>
                <a:lnTo>
                  <a:pt x="0" y="0"/>
                </a:lnTo>
                <a:close/>
              </a:path>
            </a:pathLst>
          </a:custGeom>
          <a:blipFill>
            <a:blip r:embed="rId4"/>
            <a:stretch>
              <a:fillRect l="0" t="0" r="-47512" b="0"/>
            </a:stretch>
          </a:blipFill>
        </p:spPr>
      </p:sp>
      <p:sp>
        <p:nvSpPr>
          <p:cNvPr name="TextBox 40" id="40"/>
          <p:cNvSpPr txBox="true"/>
          <p:nvPr/>
        </p:nvSpPr>
        <p:spPr>
          <a:xfrm rot="0">
            <a:off x="1920221" y="4150976"/>
            <a:ext cx="6035069" cy="914400"/>
          </a:xfrm>
          <a:prstGeom prst="rect">
            <a:avLst/>
          </a:prstGeom>
        </p:spPr>
        <p:txBody>
          <a:bodyPr anchor="t" rtlCol="false" tIns="0" lIns="0" bIns="0" rIns="0">
            <a:spAutoFit/>
          </a:bodyPr>
          <a:lstStyle/>
          <a:p>
            <a:pPr algn="l" marL="482347" indent="-241173" lvl="1">
              <a:lnSpc>
                <a:spcPts val="2400"/>
              </a:lnSpc>
              <a:buFont typeface="Arial"/>
              <a:buChar char="•"/>
            </a:pPr>
            <a:r>
              <a:rPr lang="en-US" sz="2000">
                <a:solidFill>
                  <a:srgbClr val="64748B"/>
                </a:solidFill>
                <a:latin typeface="Arial"/>
                <a:ea typeface="Arial"/>
                <a:cs typeface="Arial"/>
                <a:sym typeface="Arial"/>
              </a:rPr>
              <a:t>Composants UI &amp; Système de design</a:t>
            </a:r>
          </a:p>
          <a:p>
            <a:pPr algn="l" marL="482347" indent="-241173" lvl="1">
              <a:lnSpc>
                <a:spcPts val="2400"/>
              </a:lnSpc>
              <a:buFont typeface="Arial"/>
              <a:buChar char="•"/>
            </a:pPr>
            <a:r>
              <a:rPr lang="en-US" sz="2000">
                <a:solidFill>
                  <a:srgbClr val="64748B"/>
                </a:solidFill>
                <a:latin typeface="Arial"/>
                <a:ea typeface="Arial"/>
                <a:cs typeface="Arial"/>
                <a:sym typeface="Arial"/>
              </a:rPr>
              <a:t>Tableaux de bord Admin / Client</a:t>
            </a:r>
          </a:p>
          <a:p>
            <a:pPr algn="l" marL="482601" indent="-241300" lvl="1">
              <a:lnSpc>
                <a:spcPts val="2400"/>
              </a:lnSpc>
              <a:buFont typeface="Arial"/>
              <a:buChar char="•"/>
            </a:pPr>
            <a:r>
              <a:rPr lang="en-US" sz="2000">
                <a:solidFill>
                  <a:srgbClr val="64748B"/>
                </a:solidFill>
                <a:latin typeface="Arial"/>
                <a:ea typeface="Arial"/>
                <a:cs typeface="Arial"/>
                <a:sym typeface="Arial"/>
              </a:rPr>
              <a:t>Flux de connexion / inscription</a:t>
            </a:r>
          </a:p>
        </p:txBody>
      </p:sp>
      <p:sp>
        <p:nvSpPr>
          <p:cNvPr name="TextBox 41" id="41"/>
          <p:cNvSpPr txBox="true"/>
          <p:nvPr/>
        </p:nvSpPr>
        <p:spPr>
          <a:xfrm rot="0">
            <a:off x="1962025" y="7807640"/>
            <a:ext cx="6035069" cy="895350"/>
          </a:xfrm>
          <a:prstGeom prst="rect">
            <a:avLst/>
          </a:prstGeom>
        </p:spPr>
        <p:txBody>
          <a:bodyPr anchor="t" rtlCol="false" tIns="0" lIns="0" bIns="0" rIns="0">
            <a:spAutoFit/>
          </a:bodyPr>
          <a:lstStyle/>
          <a:p>
            <a:pPr algn="l" marL="482601" indent="-241300" lvl="1">
              <a:lnSpc>
                <a:spcPts val="2400"/>
              </a:lnSpc>
              <a:buFont typeface="Arial"/>
              <a:buChar char="•"/>
            </a:pPr>
            <a:r>
              <a:rPr lang="en-US" sz="2000">
                <a:solidFill>
                  <a:srgbClr val="64748B"/>
                </a:solidFill>
                <a:latin typeface="Arial"/>
                <a:ea typeface="Arial"/>
                <a:cs typeface="Arial"/>
                <a:sym typeface="Arial"/>
              </a:rPr>
              <a:t>API b</a:t>
            </a:r>
            <a:r>
              <a:rPr lang="en-US" sz="2000">
                <a:solidFill>
                  <a:srgbClr val="64748B"/>
                </a:solidFill>
                <a:latin typeface="Arial"/>
                <a:ea typeface="Arial"/>
                <a:cs typeface="Arial"/>
                <a:sym typeface="Arial"/>
              </a:rPr>
              <a:t>ackend + base de données</a:t>
            </a:r>
          </a:p>
          <a:p>
            <a:pPr algn="l" marL="482601" indent="-241300" lvl="1">
              <a:lnSpc>
                <a:spcPts val="2400"/>
              </a:lnSpc>
              <a:buFont typeface="Arial"/>
              <a:buChar char="•"/>
            </a:pPr>
            <a:r>
              <a:rPr lang="en-US" sz="2000">
                <a:solidFill>
                  <a:srgbClr val="64748B"/>
                </a:solidFill>
                <a:latin typeface="Arial"/>
                <a:ea typeface="Arial"/>
                <a:cs typeface="Arial"/>
                <a:sym typeface="Arial"/>
              </a:rPr>
              <a:t>Authentification &amp; sécurité</a:t>
            </a:r>
          </a:p>
          <a:p>
            <a:pPr algn="l" marL="482601" indent="-241300" lvl="1">
              <a:lnSpc>
                <a:spcPts val="2400"/>
              </a:lnSpc>
              <a:buFont typeface="Arial"/>
              <a:buChar char="•"/>
            </a:pPr>
            <a:r>
              <a:rPr lang="en-US" sz="2000">
                <a:solidFill>
                  <a:srgbClr val="64748B"/>
                </a:solidFill>
                <a:latin typeface="Arial"/>
                <a:ea typeface="Arial"/>
                <a:cs typeface="Arial"/>
                <a:sym typeface="Arial"/>
              </a:rPr>
              <a:t>Déploiement &amp; CI/CD</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1E2761"/>
        </a:solidFill>
      </p:bgPr>
    </p:bg>
    <p:spTree>
      <p:nvGrpSpPr>
        <p:cNvPr id="1" name=""/>
        <p:cNvGrpSpPr/>
        <p:nvPr/>
      </p:nvGrpSpPr>
      <p:grpSpPr>
        <a:xfrm>
          <a:off x="0" y="0"/>
          <a:ext cx="0" cy="0"/>
          <a:chOff x="0" y="0"/>
          <a:chExt cx="0" cy="0"/>
        </a:xfrm>
      </p:grpSpPr>
      <p:grpSp>
        <p:nvGrpSpPr>
          <p:cNvPr name="Group 2" id="2"/>
          <p:cNvGrpSpPr/>
          <p:nvPr/>
        </p:nvGrpSpPr>
        <p:grpSpPr>
          <a:xfrm rot="0">
            <a:off x="0" y="457200"/>
            <a:ext cx="18288000" cy="1322784"/>
            <a:chOff x="0" y="0"/>
            <a:chExt cx="24384000" cy="1763712"/>
          </a:xfrm>
        </p:grpSpPr>
        <p:sp>
          <p:nvSpPr>
            <p:cNvPr name="Freeform 3" id="3"/>
            <p:cNvSpPr/>
            <p:nvPr/>
          </p:nvSpPr>
          <p:spPr>
            <a:xfrm flipH="false" flipV="false" rot="0">
              <a:off x="0" y="0"/>
              <a:ext cx="24384000" cy="1763712"/>
            </a:xfrm>
            <a:custGeom>
              <a:avLst/>
              <a:gdLst/>
              <a:ahLst/>
              <a:cxnLst/>
              <a:rect r="r" b="b" t="t" l="l"/>
              <a:pathLst>
                <a:path h="1763712" w="24384000">
                  <a:moveTo>
                    <a:pt x="0" y="0"/>
                  </a:moveTo>
                  <a:lnTo>
                    <a:pt x="24384000" y="0"/>
                  </a:lnTo>
                  <a:lnTo>
                    <a:pt x="24384000" y="1763712"/>
                  </a:lnTo>
                  <a:lnTo>
                    <a:pt x="0" y="1763712"/>
                  </a:lnTo>
                  <a:close/>
                </a:path>
              </a:pathLst>
            </a:custGeom>
            <a:blipFill>
              <a:blip r:embed="rId3">
                <a:alphaModFix amt="0"/>
              </a:blip>
              <a:stretch>
                <a:fillRect l="0" t="-227911" r="0" b="-210864"/>
              </a:stretch>
            </a:blipFill>
          </p:spPr>
        </p:sp>
        <p:sp>
          <p:nvSpPr>
            <p:cNvPr name="TextBox 4" id="4"/>
            <p:cNvSpPr txBox="true"/>
            <p:nvPr/>
          </p:nvSpPr>
          <p:spPr>
            <a:xfrm>
              <a:off x="0" y="-28575"/>
              <a:ext cx="24384000" cy="1792287"/>
            </a:xfrm>
            <a:prstGeom prst="rect">
              <a:avLst/>
            </a:prstGeom>
          </p:spPr>
          <p:txBody>
            <a:bodyPr anchor="ctr" rtlCol="false" tIns="0" lIns="0" bIns="0" rIns="0"/>
            <a:lstStyle/>
            <a:p>
              <a:pPr algn="ctr">
                <a:lnSpc>
                  <a:spcPts val="7679"/>
                </a:lnSpc>
              </a:pPr>
              <a:r>
                <a:rPr lang="en-US" b="true" sz="6399">
                  <a:solidFill>
                    <a:srgbClr val="FFFFFF"/>
                  </a:solidFill>
                  <a:latin typeface="Arial Bold"/>
                  <a:ea typeface="Arial Bold"/>
                  <a:cs typeface="Arial Bold"/>
                  <a:sym typeface="Arial Bold"/>
                </a:rPr>
                <a:t>T</a:t>
              </a:r>
              <a:r>
                <a:rPr lang="en-US" b="true" sz="6399">
                  <a:solidFill>
                    <a:srgbClr val="FFFFFF"/>
                  </a:solidFill>
                  <a:latin typeface="Arial Bold"/>
                  <a:ea typeface="Arial Bold"/>
                  <a:cs typeface="Arial Bold"/>
                  <a:sym typeface="Arial Bold"/>
                </a:rPr>
                <a:t>echnologie Utilisées</a:t>
              </a:r>
            </a:p>
          </p:txBody>
        </p:sp>
      </p:grpSp>
      <p:grpSp>
        <p:nvGrpSpPr>
          <p:cNvPr name="Group 5" id="5"/>
          <p:cNvGrpSpPr/>
          <p:nvPr/>
        </p:nvGrpSpPr>
        <p:grpSpPr>
          <a:xfrm rot="0">
            <a:off x="914400" y="1554480"/>
            <a:ext cx="16459200" cy="548640"/>
            <a:chOff x="0" y="0"/>
            <a:chExt cx="21945600" cy="731520"/>
          </a:xfrm>
        </p:grpSpPr>
        <p:sp>
          <p:nvSpPr>
            <p:cNvPr name="Freeform 6" id="6"/>
            <p:cNvSpPr/>
            <p:nvPr/>
          </p:nvSpPr>
          <p:spPr>
            <a:xfrm flipH="false" flipV="false" rot="0">
              <a:off x="0" y="0"/>
              <a:ext cx="21945600" cy="731520"/>
            </a:xfrm>
            <a:custGeom>
              <a:avLst/>
              <a:gdLst/>
              <a:ahLst/>
              <a:cxnLst/>
              <a:rect r="r" b="b" t="t" l="l"/>
              <a:pathLst>
                <a:path h="731520" w="21945600">
                  <a:moveTo>
                    <a:pt x="0" y="0"/>
                  </a:moveTo>
                  <a:lnTo>
                    <a:pt x="21945600" y="0"/>
                  </a:lnTo>
                  <a:lnTo>
                    <a:pt x="21945600" y="731520"/>
                  </a:lnTo>
                  <a:lnTo>
                    <a:pt x="0" y="731520"/>
                  </a:lnTo>
                  <a:close/>
                </a:path>
              </a:pathLst>
            </a:custGeom>
            <a:blipFill>
              <a:blip r:embed="rId3">
                <a:alphaModFix amt="0"/>
              </a:blip>
              <a:stretch>
                <a:fillRect l="0" t="-534551" r="0" b="-534551"/>
              </a:stretch>
            </a:blipFill>
          </p:spPr>
        </p:sp>
        <p:sp>
          <p:nvSpPr>
            <p:cNvPr name="TextBox 7" id="7"/>
            <p:cNvSpPr txBox="true"/>
            <p:nvPr/>
          </p:nvSpPr>
          <p:spPr>
            <a:xfrm>
              <a:off x="0" y="-9525"/>
              <a:ext cx="21945600" cy="741045"/>
            </a:xfrm>
            <a:prstGeom prst="rect">
              <a:avLst/>
            </a:prstGeom>
          </p:spPr>
          <p:txBody>
            <a:bodyPr anchor="ctr" rtlCol="false" tIns="0" lIns="0" bIns="0" rIns="0"/>
            <a:lstStyle/>
            <a:p>
              <a:pPr algn="ctr">
                <a:lnSpc>
                  <a:spcPts val="2879"/>
                </a:lnSpc>
              </a:pPr>
              <a:r>
                <a:rPr lang="en-US" sz="2400" i="true">
                  <a:solidFill>
                    <a:srgbClr val="00C2D7"/>
                  </a:solidFill>
                  <a:latin typeface="Arial Italics"/>
                  <a:ea typeface="Arial Italics"/>
                  <a:cs typeface="Arial Italics"/>
                  <a:sym typeface="Arial Italics"/>
                </a:rPr>
                <a:t>L'</a:t>
              </a:r>
              <a:r>
                <a:rPr lang="en-US" sz="2400" i="true">
                  <a:solidFill>
                    <a:srgbClr val="00C2D7"/>
                  </a:solidFill>
                  <a:latin typeface="Arial Italics"/>
                  <a:ea typeface="Arial Italics"/>
                  <a:cs typeface="Arial Italics"/>
                  <a:sym typeface="Arial Italics"/>
                </a:rPr>
                <a:t>essentiel · Frontend React · Backend Django · Natif cloud</a:t>
              </a:r>
            </a:p>
          </p:txBody>
        </p:sp>
      </p:grpSp>
      <p:grpSp>
        <p:nvGrpSpPr>
          <p:cNvPr name="Group 8" id="8"/>
          <p:cNvGrpSpPr/>
          <p:nvPr/>
        </p:nvGrpSpPr>
        <p:grpSpPr>
          <a:xfrm rot="0">
            <a:off x="627383" y="2364743"/>
            <a:ext cx="5511803" cy="939803"/>
            <a:chOff x="0" y="0"/>
            <a:chExt cx="7349071" cy="1253071"/>
          </a:xfrm>
        </p:grpSpPr>
        <p:sp>
          <p:nvSpPr>
            <p:cNvPr name="Freeform 9" id="9"/>
            <p:cNvSpPr/>
            <p:nvPr/>
          </p:nvSpPr>
          <p:spPr>
            <a:xfrm flipH="false" flipV="false" rot="0">
              <a:off x="0" y="0"/>
              <a:ext cx="7349109" cy="1253109"/>
            </a:xfrm>
            <a:custGeom>
              <a:avLst/>
              <a:gdLst/>
              <a:ahLst/>
              <a:cxnLst/>
              <a:rect r="r" b="b" t="t" l="l"/>
              <a:pathLst>
                <a:path h="1253109" w="7349109">
                  <a:moveTo>
                    <a:pt x="0" y="0"/>
                  </a:moveTo>
                  <a:lnTo>
                    <a:pt x="7349109" y="0"/>
                  </a:lnTo>
                  <a:lnTo>
                    <a:pt x="7349109" y="1253109"/>
                  </a:lnTo>
                  <a:lnTo>
                    <a:pt x="0" y="1253109"/>
                  </a:lnTo>
                  <a:close/>
                </a:path>
              </a:pathLst>
            </a:custGeom>
            <a:solidFill>
              <a:srgbClr val="00C2D7"/>
            </a:solidFill>
            <a:ln w="25400" cap="sq">
              <a:solidFill>
                <a:srgbClr val="00C2D7"/>
              </a:solidFill>
              <a:prstDash val="solid"/>
              <a:miter/>
            </a:ln>
          </p:spPr>
        </p:sp>
      </p:grpSp>
      <p:grpSp>
        <p:nvGrpSpPr>
          <p:cNvPr name="Group 10" id="10"/>
          <p:cNvGrpSpPr/>
          <p:nvPr/>
        </p:nvGrpSpPr>
        <p:grpSpPr>
          <a:xfrm rot="0">
            <a:off x="640080" y="2377440"/>
            <a:ext cx="5486400" cy="914400"/>
            <a:chOff x="0" y="0"/>
            <a:chExt cx="7315200" cy="1219200"/>
          </a:xfrm>
        </p:grpSpPr>
        <p:sp>
          <p:nvSpPr>
            <p:cNvPr name="Freeform 11" id="11"/>
            <p:cNvSpPr/>
            <p:nvPr/>
          </p:nvSpPr>
          <p:spPr>
            <a:xfrm flipH="false" flipV="false" rot="0">
              <a:off x="0" y="0"/>
              <a:ext cx="7315200" cy="1219200"/>
            </a:xfrm>
            <a:custGeom>
              <a:avLst/>
              <a:gdLst/>
              <a:ahLst/>
              <a:cxnLst/>
              <a:rect r="r" b="b" t="t" l="l"/>
              <a:pathLst>
                <a:path h="1219200" w="7315200">
                  <a:moveTo>
                    <a:pt x="0" y="0"/>
                  </a:moveTo>
                  <a:lnTo>
                    <a:pt x="7315200" y="0"/>
                  </a:lnTo>
                  <a:lnTo>
                    <a:pt x="7315200" y="1219200"/>
                  </a:lnTo>
                  <a:lnTo>
                    <a:pt x="0" y="1219200"/>
                  </a:lnTo>
                  <a:close/>
                </a:path>
              </a:pathLst>
            </a:custGeom>
            <a:blipFill>
              <a:blip r:embed="rId3">
                <a:alphaModFix amt="0"/>
              </a:blip>
              <a:stretch>
                <a:fillRect l="0" t="-66910" r="0" b="-66910"/>
              </a:stretch>
            </a:blipFill>
          </p:spPr>
        </p:sp>
        <p:sp>
          <p:nvSpPr>
            <p:cNvPr name="TextBox 12" id="12"/>
            <p:cNvSpPr txBox="true"/>
            <p:nvPr/>
          </p:nvSpPr>
          <p:spPr>
            <a:xfrm>
              <a:off x="0" y="-19050"/>
              <a:ext cx="7315200" cy="1238250"/>
            </a:xfrm>
            <a:prstGeom prst="rect">
              <a:avLst/>
            </a:prstGeom>
          </p:spPr>
          <p:txBody>
            <a:bodyPr anchor="ctr" rtlCol="false" tIns="0" lIns="0" bIns="0" rIns="0"/>
            <a:lstStyle/>
            <a:p>
              <a:pPr algn="ctr">
                <a:lnSpc>
                  <a:spcPts val="3359"/>
                </a:lnSpc>
              </a:pPr>
              <a:r>
                <a:rPr lang="en-US" b="true" sz="2799">
                  <a:solidFill>
                    <a:srgbClr val="FFFFFF"/>
                  </a:solidFill>
                  <a:latin typeface="Arial Bold"/>
                  <a:ea typeface="Arial Bold"/>
                  <a:cs typeface="Arial Bold"/>
                  <a:sym typeface="Arial Bold"/>
                </a:rPr>
                <a:t>FRONTEND</a:t>
              </a:r>
            </a:p>
          </p:txBody>
        </p:sp>
      </p:grpSp>
      <p:grpSp>
        <p:nvGrpSpPr>
          <p:cNvPr name="Group 13" id="13"/>
          <p:cNvGrpSpPr/>
          <p:nvPr/>
        </p:nvGrpSpPr>
        <p:grpSpPr>
          <a:xfrm rot="0">
            <a:off x="630555" y="3282315"/>
            <a:ext cx="5505450" cy="6236970"/>
            <a:chOff x="0" y="0"/>
            <a:chExt cx="7340600" cy="8315960"/>
          </a:xfrm>
        </p:grpSpPr>
        <p:sp>
          <p:nvSpPr>
            <p:cNvPr name="Freeform 14" id="14"/>
            <p:cNvSpPr/>
            <p:nvPr/>
          </p:nvSpPr>
          <p:spPr>
            <a:xfrm flipH="false" flipV="false" rot="0">
              <a:off x="0" y="0"/>
              <a:ext cx="7340600" cy="8315960"/>
            </a:xfrm>
            <a:custGeom>
              <a:avLst/>
              <a:gdLst/>
              <a:ahLst/>
              <a:cxnLst/>
              <a:rect r="r" b="b" t="t" l="l"/>
              <a:pathLst>
                <a:path h="8315960" w="7340600">
                  <a:moveTo>
                    <a:pt x="0" y="0"/>
                  </a:moveTo>
                  <a:lnTo>
                    <a:pt x="7340600" y="0"/>
                  </a:lnTo>
                  <a:lnTo>
                    <a:pt x="7340600" y="8315960"/>
                  </a:lnTo>
                  <a:lnTo>
                    <a:pt x="0" y="8315960"/>
                  </a:lnTo>
                  <a:close/>
                </a:path>
              </a:pathLst>
            </a:custGeom>
            <a:solidFill>
              <a:srgbClr val="2E3D7C"/>
            </a:solidFill>
            <a:ln w="19050" cap="sq">
              <a:solidFill>
                <a:srgbClr val="00C2D7"/>
              </a:solidFill>
              <a:prstDash val="solid"/>
              <a:miter/>
            </a:ln>
          </p:spPr>
        </p:sp>
      </p:grpSp>
      <p:grpSp>
        <p:nvGrpSpPr>
          <p:cNvPr name="Group 15" id="15"/>
          <p:cNvGrpSpPr/>
          <p:nvPr/>
        </p:nvGrpSpPr>
        <p:grpSpPr>
          <a:xfrm rot="0">
            <a:off x="1280160" y="3840480"/>
            <a:ext cx="1097280" cy="1097280"/>
            <a:chOff x="0" y="0"/>
            <a:chExt cx="1463040" cy="1463040"/>
          </a:xfrm>
        </p:grpSpPr>
        <p:sp>
          <p:nvSpPr>
            <p:cNvPr name="Freeform 16" id="16" descr="preencoded.png"/>
            <p:cNvSpPr/>
            <p:nvPr/>
          </p:nvSpPr>
          <p:spPr>
            <a:xfrm flipH="false" flipV="false" rot="0">
              <a:off x="0" y="0"/>
              <a:ext cx="1463040" cy="1463040"/>
            </a:xfrm>
            <a:custGeom>
              <a:avLst/>
              <a:gdLst/>
              <a:ahLst/>
              <a:cxnLst/>
              <a:rect r="r" b="b" t="t" l="l"/>
              <a:pathLst>
                <a:path h="1463040" w="1463040">
                  <a:moveTo>
                    <a:pt x="0" y="0"/>
                  </a:moveTo>
                  <a:lnTo>
                    <a:pt x="1463040" y="0"/>
                  </a:lnTo>
                  <a:lnTo>
                    <a:pt x="1463040" y="1463040"/>
                  </a:lnTo>
                  <a:lnTo>
                    <a:pt x="0" y="1463040"/>
                  </a:lnTo>
                  <a:lnTo>
                    <a:pt x="0" y="0"/>
                  </a:lnTo>
                  <a:close/>
                </a:path>
              </a:pathLst>
            </a:custGeom>
            <a:blipFill>
              <a:blip r:embed="rId4"/>
              <a:stretch>
                <a:fillRect l="0" t="0" r="0" b="0"/>
              </a:stretch>
            </a:blipFill>
          </p:spPr>
        </p:sp>
      </p:grpSp>
      <p:grpSp>
        <p:nvGrpSpPr>
          <p:cNvPr name="Group 17" id="17"/>
          <p:cNvGrpSpPr/>
          <p:nvPr/>
        </p:nvGrpSpPr>
        <p:grpSpPr>
          <a:xfrm rot="0">
            <a:off x="2560320" y="3749040"/>
            <a:ext cx="3291840" cy="1280160"/>
            <a:chOff x="0" y="0"/>
            <a:chExt cx="4389120" cy="1706880"/>
          </a:xfrm>
        </p:grpSpPr>
        <p:sp>
          <p:nvSpPr>
            <p:cNvPr name="Freeform 18" id="18"/>
            <p:cNvSpPr/>
            <p:nvPr/>
          </p:nvSpPr>
          <p:spPr>
            <a:xfrm flipH="false" flipV="false" rot="0">
              <a:off x="0" y="0"/>
              <a:ext cx="4389120" cy="1706880"/>
            </a:xfrm>
            <a:custGeom>
              <a:avLst/>
              <a:gdLst/>
              <a:ahLst/>
              <a:cxnLst/>
              <a:rect r="r" b="b" t="t" l="l"/>
              <a:pathLst>
                <a:path h="1706880" w="4389120">
                  <a:moveTo>
                    <a:pt x="0" y="0"/>
                  </a:moveTo>
                  <a:lnTo>
                    <a:pt x="4389120" y="0"/>
                  </a:lnTo>
                  <a:lnTo>
                    <a:pt x="4389120" y="1706880"/>
                  </a:lnTo>
                  <a:lnTo>
                    <a:pt x="0" y="1706880"/>
                  </a:lnTo>
                  <a:close/>
                </a:path>
              </a:pathLst>
            </a:custGeom>
            <a:blipFill>
              <a:blip r:embed="rId3">
                <a:alphaModFix amt="0"/>
              </a:blip>
              <a:stretch>
                <a:fillRect l="0" t="-104" r="0" b="-104"/>
              </a:stretch>
            </a:blipFill>
          </p:spPr>
        </p:sp>
        <p:sp>
          <p:nvSpPr>
            <p:cNvPr name="TextBox 19" id="19"/>
            <p:cNvSpPr txBox="true"/>
            <p:nvPr/>
          </p:nvSpPr>
          <p:spPr>
            <a:xfrm>
              <a:off x="0" y="-19050"/>
              <a:ext cx="4389120" cy="1725930"/>
            </a:xfrm>
            <a:prstGeom prst="rect">
              <a:avLst/>
            </a:prstGeom>
          </p:spPr>
          <p:txBody>
            <a:bodyPr anchor="ctr" rtlCol="false" tIns="0" lIns="0" bIns="0" rIns="0"/>
            <a:lstStyle/>
            <a:p>
              <a:pPr algn="l">
                <a:lnSpc>
                  <a:spcPts val="3600"/>
                </a:lnSpc>
              </a:pPr>
              <a:r>
                <a:rPr lang="en-US" b="true" sz="3000">
                  <a:solidFill>
                    <a:srgbClr val="FFFFFF"/>
                  </a:solidFill>
                  <a:latin typeface="Arial Bold"/>
                  <a:ea typeface="Arial Bold"/>
                  <a:cs typeface="Arial Bold"/>
                  <a:sym typeface="Arial Bold"/>
                </a:rPr>
                <a:t>React </a:t>
              </a:r>
            </a:p>
          </p:txBody>
        </p:sp>
      </p:grpSp>
      <p:grpSp>
        <p:nvGrpSpPr>
          <p:cNvPr name="Group 20" id="20"/>
          <p:cNvGrpSpPr/>
          <p:nvPr/>
        </p:nvGrpSpPr>
        <p:grpSpPr>
          <a:xfrm rot="0">
            <a:off x="1205865" y="6492240"/>
            <a:ext cx="1097280" cy="1097280"/>
            <a:chOff x="0" y="0"/>
            <a:chExt cx="1463040" cy="1463040"/>
          </a:xfrm>
        </p:grpSpPr>
        <p:sp>
          <p:nvSpPr>
            <p:cNvPr name="Freeform 21" id="21" descr="preencoded.png"/>
            <p:cNvSpPr/>
            <p:nvPr/>
          </p:nvSpPr>
          <p:spPr>
            <a:xfrm flipH="false" flipV="false" rot="0">
              <a:off x="0" y="0"/>
              <a:ext cx="1463040" cy="1463040"/>
            </a:xfrm>
            <a:custGeom>
              <a:avLst/>
              <a:gdLst/>
              <a:ahLst/>
              <a:cxnLst/>
              <a:rect r="r" b="b" t="t" l="l"/>
              <a:pathLst>
                <a:path h="1463040" w="1463040">
                  <a:moveTo>
                    <a:pt x="0" y="0"/>
                  </a:moveTo>
                  <a:lnTo>
                    <a:pt x="1463040" y="0"/>
                  </a:lnTo>
                  <a:lnTo>
                    <a:pt x="1463040" y="1463040"/>
                  </a:lnTo>
                  <a:lnTo>
                    <a:pt x="0" y="1463040"/>
                  </a:lnTo>
                  <a:lnTo>
                    <a:pt x="0" y="0"/>
                  </a:lnTo>
                  <a:close/>
                </a:path>
              </a:pathLst>
            </a:custGeom>
            <a:blipFill>
              <a:blip r:embed="rId5"/>
              <a:stretch>
                <a:fillRect l="0" t="0" r="0" b="0"/>
              </a:stretch>
            </a:blipFill>
          </p:spPr>
        </p:sp>
      </p:grpSp>
      <p:grpSp>
        <p:nvGrpSpPr>
          <p:cNvPr name="Group 22" id="22"/>
          <p:cNvGrpSpPr/>
          <p:nvPr/>
        </p:nvGrpSpPr>
        <p:grpSpPr>
          <a:xfrm rot="0">
            <a:off x="2714517" y="6375976"/>
            <a:ext cx="3291840" cy="1280160"/>
            <a:chOff x="0" y="0"/>
            <a:chExt cx="4389120" cy="1706880"/>
          </a:xfrm>
        </p:grpSpPr>
        <p:sp>
          <p:nvSpPr>
            <p:cNvPr name="Freeform 23" id="23"/>
            <p:cNvSpPr/>
            <p:nvPr/>
          </p:nvSpPr>
          <p:spPr>
            <a:xfrm flipH="false" flipV="false" rot="0">
              <a:off x="0" y="0"/>
              <a:ext cx="4389120" cy="1706880"/>
            </a:xfrm>
            <a:custGeom>
              <a:avLst/>
              <a:gdLst/>
              <a:ahLst/>
              <a:cxnLst/>
              <a:rect r="r" b="b" t="t" l="l"/>
              <a:pathLst>
                <a:path h="1706880" w="4389120">
                  <a:moveTo>
                    <a:pt x="0" y="0"/>
                  </a:moveTo>
                  <a:lnTo>
                    <a:pt x="4389120" y="0"/>
                  </a:lnTo>
                  <a:lnTo>
                    <a:pt x="4389120" y="1706880"/>
                  </a:lnTo>
                  <a:lnTo>
                    <a:pt x="0" y="1706880"/>
                  </a:lnTo>
                  <a:close/>
                </a:path>
              </a:pathLst>
            </a:custGeom>
            <a:blipFill>
              <a:blip r:embed="rId3">
                <a:alphaModFix amt="0"/>
              </a:blip>
              <a:stretch>
                <a:fillRect l="0" t="-104" r="0" b="-104"/>
              </a:stretch>
            </a:blipFill>
          </p:spPr>
        </p:sp>
        <p:sp>
          <p:nvSpPr>
            <p:cNvPr name="TextBox 24" id="24"/>
            <p:cNvSpPr txBox="true"/>
            <p:nvPr/>
          </p:nvSpPr>
          <p:spPr>
            <a:xfrm>
              <a:off x="0" y="-19050"/>
              <a:ext cx="4389120" cy="1725930"/>
            </a:xfrm>
            <a:prstGeom prst="rect">
              <a:avLst/>
            </a:prstGeom>
          </p:spPr>
          <p:txBody>
            <a:bodyPr anchor="ctr" rtlCol="false" tIns="0" lIns="0" bIns="0" rIns="0"/>
            <a:lstStyle/>
            <a:p>
              <a:pPr algn="l">
                <a:lnSpc>
                  <a:spcPts val="3600"/>
                </a:lnSpc>
              </a:pPr>
              <a:r>
                <a:rPr lang="en-US" b="true" sz="3000">
                  <a:solidFill>
                    <a:srgbClr val="FFFFFF"/>
                  </a:solidFill>
                  <a:latin typeface="Arial Bold"/>
                  <a:ea typeface="Arial Bold"/>
                  <a:cs typeface="Arial Bold"/>
                  <a:sym typeface="Arial Bold"/>
                </a:rPr>
                <a:t>Vite</a:t>
              </a:r>
            </a:p>
          </p:txBody>
        </p:sp>
      </p:grpSp>
      <p:grpSp>
        <p:nvGrpSpPr>
          <p:cNvPr name="Group 25" id="25"/>
          <p:cNvGrpSpPr/>
          <p:nvPr/>
        </p:nvGrpSpPr>
        <p:grpSpPr>
          <a:xfrm rot="0">
            <a:off x="1280160" y="7901507"/>
            <a:ext cx="1097280" cy="1097280"/>
            <a:chOff x="0" y="0"/>
            <a:chExt cx="1463040" cy="1463040"/>
          </a:xfrm>
        </p:grpSpPr>
        <p:sp>
          <p:nvSpPr>
            <p:cNvPr name="Freeform 26" id="26" descr="preencoded.png"/>
            <p:cNvSpPr/>
            <p:nvPr/>
          </p:nvSpPr>
          <p:spPr>
            <a:xfrm flipH="false" flipV="false" rot="0">
              <a:off x="0" y="0"/>
              <a:ext cx="1463040" cy="1463040"/>
            </a:xfrm>
            <a:custGeom>
              <a:avLst/>
              <a:gdLst/>
              <a:ahLst/>
              <a:cxnLst/>
              <a:rect r="r" b="b" t="t" l="l"/>
              <a:pathLst>
                <a:path h="1463040" w="1463040">
                  <a:moveTo>
                    <a:pt x="0" y="0"/>
                  </a:moveTo>
                  <a:lnTo>
                    <a:pt x="1463040" y="0"/>
                  </a:lnTo>
                  <a:lnTo>
                    <a:pt x="1463040" y="1463040"/>
                  </a:lnTo>
                  <a:lnTo>
                    <a:pt x="0" y="1463040"/>
                  </a:lnTo>
                  <a:lnTo>
                    <a:pt x="0" y="0"/>
                  </a:lnTo>
                  <a:close/>
                </a:path>
              </a:pathLst>
            </a:custGeom>
            <a:blipFill>
              <a:blip r:embed="rId6"/>
              <a:stretch>
                <a:fillRect l="0" t="0" r="0" b="0"/>
              </a:stretch>
            </a:blipFill>
          </p:spPr>
        </p:sp>
      </p:grpSp>
      <p:grpSp>
        <p:nvGrpSpPr>
          <p:cNvPr name="Group 27" id="27"/>
          <p:cNvGrpSpPr/>
          <p:nvPr/>
        </p:nvGrpSpPr>
        <p:grpSpPr>
          <a:xfrm rot="0">
            <a:off x="2648432" y="7901507"/>
            <a:ext cx="3291840" cy="1280160"/>
            <a:chOff x="0" y="0"/>
            <a:chExt cx="4389120" cy="1706880"/>
          </a:xfrm>
        </p:grpSpPr>
        <p:sp>
          <p:nvSpPr>
            <p:cNvPr name="Freeform 28" id="28"/>
            <p:cNvSpPr/>
            <p:nvPr/>
          </p:nvSpPr>
          <p:spPr>
            <a:xfrm flipH="false" flipV="false" rot="0">
              <a:off x="0" y="0"/>
              <a:ext cx="4389120" cy="1706880"/>
            </a:xfrm>
            <a:custGeom>
              <a:avLst/>
              <a:gdLst/>
              <a:ahLst/>
              <a:cxnLst/>
              <a:rect r="r" b="b" t="t" l="l"/>
              <a:pathLst>
                <a:path h="1706880" w="4389120">
                  <a:moveTo>
                    <a:pt x="0" y="0"/>
                  </a:moveTo>
                  <a:lnTo>
                    <a:pt x="4389120" y="0"/>
                  </a:lnTo>
                  <a:lnTo>
                    <a:pt x="4389120" y="1706880"/>
                  </a:lnTo>
                  <a:lnTo>
                    <a:pt x="0" y="1706880"/>
                  </a:lnTo>
                  <a:close/>
                </a:path>
              </a:pathLst>
            </a:custGeom>
            <a:blipFill>
              <a:blip r:embed="rId7">
                <a:alphaModFix amt="0"/>
              </a:blip>
              <a:stretch>
                <a:fillRect l="0" t="-57142" r="0" b="-57142"/>
              </a:stretch>
            </a:blipFill>
          </p:spPr>
        </p:sp>
        <p:sp>
          <p:nvSpPr>
            <p:cNvPr name="TextBox 29" id="29"/>
            <p:cNvSpPr txBox="true"/>
            <p:nvPr/>
          </p:nvSpPr>
          <p:spPr>
            <a:xfrm>
              <a:off x="0" y="-19050"/>
              <a:ext cx="4389120" cy="1725930"/>
            </a:xfrm>
            <a:prstGeom prst="rect">
              <a:avLst/>
            </a:prstGeom>
          </p:spPr>
          <p:txBody>
            <a:bodyPr anchor="ctr" rtlCol="false" tIns="0" lIns="0" bIns="0" rIns="0"/>
            <a:lstStyle/>
            <a:p>
              <a:pPr algn="l">
                <a:lnSpc>
                  <a:spcPts val="3600"/>
                </a:lnSpc>
              </a:pPr>
              <a:r>
                <a:rPr lang="en-US" b="true" sz="3000">
                  <a:solidFill>
                    <a:srgbClr val="FFFFFF"/>
                  </a:solidFill>
                  <a:latin typeface="Arial Bold"/>
                  <a:ea typeface="Arial Bold"/>
                  <a:cs typeface="Arial Bold"/>
                  <a:sym typeface="Arial Bold"/>
                </a:rPr>
                <a:t>Tailwind CSS</a:t>
              </a:r>
            </a:p>
          </p:txBody>
        </p:sp>
      </p:grpSp>
      <p:grpSp>
        <p:nvGrpSpPr>
          <p:cNvPr name="Group 30" id="30"/>
          <p:cNvGrpSpPr/>
          <p:nvPr/>
        </p:nvGrpSpPr>
        <p:grpSpPr>
          <a:xfrm rot="0">
            <a:off x="6388103" y="2364743"/>
            <a:ext cx="5511803" cy="939803"/>
            <a:chOff x="0" y="0"/>
            <a:chExt cx="7349071" cy="1253071"/>
          </a:xfrm>
        </p:grpSpPr>
        <p:sp>
          <p:nvSpPr>
            <p:cNvPr name="Freeform 31" id="31"/>
            <p:cNvSpPr/>
            <p:nvPr/>
          </p:nvSpPr>
          <p:spPr>
            <a:xfrm flipH="false" flipV="false" rot="0">
              <a:off x="0" y="0"/>
              <a:ext cx="7349109" cy="1253109"/>
            </a:xfrm>
            <a:custGeom>
              <a:avLst/>
              <a:gdLst/>
              <a:ahLst/>
              <a:cxnLst/>
              <a:rect r="r" b="b" t="t" l="l"/>
              <a:pathLst>
                <a:path h="1253109" w="7349109">
                  <a:moveTo>
                    <a:pt x="0" y="0"/>
                  </a:moveTo>
                  <a:lnTo>
                    <a:pt x="7349109" y="0"/>
                  </a:lnTo>
                  <a:lnTo>
                    <a:pt x="7349109" y="1253109"/>
                  </a:lnTo>
                  <a:lnTo>
                    <a:pt x="0" y="1253109"/>
                  </a:lnTo>
                  <a:close/>
                </a:path>
              </a:pathLst>
            </a:custGeom>
            <a:solidFill>
              <a:srgbClr val="8B5CF6"/>
            </a:solidFill>
            <a:ln w="25400" cap="sq">
              <a:solidFill>
                <a:srgbClr val="8B5CF6"/>
              </a:solidFill>
              <a:prstDash val="solid"/>
              <a:miter/>
            </a:ln>
          </p:spPr>
        </p:sp>
      </p:grpSp>
      <p:grpSp>
        <p:nvGrpSpPr>
          <p:cNvPr name="Group 32" id="32"/>
          <p:cNvGrpSpPr/>
          <p:nvPr/>
        </p:nvGrpSpPr>
        <p:grpSpPr>
          <a:xfrm rot="0">
            <a:off x="6400800" y="2377440"/>
            <a:ext cx="5486400" cy="914400"/>
            <a:chOff x="0" y="0"/>
            <a:chExt cx="7315200" cy="1219200"/>
          </a:xfrm>
        </p:grpSpPr>
        <p:sp>
          <p:nvSpPr>
            <p:cNvPr name="Freeform 33" id="33"/>
            <p:cNvSpPr/>
            <p:nvPr/>
          </p:nvSpPr>
          <p:spPr>
            <a:xfrm flipH="false" flipV="false" rot="0">
              <a:off x="0" y="0"/>
              <a:ext cx="7315200" cy="1219200"/>
            </a:xfrm>
            <a:custGeom>
              <a:avLst/>
              <a:gdLst/>
              <a:ahLst/>
              <a:cxnLst/>
              <a:rect r="r" b="b" t="t" l="l"/>
              <a:pathLst>
                <a:path h="1219200" w="7315200">
                  <a:moveTo>
                    <a:pt x="0" y="0"/>
                  </a:moveTo>
                  <a:lnTo>
                    <a:pt x="7315200" y="0"/>
                  </a:lnTo>
                  <a:lnTo>
                    <a:pt x="7315200" y="1219200"/>
                  </a:lnTo>
                  <a:lnTo>
                    <a:pt x="0" y="1219200"/>
                  </a:lnTo>
                  <a:close/>
                </a:path>
              </a:pathLst>
            </a:custGeom>
            <a:blipFill>
              <a:blip r:embed="rId3">
                <a:alphaModFix amt="0"/>
              </a:blip>
              <a:stretch>
                <a:fillRect l="0" t="-66910" r="0" b="-66910"/>
              </a:stretch>
            </a:blipFill>
          </p:spPr>
        </p:sp>
        <p:sp>
          <p:nvSpPr>
            <p:cNvPr name="TextBox 34" id="34"/>
            <p:cNvSpPr txBox="true"/>
            <p:nvPr/>
          </p:nvSpPr>
          <p:spPr>
            <a:xfrm>
              <a:off x="0" y="-19050"/>
              <a:ext cx="7315200" cy="1238250"/>
            </a:xfrm>
            <a:prstGeom prst="rect">
              <a:avLst/>
            </a:prstGeom>
          </p:spPr>
          <p:txBody>
            <a:bodyPr anchor="ctr" rtlCol="false" tIns="0" lIns="0" bIns="0" rIns="0"/>
            <a:lstStyle/>
            <a:p>
              <a:pPr algn="ctr">
                <a:lnSpc>
                  <a:spcPts val="3359"/>
                </a:lnSpc>
              </a:pPr>
              <a:r>
                <a:rPr lang="en-US" b="true" sz="2799">
                  <a:solidFill>
                    <a:srgbClr val="FFFFFF"/>
                  </a:solidFill>
                  <a:latin typeface="Arial Bold"/>
                  <a:ea typeface="Arial Bold"/>
                  <a:cs typeface="Arial Bold"/>
                  <a:sym typeface="Arial Bold"/>
                </a:rPr>
                <a:t>BACKEND</a:t>
              </a:r>
            </a:p>
          </p:txBody>
        </p:sp>
      </p:grpSp>
      <p:grpSp>
        <p:nvGrpSpPr>
          <p:cNvPr name="Group 35" id="35"/>
          <p:cNvGrpSpPr/>
          <p:nvPr/>
        </p:nvGrpSpPr>
        <p:grpSpPr>
          <a:xfrm rot="0">
            <a:off x="6391275" y="3282315"/>
            <a:ext cx="5505450" cy="6236970"/>
            <a:chOff x="0" y="0"/>
            <a:chExt cx="7340600" cy="8315960"/>
          </a:xfrm>
        </p:grpSpPr>
        <p:sp>
          <p:nvSpPr>
            <p:cNvPr name="Freeform 36" id="36"/>
            <p:cNvSpPr/>
            <p:nvPr/>
          </p:nvSpPr>
          <p:spPr>
            <a:xfrm flipH="false" flipV="false" rot="0">
              <a:off x="0" y="0"/>
              <a:ext cx="7340600" cy="8315960"/>
            </a:xfrm>
            <a:custGeom>
              <a:avLst/>
              <a:gdLst/>
              <a:ahLst/>
              <a:cxnLst/>
              <a:rect r="r" b="b" t="t" l="l"/>
              <a:pathLst>
                <a:path h="8315960" w="7340600">
                  <a:moveTo>
                    <a:pt x="0" y="0"/>
                  </a:moveTo>
                  <a:lnTo>
                    <a:pt x="7340600" y="0"/>
                  </a:lnTo>
                  <a:lnTo>
                    <a:pt x="7340600" y="8315960"/>
                  </a:lnTo>
                  <a:lnTo>
                    <a:pt x="0" y="8315960"/>
                  </a:lnTo>
                  <a:close/>
                </a:path>
              </a:pathLst>
            </a:custGeom>
            <a:solidFill>
              <a:srgbClr val="2E3D7C"/>
            </a:solidFill>
            <a:ln w="19050" cap="sq">
              <a:solidFill>
                <a:srgbClr val="8B5CF6"/>
              </a:solidFill>
              <a:prstDash val="solid"/>
              <a:miter/>
            </a:ln>
          </p:spPr>
        </p:sp>
      </p:grpSp>
      <p:grpSp>
        <p:nvGrpSpPr>
          <p:cNvPr name="Group 37" id="37"/>
          <p:cNvGrpSpPr/>
          <p:nvPr/>
        </p:nvGrpSpPr>
        <p:grpSpPr>
          <a:xfrm rot="0">
            <a:off x="7040880" y="3840480"/>
            <a:ext cx="1097280" cy="1097280"/>
            <a:chOff x="0" y="0"/>
            <a:chExt cx="1463040" cy="1463040"/>
          </a:xfrm>
        </p:grpSpPr>
        <p:sp>
          <p:nvSpPr>
            <p:cNvPr name="Freeform 38" id="38" descr="preencoded.png"/>
            <p:cNvSpPr/>
            <p:nvPr/>
          </p:nvSpPr>
          <p:spPr>
            <a:xfrm flipH="false" flipV="false" rot="0">
              <a:off x="0" y="0"/>
              <a:ext cx="1463040" cy="1463040"/>
            </a:xfrm>
            <a:custGeom>
              <a:avLst/>
              <a:gdLst/>
              <a:ahLst/>
              <a:cxnLst/>
              <a:rect r="r" b="b" t="t" l="l"/>
              <a:pathLst>
                <a:path h="1463040" w="1463040">
                  <a:moveTo>
                    <a:pt x="0" y="0"/>
                  </a:moveTo>
                  <a:lnTo>
                    <a:pt x="1463040" y="0"/>
                  </a:lnTo>
                  <a:lnTo>
                    <a:pt x="1463040" y="1463040"/>
                  </a:lnTo>
                  <a:lnTo>
                    <a:pt x="0" y="1463040"/>
                  </a:lnTo>
                  <a:lnTo>
                    <a:pt x="0" y="0"/>
                  </a:lnTo>
                  <a:close/>
                </a:path>
              </a:pathLst>
            </a:custGeom>
            <a:blipFill>
              <a:blip r:embed="rId8"/>
              <a:stretch>
                <a:fillRect l="0" t="0" r="0" b="0"/>
              </a:stretch>
            </a:blipFill>
          </p:spPr>
        </p:sp>
      </p:grpSp>
      <p:grpSp>
        <p:nvGrpSpPr>
          <p:cNvPr name="Group 39" id="39"/>
          <p:cNvGrpSpPr/>
          <p:nvPr/>
        </p:nvGrpSpPr>
        <p:grpSpPr>
          <a:xfrm rot="0">
            <a:off x="8321040" y="3749040"/>
            <a:ext cx="3291840" cy="1280160"/>
            <a:chOff x="0" y="0"/>
            <a:chExt cx="4389120" cy="1706880"/>
          </a:xfrm>
        </p:grpSpPr>
        <p:sp>
          <p:nvSpPr>
            <p:cNvPr name="Freeform 40" id="40"/>
            <p:cNvSpPr/>
            <p:nvPr/>
          </p:nvSpPr>
          <p:spPr>
            <a:xfrm flipH="false" flipV="false" rot="0">
              <a:off x="0" y="0"/>
              <a:ext cx="4389120" cy="1706880"/>
            </a:xfrm>
            <a:custGeom>
              <a:avLst/>
              <a:gdLst/>
              <a:ahLst/>
              <a:cxnLst/>
              <a:rect r="r" b="b" t="t" l="l"/>
              <a:pathLst>
                <a:path h="1706880" w="4389120">
                  <a:moveTo>
                    <a:pt x="0" y="0"/>
                  </a:moveTo>
                  <a:lnTo>
                    <a:pt x="4389120" y="0"/>
                  </a:lnTo>
                  <a:lnTo>
                    <a:pt x="4389120" y="1706880"/>
                  </a:lnTo>
                  <a:lnTo>
                    <a:pt x="0" y="1706880"/>
                  </a:lnTo>
                  <a:close/>
                </a:path>
              </a:pathLst>
            </a:custGeom>
            <a:blipFill>
              <a:blip r:embed="rId3">
                <a:alphaModFix amt="0"/>
              </a:blip>
              <a:stretch>
                <a:fillRect l="0" t="-104" r="0" b="-104"/>
              </a:stretch>
            </a:blipFill>
          </p:spPr>
        </p:sp>
        <p:sp>
          <p:nvSpPr>
            <p:cNvPr name="TextBox 41" id="41"/>
            <p:cNvSpPr txBox="true"/>
            <p:nvPr/>
          </p:nvSpPr>
          <p:spPr>
            <a:xfrm>
              <a:off x="0" y="-19050"/>
              <a:ext cx="4389120" cy="1725930"/>
            </a:xfrm>
            <a:prstGeom prst="rect">
              <a:avLst/>
            </a:prstGeom>
          </p:spPr>
          <p:txBody>
            <a:bodyPr anchor="ctr" rtlCol="false" tIns="0" lIns="0" bIns="0" rIns="0"/>
            <a:lstStyle/>
            <a:p>
              <a:pPr algn="l">
                <a:lnSpc>
                  <a:spcPts val="3600"/>
                </a:lnSpc>
              </a:pPr>
              <a:r>
                <a:rPr lang="en-US" b="true" sz="3000">
                  <a:solidFill>
                    <a:srgbClr val="FFFFFF"/>
                  </a:solidFill>
                  <a:latin typeface="Arial Bold"/>
                  <a:ea typeface="Arial Bold"/>
                  <a:cs typeface="Arial Bold"/>
                  <a:sym typeface="Arial Bold"/>
                </a:rPr>
                <a:t>Django </a:t>
              </a:r>
            </a:p>
          </p:txBody>
        </p:sp>
      </p:grpSp>
      <p:grpSp>
        <p:nvGrpSpPr>
          <p:cNvPr name="Group 42" id="42"/>
          <p:cNvGrpSpPr/>
          <p:nvPr/>
        </p:nvGrpSpPr>
        <p:grpSpPr>
          <a:xfrm rot="0">
            <a:off x="7040880" y="5166360"/>
            <a:ext cx="1097280" cy="1097280"/>
            <a:chOff x="0" y="0"/>
            <a:chExt cx="1463040" cy="1463040"/>
          </a:xfrm>
        </p:grpSpPr>
        <p:sp>
          <p:nvSpPr>
            <p:cNvPr name="Freeform 43" id="43" descr="preencoded.png"/>
            <p:cNvSpPr/>
            <p:nvPr/>
          </p:nvSpPr>
          <p:spPr>
            <a:xfrm flipH="false" flipV="false" rot="0">
              <a:off x="0" y="0"/>
              <a:ext cx="1463040" cy="1463040"/>
            </a:xfrm>
            <a:custGeom>
              <a:avLst/>
              <a:gdLst/>
              <a:ahLst/>
              <a:cxnLst/>
              <a:rect r="r" b="b" t="t" l="l"/>
              <a:pathLst>
                <a:path h="1463040" w="1463040">
                  <a:moveTo>
                    <a:pt x="0" y="0"/>
                  </a:moveTo>
                  <a:lnTo>
                    <a:pt x="1463040" y="0"/>
                  </a:lnTo>
                  <a:lnTo>
                    <a:pt x="1463040" y="1463040"/>
                  </a:lnTo>
                  <a:lnTo>
                    <a:pt x="0" y="1463040"/>
                  </a:lnTo>
                  <a:lnTo>
                    <a:pt x="0" y="0"/>
                  </a:lnTo>
                  <a:close/>
                </a:path>
              </a:pathLst>
            </a:custGeom>
            <a:blipFill>
              <a:blip r:embed="rId9"/>
              <a:stretch>
                <a:fillRect l="0" t="0" r="0" b="0"/>
              </a:stretch>
            </a:blipFill>
          </p:spPr>
        </p:sp>
      </p:grpSp>
      <p:grpSp>
        <p:nvGrpSpPr>
          <p:cNvPr name="Group 44" id="44"/>
          <p:cNvGrpSpPr/>
          <p:nvPr/>
        </p:nvGrpSpPr>
        <p:grpSpPr>
          <a:xfrm rot="0">
            <a:off x="8321040" y="5074920"/>
            <a:ext cx="3291840" cy="1280160"/>
            <a:chOff x="0" y="0"/>
            <a:chExt cx="4389120" cy="1706880"/>
          </a:xfrm>
        </p:grpSpPr>
        <p:sp>
          <p:nvSpPr>
            <p:cNvPr name="Freeform 45" id="45"/>
            <p:cNvSpPr/>
            <p:nvPr/>
          </p:nvSpPr>
          <p:spPr>
            <a:xfrm flipH="false" flipV="false" rot="0">
              <a:off x="0" y="0"/>
              <a:ext cx="4389120" cy="1706880"/>
            </a:xfrm>
            <a:custGeom>
              <a:avLst/>
              <a:gdLst/>
              <a:ahLst/>
              <a:cxnLst/>
              <a:rect r="r" b="b" t="t" l="l"/>
              <a:pathLst>
                <a:path h="1706880" w="4389120">
                  <a:moveTo>
                    <a:pt x="0" y="0"/>
                  </a:moveTo>
                  <a:lnTo>
                    <a:pt x="4389120" y="0"/>
                  </a:lnTo>
                  <a:lnTo>
                    <a:pt x="4389120" y="1706880"/>
                  </a:lnTo>
                  <a:lnTo>
                    <a:pt x="0" y="1706880"/>
                  </a:lnTo>
                  <a:close/>
                </a:path>
              </a:pathLst>
            </a:custGeom>
            <a:blipFill>
              <a:blip r:embed="rId3">
                <a:alphaModFix amt="0"/>
              </a:blip>
              <a:stretch>
                <a:fillRect l="0" t="-104" r="0" b="-104"/>
              </a:stretch>
            </a:blipFill>
          </p:spPr>
        </p:sp>
        <p:sp>
          <p:nvSpPr>
            <p:cNvPr name="TextBox 46" id="46"/>
            <p:cNvSpPr txBox="true"/>
            <p:nvPr/>
          </p:nvSpPr>
          <p:spPr>
            <a:xfrm>
              <a:off x="0" y="-19050"/>
              <a:ext cx="4389120" cy="1725930"/>
            </a:xfrm>
            <a:prstGeom prst="rect">
              <a:avLst/>
            </a:prstGeom>
          </p:spPr>
          <p:txBody>
            <a:bodyPr anchor="ctr" rtlCol="false" tIns="0" lIns="0" bIns="0" rIns="0"/>
            <a:lstStyle/>
            <a:p>
              <a:pPr algn="l">
                <a:lnSpc>
                  <a:spcPts val="3600"/>
                </a:lnSpc>
              </a:pPr>
              <a:r>
                <a:rPr lang="en-US" b="true" sz="3000">
                  <a:solidFill>
                    <a:srgbClr val="FFFFFF"/>
                  </a:solidFill>
                  <a:latin typeface="Arial Bold"/>
                  <a:ea typeface="Arial Bold"/>
                  <a:cs typeface="Arial Bold"/>
                  <a:sym typeface="Arial Bold"/>
                </a:rPr>
                <a:t>PostgreSQL</a:t>
              </a:r>
            </a:p>
          </p:txBody>
        </p:sp>
      </p:grpSp>
      <p:grpSp>
        <p:nvGrpSpPr>
          <p:cNvPr name="Group 47" id="47"/>
          <p:cNvGrpSpPr/>
          <p:nvPr/>
        </p:nvGrpSpPr>
        <p:grpSpPr>
          <a:xfrm rot="0">
            <a:off x="7040880" y="6492240"/>
            <a:ext cx="1097280" cy="1097280"/>
            <a:chOff x="0" y="0"/>
            <a:chExt cx="1463040" cy="1463040"/>
          </a:xfrm>
        </p:grpSpPr>
        <p:sp>
          <p:nvSpPr>
            <p:cNvPr name="Freeform 48" id="48" descr="preencoded.png"/>
            <p:cNvSpPr/>
            <p:nvPr/>
          </p:nvSpPr>
          <p:spPr>
            <a:xfrm flipH="false" flipV="false" rot="0">
              <a:off x="0" y="0"/>
              <a:ext cx="1463040" cy="1463040"/>
            </a:xfrm>
            <a:custGeom>
              <a:avLst/>
              <a:gdLst/>
              <a:ahLst/>
              <a:cxnLst/>
              <a:rect r="r" b="b" t="t" l="l"/>
              <a:pathLst>
                <a:path h="1463040" w="1463040">
                  <a:moveTo>
                    <a:pt x="0" y="0"/>
                  </a:moveTo>
                  <a:lnTo>
                    <a:pt x="1463040" y="0"/>
                  </a:lnTo>
                  <a:lnTo>
                    <a:pt x="1463040" y="1463040"/>
                  </a:lnTo>
                  <a:lnTo>
                    <a:pt x="0" y="1463040"/>
                  </a:lnTo>
                  <a:lnTo>
                    <a:pt x="0" y="0"/>
                  </a:lnTo>
                  <a:close/>
                </a:path>
              </a:pathLst>
            </a:custGeom>
            <a:blipFill>
              <a:blip r:embed="rId10"/>
              <a:stretch>
                <a:fillRect l="0" t="0" r="0" b="0"/>
              </a:stretch>
            </a:blipFill>
          </p:spPr>
        </p:sp>
      </p:grpSp>
      <p:grpSp>
        <p:nvGrpSpPr>
          <p:cNvPr name="Group 49" id="49"/>
          <p:cNvGrpSpPr/>
          <p:nvPr/>
        </p:nvGrpSpPr>
        <p:grpSpPr>
          <a:xfrm rot="0">
            <a:off x="8321040" y="6400800"/>
            <a:ext cx="3291840" cy="1280160"/>
            <a:chOff x="0" y="0"/>
            <a:chExt cx="4389120" cy="1706880"/>
          </a:xfrm>
        </p:grpSpPr>
        <p:sp>
          <p:nvSpPr>
            <p:cNvPr name="Freeform 50" id="50"/>
            <p:cNvSpPr/>
            <p:nvPr/>
          </p:nvSpPr>
          <p:spPr>
            <a:xfrm flipH="false" flipV="false" rot="0">
              <a:off x="0" y="0"/>
              <a:ext cx="4389120" cy="1706880"/>
            </a:xfrm>
            <a:custGeom>
              <a:avLst/>
              <a:gdLst/>
              <a:ahLst/>
              <a:cxnLst/>
              <a:rect r="r" b="b" t="t" l="l"/>
              <a:pathLst>
                <a:path h="1706880" w="4389120">
                  <a:moveTo>
                    <a:pt x="0" y="0"/>
                  </a:moveTo>
                  <a:lnTo>
                    <a:pt x="4389120" y="0"/>
                  </a:lnTo>
                  <a:lnTo>
                    <a:pt x="4389120" y="1706880"/>
                  </a:lnTo>
                  <a:lnTo>
                    <a:pt x="0" y="1706880"/>
                  </a:lnTo>
                  <a:close/>
                </a:path>
              </a:pathLst>
            </a:custGeom>
            <a:blipFill>
              <a:blip r:embed="rId3">
                <a:alphaModFix amt="0"/>
              </a:blip>
              <a:stretch>
                <a:fillRect l="0" t="-104" r="0" b="-104"/>
              </a:stretch>
            </a:blipFill>
          </p:spPr>
        </p:sp>
        <p:sp>
          <p:nvSpPr>
            <p:cNvPr name="TextBox 51" id="51"/>
            <p:cNvSpPr txBox="true"/>
            <p:nvPr/>
          </p:nvSpPr>
          <p:spPr>
            <a:xfrm>
              <a:off x="0" y="-19050"/>
              <a:ext cx="4389120" cy="1725930"/>
            </a:xfrm>
            <a:prstGeom prst="rect">
              <a:avLst/>
            </a:prstGeom>
          </p:spPr>
          <p:txBody>
            <a:bodyPr anchor="ctr" rtlCol="false" tIns="0" lIns="0" bIns="0" rIns="0"/>
            <a:lstStyle/>
            <a:p>
              <a:pPr algn="l">
                <a:lnSpc>
                  <a:spcPts val="3600"/>
                </a:lnSpc>
              </a:pPr>
              <a:r>
                <a:rPr lang="en-US" b="true" sz="3000">
                  <a:solidFill>
                    <a:srgbClr val="FFFFFF"/>
                  </a:solidFill>
                  <a:latin typeface="Arial Bold"/>
                  <a:ea typeface="Arial Bold"/>
                  <a:cs typeface="Arial Bold"/>
                  <a:sym typeface="Arial Bold"/>
                </a:rPr>
                <a:t>Celery</a:t>
              </a:r>
            </a:p>
          </p:txBody>
        </p:sp>
      </p:grpSp>
      <p:grpSp>
        <p:nvGrpSpPr>
          <p:cNvPr name="Group 52" id="52"/>
          <p:cNvGrpSpPr/>
          <p:nvPr/>
        </p:nvGrpSpPr>
        <p:grpSpPr>
          <a:xfrm rot="0">
            <a:off x="7040880" y="7818120"/>
            <a:ext cx="1097280" cy="1097280"/>
            <a:chOff x="0" y="0"/>
            <a:chExt cx="1463040" cy="1463040"/>
          </a:xfrm>
        </p:grpSpPr>
        <p:sp>
          <p:nvSpPr>
            <p:cNvPr name="Freeform 53" id="53" descr="preencoded.png"/>
            <p:cNvSpPr/>
            <p:nvPr/>
          </p:nvSpPr>
          <p:spPr>
            <a:xfrm flipH="false" flipV="false" rot="0">
              <a:off x="0" y="0"/>
              <a:ext cx="1463040" cy="1463040"/>
            </a:xfrm>
            <a:custGeom>
              <a:avLst/>
              <a:gdLst/>
              <a:ahLst/>
              <a:cxnLst/>
              <a:rect r="r" b="b" t="t" l="l"/>
              <a:pathLst>
                <a:path h="1463040" w="1463040">
                  <a:moveTo>
                    <a:pt x="0" y="0"/>
                  </a:moveTo>
                  <a:lnTo>
                    <a:pt x="1463040" y="0"/>
                  </a:lnTo>
                  <a:lnTo>
                    <a:pt x="1463040" y="1463040"/>
                  </a:lnTo>
                  <a:lnTo>
                    <a:pt x="0" y="1463040"/>
                  </a:lnTo>
                  <a:lnTo>
                    <a:pt x="0" y="0"/>
                  </a:lnTo>
                  <a:close/>
                </a:path>
              </a:pathLst>
            </a:custGeom>
            <a:blipFill>
              <a:blip r:embed="rId11"/>
              <a:stretch>
                <a:fillRect l="0" t="0" r="0" b="0"/>
              </a:stretch>
            </a:blipFill>
          </p:spPr>
        </p:sp>
      </p:grpSp>
      <p:grpSp>
        <p:nvGrpSpPr>
          <p:cNvPr name="Group 54" id="54"/>
          <p:cNvGrpSpPr/>
          <p:nvPr/>
        </p:nvGrpSpPr>
        <p:grpSpPr>
          <a:xfrm rot="0">
            <a:off x="8321040" y="7726680"/>
            <a:ext cx="3291840" cy="1280160"/>
            <a:chOff x="0" y="0"/>
            <a:chExt cx="4389120" cy="1706880"/>
          </a:xfrm>
        </p:grpSpPr>
        <p:sp>
          <p:nvSpPr>
            <p:cNvPr name="Freeform 55" id="55"/>
            <p:cNvSpPr/>
            <p:nvPr/>
          </p:nvSpPr>
          <p:spPr>
            <a:xfrm flipH="false" flipV="false" rot="0">
              <a:off x="0" y="0"/>
              <a:ext cx="4389120" cy="1706880"/>
            </a:xfrm>
            <a:custGeom>
              <a:avLst/>
              <a:gdLst/>
              <a:ahLst/>
              <a:cxnLst/>
              <a:rect r="r" b="b" t="t" l="l"/>
              <a:pathLst>
                <a:path h="1706880" w="4389120">
                  <a:moveTo>
                    <a:pt x="0" y="0"/>
                  </a:moveTo>
                  <a:lnTo>
                    <a:pt x="4389120" y="0"/>
                  </a:lnTo>
                  <a:lnTo>
                    <a:pt x="4389120" y="1706880"/>
                  </a:lnTo>
                  <a:lnTo>
                    <a:pt x="0" y="1706880"/>
                  </a:lnTo>
                  <a:close/>
                </a:path>
              </a:pathLst>
            </a:custGeom>
            <a:blipFill>
              <a:blip r:embed="rId3">
                <a:alphaModFix amt="0"/>
              </a:blip>
              <a:stretch>
                <a:fillRect l="0" t="-104" r="0" b="-104"/>
              </a:stretch>
            </a:blipFill>
          </p:spPr>
        </p:sp>
        <p:sp>
          <p:nvSpPr>
            <p:cNvPr name="TextBox 56" id="56"/>
            <p:cNvSpPr txBox="true"/>
            <p:nvPr/>
          </p:nvSpPr>
          <p:spPr>
            <a:xfrm>
              <a:off x="0" y="-19050"/>
              <a:ext cx="4389120" cy="1725930"/>
            </a:xfrm>
            <a:prstGeom prst="rect">
              <a:avLst/>
            </a:prstGeom>
          </p:spPr>
          <p:txBody>
            <a:bodyPr anchor="ctr" rtlCol="false" tIns="0" lIns="0" bIns="0" rIns="0"/>
            <a:lstStyle/>
            <a:p>
              <a:pPr algn="l">
                <a:lnSpc>
                  <a:spcPts val="3600"/>
                </a:lnSpc>
              </a:pPr>
              <a:r>
                <a:rPr lang="en-US" b="true" sz="3000">
                  <a:solidFill>
                    <a:srgbClr val="FFFFFF"/>
                  </a:solidFill>
                  <a:latin typeface="Arial Bold"/>
                  <a:ea typeface="Arial Bold"/>
                  <a:cs typeface="Arial Bold"/>
                  <a:sym typeface="Arial Bold"/>
                </a:rPr>
                <a:t>Redis</a:t>
              </a:r>
            </a:p>
          </p:txBody>
        </p:sp>
      </p:grpSp>
      <p:grpSp>
        <p:nvGrpSpPr>
          <p:cNvPr name="Group 57" id="57"/>
          <p:cNvGrpSpPr/>
          <p:nvPr/>
        </p:nvGrpSpPr>
        <p:grpSpPr>
          <a:xfrm rot="0">
            <a:off x="12148823" y="2364743"/>
            <a:ext cx="5511803" cy="939803"/>
            <a:chOff x="0" y="0"/>
            <a:chExt cx="7349071" cy="1253071"/>
          </a:xfrm>
        </p:grpSpPr>
        <p:sp>
          <p:nvSpPr>
            <p:cNvPr name="Freeform 58" id="58"/>
            <p:cNvSpPr/>
            <p:nvPr/>
          </p:nvSpPr>
          <p:spPr>
            <a:xfrm flipH="false" flipV="false" rot="0">
              <a:off x="0" y="0"/>
              <a:ext cx="7349109" cy="1253109"/>
            </a:xfrm>
            <a:custGeom>
              <a:avLst/>
              <a:gdLst/>
              <a:ahLst/>
              <a:cxnLst/>
              <a:rect r="r" b="b" t="t" l="l"/>
              <a:pathLst>
                <a:path h="1253109" w="7349109">
                  <a:moveTo>
                    <a:pt x="0" y="0"/>
                  </a:moveTo>
                  <a:lnTo>
                    <a:pt x="7349109" y="0"/>
                  </a:lnTo>
                  <a:lnTo>
                    <a:pt x="7349109" y="1253109"/>
                  </a:lnTo>
                  <a:lnTo>
                    <a:pt x="0" y="1253109"/>
                  </a:lnTo>
                  <a:close/>
                </a:path>
              </a:pathLst>
            </a:custGeom>
            <a:solidFill>
              <a:srgbClr val="10B981"/>
            </a:solidFill>
            <a:ln w="25400" cap="sq">
              <a:solidFill>
                <a:srgbClr val="10B981"/>
              </a:solidFill>
              <a:prstDash val="solid"/>
              <a:miter/>
            </a:ln>
          </p:spPr>
        </p:sp>
      </p:grpSp>
      <p:grpSp>
        <p:nvGrpSpPr>
          <p:cNvPr name="Group 59" id="59"/>
          <p:cNvGrpSpPr/>
          <p:nvPr/>
        </p:nvGrpSpPr>
        <p:grpSpPr>
          <a:xfrm rot="0">
            <a:off x="12161520" y="2377440"/>
            <a:ext cx="5486400" cy="914400"/>
            <a:chOff x="0" y="0"/>
            <a:chExt cx="7315200" cy="1219200"/>
          </a:xfrm>
        </p:grpSpPr>
        <p:sp>
          <p:nvSpPr>
            <p:cNvPr name="Freeform 60" id="60"/>
            <p:cNvSpPr/>
            <p:nvPr/>
          </p:nvSpPr>
          <p:spPr>
            <a:xfrm flipH="false" flipV="false" rot="0">
              <a:off x="0" y="0"/>
              <a:ext cx="7315200" cy="1219200"/>
            </a:xfrm>
            <a:custGeom>
              <a:avLst/>
              <a:gdLst/>
              <a:ahLst/>
              <a:cxnLst/>
              <a:rect r="r" b="b" t="t" l="l"/>
              <a:pathLst>
                <a:path h="1219200" w="7315200">
                  <a:moveTo>
                    <a:pt x="0" y="0"/>
                  </a:moveTo>
                  <a:lnTo>
                    <a:pt x="7315200" y="0"/>
                  </a:lnTo>
                  <a:lnTo>
                    <a:pt x="7315200" y="1219200"/>
                  </a:lnTo>
                  <a:lnTo>
                    <a:pt x="0" y="1219200"/>
                  </a:lnTo>
                  <a:close/>
                </a:path>
              </a:pathLst>
            </a:custGeom>
            <a:blipFill>
              <a:blip r:embed="rId3">
                <a:alphaModFix amt="0"/>
              </a:blip>
              <a:stretch>
                <a:fillRect l="0" t="-66910" r="0" b="-66910"/>
              </a:stretch>
            </a:blipFill>
          </p:spPr>
        </p:sp>
        <p:sp>
          <p:nvSpPr>
            <p:cNvPr name="TextBox 61" id="61"/>
            <p:cNvSpPr txBox="true"/>
            <p:nvPr/>
          </p:nvSpPr>
          <p:spPr>
            <a:xfrm>
              <a:off x="0" y="-19050"/>
              <a:ext cx="7315200" cy="1238250"/>
            </a:xfrm>
            <a:prstGeom prst="rect">
              <a:avLst/>
            </a:prstGeom>
          </p:spPr>
          <p:txBody>
            <a:bodyPr anchor="ctr" rtlCol="false" tIns="0" lIns="0" bIns="0" rIns="0"/>
            <a:lstStyle/>
            <a:p>
              <a:pPr algn="ctr">
                <a:lnSpc>
                  <a:spcPts val="3359"/>
                </a:lnSpc>
              </a:pPr>
              <a:r>
                <a:rPr lang="en-US" b="true" sz="2799">
                  <a:solidFill>
                    <a:srgbClr val="FFFFFF"/>
                  </a:solidFill>
                  <a:latin typeface="Arial Bold"/>
                  <a:ea typeface="Arial Bold"/>
                  <a:cs typeface="Arial Bold"/>
                  <a:sym typeface="Arial Bold"/>
                </a:rPr>
                <a:t>INFRA &amp; DEVOPS</a:t>
              </a:r>
            </a:p>
          </p:txBody>
        </p:sp>
      </p:grpSp>
      <p:grpSp>
        <p:nvGrpSpPr>
          <p:cNvPr name="Group 62" id="62"/>
          <p:cNvGrpSpPr/>
          <p:nvPr/>
        </p:nvGrpSpPr>
        <p:grpSpPr>
          <a:xfrm rot="0">
            <a:off x="12151995" y="3282315"/>
            <a:ext cx="5505450" cy="6236970"/>
            <a:chOff x="0" y="0"/>
            <a:chExt cx="7340600" cy="8315960"/>
          </a:xfrm>
        </p:grpSpPr>
        <p:sp>
          <p:nvSpPr>
            <p:cNvPr name="Freeform 63" id="63"/>
            <p:cNvSpPr/>
            <p:nvPr/>
          </p:nvSpPr>
          <p:spPr>
            <a:xfrm flipH="false" flipV="false" rot="0">
              <a:off x="0" y="0"/>
              <a:ext cx="7340600" cy="8315960"/>
            </a:xfrm>
            <a:custGeom>
              <a:avLst/>
              <a:gdLst/>
              <a:ahLst/>
              <a:cxnLst/>
              <a:rect r="r" b="b" t="t" l="l"/>
              <a:pathLst>
                <a:path h="8315960" w="7340600">
                  <a:moveTo>
                    <a:pt x="0" y="0"/>
                  </a:moveTo>
                  <a:lnTo>
                    <a:pt x="7340600" y="0"/>
                  </a:lnTo>
                  <a:lnTo>
                    <a:pt x="7340600" y="8315960"/>
                  </a:lnTo>
                  <a:lnTo>
                    <a:pt x="0" y="8315960"/>
                  </a:lnTo>
                  <a:close/>
                </a:path>
              </a:pathLst>
            </a:custGeom>
            <a:solidFill>
              <a:srgbClr val="2E3D7C"/>
            </a:solidFill>
            <a:ln w="19050" cap="sq">
              <a:solidFill>
                <a:srgbClr val="10B981"/>
              </a:solidFill>
              <a:prstDash val="solid"/>
              <a:miter/>
            </a:ln>
          </p:spPr>
        </p:sp>
      </p:grpSp>
      <p:grpSp>
        <p:nvGrpSpPr>
          <p:cNvPr name="Group 64" id="64"/>
          <p:cNvGrpSpPr/>
          <p:nvPr/>
        </p:nvGrpSpPr>
        <p:grpSpPr>
          <a:xfrm rot="0">
            <a:off x="12801600" y="3840480"/>
            <a:ext cx="1097280" cy="1097280"/>
            <a:chOff x="0" y="0"/>
            <a:chExt cx="1463040" cy="1463040"/>
          </a:xfrm>
        </p:grpSpPr>
        <p:sp>
          <p:nvSpPr>
            <p:cNvPr name="Freeform 65" id="65" descr="preencoded.png"/>
            <p:cNvSpPr/>
            <p:nvPr/>
          </p:nvSpPr>
          <p:spPr>
            <a:xfrm flipH="false" flipV="false" rot="0">
              <a:off x="0" y="0"/>
              <a:ext cx="1463040" cy="1463040"/>
            </a:xfrm>
            <a:custGeom>
              <a:avLst/>
              <a:gdLst/>
              <a:ahLst/>
              <a:cxnLst/>
              <a:rect r="r" b="b" t="t" l="l"/>
              <a:pathLst>
                <a:path h="1463040" w="1463040">
                  <a:moveTo>
                    <a:pt x="0" y="0"/>
                  </a:moveTo>
                  <a:lnTo>
                    <a:pt x="1463040" y="0"/>
                  </a:lnTo>
                  <a:lnTo>
                    <a:pt x="1463040" y="1463040"/>
                  </a:lnTo>
                  <a:lnTo>
                    <a:pt x="0" y="1463040"/>
                  </a:lnTo>
                  <a:lnTo>
                    <a:pt x="0" y="0"/>
                  </a:lnTo>
                  <a:close/>
                </a:path>
              </a:pathLst>
            </a:custGeom>
            <a:blipFill>
              <a:blip r:embed="rId12"/>
              <a:stretch>
                <a:fillRect l="0" t="0" r="0" b="0"/>
              </a:stretch>
            </a:blipFill>
          </p:spPr>
        </p:sp>
      </p:grpSp>
      <p:grpSp>
        <p:nvGrpSpPr>
          <p:cNvPr name="Group 66" id="66"/>
          <p:cNvGrpSpPr/>
          <p:nvPr/>
        </p:nvGrpSpPr>
        <p:grpSpPr>
          <a:xfrm rot="0">
            <a:off x="14081760" y="3749040"/>
            <a:ext cx="3291840" cy="1280160"/>
            <a:chOff x="0" y="0"/>
            <a:chExt cx="4389120" cy="1706880"/>
          </a:xfrm>
        </p:grpSpPr>
        <p:sp>
          <p:nvSpPr>
            <p:cNvPr name="Freeform 67" id="67"/>
            <p:cNvSpPr/>
            <p:nvPr/>
          </p:nvSpPr>
          <p:spPr>
            <a:xfrm flipH="false" flipV="false" rot="0">
              <a:off x="0" y="0"/>
              <a:ext cx="4389120" cy="1706880"/>
            </a:xfrm>
            <a:custGeom>
              <a:avLst/>
              <a:gdLst/>
              <a:ahLst/>
              <a:cxnLst/>
              <a:rect r="r" b="b" t="t" l="l"/>
              <a:pathLst>
                <a:path h="1706880" w="4389120">
                  <a:moveTo>
                    <a:pt x="0" y="0"/>
                  </a:moveTo>
                  <a:lnTo>
                    <a:pt x="4389120" y="0"/>
                  </a:lnTo>
                  <a:lnTo>
                    <a:pt x="4389120" y="1706880"/>
                  </a:lnTo>
                  <a:lnTo>
                    <a:pt x="0" y="1706880"/>
                  </a:lnTo>
                  <a:close/>
                </a:path>
              </a:pathLst>
            </a:custGeom>
            <a:blipFill>
              <a:blip r:embed="rId3">
                <a:alphaModFix amt="0"/>
              </a:blip>
              <a:stretch>
                <a:fillRect l="0" t="-104" r="0" b="-104"/>
              </a:stretch>
            </a:blipFill>
          </p:spPr>
        </p:sp>
        <p:sp>
          <p:nvSpPr>
            <p:cNvPr name="TextBox 68" id="68"/>
            <p:cNvSpPr txBox="true"/>
            <p:nvPr/>
          </p:nvSpPr>
          <p:spPr>
            <a:xfrm>
              <a:off x="0" y="-19050"/>
              <a:ext cx="4389120" cy="1725930"/>
            </a:xfrm>
            <a:prstGeom prst="rect">
              <a:avLst/>
            </a:prstGeom>
          </p:spPr>
          <p:txBody>
            <a:bodyPr anchor="ctr" rtlCol="false" tIns="0" lIns="0" bIns="0" rIns="0"/>
            <a:lstStyle/>
            <a:p>
              <a:pPr algn="l">
                <a:lnSpc>
                  <a:spcPts val="3600"/>
                </a:lnSpc>
              </a:pPr>
              <a:r>
                <a:rPr lang="en-US" b="true" sz="3000">
                  <a:solidFill>
                    <a:srgbClr val="FFFFFF"/>
                  </a:solidFill>
                  <a:latin typeface="Arial Bold"/>
                  <a:ea typeface="Arial Bold"/>
                  <a:cs typeface="Arial Bold"/>
                  <a:sym typeface="Arial Bold"/>
                </a:rPr>
                <a:t>Railway</a:t>
              </a:r>
            </a:p>
          </p:txBody>
        </p:sp>
      </p:grpSp>
      <p:grpSp>
        <p:nvGrpSpPr>
          <p:cNvPr name="Group 69" id="69"/>
          <p:cNvGrpSpPr/>
          <p:nvPr/>
        </p:nvGrpSpPr>
        <p:grpSpPr>
          <a:xfrm rot="0">
            <a:off x="12801600" y="5166360"/>
            <a:ext cx="1097280" cy="1097280"/>
            <a:chOff x="0" y="0"/>
            <a:chExt cx="1463040" cy="1463040"/>
          </a:xfrm>
        </p:grpSpPr>
        <p:sp>
          <p:nvSpPr>
            <p:cNvPr name="Freeform 70" id="70" descr="preencoded.png"/>
            <p:cNvSpPr/>
            <p:nvPr/>
          </p:nvSpPr>
          <p:spPr>
            <a:xfrm flipH="false" flipV="false" rot="0">
              <a:off x="0" y="0"/>
              <a:ext cx="1463040" cy="1463040"/>
            </a:xfrm>
            <a:custGeom>
              <a:avLst/>
              <a:gdLst/>
              <a:ahLst/>
              <a:cxnLst/>
              <a:rect r="r" b="b" t="t" l="l"/>
              <a:pathLst>
                <a:path h="1463040" w="1463040">
                  <a:moveTo>
                    <a:pt x="0" y="0"/>
                  </a:moveTo>
                  <a:lnTo>
                    <a:pt x="1463040" y="0"/>
                  </a:lnTo>
                  <a:lnTo>
                    <a:pt x="1463040" y="1463040"/>
                  </a:lnTo>
                  <a:lnTo>
                    <a:pt x="0" y="1463040"/>
                  </a:lnTo>
                  <a:lnTo>
                    <a:pt x="0" y="0"/>
                  </a:lnTo>
                  <a:close/>
                </a:path>
              </a:pathLst>
            </a:custGeom>
            <a:blipFill>
              <a:blip r:embed="rId13"/>
              <a:stretch>
                <a:fillRect l="0" t="0" r="0" b="0"/>
              </a:stretch>
            </a:blipFill>
          </p:spPr>
        </p:sp>
      </p:grpSp>
      <p:grpSp>
        <p:nvGrpSpPr>
          <p:cNvPr name="Group 71" id="71"/>
          <p:cNvGrpSpPr/>
          <p:nvPr/>
        </p:nvGrpSpPr>
        <p:grpSpPr>
          <a:xfrm rot="0">
            <a:off x="14081760" y="5074920"/>
            <a:ext cx="3291840" cy="1280160"/>
            <a:chOff x="0" y="0"/>
            <a:chExt cx="4389120" cy="1706880"/>
          </a:xfrm>
        </p:grpSpPr>
        <p:sp>
          <p:nvSpPr>
            <p:cNvPr name="Freeform 72" id="72"/>
            <p:cNvSpPr/>
            <p:nvPr/>
          </p:nvSpPr>
          <p:spPr>
            <a:xfrm flipH="false" flipV="false" rot="0">
              <a:off x="0" y="0"/>
              <a:ext cx="4389120" cy="1706880"/>
            </a:xfrm>
            <a:custGeom>
              <a:avLst/>
              <a:gdLst/>
              <a:ahLst/>
              <a:cxnLst/>
              <a:rect r="r" b="b" t="t" l="l"/>
              <a:pathLst>
                <a:path h="1706880" w="4389120">
                  <a:moveTo>
                    <a:pt x="0" y="0"/>
                  </a:moveTo>
                  <a:lnTo>
                    <a:pt x="4389120" y="0"/>
                  </a:lnTo>
                  <a:lnTo>
                    <a:pt x="4389120" y="1706880"/>
                  </a:lnTo>
                  <a:lnTo>
                    <a:pt x="0" y="1706880"/>
                  </a:lnTo>
                  <a:close/>
                </a:path>
              </a:pathLst>
            </a:custGeom>
            <a:blipFill>
              <a:blip r:embed="rId3">
                <a:alphaModFix amt="0"/>
              </a:blip>
              <a:stretch>
                <a:fillRect l="0" t="-104" r="0" b="-104"/>
              </a:stretch>
            </a:blipFill>
          </p:spPr>
        </p:sp>
        <p:sp>
          <p:nvSpPr>
            <p:cNvPr name="TextBox 73" id="73"/>
            <p:cNvSpPr txBox="true"/>
            <p:nvPr/>
          </p:nvSpPr>
          <p:spPr>
            <a:xfrm>
              <a:off x="0" y="-19050"/>
              <a:ext cx="4389120" cy="1725930"/>
            </a:xfrm>
            <a:prstGeom prst="rect">
              <a:avLst/>
            </a:prstGeom>
          </p:spPr>
          <p:txBody>
            <a:bodyPr anchor="ctr" rtlCol="false" tIns="0" lIns="0" bIns="0" rIns="0"/>
            <a:lstStyle/>
            <a:p>
              <a:pPr algn="l">
                <a:lnSpc>
                  <a:spcPts val="3600"/>
                </a:lnSpc>
              </a:pPr>
              <a:r>
                <a:rPr lang="en-US" b="true" sz="3000">
                  <a:solidFill>
                    <a:srgbClr val="FFFFFF"/>
                  </a:solidFill>
                  <a:latin typeface="Arial Bold"/>
                  <a:ea typeface="Arial Bold"/>
                  <a:cs typeface="Arial Bold"/>
                  <a:sym typeface="Arial Bold"/>
                </a:rPr>
                <a:t>Vercel</a:t>
              </a:r>
            </a:p>
          </p:txBody>
        </p:sp>
      </p:grpSp>
      <p:grpSp>
        <p:nvGrpSpPr>
          <p:cNvPr name="Group 74" id="74"/>
          <p:cNvGrpSpPr/>
          <p:nvPr/>
        </p:nvGrpSpPr>
        <p:grpSpPr>
          <a:xfrm rot="0">
            <a:off x="12801600" y="6492240"/>
            <a:ext cx="1097280" cy="1097280"/>
            <a:chOff x="0" y="0"/>
            <a:chExt cx="1463040" cy="1463040"/>
          </a:xfrm>
        </p:grpSpPr>
        <p:sp>
          <p:nvSpPr>
            <p:cNvPr name="Freeform 75" id="75" descr="preencoded.png"/>
            <p:cNvSpPr/>
            <p:nvPr/>
          </p:nvSpPr>
          <p:spPr>
            <a:xfrm flipH="false" flipV="false" rot="0">
              <a:off x="0" y="0"/>
              <a:ext cx="1463040" cy="1463040"/>
            </a:xfrm>
            <a:custGeom>
              <a:avLst/>
              <a:gdLst/>
              <a:ahLst/>
              <a:cxnLst/>
              <a:rect r="r" b="b" t="t" l="l"/>
              <a:pathLst>
                <a:path h="1463040" w="1463040">
                  <a:moveTo>
                    <a:pt x="0" y="0"/>
                  </a:moveTo>
                  <a:lnTo>
                    <a:pt x="1463040" y="0"/>
                  </a:lnTo>
                  <a:lnTo>
                    <a:pt x="1463040" y="1463040"/>
                  </a:lnTo>
                  <a:lnTo>
                    <a:pt x="0" y="1463040"/>
                  </a:lnTo>
                  <a:lnTo>
                    <a:pt x="0" y="0"/>
                  </a:lnTo>
                  <a:close/>
                </a:path>
              </a:pathLst>
            </a:custGeom>
            <a:blipFill>
              <a:blip r:embed="rId14"/>
              <a:stretch>
                <a:fillRect l="0" t="0" r="0" b="0"/>
              </a:stretch>
            </a:blipFill>
          </p:spPr>
        </p:sp>
      </p:grpSp>
      <p:grpSp>
        <p:nvGrpSpPr>
          <p:cNvPr name="Group 76" id="76"/>
          <p:cNvGrpSpPr/>
          <p:nvPr/>
        </p:nvGrpSpPr>
        <p:grpSpPr>
          <a:xfrm rot="0">
            <a:off x="14081760" y="6400800"/>
            <a:ext cx="3291840" cy="1280160"/>
            <a:chOff x="0" y="0"/>
            <a:chExt cx="4389120" cy="1706880"/>
          </a:xfrm>
        </p:grpSpPr>
        <p:sp>
          <p:nvSpPr>
            <p:cNvPr name="Freeform 77" id="77"/>
            <p:cNvSpPr/>
            <p:nvPr/>
          </p:nvSpPr>
          <p:spPr>
            <a:xfrm flipH="false" flipV="false" rot="0">
              <a:off x="0" y="0"/>
              <a:ext cx="4389120" cy="1706880"/>
            </a:xfrm>
            <a:custGeom>
              <a:avLst/>
              <a:gdLst/>
              <a:ahLst/>
              <a:cxnLst/>
              <a:rect r="r" b="b" t="t" l="l"/>
              <a:pathLst>
                <a:path h="1706880" w="4389120">
                  <a:moveTo>
                    <a:pt x="0" y="0"/>
                  </a:moveTo>
                  <a:lnTo>
                    <a:pt x="4389120" y="0"/>
                  </a:lnTo>
                  <a:lnTo>
                    <a:pt x="4389120" y="1706880"/>
                  </a:lnTo>
                  <a:lnTo>
                    <a:pt x="0" y="1706880"/>
                  </a:lnTo>
                  <a:close/>
                </a:path>
              </a:pathLst>
            </a:custGeom>
            <a:blipFill>
              <a:blip r:embed="rId3">
                <a:alphaModFix amt="0"/>
              </a:blip>
              <a:stretch>
                <a:fillRect l="0" t="-104" r="0" b="-104"/>
              </a:stretch>
            </a:blipFill>
          </p:spPr>
        </p:sp>
        <p:sp>
          <p:nvSpPr>
            <p:cNvPr name="TextBox 78" id="78"/>
            <p:cNvSpPr txBox="true"/>
            <p:nvPr/>
          </p:nvSpPr>
          <p:spPr>
            <a:xfrm>
              <a:off x="0" y="-19050"/>
              <a:ext cx="4389120" cy="1725930"/>
            </a:xfrm>
            <a:prstGeom prst="rect">
              <a:avLst/>
            </a:prstGeom>
          </p:spPr>
          <p:txBody>
            <a:bodyPr anchor="ctr" rtlCol="false" tIns="0" lIns="0" bIns="0" rIns="0"/>
            <a:lstStyle/>
            <a:p>
              <a:pPr algn="l">
                <a:lnSpc>
                  <a:spcPts val="3600"/>
                </a:lnSpc>
              </a:pPr>
              <a:r>
                <a:rPr lang="en-US" b="true" sz="3000">
                  <a:solidFill>
                    <a:srgbClr val="FFFFFF"/>
                  </a:solidFill>
                  <a:latin typeface="Arial Bold"/>
                  <a:ea typeface="Arial Bold"/>
                  <a:cs typeface="Arial Bold"/>
                  <a:sym typeface="Arial Bold"/>
                </a:rPr>
                <a:t>GitHub Actions</a:t>
              </a:r>
            </a:p>
          </p:txBody>
        </p:sp>
      </p:grpSp>
      <p:grpSp>
        <p:nvGrpSpPr>
          <p:cNvPr name="Group 79" id="79"/>
          <p:cNvGrpSpPr/>
          <p:nvPr/>
        </p:nvGrpSpPr>
        <p:grpSpPr>
          <a:xfrm rot="0">
            <a:off x="12801600" y="7818120"/>
            <a:ext cx="1097280" cy="1097280"/>
            <a:chOff x="0" y="0"/>
            <a:chExt cx="1463040" cy="1463040"/>
          </a:xfrm>
        </p:grpSpPr>
        <p:sp>
          <p:nvSpPr>
            <p:cNvPr name="Freeform 80" id="80" descr="preencoded.png"/>
            <p:cNvSpPr/>
            <p:nvPr/>
          </p:nvSpPr>
          <p:spPr>
            <a:xfrm flipH="false" flipV="false" rot="0">
              <a:off x="0" y="0"/>
              <a:ext cx="1463040" cy="1463040"/>
            </a:xfrm>
            <a:custGeom>
              <a:avLst/>
              <a:gdLst/>
              <a:ahLst/>
              <a:cxnLst/>
              <a:rect r="r" b="b" t="t" l="l"/>
              <a:pathLst>
                <a:path h="1463040" w="1463040">
                  <a:moveTo>
                    <a:pt x="0" y="0"/>
                  </a:moveTo>
                  <a:lnTo>
                    <a:pt x="1463040" y="0"/>
                  </a:lnTo>
                  <a:lnTo>
                    <a:pt x="1463040" y="1463040"/>
                  </a:lnTo>
                  <a:lnTo>
                    <a:pt x="0" y="1463040"/>
                  </a:lnTo>
                  <a:lnTo>
                    <a:pt x="0" y="0"/>
                  </a:lnTo>
                  <a:close/>
                </a:path>
              </a:pathLst>
            </a:custGeom>
            <a:blipFill>
              <a:blip r:embed="rId15"/>
              <a:stretch>
                <a:fillRect l="0" t="0" r="0" b="0"/>
              </a:stretch>
            </a:blipFill>
          </p:spPr>
        </p:sp>
      </p:grpSp>
      <p:grpSp>
        <p:nvGrpSpPr>
          <p:cNvPr name="Group 81" id="81"/>
          <p:cNvGrpSpPr/>
          <p:nvPr/>
        </p:nvGrpSpPr>
        <p:grpSpPr>
          <a:xfrm rot="0">
            <a:off x="14081760" y="7726680"/>
            <a:ext cx="3291840" cy="1280160"/>
            <a:chOff x="0" y="0"/>
            <a:chExt cx="4389120" cy="1706880"/>
          </a:xfrm>
        </p:grpSpPr>
        <p:sp>
          <p:nvSpPr>
            <p:cNvPr name="Freeform 82" id="82"/>
            <p:cNvSpPr/>
            <p:nvPr/>
          </p:nvSpPr>
          <p:spPr>
            <a:xfrm flipH="false" flipV="false" rot="0">
              <a:off x="0" y="0"/>
              <a:ext cx="4389120" cy="1706880"/>
            </a:xfrm>
            <a:custGeom>
              <a:avLst/>
              <a:gdLst/>
              <a:ahLst/>
              <a:cxnLst/>
              <a:rect r="r" b="b" t="t" l="l"/>
              <a:pathLst>
                <a:path h="1706880" w="4389120">
                  <a:moveTo>
                    <a:pt x="0" y="0"/>
                  </a:moveTo>
                  <a:lnTo>
                    <a:pt x="4389120" y="0"/>
                  </a:lnTo>
                  <a:lnTo>
                    <a:pt x="4389120" y="1706880"/>
                  </a:lnTo>
                  <a:lnTo>
                    <a:pt x="0" y="1706880"/>
                  </a:lnTo>
                  <a:close/>
                </a:path>
              </a:pathLst>
            </a:custGeom>
            <a:blipFill>
              <a:blip r:embed="rId3">
                <a:alphaModFix amt="0"/>
              </a:blip>
              <a:stretch>
                <a:fillRect l="0" t="-104" r="0" b="-104"/>
              </a:stretch>
            </a:blipFill>
          </p:spPr>
        </p:sp>
        <p:sp>
          <p:nvSpPr>
            <p:cNvPr name="TextBox 83" id="83"/>
            <p:cNvSpPr txBox="true"/>
            <p:nvPr/>
          </p:nvSpPr>
          <p:spPr>
            <a:xfrm>
              <a:off x="0" y="-19050"/>
              <a:ext cx="4389120" cy="1725930"/>
            </a:xfrm>
            <a:prstGeom prst="rect">
              <a:avLst/>
            </a:prstGeom>
          </p:spPr>
          <p:txBody>
            <a:bodyPr anchor="ctr" rtlCol="false" tIns="0" lIns="0" bIns="0" rIns="0"/>
            <a:lstStyle/>
            <a:p>
              <a:pPr algn="l">
                <a:lnSpc>
                  <a:spcPts val="3600"/>
                </a:lnSpc>
              </a:pPr>
              <a:r>
                <a:rPr lang="en-US" b="true" sz="3000">
                  <a:solidFill>
                    <a:srgbClr val="FFFFFF"/>
                  </a:solidFill>
                  <a:latin typeface="Arial Bold"/>
                  <a:ea typeface="Arial Bold"/>
                  <a:cs typeface="Arial Bold"/>
                  <a:sym typeface="Arial Bold"/>
                </a:rPr>
                <a:t>Docker</a:t>
              </a:r>
            </a:p>
          </p:txBody>
        </p:sp>
      </p:grpSp>
      <p:grpSp>
        <p:nvGrpSpPr>
          <p:cNvPr name="Group 84" id="84"/>
          <p:cNvGrpSpPr/>
          <p:nvPr/>
        </p:nvGrpSpPr>
        <p:grpSpPr>
          <a:xfrm rot="0">
            <a:off x="627383" y="9588503"/>
            <a:ext cx="17033243" cy="610619"/>
            <a:chOff x="0" y="0"/>
            <a:chExt cx="22710991" cy="814159"/>
          </a:xfrm>
        </p:grpSpPr>
        <p:sp>
          <p:nvSpPr>
            <p:cNvPr name="Freeform 85" id="85"/>
            <p:cNvSpPr/>
            <p:nvPr/>
          </p:nvSpPr>
          <p:spPr>
            <a:xfrm flipH="false" flipV="false" rot="0">
              <a:off x="0" y="0"/>
              <a:ext cx="22710902" cy="814070"/>
            </a:xfrm>
            <a:custGeom>
              <a:avLst/>
              <a:gdLst/>
              <a:ahLst/>
              <a:cxnLst/>
              <a:rect r="r" b="b" t="t" l="l"/>
              <a:pathLst>
                <a:path h="814070" w="22710902">
                  <a:moveTo>
                    <a:pt x="0" y="101727"/>
                  </a:moveTo>
                  <a:cubicBezTo>
                    <a:pt x="0" y="45593"/>
                    <a:pt x="45593" y="0"/>
                    <a:pt x="101727" y="0"/>
                  </a:cubicBezTo>
                  <a:lnTo>
                    <a:pt x="22609175" y="0"/>
                  </a:lnTo>
                  <a:cubicBezTo>
                    <a:pt x="22665437" y="0"/>
                    <a:pt x="22710902" y="45593"/>
                    <a:pt x="22710902" y="101727"/>
                  </a:cubicBezTo>
                  <a:lnTo>
                    <a:pt x="22710902" y="712343"/>
                  </a:lnTo>
                  <a:cubicBezTo>
                    <a:pt x="22710902" y="768604"/>
                    <a:pt x="22665310" y="814070"/>
                    <a:pt x="22609175" y="814070"/>
                  </a:cubicBezTo>
                  <a:lnTo>
                    <a:pt x="101727" y="814070"/>
                  </a:lnTo>
                  <a:cubicBezTo>
                    <a:pt x="45593" y="814197"/>
                    <a:pt x="0" y="768604"/>
                    <a:pt x="0" y="712343"/>
                  </a:cubicBezTo>
                  <a:close/>
                </a:path>
              </a:pathLst>
            </a:custGeom>
            <a:solidFill>
              <a:srgbClr val="00C2D7"/>
            </a:solidFill>
            <a:ln w="25400" cap="sq">
              <a:solidFill>
                <a:srgbClr val="00C2D7"/>
              </a:solidFill>
              <a:prstDash val="solid"/>
              <a:miter/>
            </a:ln>
          </p:spPr>
        </p:sp>
      </p:grpSp>
      <p:grpSp>
        <p:nvGrpSpPr>
          <p:cNvPr name="Group 86" id="86"/>
          <p:cNvGrpSpPr/>
          <p:nvPr/>
        </p:nvGrpSpPr>
        <p:grpSpPr>
          <a:xfrm rot="0">
            <a:off x="640080" y="9601200"/>
            <a:ext cx="17007840" cy="585216"/>
            <a:chOff x="0" y="0"/>
            <a:chExt cx="22677120" cy="780288"/>
          </a:xfrm>
        </p:grpSpPr>
        <p:sp>
          <p:nvSpPr>
            <p:cNvPr name="Freeform 87" id="87"/>
            <p:cNvSpPr/>
            <p:nvPr/>
          </p:nvSpPr>
          <p:spPr>
            <a:xfrm flipH="false" flipV="false" rot="0">
              <a:off x="0" y="0"/>
              <a:ext cx="22677120" cy="780288"/>
            </a:xfrm>
            <a:custGeom>
              <a:avLst/>
              <a:gdLst/>
              <a:ahLst/>
              <a:cxnLst/>
              <a:rect r="r" b="b" t="t" l="l"/>
              <a:pathLst>
                <a:path h="780288" w="22677120">
                  <a:moveTo>
                    <a:pt x="0" y="0"/>
                  </a:moveTo>
                  <a:lnTo>
                    <a:pt x="22677120" y="0"/>
                  </a:lnTo>
                  <a:lnTo>
                    <a:pt x="22677120" y="780288"/>
                  </a:lnTo>
                  <a:lnTo>
                    <a:pt x="0" y="780288"/>
                  </a:lnTo>
                  <a:close/>
                </a:path>
              </a:pathLst>
            </a:custGeom>
            <a:blipFill>
              <a:blip r:embed="rId3">
                <a:alphaModFix amt="0"/>
              </a:blip>
              <a:stretch>
                <a:fillRect l="0" t="-516283" r="0" b="-516283"/>
              </a:stretch>
            </a:blipFill>
          </p:spPr>
        </p:sp>
        <p:sp>
          <p:nvSpPr>
            <p:cNvPr name="TextBox 88" id="88"/>
            <p:cNvSpPr txBox="true"/>
            <p:nvPr/>
          </p:nvSpPr>
          <p:spPr>
            <a:xfrm>
              <a:off x="0" y="-19050"/>
              <a:ext cx="22677120" cy="799338"/>
            </a:xfrm>
            <a:prstGeom prst="rect">
              <a:avLst/>
            </a:prstGeom>
          </p:spPr>
          <p:txBody>
            <a:bodyPr anchor="ctr" rtlCol="false" tIns="0" lIns="0" bIns="0" rIns="0"/>
            <a:lstStyle/>
            <a:p>
              <a:pPr algn="ctr">
                <a:lnSpc>
                  <a:spcPts val="2639"/>
                </a:lnSpc>
              </a:pPr>
              <a:r>
                <a:rPr lang="en-US" b="true" sz="2199">
                  <a:solidFill>
                    <a:srgbClr val="1E2761"/>
                  </a:solidFill>
                  <a:latin typeface="Arial Bold"/>
                  <a:ea typeface="Arial Bold"/>
                  <a:cs typeface="Arial Bold"/>
                  <a:sym typeface="Arial Bold"/>
                </a:rPr>
                <a:t>62 Vitest tests  ·  74 pytest tests  ·  93% coverage  ·  CI/CD GitHub Actions</a:t>
              </a:r>
            </a:p>
          </p:txBody>
        </p:sp>
      </p:grpSp>
      <p:grpSp>
        <p:nvGrpSpPr>
          <p:cNvPr name="Group 89" id="89"/>
          <p:cNvGrpSpPr/>
          <p:nvPr/>
        </p:nvGrpSpPr>
        <p:grpSpPr>
          <a:xfrm rot="0">
            <a:off x="1224063" y="5167311"/>
            <a:ext cx="1079082" cy="872354"/>
            <a:chOff x="0" y="0"/>
            <a:chExt cx="2557684" cy="2067690"/>
          </a:xfrm>
        </p:grpSpPr>
        <p:sp>
          <p:nvSpPr>
            <p:cNvPr name="Freeform 90" id="90"/>
            <p:cNvSpPr/>
            <p:nvPr/>
          </p:nvSpPr>
          <p:spPr>
            <a:xfrm flipH="false" flipV="false" rot="0">
              <a:off x="0" y="0"/>
              <a:ext cx="2557684" cy="2067690"/>
            </a:xfrm>
            <a:custGeom>
              <a:avLst/>
              <a:gdLst/>
              <a:ahLst/>
              <a:cxnLst/>
              <a:rect r="r" b="b" t="t" l="l"/>
              <a:pathLst>
                <a:path h="2067690" w="2557684">
                  <a:moveTo>
                    <a:pt x="0" y="0"/>
                  </a:moveTo>
                  <a:lnTo>
                    <a:pt x="2557684" y="0"/>
                  </a:lnTo>
                  <a:lnTo>
                    <a:pt x="2557684" y="2067690"/>
                  </a:lnTo>
                  <a:lnTo>
                    <a:pt x="0" y="2067690"/>
                  </a:lnTo>
                  <a:lnTo>
                    <a:pt x="0" y="0"/>
                  </a:lnTo>
                  <a:close/>
                </a:path>
              </a:pathLst>
            </a:custGeom>
            <a:blipFill>
              <a:blip r:embed="rId7"/>
              <a:stretch>
                <a:fillRect l="0" t="-1540" r="0" b="-1540"/>
              </a:stretch>
            </a:blipFill>
          </p:spPr>
        </p:sp>
      </p:grpSp>
      <p:sp>
        <p:nvSpPr>
          <p:cNvPr name="TextBox 91" id="91"/>
          <p:cNvSpPr txBox="true"/>
          <p:nvPr/>
        </p:nvSpPr>
        <p:spPr>
          <a:xfrm rot="0">
            <a:off x="2560320" y="5490151"/>
            <a:ext cx="1885117" cy="476250"/>
          </a:xfrm>
          <a:prstGeom prst="rect">
            <a:avLst/>
          </a:prstGeom>
        </p:spPr>
        <p:txBody>
          <a:bodyPr anchor="t" rtlCol="false" tIns="0" lIns="0" bIns="0" rIns="0">
            <a:spAutoFit/>
          </a:bodyPr>
          <a:lstStyle/>
          <a:p>
            <a:pPr algn="ctr">
              <a:lnSpc>
                <a:spcPts val="3600"/>
              </a:lnSpc>
              <a:spcBef>
                <a:spcPct val="0"/>
              </a:spcBef>
            </a:pPr>
            <a:r>
              <a:rPr lang="en-US" b="true" sz="3000">
                <a:solidFill>
                  <a:srgbClr val="FFFFFF"/>
                </a:solidFill>
                <a:latin typeface="Arial Bold"/>
                <a:ea typeface="Arial Bold"/>
                <a:cs typeface="Arial Bold"/>
                <a:sym typeface="Arial Bold"/>
              </a:rPr>
              <a:t>Javascript</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1E2761"/>
        </a:solidFill>
      </p:bgPr>
    </p:bg>
    <p:spTree>
      <p:nvGrpSpPr>
        <p:cNvPr id="1" name=""/>
        <p:cNvGrpSpPr/>
        <p:nvPr/>
      </p:nvGrpSpPr>
      <p:grpSpPr>
        <a:xfrm>
          <a:off x="0" y="0"/>
          <a:ext cx="0" cy="0"/>
          <a:chOff x="0" y="0"/>
          <a:chExt cx="0" cy="0"/>
        </a:xfrm>
      </p:grpSpPr>
      <p:grpSp>
        <p:nvGrpSpPr>
          <p:cNvPr name="Group 2" id="2"/>
          <p:cNvGrpSpPr/>
          <p:nvPr/>
        </p:nvGrpSpPr>
        <p:grpSpPr>
          <a:xfrm rot="0">
            <a:off x="0" y="307985"/>
            <a:ext cx="18288000" cy="1155055"/>
            <a:chOff x="0" y="0"/>
            <a:chExt cx="24384000" cy="1540073"/>
          </a:xfrm>
        </p:grpSpPr>
        <p:sp>
          <p:nvSpPr>
            <p:cNvPr name="Freeform 3" id="3"/>
            <p:cNvSpPr/>
            <p:nvPr/>
          </p:nvSpPr>
          <p:spPr>
            <a:xfrm flipH="false" flipV="false" rot="0">
              <a:off x="0" y="0"/>
              <a:ext cx="24384000" cy="1540073"/>
            </a:xfrm>
            <a:custGeom>
              <a:avLst/>
              <a:gdLst/>
              <a:ahLst/>
              <a:cxnLst/>
              <a:rect r="r" b="b" t="t" l="l"/>
              <a:pathLst>
                <a:path h="1540073" w="24384000">
                  <a:moveTo>
                    <a:pt x="0" y="0"/>
                  </a:moveTo>
                  <a:lnTo>
                    <a:pt x="24384000" y="0"/>
                  </a:lnTo>
                  <a:lnTo>
                    <a:pt x="24384000" y="1540073"/>
                  </a:lnTo>
                  <a:lnTo>
                    <a:pt x="0" y="1540073"/>
                  </a:lnTo>
                  <a:close/>
                </a:path>
              </a:pathLst>
            </a:custGeom>
            <a:blipFill>
              <a:blip r:embed="rId3">
                <a:alphaModFix amt="0"/>
              </a:blip>
              <a:stretch>
                <a:fillRect l="0" t="-264966" r="0" b="-252047"/>
              </a:stretch>
            </a:blipFill>
          </p:spPr>
        </p:sp>
        <p:sp>
          <p:nvSpPr>
            <p:cNvPr name="TextBox 4" id="4"/>
            <p:cNvSpPr txBox="true"/>
            <p:nvPr/>
          </p:nvSpPr>
          <p:spPr>
            <a:xfrm>
              <a:off x="0" y="-38100"/>
              <a:ext cx="24384000" cy="1578173"/>
            </a:xfrm>
            <a:prstGeom prst="rect">
              <a:avLst/>
            </a:prstGeom>
          </p:spPr>
          <p:txBody>
            <a:bodyPr anchor="ctr" rtlCol="false" tIns="0" lIns="0" bIns="0" rIns="0"/>
            <a:lstStyle/>
            <a:p>
              <a:pPr algn="ctr">
                <a:lnSpc>
                  <a:spcPts val="6720"/>
                </a:lnSpc>
              </a:pPr>
              <a:r>
                <a:rPr lang="en-US" b="true" sz="5600">
                  <a:solidFill>
                    <a:srgbClr val="FFFFFF"/>
                  </a:solidFill>
                  <a:latin typeface="Arial Bold"/>
                  <a:ea typeface="Arial Bold"/>
                  <a:cs typeface="Arial Bold"/>
                  <a:sym typeface="Arial Bold"/>
                </a:rPr>
                <a:t>Aperçu de l'architecture</a:t>
              </a:r>
            </a:p>
          </p:txBody>
        </p:sp>
      </p:grpSp>
      <p:sp>
        <p:nvSpPr>
          <p:cNvPr name="Freeform 5" id="5"/>
          <p:cNvSpPr/>
          <p:nvPr/>
        </p:nvSpPr>
        <p:spPr>
          <a:xfrm flipH="false" flipV="false" rot="0">
            <a:off x="3613756" y="1463040"/>
            <a:ext cx="11296629" cy="8472472"/>
          </a:xfrm>
          <a:custGeom>
            <a:avLst/>
            <a:gdLst/>
            <a:ahLst/>
            <a:cxnLst/>
            <a:rect r="r" b="b" t="t" l="l"/>
            <a:pathLst>
              <a:path h="8472472" w="11296629">
                <a:moveTo>
                  <a:pt x="0" y="0"/>
                </a:moveTo>
                <a:lnTo>
                  <a:pt x="11296629" y="0"/>
                </a:lnTo>
                <a:lnTo>
                  <a:pt x="11296629" y="8472472"/>
                </a:lnTo>
                <a:lnTo>
                  <a:pt x="0" y="8472472"/>
                </a:lnTo>
                <a:lnTo>
                  <a:pt x="0" y="0"/>
                </a:lnTo>
                <a:close/>
              </a:path>
            </a:pathLst>
          </a:custGeom>
          <a:blipFill>
            <a:blip r:embed="rId4"/>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1E2761"/>
        </a:solidFill>
      </p:bgPr>
    </p:bg>
    <p:spTree>
      <p:nvGrpSpPr>
        <p:cNvPr id="1" name=""/>
        <p:cNvGrpSpPr/>
        <p:nvPr/>
      </p:nvGrpSpPr>
      <p:grpSpPr>
        <a:xfrm>
          <a:off x="0" y="0"/>
          <a:ext cx="0" cy="0"/>
          <a:chOff x="0" y="0"/>
          <a:chExt cx="0" cy="0"/>
        </a:xfrm>
      </p:grpSpPr>
      <p:grpSp>
        <p:nvGrpSpPr>
          <p:cNvPr name="Group 2" id="2"/>
          <p:cNvGrpSpPr/>
          <p:nvPr/>
        </p:nvGrpSpPr>
        <p:grpSpPr>
          <a:xfrm rot="0">
            <a:off x="0" y="548640"/>
            <a:ext cx="18288000" cy="1569616"/>
            <a:chOff x="0" y="0"/>
            <a:chExt cx="24384000" cy="2092821"/>
          </a:xfrm>
        </p:grpSpPr>
        <p:sp>
          <p:nvSpPr>
            <p:cNvPr name="Freeform 3" id="3"/>
            <p:cNvSpPr/>
            <p:nvPr/>
          </p:nvSpPr>
          <p:spPr>
            <a:xfrm flipH="false" flipV="false" rot="0">
              <a:off x="0" y="0"/>
              <a:ext cx="24384000" cy="2092821"/>
            </a:xfrm>
            <a:custGeom>
              <a:avLst/>
              <a:gdLst/>
              <a:ahLst/>
              <a:cxnLst/>
              <a:rect r="r" b="b" t="t" l="l"/>
              <a:pathLst>
                <a:path h="2092821" w="24384000">
                  <a:moveTo>
                    <a:pt x="0" y="0"/>
                  </a:moveTo>
                  <a:lnTo>
                    <a:pt x="24384000" y="0"/>
                  </a:lnTo>
                  <a:lnTo>
                    <a:pt x="24384000" y="2092821"/>
                  </a:lnTo>
                  <a:lnTo>
                    <a:pt x="0" y="2092821"/>
                  </a:lnTo>
                  <a:close/>
                </a:path>
              </a:pathLst>
            </a:custGeom>
            <a:blipFill>
              <a:blip r:embed="rId3">
                <a:alphaModFix amt="0"/>
              </a:blip>
              <a:stretch>
                <a:fillRect l="0" t="-186245" r="0" b="-167804"/>
              </a:stretch>
            </a:blipFill>
          </p:spPr>
        </p:sp>
        <p:sp>
          <p:nvSpPr>
            <p:cNvPr name="TextBox 4" id="4"/>
            <p:cNvSpPr txBox="true"/>
            <p:nvPr/>
          </p:nvSpPr>
          <p:spPr>
            <a:xfrm>
              <a:off x="0" y="-38100"/>
              <a:ext cx="24384000" cy="2130921"/>
            </a:xfrm>
            <a:prstGeom prst="rect">
              <a:avLst/>
            </a:prstGeom>
          </p:spPr>
          <p:txBody>
            <a:bodyPr anchor="ctr" rtlCol="false" tIns="0" lIns="0" bIns="0" rIns="0"/>
            <a:lstStyle/>
            <a:p>
              <a:pPr algn="ctr">
                <a:lnSpc>
                  <a:spcPts val="9119"/>
                </a:lnSpc>
              </a:pPr>
              <a:r>
                <a:rPr lang="en-US" b="true" sz="7599">
                  <a:solidFill>
                    <a:srgbClr val="FFFFFF"/>
                  </a:solidFill>
                  <a:latin typeface="Arial Bold"/>
                  <a:ea typeface="Arial Bold"/>
                  <a:cs typeface="Arial Bold"/>
                  <a:sym typeface="Arial Bold"/>
                </a:rPr>
                <a:t>Demonstration</a:t>
              </a:r>
            </a:p>
          </p:txBody>
        </p:sp>
      </p:grpSp>
      <p:grpSp>
        <p:nvGrpSpPr>
          <p:cNvPr name="Group 5" id="5"/>
          <p:cNvGrpSpPr/>
          <p:nvPr/>
        </p:nvGrpSpPr>
        <p:grpSpPr>
          <a:xfrm rot="0">
            <a:off x="2730503" y="2090423"/>
            <a:ext cx="12827003" cy="1031243"/>
            <a:chOff x="0" y="0"/>
            <a:chExt cx="17102671" cy="1374991"/>
          </a:xfrm>
        </p:grpSpPr>
        <p:sp>
          <p:nvSpPr>
            <p:cNvPr name="Freeform 6" id="6"/>
            <p:cNvSpPr/>
            <p:nvPr/>
          </p:nvSpPr>
          <p:spPr>
            <a:xfrm flipH="false" flipV="false" rot="0">
              <a:off x="0" y="0"/>
              <a:ext cx="17102710" cy="1375029"/>
            </a:xfrm>
            <a:custGeom>
              <a:avLst/>
              <a:gdLst/>
              <a:ahLst/>
              <a:cxnLst/>
              <a:rect r="r" b="b" t="t" l="l"/>
              <a:pathLst>
                <a:path h="1375029" w="17102710">
                  <a:moveTo>
                    <a:pt x="0" y="200025"/>
                  </a:moveTo>
                  <a:cubicBezTo>
                    <a:pt x="0" y="89535"/>
                    <a:pt x="89535" y="0"/>
                    <a:pt x="200025" y="0"/>
                  </a:cubicBezTo>
                  <a:lnTo>
                    <a:pt x="16902685" y="0"/>
                  </a:lnTo>
                  <a:cubicBezTo>
                    <a:pt x="17013174" y="0"/>
                    <a:pt x="17102710" y="89535"/>
                    <a:pt x="17102710" y="200025"/>
                  </a:cubicBezTo>
                  <a:lnTo>
                    <a:pt x="17102710" y="1175004"/>
                  </a:lnTo>
                  <a:cubicBezTo>
                    <a:pt x="17102710" y="1285494"/>
                    <a:pt x="17013174" y="1375029"/>
                    <a:pt x="16902685" y="1375029"/>
                  </a:cubicBezTo>
                  <a:lnTo>
                    <a:pt x="200025" y="1375029"/>
                  </a:lnTo>
                  <a:cubicBezTo>
                    <a:pt x="89535" y="1375029"/>
                    <a:pt x="0" y="1285494"/>
                    <a:pt x="0" y="1175004"/>
                  </a:cubicBezTo>
                  <a:close/>
                </a:path>
              </a:pathLst>
            </a:custGeom>
            <a:solidFill>
              <a:srgbClr val="00C2D7"/>
            </a:solidFill>
            <a:ln w="25400" cap="sq">
              <a:solidFill>
                <a:srgbClr val="00C2D7"/>
              </a:solidFill>
              <a:prstDash val="solid"/>
              <a:miter/>
            </a:ln>
          </p:spPr>
        </p:sp>
      </p:grpSp>
      <p:grpSp>
        <p:nvGrpSpPr>
          <p:cNvPr name="Group 7" id="7"/>
          <p:cNvGrpSpPr/>
          <p:nvPr/>
        </p:nvGrpSpPr>
        <p:grpSpPr>
          <a:xfrm rot="0">
            <a:off x="2743200" y="2103120"/>
            <a:ext cx="12801600" cy="1005840"/>
            <a:chOff x="0" y="0"/>
            <a:chExt cx="17068800" cy="1341120"/>
          </a:xfrm>
        </p:grpSpPr>
        <p:sp>
          <p:nvSpPr>
            <p:cNvPr name="Freeform 8" id="8"/>
            <p:cNvSpPr/>
            <p:nvPr/>
          </p:nvSpPr>
          <p:spPr>
            <a:xfrm flipH="false" flipV="false" rot="0">
              <a:off x="0" y="0"/>
              <a:ext cx="17068800" cy="1341120"/>
            </a:xfrm>
            <a:custGeom>
              <a:avLst/>
              <a:gdLst/>
              <a:ahLst/>
              <a:cxnLst/>
              <a:rect r="r" b="b" t="t" l="l"/>
              <a:pathLst>
                <a:path h="1341120" w="17068800">
                  <a:moveTo>
                    <a:pt x="0" y="0"/>
                  </a:moveTo>
                  <a:lnTo>
                    <a:pt x="17068800" y="0"/>
                  </a:lnTo>
                  <a:lnTo>
                    <a:pt x="17068800" y="1341120"/>
                  </a:lnTo>
                  <a:lnTo>
                    <a:pt x="0" y="1341120"/>
                  </a:lnTo>
                  <a:close/>
                </a:path>
              </a:pathLst>
            </a:custGeom>
            <a:blipFill>
              <a:blip r:embed="rId3">
                <a:alphaModFix amt="0"/>
              </a:blip>
              <a:stretch>
                <a:fillRect l="0" t="-197991" r="0" b="-197991"/>
              </a:stretch>
            </a:blipFill>
          </p:spPr>
        </p:sp>
        <p:sp>
          <p:nvSpPr>
            <p:cNvPr name="TextBox 9" id="9"/>
            <p:cNvSpPr txBox="true"/>
            <p:nvPr/>
          </p:nvSpPr>
          <p:spPr>
            <a:xfrm>
              <a:off x="0" y="-28575"/>
              <a:ext cx="17068800" cy="1369695"/>
            </a:xfrm>
            <a:prstGeom prst="rect">
              <a:avLst/>
            </a:prstGeom>
          </p:spPr>
          <p:txBody>
            <a:bodyPr anchor="ctr" rtlCol="false" tIns="0" lIns="0" bIns="0" rIns="0"/>
            <a:lstStyle/>
            <a:p>
              <a:pPr algn="ctr">
                <a:lnSpc>
                  <a:spcPts val="4320"/>
                </a:lnSpc>
              </a:pPr>
              <a:r>
                <a:rPr lang="en-US" b="true" sz="3600" u="sng">
                  <a:solidFill>
                    <a:srgbClr val="1E2761"/>
                  </a:solidFill>
                  <a:latin typeface="Arial Bold"/>
                  <a:ea typeface="Arial Bold"/>
                  <a:cs typeface="Arial Bold"/>
                  <a:sym typeface="Arial Bold"/>
                  <a:hlinkClick r:id="rId4" tooltip="https://portfolio-kappa-dun-65.vercel.app"/>
                </a:rPr>
                <a:t>🌐  portfolio-kappa-dun-65.vercel.app</a:t>
              </a:r>
            </a:p>
          </p:txBody>
        </p:sp>
      </p:grpSp>
      <p:grpSp>
        <p:nvGrpSpPr>
          <p:cNvPr name="Group 10" id="10"/>
          <p:cNvGrpSpPr/>
          <p:nvPr/>
        </p:nvGrpSpPr>
        <p:grpSpPr>
          <a:xfrm rot="0">
            <a:off x="1543048" y="3736343"/>
            <a:ext cx="756923" cy="756923"/>
            <a:chOff x="0" y="0"/>
            <a:chExt cx="1009231" cy="1009231"/>
          </a:xfrm>
        </p:grpSpPr>
        <p:sp>
          <p:nvSpPr>
            <p:cNvPr name="Freeform 11" id="11"/>
            <p:cNvSpPr/>
            <p:nvPr/>
          </p:nvSpPr>
          <p:spPr>
            <a:xfrm flipH="false" flipV="false" rot="0">
              <a:off x="0" y="0"/>
              <a:ext cx="1009269" cy="1009269"/>
            </a:xfrm>
            <a:custGeom>
              <a:avLst/>
              <a:gdLst/>
              <a:ahLst/>
              <a:cxnLst/>
              <a:rect r="r" b="b" t="t" l="l"/>
              <a:pathLst>
                <a:path h="1009269" w="1009269">
                  <a:moveTo>
                    <a:pt x="0" y="504571"/>
                  </a:moveTo>
                  <a:cubicBezTo>
                    <a:pt x="0" y="225933"/>
                    <a:pt x="225933" y="0"/>
                    <a:pt x="504571" y="0"/>
                  </a:cubicBezTo>
                  <a:cubicBezTo>
                    <a:pt x="783209" y="0"/>
                    <a:pt x="1009269" y="225933"/>
                    <a:pt x="1009269" y="504571"/>
                  </a:cubicBezTo>
                  <a:cubicBezTo>
                    <a:pt x="1009269" y="783209"/>
                    <a:pt x="783336" y="1009269"/>
                    <a:pt x="504571" y="1009269"/>
                  </a:cubicBezTo>
                  <a:cubicBezTo>
                    <a:pt x="225806" y="1009269"/>
                    <a:pt x="0" y="783336"/>
                    <a:pt x="0" y="504571"/>
                  </a:cubicBezTo>
                  <a:close/>
                </a:path>
              </a:pathLst>
            </a:custGeom>
            <a:solidFill>
              <a:srgbClr val="00C2D7"/>
            </a:solidFill>
            <a:ln w="25400" cap="sq">
              <a:solidFill>
                <a:srgbClr val="00C2D7"/>
              </a:solidFill>
              <a:prstDash val="solid"/>
              <a:miter/>
            </a:ln>
          </p:spPr>
        </p:sp>
      </p:grpSp>
      <p:grpSp>
        <p:nvGrpSpPr>
          <p:cNvPr name="Group 12" id="12"/>
          <p:cNvGrpSpPr/>
          <p:nvPr/>
        </p:nvGrpSpPr>
        <p:grpSpPr>
          <a:xfrm rot="0">
            <a:off x="1555745" y="3749040"/>
            <a:ext cx="731520" cy="731520"/>
            <a:chOff x="0" y="0"/>
            <a:chExt cx="975360" cy="975360"/>
          </a:xfrm>
        </p:grpSpPr>
        <p:sp>
          <p:nvSpPr>
            <p:cNvPr name="Freeform 13" id="13"/>
            <p:cNvSpPr/>
            <p:nvPr/>
          </p:nvSpPr>
          <p:spPr>
            <a:xfrm flipH="false" flipV="false" rot="0">
              <a:off x="0" y="0"/>
              <a:ext cx="975360" cy="975360"/>
            </a:xfrm>
            <a:custGeom>
              <a:avLst/>
              <a:gdLst/>
              <a:ahLst/>
              <a:cxnLst/>
              <a:rect r="r" b="b" t="t" l="l"/>
              <a:pathLst>
                <a:path h="975360" w="975360">
                  <a:moveTo>
                    <a:pt x="0" y="0"/>
                  </a:moveTo>
                  <a:lnTo>
                    <a:pt x="975360" y="0"/>
                  </a:lnTo>
                  <a:lnTo>
                    <a:pt x="975360" y="975360"/>
                  </a:lnTo>
                  <a:lnTo>
                    <a:pt x="0" y="975360"/>
                  </a:lnTo>
                  <a:close/>
                </a:path>
              </a:pathLst>
            </a:custGeom>
            <a:blipFill>
              <a:blip r:embed="rId3">
                <a:alphaModFix amt="0"/>
              </a:blip>
              <a:stretch>
                <a:fillRect l="-78303" t="0" r="-78303" b="0"/>
              </a:stretch>
            </a:blipFill>
          </p:spPr>
        </p:sp>
        <p:sp>
          <p:nvSpPr>
            <p:cNvPr name="TextBox 14" id="14"/>
            <p:cNvSpPr txBox="true"/>
            <p:nvPr/>
          </p:nvSpPr>
          <p:spPr>
            <a:xfrm>
              <a:off x="0" y="-19050"/>
              <a:ext cx="975360" cy="994410"/>
            </a:xfrm>
            <a:prstGeom prst="rect">
              <a:avLst/>
            </a:prstGeom>
          </p:spPr>
          <p:txBody>
            <a:bodyPr anchor="ctr" rtlCol="false" tIns="0" lIns="0" bIns="0" rIns="0"/>
            <a:lstStyle/>
            <a:p>
              <a:pPr algn="ctr">
                <a:lnSpc>
                  <a:spcPts val="3359"/>
                </a:lnSpc>
              </a:pPr>
              <a:r>
                <a:rPr lang="en-US" b="true" sz="2799">
                  <a:solidFill>
                    <a:srgbClr val="1E2761"/>
                  </a:solidFill>
                  <a:latin typeface="Arial Bold"/>
                  <a:ea typeface="Arial Bold"/>
                  <a:cs typeface="Arial Bold"/>
                  <a:sym typeface="Arial Bold"/>
                </a:rPr>
                <a:t>1</a:t>
              </a:r>
            </a:p>
          </p:txBody>
        </p:sp>
      </p:grpSp>
      <p:grpSp>
        <p:nvGrpSpPr>
          <p:cNvPr name="Group 15" id="15"/>
          <p:cNvGrpSpPr/>
          <p:nvPr/>
        </p:nvGrpSpPr>
        <p:grpSpPr>
          <a:xfrm rot="0">
            <a:off x="2470145" y="3657600"/>
            <a:ext cx="13716000" cy="914400"/>
            <a:chOff x="0" y="0"/>
            <a:chExt cx="18288000" cy="1219200"/>
          </a:xfrm>
        </p:grpSpPr>
        <p:sp>
          <p:nvSpPr>
            <p:cNvPr name="Freeform 16" id="16"/>
            <p:cNvSpPr/>
            <p:nvPr/>
          </p:nvSpPr>
          <p:spPr>
            <a:xfrm flipH="false" flipV="false" rot="0">
              <a:off x="0" y="0"/>
              <a:ext cx="18288000" cy="1219200"/>
            </a:xfrm>
            <a:custGeom>
              <a:avLst/>
              <a:gdLst/>
              <a:ahLst/>
              <a:cxnLst/>
              <a:rect r="r" b="b" t="t" l="l"/>
              <a:pathLst>
                <a:path h="1219200" w="18288000">
                  <a:moveTo>
                    <a:pt x="0" y="0"/>
                  </a:moveTo>
                  <a:lnTo>
                    <a:pt x="18288000" y="0"/>
                  </a:lnTo>
                  <a:lnTo>
                    <a:pt x="18288000" y="1219200"/>
                  </a:lnTo>
                  <a:lnTo>
                    <a:pt x="0" y="1219200"/>
                  </a:lnTo>
                  <a:close/>
                </a:path>
              </a:pathLst>
            </a:custGeom>
            <a:blipFill>
              <a:blip r:embed="rId3">
                <a:alphaModFix amt="0"/>
              </a:blip>
              <a:stretch>
                <a:fillRect l="0" t="-242275" r="0" b="-242275"/>
              </a:stretch>
            </a:blipFill>
          </p:spPr>
        </p:sp>
        <p:sp>
          <p:nvSpPr>
            <p:cNvPr name="TextBox 17" id="17"/>
            <p:cNvSpPr txBox="true"/>
            <p:nvPr/>
          </p:nvSpPr>
          <p:spPr>
            <a:xfrm>
              <a:off x="0" y="-28575"/>
              <a:ext cx="18288000" cy="1247775"/>
            </a:xfrm>
            <a:prstGeom prst="rect">
              <a:avLst/>
            </a:prstGeom>
          </p:spPr>
          <p:txBody>
            <a:bodyPr anchor="ctr" rtlCol="false" tIns="0" lIns="0" bIns="0" rIns="0"/>
            <a:lstStyle/>
            <a:p>
              <a:pPr algn="l">
                <a:lnSpc>
                  <a:spcPts val="3840"/>
                </a:lnSpc>
              </a:pPr>
              <a:r>
                <a:rPr lang="en-US" b="true" sz="3200">
                  <a:solidFill>
                    <a:srgbClr val="FFFFFF"/>
                  </a:solidFill>
                  <a:latin typeface="Arial Bold"/>
                  <a:ea typeface="Arial Bold"/>
                  <a:cs typeface="Arial Bold"/>
                  <a:sym typeface="Arial Bold"/>
                </a:rPr>
                <a:t>Inscr</a:t>
              </a:r>
              <a:r>
                <a:rPr lang="en-US" b="true" sz="3200">
                  <a:solidFill>
                    <a:srgbClr val="FFFFFF"/>
                  </a:solidFill>
                  <a:latin typeface="Arial Bold"/>
                  <a:ea typeface="Arial Bold"/>
                  <a:cs typeface="Arial Bold"/>
                  <a:sym typeface="Arial Bold"/>
                </a:rPr>
                <a:t>is-toi comme nouveau client → </a:t>
              </a:r>
              <a:r>
                <a:rPr lang="en-US" b="true" sz="3200">
                  <a:solidFill>
                    <a:srgbClr val="FFFFFF"/>
                  </a:solidFill>
                  <a:latin typeface="Arial Bold"/>
                  <a:ea typeface="Arial Bold"/>
                  <a:cs typeface="Arial Bold"/>
                  <a:sym typeface="Arial Bold"/>
                </a:rPr>
                <a:t>S</a:t>
              </a:r>
              <a:r>
                <a:rPr lang="en-US" b="true" sz="3200">
                  <a:solidFill>
                    <a:srgbClr val="FFFFFF"/>
                  </a:solidFill>
                  <a:latin typeface="Arial Bold"/>
                  <a:ea typeface="Arial Bold"/>
                  <a:cs typeface="Arial Bold"/>
                  <a:sym typeface="Arial Bold"/>
                </a:rPr>
                <a:t>o</a:t>
              </a:r>
              <a:r>
                <a:rPr lang="en-US" b="true" sz="3200">
                  <a:solidFill>
                    <a:srgbClr val="FFFFFF"/>
                  </a:solidFill>
                  <a:latin typeface="Arial Bold"/>
                  <a:ea typeface="Arial Bold"/>
                  <a:cs typeface="Arial Bold"/>
                  <a:sym typeface="Arial Bold"/>
                </a:rPr>
                <a:t>um</a:t>
              </a:r>
              <a:r>
                <a:rPr lang="en-US" b="true" sz="3200">
                  <a:solidFill>
                    <a:srgbClr val="FFFFFF"/>
                  </a:solidFill>
                  <a:latin typeface="Arial Bold"/>
                  <a:ea typeface="Arial Bold"/>
                  <a:cs typeface="Arial Bold"/>
                  <a:sym typeface="Arial Bold"/>
                </a:rPr>
                <a:t>e</a:t>
              </a:r>
              <a:r>
                <a:rPr lang="en-US" b="true" sz="3200">
                  <a:solidFill>
                    <a:srgbClr val="FFFFFF"/>
                  </a:solidFill>
                  <a:latin typeface="Arial Bold"/>
                  <a:ea typeface="Arial Bold"/>
                  <a:cs typeface="Arial Bold"/>
                  <a:sym typeface="Arial Bold"/>
                </a:rPr>
                <a:t>t</a:t>
              </a:r>
              <a:r>
                <a:rPr lang="en-US" b="true" sz="3200">
                  <a:solidFill>
                    <a:srgbClr val="FFFFFF"/>
                  </a:solidFill>
                  <a:latin typeface="Arial Bold"/>
                  <a:ea typeface="Arial Bold"/>
                  <a:cs typeface="Arial Bold"/>
                  <a:sym typeface="Arial Bold"/>
                </a:rPr>
                <a:t>s</a:t>
              </a:r>
              <a:r>
                <a:rPr lang="en-US" b="true" sz="3200">
                  <a:solidFill>
                    <a:srgbClr val="FFFFFF"/>
                  </a:solidFill>
                  <a:latin typeface="Arial Bold"/>
                  <a:ea typeface="Arial Bold"/>
                  <a:cs typeface="Arial Bold"/>
                  <a:sym typeface="Arial Bold"/>
                </a:rPr>
                <a:t> </a:t>
              </a:r>
              <a:r>
                <a:rPr lang="en-US" b="true" sz="3200">
                  <a:solidFill>
                    <a:srgbClr val="FFFFFF"/>
                  </a:solidFill>
                  <a:latin typeface="Arial Bold"/>
                  <a:ea typeface="Arial Bold"/>
                  <a:cs typeface="Arial Bold"/>
                  <a:sym typeface="Arial Bold"/>
                </a:rPr>
                <a:t>une dem</a:t>
              </a:r>
              <a:r>
                <a:rPr lang="en-US" b="true" sz="3200">
                  <a:solidFill>
                    <a:srgbClr val="FFFFFF"/>
                  </a:solidFill>
                  <a:latin typeface="Arial Bold"/>
                  <a:ea typeface="Arial Bold"/>
                  <a:cs typeface="Arial Bold"/>
                  <a:sym typeface="Arial Bold"/>
                </a:rPr>
                <a:t>an</a:t>
              </a:r>
              <a:r>
                <a:rPr lang="en-US" b="true" sz="3200">
                  <a:solidFill>
                    <a:srgbClr val="FFFFFF"/>
                  </a:solidFill>
                  <a:latin typeface="Arial Bold"/>
                  <a:ea typeface="Arial Bold"/>
                  <a:cs typeface="Arial Bold"/>
                  <a:sym typeface="Arial Bold"/>
                </a:rPr>
                <a:t>de</a:t>
              </a:r>
              <a:r>
                <a:rPr lang="en-US" b="true" sz="3200">
                  <a:solidFill>
                    <a:srgbClr val="FFFFFF"/>
                  </a:solidFill>
                  <a:latin typeface="Arial Bold"/>
                  <a:ea typeface="Arial Bold"/>
                  <a:cs typeface="Arial Bold"/>
                  <a:sym typeface="Arial Bold"/>
                </a:rPr>
                <a:t> </a:t>
              </a:r>
              <a:r>
                <a:rPr lang="en-US" b="true" sz="3200">
                  <a:solidFill>
                    <a:srgbClr val="FFFFFF"/>
                  </a:solidFill>
                  <a:latin typeface="Arial Bold"/>
                  <a:ea typeface="Arial Bold"/>
                  <a:cs typeface="Arial Bold"/>
                  <a:sym typeface="Arial Bold"/>
                </a:rPr>
                <a:t>d'</a:t>
              </a:r>
              <a:r>
                <a:rPr lang="en-US" b="true" sz="3200">
                  <a:solidFill>
                    <a:srgbClr val="FFFFFF"/>
                  </a:solidFill>
                  <a:latin typeface="Arial Bold"/>
                  <a:ea typeface="Arial Bold"/>
                  <a:cs typeface="Arial Bold"/>
                  <a:sym typeface="Arial Bold"/>
                </a:rPr>
                <a:t>audit</a:t>
              </a:r>
            </a:p>
          </p:txBody>
        </p:sp>
      </p:grpSp>
      <p:grpSp>
        <p:nvGrpSpPr>
          <p:cNvPr name="Group 18" id="18"/>
          <p:cNvGrpSpPr/>
          <p:nvPr/>
        </p:nvGrpSpPr>
        <p:grpSpPr>
          <a:xfrm rot="0">
            <a:off x="1543048" y="4833623"/>
            <a:ext cx="756923" cy="756923"/>
            <a:chOff x="0" y="0"/>
            <a:chExt cx="1009231" cy="1009231"/>
          </a:xfrm>
        </p:grpSpPr>
        <p:sp>
          <p:nvSpPr>
            <p:cNvPr name="Freeform 19" id="19"/>
            <p:cNvSpPr/>
            <p:nvPr/>
          </p:nvSpPr>
          <p:spPr>
            <a:xfrm flipH="false" flipV="false" rot="0">
              <a:off x="0" y="0"/>
              <a:ext cx="1009269" cy="1009269"/>
            </a:xfrm>
            <a:custGeom>
              <a:avLst/>
              <a:gdLst/>
              <a:ahLst/>
              <a:cxnLst/>
              <a:rect r="r" b="b" t="t" l="l"/>
              <a:pathLst>
                <a:path h="1009269" w="1009269">
                  <a:moveTo>
                    <a:pt x="0" y="504571"/>
                  </a:moveTo>
                  <a:cubicBezTo>
                    <a:pt x="0" y="225933"/>
                    <a:pt x="225933" y="0"/>
                    <a:pt x="504571" y="0"/>
                  </a:cubicBezTo>
                  <a:cubicBezTo>
                    <a:pt x="783209" y="0"/>
                    <a:pt x="1009269" y="225933"/>
                    <a:pt x="1009269" y="504571"/>
                  </a:cubicBezTo>
                  <a:cubicBezTo>
                    <a:pt x="1009269" y="783209"/>
                    <a:pt x="783336" y="1009269"/>
                    <a:pt x="504571" y="1009269"/>
                  </a:cubicBezTo>
                  <a:cubicBezTo>
                    <a:pt x="225806" y="1009269"/>
                    <a:pt x="0" y="783336"/>
                    <a:pt x="0" y="504571"/>
                  </a:cubicBezTo>
                  <a:close/>
                </a:path>
              </a:pathLst>
            </a:custGeom>
            <a:solidFill>
              <a:srgbClr val="00C2D7"/>
            </a:solidFill>
            <a:ln w="25400" cap="sq">
              <a:solidFill>
                <a:srgbClr val="00C2D7"/>
              </a:solidFill>
              <a:prstDash val="solid"/>
              <a:miter/>
            </a:ln>
          </p:spPr>
        </p:sp>
      </p:grpSp>
      <p:grpSp>
        <p:nvGrpSpPr>
          <p:cNvPr name="Group 20" id="20"/>
          <p:cNvGrpSpPr/>
          <p:nvPr/>
        </p:nvGrpSpPr>
        <p:grpSpPr>
          <a:xfrm rot="0">
            <a:off x="1555745" y="4846320"/>
            <a:ext cx="731520" cy="731520"/>
            <a:chOff x="0" y="0"/>
            <a:chExt cx="975360" cy="975360"/>
          </a:xfrm>
        </p:grpSpPr>
        <p:sp>
          <p:nvSpPr>
            <p:cNvPr name="Freeform 21" id="21"/>
            <p:cNvSpPr/>
            <p:nvPr/>
          </p:nvSpPr>
          <p:spPr>
            <a:xfrm flipH="false" flipV="false" rot="0">
              <a:off x="0" y="0"/>
              <a:ext cx="975360" cy="975360"/>
            </a:xfrm>
            <a:custGeom>
              <a:avLst/>
              <a:gdLst/>
              <a:ahLst/>
              <a:cxnLst/>
              <a:rect r="r" b="b" t="t" l="l"/>
              <a:pathLst>
                <a:path h="975360" w="975360">
                  <a:moveTo>
                    <a:pt x="0" y="0"/>
                  </a:moveTo>
                  <a:lnTo>
                    <a:pt x="975360" y="0"/>
                  </a:lnTo>
                  <a:lnTo>
                    <a:pt x="975360" y="975360"/>
                  </a:lnTo>
                  <a:lnTo>
                    <a:pt x="0" y="975360"/>
                  </a:lnTo>
                  <a:close/>
                </a:path>
              </a:pathLst>
            </a:custGeom>
            <a:blipFill>
              <a:blip r:embed="rId3">
                <a:alphaModFix amt="0"/>
              </a:blip>
              <a:stretch>
                <a:fillRect l="-78303" t="0" r="-78303" b="0"/>
              </a:stretch>
            </a:blipFill>
          </p:spPr>
        </p:sp>
        <p:sp>
          <p:nvSpPr>
            <p:cNvPr name="TextBox 22" id="22"/>
            <p:cNvSpPr txBox="true"/>
            <p:nvPr/>
          </p:nvSpPr>
          <p:spPr>
            <a:xfrm>
              <a:off x="0" y="-19050"/>
              <a:ext cx="975360" cy="994410"/>
            </a:xfrm>
            <a:prstGeom prst="rect">
              <a:avLst/>
            </a:prstGeom>
          </p:spPr>
          <p:txBody>
            <a:bodyPr anchor="ctr" rtlCol="false" tIns="0" lIns="0" bIns="0" rIns="0"/>
            <a:lstStyle/>
            <a:p>
              <a:pPr algn="ctr">
                <a:lnSpc>
                  <a:spcPts val="3359"/>
                </a:lnSpc>
              </a:pPr>
              <a:r>
                <a:rPr lang="en-US" b="true" sz="2799">
                  <a:solidFill>
                    <a:srgbClr val="1E2761"/>
                  </a:solidFill>
                  <a:latin typeface="Arial Bold"/>
                  <a:ea typeface="Arial Bold"/>
                  <a:cs typeface="Arial Bold"/>
                  <a:sym typeface="Arial Bold"/>
                </a:rPr>
                <a:t>2</a:t>
              </a:r>
            </a:p>
          </p:txBody>
        </p:sp>
      </p:grpSp>
      <p:grpSp>
        <p:nvGrpSpPr>
          <p:cNvPr name="Group 23" id="23"/>
          <p:cNvGrpSpPr/>
          <p:nvPr/>
        </p:nvGrpSpPr>
        <p:grpSpPr>
          <a:xfrm rot="0">
            <a:off x="2470145" y="4754880"/>
            <a:ext cx="13716000" cy="914400"/>
            <a:chOff x="0" y="0"/>
            <a:chExt cx="18288000" cy="1219200"/>
          </a:xfrm>
        </p:grpSpPr>
        <p:sp>
          <p:nvSpPr>
            <p:cNvPr name="Freeform 24" id="24"/>
            <p:cNvSpPr/>
            <p:nvPr/>
          </p:nvSpPr>
          <p:spPr>
            <a:xfrm flipH="false" flipV="false" rot="0">
              <a:off x="0" y="0"/>
              <a:ext cx="18288000" cy="1219200"/>
            </a:xfrm>
            <a:custGeom>
              <a:avLst/>
              <a:gdLst/>
              <a:ahLst/>
              <a:cxnLst/>
              <a:rect r="r" b="b" t="t" l="l"/>
              <a:pathLst>
                <a:path h="1219200" w="18288000">
                  <a:moveTo>
                    <a:pt x="0" y="0"/>
                  </a:moveTo>
                  <a:lnTo>
                    <a:pt x="18288000" y="0"/>
                  </a:lnTo>
                  <a:lnTo>
                    <a:pt x="18288000" y="1219200"/>
                  </a:lnTo>
                  <a:lnTo>
                    <a:pt x="0" y="1219200"/>
                  </a:lnTo>
                  <a:close/>
                </a:path>
              </a:pathLst>
            </a:custGeom>
            <a:blipFill>
              <a:blip r:embed="rId3">
                <a:alphaModFix amt="0"/>
              </a:blip>
              <a:stretch>
                <a:fillRect l="0" t="-242275" r="0" b="-242275"/>
              </a:stretch>
            </a:blipFill>
          </p:spPr>
        </p:sp>
        <p:sp>
          <p:nvSpPr>
            <p:cNvPr name="TextBox 25" id="25"/>
            <p:cNvSpPr txBox="true"/>
            <p:nvPr/>
          </p:nvSpPr>
          <p:spPr>
            <a:xfrm>
              <a:off x="0" y="-28575"/>
              <a:ext cx="18288000" cy="1247775"/>
            </a:xfrm>
            <a:prstGeom prst="rect">
              <a:avLst/>
            </a:prstGeom>
          </p:spPr>
          <p:txBody>
            <a:bodyPr anchor="ctr" rtlCol="false" tIns="0" lIns="0" bIns="0" rIns="0"/>
            <a:lstStyle/>
            <a:p>
              <a:pPr algn="l">
                <a:lnSpc>
                  <a:spcPts val="3840"/>
                </a:lnSpc>
              </a:pPr>
              <a:r>
                <a:rPr lang="en-US" b="true" sz="3200">
                  <a:solidFill>
                    <a:srgbClr val="FFFFFF"/>
                  </a:solidFill>
                  <a:latin typeface="Arial Bold"/>
                  <a:ea typeface="Arial Bold"/>
                  <a:cs typeface="Arial Bold"/>
                  <a:sym typeface="Arial Bold"/>
                </a:rPr>
                <a:t>Recevoir la confirmation par e-mail → avec la</a:t>
              </a:r>
              <a:r>
                <a:rPr lang="en-US" b="true" sz="3200">
                  <a:solidFill>
                    <a:srgbClr val="FFFFFF"/>
                  </a:solidFill>
                  <a:latin typeface="Arial Bold"/>
                  <a:ea typeface="Arial Bold"/>
                  <a:cs typeface="Arial Bold"/>
                  <a:sym typeface="Arial Bold"/>
                </a:rPr>
                <a:t> r</a:t>
              </a:r>
              <a:r>
                <a:rPr lang="en-US" b="true" sz="3200">
                  <a:solidFill>
                    <a:srgbClr val="FFFFFF"/>
                  </a:solidFill>
                  <a:latin typeface="Arial Bold"/>
                  <a:ea typeface="Arial Bold"/>
                  <a:cs typeface="Arial Bold"/>
                  <a:sym typeface="Arial Bold"/>
                </a:rPr>
                <a:t>é</a:t>
              </a:r>
              <a:r>
                <a:rPr lang="en-US" b="true" sz="3200">
                  <a:solidFill>
                    <a:srgbClr val="FFFFFF"/>
                  </a:solidFill>
                  <a:latin typeface="Arial Bold"/>
                  <a:ea typeface="Arial Bold"/>
                  <a:cs typeface="Arial Bold"/>
                  <a:sym typeface="Arial Bold"/>
                </a:rPr>
                <a:t>f</a:t>
              </a:r>
              <a:r>
                <a:rPr lang="en-US" b="true" sz="3200">
                  <a:solidFill>
                    <a:srgbClr val="FFFFFF"/>
                  </a:solidFill>
                  <a:latin typeface="Arial Bold"/>
                  <a:ea typeface="Arial Bold"/>
                  <a:cs typeface="Arial Bold"/>
                  <a:sym typeface="Arial Bold"/>
                </a:rPr>
                <a:t>é</a:t>
              </a:r>
              <a:r>
                <a:rPr lang="en-US" b="true" sz="3200">
                  <a:solidFill>
                    <a:srgbClr val="FFFFFF"/>
                  </a:solidFill>
                  <a:latin typeface="Arial Bold"/>
                  <a:ea typeface="Arial Bold"/>
                  <a:cs typeface="Arial Bold"/>
                  <a:sym typeface="Arial Bold"/>
                </a:rPr>
                <a:t>rence </a:t>
              </a:r>
              <a:r>
                <a:rPr lang="en-US" b="true" sz="3200">
                  <a:solidFill>
                    <a:srgbClr val="FFFFFF"/>
                  </a:solidFill>
                  <a:latin typeface="Arial Bold"/>
                  <a:ea typeface="Arial Bold"/>
                  <a:cs typeface="Arial Bold"/>
                  <a:sym typeface="Arial Bold"/>
                </a:rPr>
                <a:t>et</a:t>
              </a:r>
              <a:r>
                <a:rPr lang="en-US" b="true" sz="3200">
                  <a:solidFill>
                    <a:srgbClr val="FFFFFF"/>
                  </a:solidFill>
                  <a:latin typeface="Arial Bold"/>
                  <a:ea typeface="Arial Bold"/>
                  <a:cs typeface="Arial Bold"/>
                  <a:sym typeface="Arial Bold"/>
                </a:rPr>
                <a:t> </a:t>
              </a:r>
              <a:r>
                <a:rPr lang="en-US" b="true" sz="3200">
                  <a:solidFill>
                    <a:srgbClr val="FFFFFF"/>
                  </a:solidFill>
                  <a:latin typeface="Arial Bold"/>
                  <a:ea typeface="Arial Bold"/>
                  <a:cs typeface="Arial Bold"/>
                  <a:sym typeface="Arial Bold"/>
                </a:rPr>
                <a:t>l</a:t>
              </a:r>
              <a:r>
                <a:rPr lang="en-US" b="true" sz="3200">
                  <a:solidFill>
                    <a:srgbClr val="FFFFFF"/>
                  </a:solidFill>
                  <a:latin typeface="Arial Bold"/>
                  <a:ea typeface="Arial Bold"/>
                  <a:cs typeface="Arial Bold"/>
                  <a:sym typeface="Arial Bold"/>
                </a:rPr>
                <a:t>e</a:t>
              </a:r>
              <a:r>
                <a:rPr lang="en-US" b="true" sz="3200">
                  <a:solidFill>
                    <a:srgbClr val="FFFFFF"/>
                  </a:solidFill>
                  <a:latin typeface="Arial Bold"/>
                  <a:ea typeface="Arial Bold"/>
                  <a:cs typeface="Arial Bold"/>
                  <a:sym typeface="Arial Bold"/>
                </a:rPr>
                <a:t>s dé</a:t>
              </a:r>
              <a:r>
                <a:rPr lang="en-US" b="true" sz="3200">
                  <a:solidFill>
                    <a:srgbClr val="FFFFFF"/>
                  </a:solidFill>
                  <a:latin typeface="Arial Bold"/>
                  <a:ea typeface="Arial Bold"/>
                  <a:cs typeface="Arial Bold"/>
                  <a:sym typeface="Arial Bold"/>
                </a:rPr>
                <a:t>tails</a:t>
              </a:r>
            </a:p>
          </p:txBody>
        </p:sp>
      </p:grpSp>
      <p:grpSp>
        <p:nvGrpSpPr>
          <p:cNvPr name="Group 26" id="26"/>
          <p:cNvGrpSpPr/>
          <p:nvPr/>
        </p:nvGrpSpPr>
        <p:grpSpPr>
          <a:xfrm rot="0">
            <a:off x="1543048" y="5930903"/>
            <a:ext cx="756923" cy="756923"/>
            <a:chOff x="0" y="0"/>
            <a:chExt cx="1009231" cy="1009231"/>
          </a:xfrm>
        </p:grpSpPr>
        <p:sp>
          <p:nvSpPr>
            <p:cNvPr name="Freeform 27" id="27"/>
            <p:cNvSpPr/>
            <p:nvPr/>
          </p:nvSpPr>
          <p:spPr>
            <a:xfrm flipH="false" flipV="false" rot="0">
              <a:off x="0" y="0"/>
              <a:ext cx="1009269" cy="1009269"/>
            </a:xfrm>
            <a:custGeom>
              <a:avLst/>
              <a:gdLst/>
              <a:ahLst/>
              <a:cxnLst/>
              <a:rect r="r" b="b" t="t" l="l"/>
              <a:pathLst>
                <a:path h="1009269" w="1009269">
                  <a:moveTo>
                    <a:pt x="0" y="504571"/>
                  </a:moveTo>
                  <a:cubicBezTo>
                    <a:pt x="0" y="225933"/>
                    <a:pt x="225933" y="0"/>
                    <a:pt x="504571" y="0"/>
                  </a:cubicBezTo>
                  <a:cubicBezTo>
                    <a:pt x="783209" y="0"/>
                    <a:pt x="1009269" y="225933"/>
                    <a:pt x="1009269" y="504571"/>
                  </a:cubicBezTo>
                  <a:cubicBezTo>
                    <a:pt x="1009269" y="783209"/>
                    <a:pt x="783336" y="1009269"/>
                    <a:pt x="504571" y="1009269"/>
                  </a:cubicBezTo>
                  <a:cubicBezTo>
                    <a:pt x="225806" y="1009269"/>
                    <a:pt x="0" y="783336"/>
                    <a:pt x="0" y="504571"/>
                  </a:cubicBezTo>
                  <a:close/>
                </a:path>
              </a:pathLst>
            </a:custGeom>
            <a:solidFill>
              <a:srgbClr val="00C2D7"/>
            </a:solidFill>
            <a:ln w="25400" cap="sq">
              <a:solidFill>
                <a:srgbClr val="00C2D7"/>
              </a:solidFill>
              <a:prstDash val="solid"/>
              <a:miter/>
            </a:ln>
          </p:spPr>
        </p:sp>
      </p:grpSp>
      <p:grpSp>
        <p:nvGrpSpPr>
          <p:cNvPr name="Group 28" id="28"/>
          <p:cNvGrpSpPr/>
          <p:nvPr/>
        </p:nvGrpSpPr>
        <p:grpSpPr>
          <a:xfrm rot="0">
            <a:off x="1555745" y="5943600"/>
            <a:ext cx="731520" cy="731520"/>
            <a:chOff x="0" y="0"/>
            <a:chExt cx="975360" cy="975360"/>
          </a:xfrm>
        </p:grpSpPr>
        <p:sp>
          <p:nvSpPr>
            <p:cNvPr name="Freeform 29" id="29"/>
            <p:cNvSpPr/>
            <p:nvPr/>
          </p:nvSpPr>
          <p:spPr>
            <a:xfrm flipH="false" flipV="false" rot="0">
              <a:off x="0" y="0"/>
              <a:ext cx="975360" cy="975360"/>
            </a:xfrm>
            <a:custGeom>
              <a:avLst/>
              <a:gdLst/>
              <a:ahLst/>
              <a:cxnLst/>
              <a:rect r="r" b="b" t="t" l="l"/>
              <a:pathLst>
                <a:path h="975360" w="975360">
                  <a:moveTo>
                    <a:pt x="0" y="0"/>
                  </a:moveTo>
                  <a:lnTo>
                    <a:pt x="975360" y="0"/>
                  </a:lnTo>
                  <a:lnTo>
                    <a:pt x="975360" y="975360"/>
                  </a:lnTo>
                  <a:lnTo>
                    <a:pt x="0" y="975360"/>
                  </a:lnTo>
                  <a:close/>
                </a:path>
              </a:pathLst>
            </a:custGeom>
            <a:blipFill>
              <a:blip r:embed="rId3">
                <a:alphaModFix amt="0"/>
              </a:blip>
              <a:stretch>
                <a:fillRect l="-78303" t="0" r="-78303" b="0"/>
              </a:stretch>
            </a:blipFill>
          </p:spPr>
        </p:sp>
        <p:sp>
          <p:nvSpPr>
            <p:cNvPr name="TextBox 30" id="30"/>
            <p:cNvSpPr txBox="true"/>
            <p:nvPr/>
          </p:nvSpPr>
          <p:spPr>
            <a:xfrm>
              <a:off x="0" y="-19050"/>
              <a:ext cx="975360" cy="994410"/>
            </a:xfrm>
            <a:prstGeom prst="rect">
              <a:avLst/>
            </a:prstGeom>
          </p:spPr>
          <p:txBody>
            <a:bodyPr anchor="ctr" rtlCol="false" tIns="0" lIns="0" bIns="0" rIns="0"/>
            <a:lstStyle/>
            <a:p>
              <a:pPr algn="ctr">
                <a:lnSpc>
                  <a:spcPts val="3359"/>
                </a:lnSpc>
              </a:pPr>
              <a:r>
                <a:rPr lang="en-US" b="true" sz="2799">
                  <a:solidFill>
                    <a:srgbClr val="1E2761"/>
                  </a:solidFill>
                  <a:latin typeface="Arial Bold"/>
                  <a:ea typeface="Arial Bold"/>
                  <a:cs typeface="Arial Bold"/>
                  <a:sym typeface="Arial Bold"/>
                </a:rPr>
                <a:t>3</a:t>
              </a:r>
            </a:p>
          </p:txBody>
        </p:sp>
      </p:grpSp>
      <p:grpSp>
        <p:nvGrpSpPr>
          <p:cNvPr name="Group 31" id="31"/>
          <p:cNvGrpSpPr/>
          <p:nvPr/>
        </p:nvGrpSpPr>
        <p:grpSpPr>
          <a:xfrm rot="0">
            <a:off x="2470145" y="5934481"/>
            <a:ext cx="15179040" cy="914400"/>
            <a:chOff x="0" y="0"/>
            <a:chExt cx="20238720" cy="1219200"/>
          </a:xfrm>
        </p:grpSpPr>
        <p:sp>
          <p:nvSpPr>
            <p:cNvPr name="Freeform 32" id="32"/>
            <p:cNvSpPr/>
            <p:nvPr/>
          </p:nvSpPr>
          <p:spPr>
            <a:xfrm flipH="false" flipV="false" rot="0">
              <a:off x="0" y="0"/>
              <a:ext cx="20238720" cy="1219200"/>
            </a:xfrm>
            <a:custGeom>
              <a:avLst/>
              <a:gdLst/>
              <a:ahLst/>
              <a:cxnLst/>
              <a:rect r="r" b="b" t="t" l="l"/>
              <a:pathLst>
                <a:path h="1219200" w="20238720">
                  <a:moveTo>
                    <a:pt x="0" y="0"/>
                  </a:moveTo>
                  <a:lnTo>
                    <a:pt x="20238720" y="0"/>
                  </a:lnTo>
                  <a:lnTo>
                    <a:pt x="20238720" y="1219200"/>
                  </a:lnTo>
                  <a:lnTo>
                    <a:pt x="0" y="1219200"/>
                  </a:lnTo>
                  <a:close/>
                </a:path>
              </a:pathLst>
            </a:custGeom>
            <a:blipFill>
              <a:blip r:embed="rId3">
                <a:alphaModFix amt="0"/>
              </a:blip>
              <a:stretch>
                <a:fillRect l="0" t="-242275" r="9638" b="-242275"/>
              </a:stretch>
            </a:blipFill>
          </p:spPr>
        </p:sp>
        <p:sp>
          <p:nvSpPr>
            <p:cNvPr name="TextBox 33" id="33"/>
            <p:cNvSpPr txBox="true"/>
            <p:nvPr/>
          </p:nvSpPr>
          <p:spPr>
            <a:xfrm>
              <a:off x="0" y="-19050"/>
              <a:ext cx="20238720" cy="1238250"/>
            </a:xfrm>
            <a:prstGeom prst="rect">
              <a:avLst/>
            </a:prstGeom>
          </p:spPr>
          <p:txBody>
            <a:bodyPr anchor="ctr" rtlCol="false" tIns="0" lIns="0" bIns="0" rIns="0"/>
            <a:lstStyle/>
            <a:p>
              <a:pPr algn="l">
                <a:lnSpc>
                  <a:spcPts val="3600"/>
                </a:lnSpc>
              </a:pPr>
              <a:r>
                <a:rPr lang="en-US" b="true" sz="3000">
                  <a:solidFill>
                    <a:srgbClr val="FFFFFF"/>
                  </a:solidFill>
                  <a:latin typeface="Arial Bold"/>
                  <a:ea typeface="Arial Bold"/>
                  <a:cs typeface="Arial Bold"/>
                  <a:sym typeface="Arial Bold"/>
                </a:rPr>
                <a:t>C</a:t>
              </a:r>
              <a:r>
                <a:rPr lang="en-US" b="true" sz="3000">
                  <a:solidFill>
                    <a:srgbClr val="FFFFFF"/>
                  </a:solidFill>
                  <a:latin typeface="Arial Bold"/>
                  <a:ea typeface="Arial Bold"/>
                  <a:cs typeface="Arial Bold"/>
                  <a:sym typeface="Arial Bold"/>
                </a:rPr>
                <a:t>onnectez-vous en tant qu'admin → </a:t>
              </a:r>
              <a:r>
                <a:rPr lang="en-US" b="true" sz="3000">
                  <a:solidFill>
                    <a:srgbClr val="FFFFFF"/>
                  </a:solidFill>
                  <a:latin typeface="Arial Bold"/>
                  <a:ea typeface="Arial Bold"/>
                  <a:cs typeface="Arial Bold"/>
                  <a:sym typeface="Arial Bold"/>
                </a:rPr>
                <a:t>V</a:t>
              </a:r>
              <a:r>
                <a:rPr lang="en-US" b="true" sz="3000">
                  <a:solidFill>
                    <a:srgbClr val="FFFFFF"/>
                  </a:solidFill>
                  <a:latin typeface="Arial Bold"/>
                  <a:ea typeface="Arial Bold"/>
                  <a:cs typeface="Arial Bold"/>
                  <a:sym typeface="Arial Bold"/>
                </a:rPr>
                <a:t>o</a:t>
              </a:r>
              <a:r>
                <a:rPr lang="en-US" b="true" sz="3000">
                  <a:solidFill>
                    <a:srgbClr val="FFFFFF"/>
                  </a:solidFill>
                  <a:latin typeface="Arial Bold"/>
                  <a:ea typeface="Arial Bold"/>
                  <a:cs typeface="Arial Bold"/>
                  <a:sym typeface="Arial Bold"/>
                </a:rPr>
                <a:t>i</a:t>
              </a:r>
              <a:r>
                <a:rPr lang="en-US" b="true" sz="3000">
                  <a:solidFill>
                    <a:srgbClr val="FFFFFF"/>
                  </a:solidFill>
                  <a:latin typeface="Arial Bold"/>
                  <a:ea typeface="Arial Bold"/>
                  <a:cs typeface="Arial Bold"/>
                  <a:sym typeface="Arial Bold"/>
                </a:rPr>
                <a:t>r</a:t>
              </a:r>
              <a:r>
                <a:rPr lang="en-US" b="true" sz="3000">
                  <a:solidFill>
                    <a:srgbClr val="FFFFFF"/>
                  </a:solidFill>
                  <a:latin typeface="Arial Bold"/>
                  <a:ea typeface="Arial Bold"/>
                  <a:cs typeface="Arial Bold"/>
                  <a:sym typeface="Arial Bold"/>
                </a:rPr>
                <a:t> l</a:t>
              </a:r>
              <a:r>
                <a:rPr lang="en-US" b="true" sz="3000">
                  <a:solidFill>
                    <a:srgbClr val="FFFFFF"/>
                  </a:solidFill>
                  <a:latin typeface="Arial Bold"/>
                  <a:ea typeface="Arial Bold"/>
                  <a:cs typeface="Arial Bold"/>
                  <a:sym typeface="Arial Bold"/>
                </a:rPr>
                <a:t>e</a:t>
              </a:r>
              <a:r>
                <a:rPr lang="en-US" b="true" sz="3000">
                  <a:solidFill>
                    <a:srgbClr val="FFFFFF"/>
                  </a:solidFill>
                  <a:latin typeface="Arial Bold"/>
                  <a:ea typeface="Arial Bold"/>
                  <a:cs typeface="Arial Bold"/>
                  <a:sym typeface="Arial Bold"/>
                </a:rPr>
                <a:t> </a:t>
              </a:r>
              <a:r>
                <a:rPr lang="en-US" b="true" sz="3000">
                  <a:solidFill>
                    <a:srgbClr val="FFFFFF"/>
                  </a:solidFill>
                  <a:latin typeface="Arial Bold"/>
                  <a:ea typeface="Arial Bold"/>
                  <a:cs typeface="Arial Bold"/>
                  <a:sym typeface="Arial Bold"/>
                </a:rPr>
                <a:t>tabl</a:t>
              </a:r>
              <a:r>
                <a:rPr lang="en-US" b="true" sz="3000">
                  <a:solidFill>
                    <a:srgbClr val="FFFFFF"/>
                  </a:solidFill>
                  <a:latin typeface="Arial Bold"/>
                  <a:ea typeface="Arial Bold"/>
                  <a:cs typeface="Arial Bold"/>
                  <a:sym typeface="Arial Bold"/>
                </a:rPr>
                <a:t>e</a:t>
              </a:r>
              <a:r>
                <a:rPr lang="en-US" b="true" sz="3000">
                  <a:solidFill>
                    <a:srgbClr val="FFFFFF"/>
                  </a:solidFill>
                  <a:latin typeface="Arial Bold"/>
                  <a:ea typeface="Arial Bold"/>
                  <a:cs typeface="Arial Bold"/>
                  <a:sym typeface="Arial Bold"/>
                </a:rPr>
                <a:t>a</a:t>
              </a:r>
              <a:r>
                <a:rPr lang="en-US" b="true" sz="3000">
                  <a:solidFill>
                    <a:srgbClr val="FFFFFF"/>
                  </a:solidFill>
                  <a:latin typeface="Arial Bold"/>
                  <a:ea typeface="Arial Bold"/>
                  <a:cs typeface="Arial Bold"/>
                  <a:sym typeface="Arial Bold"/>
                </a:rPr>
                <a:t>u</a:t>
              </a:r>
              <a:r>
                <a:rPr lang="en-US" b="true" sz="3000">
                  <a:solidFill>
                    <a:srgbClr val="FFFFFF"/>
                  </a:solidFill>
                  <a:latin typeface="Arial Bold"/>
                  <a:ea typeface="Arial Bold"/>
                  <a:cs typeface="Arial Bold"/>
                  <a:sym typeface="Arial Bold"/>
                </a:rPr>
                <a:t> d</a:t>
              </a:r>
              <a:r>
                <a:rPr lang="en-US" b="true" sz="3000">
                  <a:solidFill>
                    <a:srgbClr val="FFFFFF"/>
                  </a:solidFill>
                  <a:latin typeface="Arial Bold"/>
                  <a:ea typeface="Arial Bold"/>
                  <a:cs typeface="Arial Bold"/>
                  <a:sym typeface="Arial Bold"/>
                </a:rPr>
                <a:t>e</a:t>
              </a:r>
              <a:r>
                <a:rPr lang="en-US" b="true" sz="3000">
                  <a:solidFill>
                    <a:srgbClr val="FFFFFF"/>
                  </a:solidFill>
                  <a:latin typeface="Arial Bold"/>
                  <a:ea typeface="Arial Bold"/>
                  <a:cs typeface="Arial Bold"/>
                  <a:sym typeface="Arial Bold"/>
                </a:rPr>
                <a:t> bord comple</a:t>
              </a:r>
              <a:r>
                <a:rPr lang="en-US" b="true" sz="3000">
                  <a:solidFill>
                    <a:srgbClr val="FFFFFF"/>
                  </a:solidFill>
                  <a:latin typeface="Arial Bold"/>
                  <a:ea typeface="Arial Bold"/>
                  <a:cs typeface="Arial Bold"/>
                  <a:sym typeface="Arial Bold"/>
                </a:rPr>
                <a:t>t d</a:t>
              </a:r>
              <a:r>
                <a:rPr lang="en-US" b="true" sz="3000">
                  <a:solidFill>
                    <a:srgbClr val="FFFFFF"/>
                  </a:solidFill>
                  <a:latin typeface="Arial Bold"/>
                  <a:ea typeface="Arial Bold"/>
                  <a:cs typeface="Arial Bold"/>
                  <a:sym typeface="Arial Bold"/>
                </a:rPr>
                <a:t>e</a:t>
              </a:r>
              <a:r>
                <a:rPr lang="en-US" b="true" sz="3000">
                  <a:solidFill>
                    <a:srgbClr val="FFFFFF"/>
                  </a:solidFill>
                  <a:latin typeface="Arial Bold"/>
                  <a:ea typeface="Arial Bold"/>
                  <a:cs typeface="Arial Bold"/>
                  <a:sym typeface="Arial Bold"/>
                </a:rPr>
                <a:t>s</a:t>
              </a:r>
              <a:r>
                <a:rPr lang="en-US" b="true" sz="3000">
                  <a:solidFill>
                    <a:srgbClr val="FFFFFF"/>
                  </a:solidFill>
                  <a:latin typeface="Arial Bold"/>
                  <a:ea typeface="Arial Bold"/>
                  <a:cs typeface="Arial Bold"/>
                  <a:sym typeface="Arial Bold"/>
                </a:rPr>
                <a:t> dem</a:t>
              </a:r>
              <a:r>
                <a:rPr lang="en-US" b="true" sz="3000">
                  <a:solidFill>
                    <a:srgbClr val="FFFFFF"/>
                  </a:solidFill>
                  <a:latin typeface="Arial Bold"/>
                  <a:ea typeface="Arial Bold"/>
                  <a:cs typeface="Arial Bold"/>
                  <a:sym typeface="Arial Bold"/>
                </a:rPr>
                <a:t>a</a:t>
              </a:r>
              <a:r>
                <a:rPr lang="en-US" b="true" sz="3000">
                  <a:solidFill>
                    <a:srgbClr val="FFFFFF"/>
                  </a:solidFill>
                  <a:latin typeface="Arial Bold"/>
                  <a:ea typeface="Arial Bold"/>
                  <a:cs typeface="Arial Bold"/>
                  <a:sym typeface="Arial Bold"/>
                </a:rPr>
                <a:t>n</a:t>
              </a:r>
              <a:r>
                <a:rPr lang="en-US" b="true" sz="3000">
                  <a:solidFill>
                    <a:srgbClr val="FFFFFF"/>
                  </a:solidFill>
                  <a:latin typeface="Arial Bold"/>
                  <a:ea typeface="Arial Bold"/>
                  <a:cs typeface="Arial Bold"/>
                  <a:sym typeface="Arial Bold"/>
                </a:rPr>
                <a:t>d</a:t>
              </a:r>
              <a:r>
                <a:rPr lang="en-US" b="true" sz="3000">
                  <a:solidFill>
                    <a:srgbClr val="FFFFFF"/>
                  </a:solidFill>
                  <a:latin typeface="Arial Bold"/>
                  <a:ea typeface="Arial Bold"/>
                  <a:cs typeface="Arial Bold"/>
                  <a:sym typeface="Arial Bold"/>
                </a:rPr>
                <a:t>es</a:t>
              </a:r>
            </a:p>
          </p:txBody>
        </p:sp>
      </p:grpSp>
      <p:grpSp>
        <p:nvGrpSpPr>
          <p:cNvPr name="Group 34" id="34"/>
          <p:cNvGrpSpPr/>
          <p:nvPr/>
        </p:nvGrpSpPr>
        <p:grpSpPr>
          <a:xfrm rot="0">
            <a:off x="1543048" y="7028183"/>
            <a:ext cx="756923" cy="756923"/>
            <a:chOff x="0" y="0"/>
            <a:chExt cx="1009231" cy="1009231"/>
          </a:xfrm>
        </p:grpSpPr>
        <p:sp>
          <p:nvSpPr>
            <p:cNvPr name="Freeform 35" id="35"/>
            <p:cNvSpPr/>
            <p:nvPr/>
          </p:nvSpPr>
          <p:spPr>
            <a:xfrm flipH="false" flipV="false" rot="0">
              <a:off x="0" y="0"/>
              <a:ext cx="1009269" cy="1009269"/>
            </a:xfrm>
            <a:custGeom>
              <a:avLst/>
              <a:gdLst/>
              <a:ahLst/>
              <a:cxnLst/>
              <a:rect r="r" b="b" t="t" l="l"/>
              <a:pathLst>
                <a:path h="1009269" w="1009269">
                  <a:moveTo>
                    <a:pt x="0" y="504571"/>
                  </a:moveTo>
                  <a:cubicBezTo>
                    <a:pt x="0" y="225933"/>
                    <a:pt x="225933" y="0"/>
                    <a:pt x="504571" y="0"/>
                  </a:cubicBezTo>
                  <a:cubicBezTo>
                    <a:pt x="783209" y="0"/>
                    <a:pt x="1009269" y="225933"/>
                    <a:pt x="1009269" y="504571"/>
                  </a:cubicBezTo>
                  <a:cubicBezTo>
                    <a:pt x="1009269" y="783209"/>
                    <a:pt x="783336" y="1009269"/>
                    <a:pt x="504571" y="1009269"/>
                  </a:cubicBezTo>
                  <a:cubicBezTo>
                    <a:pt x="225806" y="1009269"/>
                    <a:pt x="0" y="783336"/>
                    <a:pt x="0" y="504571"/>
                  </a:cubicBezTo>
                  <a:close/>
                </a:path>
              </a:pathLst>
            </a:custGeom>
            <a:solidFill>
              <a:srgbClr val="00C2D7"/>
            </a:solidFill>
            <a:ln w="25400" cap="sq">
              <a:solidFill>
                <a:srgbClr val="00C2D7"/>
              </a:solidFill>
              <a:prstDash val="solid"/>
              <a:miter/>
            </a:ln>
          </p:spPr>
        </p:sp>
      </p:grpSp>
      <p:grpSp>
        <p:nvGrpSpPr>
          <p:cNvPr name="Group 36" id="36"/>
          <p:cNvGrpSpPr/>
          <p:nvPr/>
        </p:nvGrpSpPr>
        <p:grpSpPr>
          <a:xfrm rot="0">
            <a:off x="1555745" y="7040880"/>
            <a:ext cx="731520" cy="731520"/>
            <a:chOff x="0" y="0"/>
            <a:chExt cx="975360" cy="975360"/>
          </a:xfrm>
        </p:grpSpPr>
        <p:sp>
          <p:nvSpPr>
            <p:cNvPr name="Freeform 37" id="37"/>
            <p:cNvSpPr/>
            <p:nvPr/>
          </p:nvSpPr>
          <p:spPr>
            <a:xfrm flipH="false" flipV="false" rot="0">
              <a:off x="0" y="0"/>
              <a:ext cx="975360" cy="975360"/>
            </a:xfrm>
            <a:custGeom>
              <a:avLst/>
              <a:gdLst/>
              <a:ahLst/>
              <a:cxnLst/>
              <a:rect r="r" b="b" t="t" l="l"/>
              <a:pathLst>
                <a:path h="975360" w="975360">
                  <a:moveTo>
                    <a:pt x="0" y="0"/>
                  </a:moveTo>
                  <a:lnTo>
                    <a:pt x="975360" y="0"/>
                  </a:lnTo>
                  <a:lnTo>
                    <a:pt x="975360" y="975360"/>
                  </a:lnTo>
                  <a:lnTo>
                    <a:pt x="0" y="975360"/>
                  </a:lnTo>
                  <a:close/>
                </a:path>
              </a:pathLst>
            </a:custGeom>
            <a:blipFill>
              <a:blip r:embed="rId3">
                <a:alphaModFix amt="0"/>
              </a:blip>
              <a:stretch>
                <a:fillRect l="-78303" t="0" r="-78303" b="0"/>
              </a:stretch>
            </a:blipFill>
          </p:spPr>
        </p:sp>
        <p:sp>
          <p:nvSpPr>
            <p:cNvPr name="TextBox 38" id="38"/>
            <p:cNvSpPr txBox="true"/>
            <p:nvPr/>
          </p:nvSpPr>
          <p:spPr>
            <a:xfrm>
              <a:off x="0" y="-19050"/>
              <a:ext cx="975360" cy="994410"/>
            </a:xfrm>
            <a:prstGeom prst="rect">
              <a:avLst/>
            </a:prstGeom>
          </p:spPr>
          <p:txBody>
            <a:bodyPr anchor="ctr" rtlCol="false" tIns="0" lIns="0" bIns="0" rIns="0"/>
            <a:lstStyle/>
            <a:p>
              <a:pPr algn="ctr">
                <a:lnSpc>
                  <a:spcPts val="3359"/>
                </a:lnSpc>
              </a:pPr>
              <a:r>
                <a:rPr lang="en-US" b="true" sz="2799">
                  <a:solidFill>
                    <a:srgbClr val="1E2761"/>
                  </a:solidFill>
                  <a:latin typeface="Arial Bold"/>
                  <a:ea typeface="Arial Bold"/>
                  <a:cs typeface="Arial Bold"/>
                  <a:sym typeface="Arial Bold"/>
                </a:rPr>
                <a:t>4</a:t>
              </a:r>
            </a:p>
          </p:txBody>
        </p:sp>
      </p:grpSp>
      <p:grpSp>
        <p:nvGrpSpPr>
          <p:cNvPr name="Group 39" id="39"/>
          <p:cNvGrpSpPr/>
          <p:nvPr/>
        </p:nvGrpSpPr>
        <p:grpSpPr>
          <a:xfrm rot="0">
            <a:off x="2470145" y="6949440"/>
            <a:ext cx="13716000" cy="914400"/>
            <a:chOff x="0" y="0"/>
            <a:chExt cx="18288000" cy="1219200"/>
          </a:xfrm>
        </p:grpSpPr>
        <p:sp>
          <p:nvSpPr>
            <p:cNvPr name="Freeform 40" id="40"/>
            <p:cNvSpPr/>
            <p:nvPr/>
          </p:nvSpPr>
          <p:spPr>
            <a:xfrm flipH="false" flipV="false" rot="0">
              <a:off x="0" y="0"/>
              <a:ext cx="18288000" cy="1219200"/>
            </a:xfrm>
            <a:custGeom>
              <a:avLst/>
              <a:gdLst/>
              <a:ahLst/>
              <a:cxnLst/>
              <a:rect r="r" b="b" t="t" l="l"/>
              <a:pathLst>
                <a:path h="1219200" w="18288000">
                  <a:moveTo>
                    <a:pt x="0" y="0"/>
                  </a:moveTo>
                  <a:lnTo>
                    <a:pt x="18288000" y="0"/>
                  </a:lnTo>
                  <a:lnTo>
                    <a:pt x="18288000" y="1219200"/>
                  </a:lnTo>
                  <a:lnTo>
                    <a:pt x="0" y="1219200"/>
                  </a:lnTo>
                  <a:close/>
                </a:path>
              </a:pathLst>
            </a:custGeom>
            <a:blipFill>
              <a:blip r:embed="rId3">
                <a:alphaModFix amt="0"/>
              </a:blip>
              <a:stretch>
                <a:fillRect l="0" t="-242275" r="0" b="-242275"/>
              </a:stretch>
            </a:blipFill>
          </p:spPr>
        </p:sp>
        <p:sp>
          <p:nvSpPr>
            <p:cNvPr name="TextBox 41" id="41"/>
            <p:cNvSpPr txBox="true"/>
            <p:nvPr/>
          </p:nvSpPr>
          <p:spPr>
            <a:xfrm>
              <a:off x="0" y="-19050"/>
              <a:ext cx="18288000" cy="1238250"/>
            </a:xfrm>
            <a:prstGeom prst="rect">
              <a:avLst/>
            </a:prstGeom>
          </p:spPr>
          <p:txBody>
            <a:bodyPr anchor="ctr" rtlCol="false" tIns="0" lIns="0" bIns="0" rIns="0"/>
            <a:lstStyle/>
            <a:p>
              <a:pPr algn="l">
                <a:lnSpc>
                  <a:spcPts val="3600"/>
                </a:lnSpc>
              </a:pPr>
              <a:r>
                <a:rPr lang="en-US" b="true" sz="3000">
                  <a:solidFill>
                    <a:srgbClr val="FFFFFF"/>
                  </a:solidFill>
                  <a:latin typeface="Arial Bold"/>
                  <a:ea typeface="Arial Bold"/>
                  <a:cs typeface="Arial Bold"/>
                  <a:sym typeface="Arial Bold"/>
                </a:rPr>
                <a:t>Met</a:t>
              </a:r>
              <a:r>
                <a:rPr lang="en-US" b="true" sz="3000">
                  <a:solidFill>
                    <a:srgbClr val="FFFFFF"/>
                  </a:solidFill>
                  <a:latin typeface="Arial Bold"/>
                  <a:ea typeface="Arial Bold"/>
                  <a:cs typeface="Arial Bold"/>
                  <a:sym typeface="Arial Bold"/>
                </a:rPr>
                <a:t>tre à jour le statut de la demande → Envoy</a:t>
              </a:r>
              <a:r>
                <a:rPr lang="en-US" b="true" sz="3000">
                  <a:solidFill>
                    <a:srgbClr val="FFFFFF"/>
                  </a:solidFill>
                  <a:latin typeface="Arial Bold"/>
                  <a:ea typeface="Arial Bold"/>
                  <a:cs typeface="Arial Bold"/>
                  <a:sym typeface="Arial Bold"/>
                </a:rPr>
                <a:t>e</a:t>
              </a:r>
              <a:r>
                <a:rPr lang="en-US" b="true" sz="3000">
                  <a:solidFill>
                    <a:srgbClr val="FFFFFF"/>
                  </a:solidFill>
                  <a:latin typeface="Arial Bold"/>
                  <a:ea typeface="Arial Bold"/>
                  <a:cs typeface="Arial Bold"/>
                  <a:sym typeface="Arial Bold"/>
                </a:rPr>
                <a:t>r u</a:t>
              </a:r>
              <a:r>
                <a:rPr lang="en-US" b="true" sz="3000">
                  <a:solidFill>
                    <a:srgbClr val="FFFFFF"/>
                  </a:solidFill>
                  <a:latin typeface="Arial Bold"/>
                  <a:ea typeface="Arial Bold"/>
                  <a:cs typeface="Arial Bold"/>
                  <a:sym typeface="Arial Bold"/>
                </a:rPr>
                <a:t>n</a:t>
              </a:r>
              <a:r>
                <a:rPr lang="en-US" b="true" sz="3000">
                  <a:solidFill>
                    <a:srgbClr val="FFFFFF"/>
                  </a:solidFill>
                  <a:latin typeface="Arial Bold"/>
                  <a:ea typeface="Arial Bold"/>
                  <a:cs typeface="Arial Bold"/>
                  <a:sym typeface="Arial Bold"/>
                </a:rPr>
                <a:t>e</a:t>
              </a:r>
              <a:r>
                <a:rPr lang="en-US" b="true" sz="3000">
                  <a:solidFill>
                    <a:srgbClr val="FFFFFF"/>
                  </a:solidFill>
                  <a:latin typeface="Arial Bold"/>
                  <a:ea typeface="Arial Bold"/>
                  <a:cs typeface="Arial Bold"/>
                  <a:sym typeface="Arial Bold"/>
                </a:rPr>
                <a:t> notification </a:t>
              </a:r>
              <a:r>
                <a:rPr lang="en-US" b="true" sz="3000">
                  <a:solidFill>
                    <a:srgbClr val="FFFFFF"/>
                  </a:solidFill>
                  <a:latin typeface="Arial Bold"/>
                  <a:ea typeface="Arial Bold"/>
                  <a:cs typeface="Arial Bold"/>
                  <a:sym typeface="Arial Bold"/>
                </a:rPr>
                <a:t>au</a:t>
              </a:r>
              <a:r>
                <a:rPr lang="en-US" b="true" sz="3000">
                  <a:solidFill>
                    <a:srgbClr val="FFFFFF"/>
                  </a:solidFill>
                  <a:latin typeface="Arial Bold"/>
                  <a:ea typeface="Arial Bold"/>
                  <a:cs typeface="Arial Bold"/>
                  <a:sym typeface="Arial Bold"/>
                </a:rPr>
                <a:t> client</a:t>
              </a:r>
            </a:p>
          </p:txBody>
        </p:sp>
      </p:grpSp>
      <p:grpSp>
        <p:nvGrpSpPr>
          <p:cNvPr name="Group 42" id="42"/>
          <p:cNvGrpSpPr/>
          <p:nvPr/>
        </p:nvGrpSpPr>
        <p:grpSpPr>
          <a:xfrm rot="0">
            <a:off x="1543048" y="8125463"/>
            <a:ext cx="756923" cy="756923"/>
            <a:chOff x="0" y="0"/>
            <a:chExt cx="1009231" cy="1009231"/>
          </a:xfrm>
        </p:grpSpPr>
        <p:sp>
          <p:nvSpPr>
            <p:cNvPr name="Freeform 43" id="43"/>
            <p:cNvSpPr/>
            <p:nvPr/>
          </p:nvSpPr>
          <p:spPr>
            <a:xfrm flipH="false" flipV="false" rot="0">
              <a:off x="0" y="0"/>
              <a:ext cx="1009269" cy="1009269"/>
            </a:xfrm>
            <a:custGeom>
              <a:avLst/>
              <a:gdLst/>
              <a:ahLst/>
              <a:cxnLst/>
              <a:rect r="r" b="b" t="t" l="l"/>
              <a:pathLst>
                <a:path h="1009269" w="1009269">
                  <a:moveTo>
                    <a:pt x="0" y="504571"/>
                  </a:moveTo>
                  <a:cubicBezTo>
                    <a:pt x="0" y="225933"/>
                    <a:pt x="225933" y="0"/>
                    <a:pt x="504571" y="0"/>
                  </a:cubicBezTo>
                  <a:cubicBezTo>
                    <a:pt x="783209" y="0"/>
                    <a:pt x="1009269" y="225933"/>
                    <a:pt x="1009269" y="504571"/>
                  </a:cubicBezTo>
                  <a:cubicBezTo>
                    <a:pt x="1009269" y="783209"/>
                    <a:pt x="783336" y="1009269"/>
                    <a:pt x="504571" y="1009269"/>
                  </a:cubicBezTo>
                  <a:cubicBezTo>
                    <a:pt x="225806" y="1009269"/>
                    <a:pt x="0" y="783336"/>
                    <a:pt x="0" y="504571"/>
                  </a:cubicBezTo>
                  <a:close/>
                </a:path>
              </a:pathLst>
            </a:custGeom>
            <a:solidFill>
              <a:srgbClr val="00C2D7"/>
            </a:solidFill>
            <a:ln w="25400" cap="sq">
              <a:solidFill>
                <a:srgbClr val="00C2D7"/>
              </a:solidFill>
              <a:prstDash val="solid"/>
              <a:miter/>
            </a:ln>
          </p:spPr>
        </p:sp>
      </p:grpSp>
      <p:grpSp>
        <p:nvGrpSpPr>
          <p:cNvPr name="Group 44" id="44"/>
          <p:cNvGrpSpPr/>
          <p:nvPr/>
        </p:nvGrpSpPr>
        <p:grpSpPr>
          <a:xfrm rot="0">
            <a:off x="1555745" y="8138160"/>
            <a:ext cx="731520" cy="731520"/>
            <a:chOff x="0" y="0"/>
            <a:chExt cx="975360" cy="975360"/>
          </a:xfrm>
        </p:grpSpPr>
        <p:sp>
          <p:nvSpPr>
            <p:cNvPr name="Freeform 45" id="45"/>
            <p:cNvSpPr/>
            <p:nvPr/>
          </p:nvSpPr>
          <p:spPr>
            <a:xfrm flipH="false" flipV="false" rot="0">
              <a:off x="0" y="0"/>
              <a:ext cx="975360" cy="975360"/>
            </a:xfrm>
            <a:custGeom>
              <a:avLst/>
              <a:gdLst/>
              <a:ahLst/>
              <a:cxnLst/>
              <a:rect r="r" b="b" t="t" l="l"/>
              <a:pathLst>
                <a:path h="975360" w="975360">
                  <a:moveTo>
                    <a:pt x="0" y="0"/>
                  </a:moveTo>
                  <a:lnTo>
                    <a:pt x="975360" y="0"/>
                  </a:lnTo>
                  <a:lnTo>
                    <a:pt x="975360" y="975360"/>
                  </a:lnTo>
                  <a:lnTo>
                    <a:pt x="0" y="975360"/>
                  </a:lnTo>
                  <a:close/>
                </a:path>
              </a:pathLst>
            </a:custGeom>
            <a:blipFill>
              <a:blip r:embed="rId3">
                <a:alphaModFix amt="0"/>
              </a:blip>
              <a:stretch>
                <a:fillRect l="-78303" t="0" r="-78303" b="0"/>
              </a:stretch>
            </a:blipFill>
          </p:spPr>
        </p:sp>
        <p:sp>
          <p:nvSpPr>
            <p:cNvPr name="TextBox 46" id="46"/>
            <p:cNvSpPr txBox="true"/>
            <p:nvPr/>
          </p:nvSpPr>
          <p:spPr>
            <a:xfrm>
              <a:off x="0" y="-19050"/>
              <a:ext cx="975360" cy="994410"/>
            </a:xfrm>
            <a:prstGeom prst="rect">
              <a:avLst/>
            </a:prstGeom>
          </p:spPr>
          <p:txBody>
            <a:bodyPr anchor="ctr" rtlCol="false" tIns="0" lIns="0" bIns="0" rIns="0"/>
            <a:lstStyle/>
            <a:p>
              <a:pPr algn="ctr">
                <a:lnSpc>
                  <a:spcPts val="3359"/>
                </a:lnSpc>
              </a:pPr>
              <a:r>
                <a:rPr lang="en-US" b="true" sz="2799">
                  <a:solidFill>
                    <a:srgbClr val="1E2761"/>
                  </a:solidFill>
                  <a:latin typeface="Arial Bold"/>
                  <a:ea typeface="Arial Bold"/>
                  <a:cs typeface="Arial Bold"/>
                  <a:sym typeface="Arial Bold"/>
                </a:rPr>
                <a:t>5</a:t>
              </a:r>
            </a:p>
          </p:txBody>
        </p:sp>
      </p:grpSp>
      <p:grpSp>
        <p:nvGrpSpPr>
          <p:cNvPr name="Group 47" id="47"/>
          <p:cNvGrpSpPr/>
          <p:nvPr/>
        </p:nvGrpSpPr>
        <p:grpSpPr>
          <a:xfrm rot="0">
            <a:off x="2470145" y="8046720"/>
            <a:ext cx="13716000" cy="914400"/>
            <a:chOff x="0" y="0"/>
            <a:chExt cx="18288000" cy="1219200"/>
          </a:xfrm>
        </p:grpSpPr>
        <p:sp>
          <p:nvSpPr>
            <p:cNvPr name="Freeform 48" id="48"/>
            <p:cNvSpPr/>
            <p:nvPr/>
          </p:nvSpPr>
          <p:spPr>
            <a:xfrm flipH="false" flipV="false" rot="0">
              <a:off x="0" y="0"/>
              <a:ext cx="18288000" cy="1219200"/>
            </a:xfrm>
            <a:custGeom>
              <a:avLst/>
              <a:gdLst/>
              <a:ahLst/>
              <a:cxnLst/>
              <a:rect r="r" b="b" t="t" l="l"/>
              <a:pathLst>
                <a:path h="1219200" w="18288000">
                  <a:moveTo>
                    <a:pt x="0" y="0"/>
                  </a:moveTo>
                  <a:lnTo>
                    <a:pt x="18288000" y="0"/>
                  </a:lnTo>
                  <a:lnTo>
                    <a:pt x="18288000" y="1219200"/>
                  </a:lnTo>
                  <a:lnTo>
                    <a:pt x="0" y="1219200"/>
                  </a:lnTo>
                  <a:close/>
                </a:path>
              </a:pathLst>
            </a:custGeom>
            <a:blipFill>
              <a:blip r:embed="rId3">
                <a:alphaModFix amt="0"/>
              </a:blip>
              <a:stretch>
                <a:fillRect l="0" t="-242275" r="0" b="-242275"/>
              </a:stretch>
            </a:blipFill>
          </p:spPr>
        </p:sp>
        <p:sp>
          <p:nvSpPr>
            <p:cNvPr name="TextBox 49" id="49"/>
            <p:cNvSpPr txBox="true"/>
            <p:nvPr/>
          </p:nvSpPr>
          <p:spPr>
            <a:xfrm>
              <a:off x="0" y="-19050"/>
              <a:ext cx="18288000" cy="1238250"/>
            </a:xfrm>
            <a:prstGeom prst="rect">
              <a:avLst/>
            </a:prstGeom>
          </p:spPr>
          <p:txBody>
            <a:bodyPr anchor="ctr" rtlCol="false" tIns="0" lIns="0" bIns="0" rIns="0"/>
            <a:lstStyle/>
            <a:p>
              <a:pPr algn="l">
                <a:lnSpc>
                  <a:spcPts val="3600"/>
                </a:lnSpc>
              </a:pPr>
              <a:r>
                <a:rPr lang="en-US" b="true" sz="3000">
                  <a:solidFill>
                    <a:srgbClr val="FFFFFF"/>
                  </a:solidFill>
                  <a:latin typeface="Arial Bold"/>
                  <a:ea typeface="Arial Bold"/>
                  <a:cs typeface="Arial Bold"/>
                  <a:sym typeface="Arial Bold"/>
                </a:rPr>
                <a:t>Générer un rapport PDF → </a:t>
              </a:r>
              <a:r>
                <a:rPr lang="en-US" b="true" sz="3000">
                  <a:solidFill>
                    <a:srgbClr val="FFFFFF"/>
                  </a:solidFill>
                  <a:latin typeface="Arial Bold"/>
                  <a:ea typeface="Arial Bold"/>
                  <a:cs typeface="Arial Bold"/>
                  <a:sym typeface="Arial Bold"/>
                </a:rPr>
                <a:t>via Celery + WeasyPrint</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1E2761"/>
        </a:solidFill>
      </p:bgPr>
    </p:bg>
    <p:spTree>
      <p:nvGrpSpPr>
        <p:cNvPr id="1" name=""/>
        <p:cNvGrpSpPr/>
        <p:nvPr/>
      </p:nvGrpSpPr>
      <p:grpSpPr>
        <a:xfrm>
          <a:off x="0" y="0"/>
          <a:ext cx="0" cy="0"/>
          <a:chOff x="0" y="0"/>
          <a:chExt cx="0" cy="0"/>
        </a:xfrm>
      </p:grpSpPr>
      <p:sp>
        <p:nvSpPr>
          <p:cNvPr name="Freeform 2" id="2"/>
          <p:cNvSpPr/>
          <p:nvPr/>
        </p:nvSpPr>
        <p:spPr>
          <a:xfrm flipH="false" flipV="false" rot="0">
            <a:off x="235689" y="1637063"/>
            <a:ext cx="8378452" cy="7067637"/>
          </a:xfrm>
          <a:custGeom>
            <a:avLst/>
            <a:gdLst/>
            <a:ahLst/>
            <a:cxnLst/>
            <a:rect r="r" b="b" t="t" l="l"/>
            <a:pathLst>
              <a:path h="7067637" w="8378452">
                <a:moveTo>
                  <a:pt x="0" y="0"/>
                </a:moveTo>
                <a:lnTo>
                  <a:pt x="8378451" y="0"/>
                </a:lnTo>
                <a:lnTo>
                  <a:pt x="8378451" y="7067637"/>
                </a:lnTo>
                <a:lnTo>
                  <a:pt x="0" y="7067637"/>
                </a:lnTo>
                <a:lnTo>
                  <a:pt x="0" y="0"/>
                </a:lnTo>
                <a:close/>
              </a:path>
            </a:pathLst>
          </a:custGeom>
          <a:blipFill>
            <a:blip r:embed="rId3"/>
            <a:stretch>
              <a:fillRect l="0" t="0" r="-1429" b="0"/>
            </a:stretch>
          </a:blipFill>
        </p:spPr>
      </p:sp>
      <p:sp>
        <p:nvSpPr>
          <p:cNvPr name="Freeform 3" id="3"/>
          <p:cNvSpPr/>
          <p:nvPr/>
        </p:nvSpPr>
        <p:spPr>
          <a:xfrm flipH="false" flipV="false" rot="0">
            <a:off x="9144000" y="1780176"/>
            <a:ext cx="8810434" cy="4625478"/>
          </a:xfrm>
          <a:custGeom>
            <a:avLst/>
            <a:gdLst/>
            <a:ahLst/>
            <a:cxnLst/>
            <a:rect r="r" b="b" t="t" l="l"/>
            <a:pathLst>
              <a:path h="4625478" w="8810434">
                <a:moveTo>
                  <a:pt x="0" y="0"/>
                </a:moveTo>
                <a:lnTo>
                  <a:pt x="8810434" y="0"/>
                </a:lnTo>
                <a:lnTo>
                  <a:pt x="8810434" y="4625478"/>
                </a:lnTo>
                <a:lnTo>
                  <a:pt x="0" y="4625478"/>
                </a:lnTo>
                <a:lnTo>
                  <a:pt x="0" y="0"/>
                </a:lnTo>
                <a:close/>
              </a:path>
            </a:pathLst>
          </a:custGeom>
          <a:blipFill>
            <a:blip r:embed="rId4"/>
            <a:stretch>
              <a:fillRect l="0" t="0" r="0" b="0"/>
            </a:stretch>
          </a:blipFill>
        </p:spPr>
      </p:sp>
      <p:sp>
        <p:nvSpPr>
          <p:cNvPr name="TextBox 4" id="4"/>
          <p:cNvSpPr txBox="true"/>
          <p:nvPr/>
        </p:nvSpPr>
        <p:spPr>
          <a:xfrm rot="0">
            <a:off x="5327713" y="201478"/>
            <a:ext cx="7632575" cy="609600"/>
          </a:xfrm>
          <a:prstGeom prst="rect">
            <a:avLst/>
          </a:prstGeom>
        </p:spPr>
        <p:txBody>
          <a:bodyPr anchor="t" rtlCol="false" tIns="0" lIns="0" bIns="0" rIns="0">
            <a:spAutoFit/>
          </a:bodyPr>
          <a:lstStyle/>
          <a:p>
            <a:pPr algn="ctr">
              <a:lnSpc>
                <a:spcPts val="4799"/>
              </a:lnSpc>
              <a:spcBef>
                <a:spcPct val="0"/>
              </a:spcBef>
            </a:pPr>
            <a:r>
              <a:rPr lang="en-US" b="true" sz="3999">
                <a:solidFill>
                  <a:srgbClr val="FFFFFF"/>
                </a:solidFill>
                <a:latin typeface="Arial Bold"/>
                <a:ea typeface="Arial Bold"/>
                <a:cs typeface="Arial Bold"/>
                <a:sym typeface="Arial Bold"/>
              </a:rPr>
              <a:t>Extrait de code : front-end</a:t>
            </a:r>
          </a:p>
        </p:txBody>
      </p:sp>
      <p:sp>
        <p:nvSpPr>
          <p:cNvPr name="TextBox 5" id="5"/>
          <p:cNvSpPr txBox="true"/>
          <p:nvPr/>
        </p:nvSpPr>
        <p:spPr>
          <a:xfrm rot="0">
            <a:off x="759455" y="1179624"/>
            <a:ext cx="5226368" cy="314325"/>
          </a:xfrm>
          <a:prstGeom prst="rect">
            <a:avLst/>
          </a:prstGeom>
        </p:spPr>
        <p:txBody>
          <a:bodyPr anchor="t" rtlCol="false" tIns="0" lIns="0" bIns="0" rIns="0">
            <a:spAutoFit/>
          </a:bodyPr>
          <a:lstStyle/>
          <a:p>
            <a:pPr algn="ctr">
              <a:lnSpc>
                <a:spcPts val="2400"/>
              </a:lnSpc>
              <a:spcBef>
                <a:spcPct val="0"/>
              </a:spcBef>
            </a:pPr>
            <a:r>
              <a:rPr lang="en-US" b="true" sz="2000">
                <a:solidFill>
                  <a:srgbClr val="FFFFFF"/>
                </a:solidFill>
                <a:latin typeface="Arial Bold"/>
                <a:ea typeface="Arial Bold"/>
                <a:cs typeface="Arial Bold"/>
                <a:sym typeface="Arial Bold"/>
              </a:rPr>
              <a:t>ProtectedRoute.jsx : garde d'accès par rôle</a:t>
            </a:r>
          </a:p>
        </p:txBody>
      </p:sp>
      <p:sp>
        <p:nvSpPr>
          <p:cNvPr name="TextBox 6" id="6"/>
          <p:cNvSpPr txBox="true"/>
          <p:nvPr/>
        </p:nvSpPr>
        <p:spPr>
          <a:xfrm rot="0">
            <a:off x="345829" y="8811838"/>
            <a:ext cx="7595587" cy="923925"/>
          </a:xfrm>
          <a:prstGeom prst="rect">
            <a:avLst/>
          </a:prstGeom>
        </p:spPr>
        <p:txBody>
          <a:bodyPr anchor="t" rtlCol="false" tIns="0" lIns="0" bIns="0" rIns="0">
            <a:spAutoFit/>
          </a:bodyPr>
          <a:lstStyle/>
          <a:p>
            <a:pPr algn="l">
              <a:lnSpc>
                <a:spcPts val="2400"/>
              </a:lnSpc>
              <a:spcBef>
                <a:spcPct val="0"/>
              </a:spcBef>
            </a:pPr>
            <a:r>
              <a:rPr lang="en-US" b="true" sz="2000">
                <a:solidFill>
                  <a:srgbClr val="FFFFFF"/>
                </a:solidFill>
                <a:latin typeface="Arial Bold"/>
                <a:ea typeface="Arial Bold"/>
                <a:cs typeface="Arial Bold"/>
                <a:sym typeface="Arial Bold"/>
              </a:rPr>
              <a:t>Redirige avant même l'affichage si l'utilisateur n'est pas authentifié ou n'a pas le rôle attendu, la protection est appliquée côté client en complément du contrôle serveur.</a:t>
            </a:r>
          </a:p>
        </p:txBody>
      </p:sp>
      <p:sp>
        <p:nvSpPr>
          <p:cNvPr name="TextBox 7" id="7"/>
          <p:cNvSpPr txBox="true"/>
          <p:nvPr/>
        </p:nvSpPr>
        <p:spPr>
          <a:xfrm rot="0">
            <a:off x="9496450" y="1179624"/>
            <a:ext cx="4813816" cy="314325"/>
          </a:xfrm>
          <a:prstGeom prst="rect">
            <a:avLst/>
          </a:prstGeom>
        </p:spPr>
        <p:txBody>
          <a:bodyPr anchor="t" rtlCol="false" tIns="0" lIns="0" bIns="0" rIns="0">
            <a:spAutoFit/>
          </a:bodyPr>
          <a:lstStyle/>
          <a:p>
            <a:pPr algn="ctr">
              <a:lnSpc>
                <a:spcPts val="2400"/>
              </a:lnSpc>
              <a:spcBef>
                <a:spcPct val="0"/>
              </a:spcBef>
            </a:pPr>
            <a:r>
              <a:rPr lang="en-US" b="true" sz="2000">
                <a:solidFill>
                  <a:srgbClr val="FFFFFF"/>
                </a:solidFill>
                <a:latin typeface="Arial Bold"/>
                <a:ea typeface="Arial Bold"/>
                <a:cs typeface="Arial Bold"/>
                <a:sym typeface="Arial Bold"/>
              </a:rPr>
              <a:t>sanitize.js : assainissement des entrées</a:t>
            </a:r>
          </a:p>
        </p:txBody>
      </p:sp>
      <p:sp>
        <p:nvSpPr>
          <p:cNvPr name="TextBox 8" id="8"/>
          <p:cNvSpPr txBox="true"/>
          <p:nvPr/>
        </p:nvSpPr>
        <p:spPr>
          <a:xfrm rot="0">
            <a:off x="9144000" y="6681879"/>
            <a:ext cx="6384042" cy="1533525"/>
          </a:xfrm>
          <a:prstGeom prst="rect">
            <a:avLst/>
          </a:prstGeom>
        </p:spPr>
        <p:txBody>
          <a:bodyPr anchor="t" rtlCol="false" tIns="0" lIns="0" bIns="0" rIns="0">
            <a:spAutoFit/>
          </a:bodyPr>
          <a:lstStyle/>
          <a:p>
            <a:pPr algn="l">
              <a:lnSpc>
                <a:spcPts val="2400"/>
              </a:lnSpc>
              <a:spcBef>
                <a:spcPct val="0"/>
              </a:spcBef>
            </a:pPr>
            <a:r>
              <a:rPr lang="en-US" b="true" sz="2000">
                <a:solidFill>
                  <a:srgbClr val="FFFFFF"/>
                </a:solidFill>
                <a:latin typeface="Arial Bold"/>
                <a:ea typeface="Arial Bold"/>
                <a:cs typeface="Arial Bold"/>
                <a:sym typeface="Arial Bold"/>
              </a:rPr>
              <a:t>Toute donnée saisie par un utilisateur puis réaffichée (notes de périmètre, contenu de formation) passe par cette fonction avant insertion dans le DOM, neutralise les tentatives d'injection XSS.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1E2761"/>
        </a:solidFill>
      </p:bgPr>
    </p:bg>
    <p:spTree>
      <p:nvGrpSpPr>
        <p:cNvPr id="1" name=""/>
        <p:cNvGrpSpPr/>
        <p:nvPr/>
      </p:nvGrpSpPr>
      <p:grpSpPr>
        <a:xfrm>
          <a:off x="0" y="0"/>
          <a:ext cx="0" cy="0"/>
          <a:chOff x="0" y="0"/>
          <a:chExt cx="0" cy="0"/>
        </a:xfrm>
      </p:grpSpPr>
      <p:sp>
        <p:nvSpPr>
          <p:cNvPr name="Freeform 2" id="2"/>
          <p:cNvSpPr/>
          <p:nvPr/>
        </p:nvSpPr>
        <p:spPr>
          <a:xfrm flipH="false" flipV="false" rot="0">
            <a:off x="278765" y="1279425"/>
            <a:ext cx="8900436" cy="3864075"/>
          </a:xfrm>
          <a:custGeom>
            <a:avLst/>
            <a:gdLst/>
            <a:ahLst/>
            <a:cxnLst/>
            <a:rect r="r" b="b" t="t" l="l"/>
            <a:pathLst>
              <a:path h="3864075" w="8900436">
                <a:moveTo>
                  <a:pt x="0" y="0"/>
                </a:moveTo>
                <a:lnTo>
                  <a:pt x="8900435" y="0"/>
                </a:lnTo>
                <a:lnTo>
                  <a:pt x="8900435" y="3864075"/>
                </a:lnTo>
                <a:lnTo>
                  <a:pt x="0" y="3864075"/>
                </a:lnTo>
                <a:lnTo>
                  <a:pt x="0" y="0"/>
                </a:lnTo>
                <a:close/>
              </a:path>
            </a:pathLst>
          </a:custGeom>
          <a:blipFill>
            <a:blip r:embed="rId3"/>
            <a:stretch>
              <a:fillRect l="-2519" t="0" r="-2519" b="0"/>
            </a:stretch>
          </a:blipFill>
        </p:spPr>
      </p:sp>
      <p:sp>
        <p:nvSpPr>
          <p:cNvPr name="Freeform 3" id="3"/>
          <p:cNvSpPr/>
          <p:nvPr/>
        </p:nvSpPr>
        <p:spPr>
          <a:xfrm flipH="false" flipV="false" rot="0">
            <a:off x="278765" y="5362575"/>
            <a:ext cx="8865235" cy="4738316"/>
          </a:xfrm>
          <a:custGeom>
            <a:avLst/>
            <a:gdLst/>
            <a:ahLst/>
            <a:cxnLst/>
            <a:rect r="r" b="b" t="t" l="l"/>
            <a:pathLst>
              <a:path h="4738316" w="8865235">
                <a:moveTo>
                  <a:pt x="0" y="0"/>
                </a:moveTo>
                <a:lnTo>
                  <a:pt x="8865235" y="0"/>
                </a:lnTo>
                <a:lnTo>
                  <a:pt x="8865235" y="4738316"/>
                </a:lnTo>
                <a:lnTo>
                  <a:pt x="0" y="4738316"/>
                </a:lnTo>
                <a:lnTo>
                  <a:pt x="0" y="0"/>
                </a:lnTo>
                <a:close/>
              </a:path>
            </a:pathLst>
          </a:custGeom>
          <a:blipFill>
            <a:blip r:embed="rId4"/>
            <a:stretch>
              <a:fillRect l="0" t="0" r="0" b="0"/>
            </a:stretch>
          </a:blipFill>
        </p:spPr>
      </p:sp>
      <p:sp>
        <p:nvSpPr>
          <p:cNvPr name="TextBox 4" id="4"/>
          <p:cNvSpPr txBox="true"/>
          <p:nvPr/>
        </p:nvSpPr>
        <p:spPr>
          <a:xfrm rot="0">
            <a:off x="4952086" y="117375"/>
            <a:ext cx="9485233" cy="942975"/>
          </a:xfrm>
          <a:prstGeom prst="rect">
            <a:avLst/>
          </a:prstGeom>
        </p:spPr>
        <p:txBody>
          <a:bodyPr anchor="t" rtlCol="false" tIns="0" lIns="0" bIns="0" rIns="0">
            <a:spAutoFit/>
          </a:bodyPr>
          <a:lstStyle/>
          <a:p>
            <a:pPr algn="ctr">
              <a:lnSpc>
                <a:spcPts val="7200"/>
              </a:lnSpc>
              <a:spcBef>
                <a:spcPct val="0"/>
              </a:spcBef>
            </a:pPr>
            <a:r>
              <a:rPr lang="en-US" b="true" sz="6000">
                <a:solidFill>
                  <a:srgbClr val="FFFFFF"/>
                </a:solidFill>
                <a:latin typeface="Arial Bold"/>
                <a:ea typeface="Arial Bold"/>
                <a:cs typeface="Arial Bold"/>
                <a:sym typeface="Arial Bold"/>
              </a:rPr>
              <a:t>Extrait de code : back-end</a:t>
            </a:r>
          </a:p>
        </p:txBody>
      </p:sp>
      <p:sp>
        <p:nvSpPr>
          <p:cNvPr name="TextBox 5" id="5"/>
          <p:cNvSpPr txBox="true"/>
          <p:nvPr/>
        </p:nvSpPr>
        <p:spPr>
          <a:xfrm rot="0">
            <a:off x="9342866" y="1260375"/>
            <a:ext cx="7231023" cy="438150"/>
          </a:xfrm>
          <a:prstGeom prst="rect">
            <a:avLst/>
          </a:prstGeom>
        </p:spPr>
        <p:txBody>
          <a:bodyPr anchor="t" rtlCol="false" tIns="0" lIns="0" bIns="0" rIns="0">
            <a:spAutoFit/>
          </a:bodyPr>
          <a:lstStyle/>
          <a:p>
            <a:pPr algn="ctr">
              <a:lnSpc>
                <a:spcPts val="3359"/>
              </a:lnSpc>
              <a:spcBef>
                <a:spcPct val="0"/>
              </a:spcBef>
            </a:pPr>
            <a:r>
              <a:rPr lang="en-US" b="true" sz="2799">
                <a:solidFill>
                  <a:srgbClr val="FFFFFF"/>
                </a:solidFill>
                <a:latin typeface="Arial Bold"/>
                <a:ea typeface="Arial Bold"/>
                <a:cs typeface="Arial Bold"/>
                <a:sym typeface="Arial Bold"/>
              </a:rPr>
              <a:t>models.py : référence unique anti-collision</a:t>
            </a:r>
          </a:p>
        </p:txBody>
      </p:sp>
      <p:sp>
        <p:nvSpPr>
          <p:cNvPr name="TextBox 6" id="6"/>
          <p:cNvSpPr txBox="true"/>
          <p:nvPr/>
        </p:nvSpPr>
        <p:spPr>
          <a:xfrm rot="0">
            <a:off x="9342866" y="5619799"/>
            <a:ext cx="7118985" cy="438150"/>
          </a:xfrm>
          <a:prstGeom prst="rect">
            <a:avLst/>
          </a:prstGeom>
        </p:spPr>
        <p:txBody>
          <a:bodyPr anchor="t" rtlCol="false" tIns="0" lIns="0" bIns="0" rIns="0">
            <a:spAutoFit/>
          </a:bodyPr>
          <a:lstStyle/>
          <a:p>
            <a:pPr algn="ctr">
              <a:lnSpc>
                <a:spcPts val="3359"/>
              </a:lnSpc>
              <a:spcBef>
                <a:spcPct val="0"/>
              </a:spcBef>
            </a:pPr>
            <a:r>
              <a:rPr lang="en-US" b="true" sz="2799">
                <a:solidFill>
                  <a:srgbClr val="FFFFFF"/>
                </a:solidFill>
                <a:latin typeface="Arial Bold"/>
                <a:ea typeface="Arial Bold"/>
                <a:cs typeface="Arial Bold"/>
                <a:sym typeface="Arial Bold"/>
              </a:rPr>
              <a:t>permissions.py : contrôle d'accès par rôle</a:t>
            </a:r>
          </a:p>
        </p:txBody>
      </p:sp>
      <p:sp>
        <p:nvSpPr>
          <p:cNvPr name="TextBox 7" id="7"/>
          <p:cNvSpPr txBox="true"/>
          <p:nvPr/>
        </p:nvSpPr>
        <p:spPr>
          <a:xfrm rot="0">
            <a:off x="9342866" y="1908075"/>
            <a:ext cx="6229845" cy="1228725"/>
          </a:xfrm>
          <a:prstGeom prst="rect">
            <a:avLst/>
          </a:prstGeom>
        </p:spPr>
        <p:txBody>
          <a:bodyPr anchor="t" rtlCol="false" tIns="0" lIns="0" bIns="0" rIns="0">
            <a:spAutoFit/>
          </a:bodyPr>
          <a:lstStyle/>
          <a:p>
            <a:pPr algn="l">
              <a:lnSpc>
                <a:spcPts val="2400"/>
              </a:lnSpc>
              <a:spcBef>
                <a:spcPct val="0"/>
              </a:spcBef>
            </a:pPr>
            <a:r>
              <a:rPr lang="en-US" b="true" sz="2000">
                <a:solidFill>
                  <a:srgbClr val="FFFFFF"/>
                </a:solidFill>
                <a:latin typeface="Arial Bold"/>
                <a:ea typeface="Arial Bold"/>
                <a:cs typeface="Arial Bold"/>
                <a:sym typeface="Arial Bold"/>
              </a:rPr>
              <a:t>select_for_update() verrouille la ligne pendant la transaction : deux demandes soumises à la même seconde ne peuvent jamais recevoir la même référence.</a:t>
            </a:r>
          </a:p>
        </p:txBody>
      </p:sp>
      <p:sp>
        <p:nvSpPr>
          <p:cNvPr name="TextBox 8" id="8"/>
          <p:cNvSpPr txBox="true"/>
          <p:nvPr/>
        </p:nvSpPr>
        <p:spPr>
          <a:xfrm rot="0">
            <a:off x="9342866" y="6289527"/>
            <a:ext cx="8168317" cy="923925"/>
          </a:xfrm>
          <a:prstGeom prst="rect">
            <a:avLst/>
          </a:prstGeom>
        </p:spPr>
        <p:txBody>
          <a:bodyPr anchor="t" rtlCol="false" tIns="0" lIns="0" bIns="0" rIns="0">
            <a:spAutoFit/>
          </a:bodyPr>
          <a:lstStyle/>
          <a:p>
            <a:pPr algn="l">
              <a:lnSpc>
                <a:spcPts val="2400"/>
              </a:lnSpc>
              <a:spcBef>
                <a:spcPct val="0"/>
              </a:spcBef>
            </a:pPr>
            <a:r>
              <a:rPr lang="en-US" b="true" sz="2000">
                <a:solidFill>
                  <a:srgbClr val="FFFFFF"/>
                </a:solidFill>
                <a:latin typeface="Arial Bold"/>
                <a:ea typeface="Arial Bold"/>
                <a:cs typeface="Arial Bold"/>
                <a:sym typeface="Arial Bold"/>
              </a:rPr>
              <a:t>Un client qui tente d'accéder à la demande d'un autre reçoit un 404, jamais un 403 : l'existence même de la ressource n'est jamais révélée à un utilisateur non habilité.</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E8EEFC"/>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1269601"/>
            <a:chOff x="0" y="0"/>
            <a:chExt cx="24417871" cy="1692802"/>
          </a:xfrm>
        </p:grpSpPr>
        <p:sp>
          <p:nvSpPr>
            <p:cNvPr name="Freeform 3" id="3"/>
            <p:cNvSpPr/>
            <p:nvPr/>
          </p:nvSpPr>
          <p:spPr>
            <a:xfrm flipH="false" flipV="false" rot="0">
              <a:off x="0" y="0"/>
              <a:ext cx="24417910" cy="1692840"/>
            </a:xfrm>
            <a:custGeom>
              <a:avLst/>
              <a:gdLst/>
              <a:ahLst/>
              <a:cxnLst/>
              <a:rect r="r" b="b" t="t" l="l"/>
              <a:pathLst>
                <a:path h="1692840" w="24417910">
                  <a:moveTo>
                    <a:pt x="0" y="0"/>
                  </a:moveTo>
                  <a:lnTo>
                    <a:pt x="24417910" y="0"/>
                  </a:lnTo>
                  <a:lnTo>
                    <a:pt x="24417910" y="1692840"/>
                  </a:lnTo>
                  <a:lnTo>
                    <a:pt x="0" y="1692840"/>
                  </a:lnTo>
                  <a:close/>
                </a:path>
              </a:pathLst>
            </a:custGeom>
            <a:solidFill>
              <a:srgbClr val="1E2761"/>
            </a:solidFill>
            <a:ln w="25400" cap="sq">
              <a:solidFill>
                <a:srgbClr val="1E2761"/>
              </a:solidFill>
              <a:prstDash val="solid"/>
              <a:miter/>
            </a:ln>
          </p:spPr>
        </p:sp>
      </p:grpSp>
      <p:grpSp>
        <p:nvGrpSpPr>
          <p:cNvPr name="Group 4" id="4"/>
          <p:cNvGrpSpPr/>
          <p:nvPr/>
        </p:nvGrpSpPr>
        <p:grpSpPr>
          <a:xfrm rot="0">
            <a:off x="0" y="0"/>
            <a:ext cx="18288000" cy="1075953"/>
            <a:chOff x="0" y="0"/>
            <a:chExt cx="24384000" cy="1434604"/>
          </a:xfrm>
        </p:grpSpPr>
        <p:sp>
          <p:nvSpPr>
            <p:cNvPr name="Freeform 5" id="5"/>
            <p:cNvSpPr/>
            <p:nvPr/>
          </p:nvSpPr>
          <p:spPr>
            <a:xfrm flipH="false" flipV="false" rot="0">
              <a:off x="0" y="0"/>
              <a:ext cx="24384000" cy="1434604"/>
            </a:xfrm>
            <a:custGeom>
              <a:avLst/>
              <a:gdLst/>
              <a:ahLst/>
              <a:cxnLst/>
              <a:rect r="r" b="b" t="t" l="l"/>
              <a:pathLst>
                <a:path h="1434604" w="24384000">
                  <a:moveTo>
                    <a:pt x="0" y="0"/>
                  </a:moveTo>
                  <a:lnTo>
                    <a:pt x="24384000" y="0"/>
                  </a:lnTo>
                  <a:lnTo>
                    <a:pt x="24384000" y="1434604"/>
                  </a:lnTo>
                  <a:lnTo>
                    <a:pt x="0" y="1434604"/>
                  </a:lnTo>
                  <a:close/>
                </a:path>
              </a:pathLst>
            </a:custGeom>
            <a:blipFill>
              <a:blip r:embed="rId3">
                <a:alphaModFix amt="0"/>
              </a:blip>
              <a:stretch>
                <a:fillRect l="0" t="-258950" r="0" b="-303425"/>
              </a:stretch>
            </a:blipFill>
          </p:spPr>
        </p:sp>
        <p:sp>
          <p:nvSpPr>
            <p:cNvPr name="TextBox 6" id="6"/>
            <p:cNvSpPr txBox="true"/>
            <p:nvPr/>
          </p:nvSpPr>
          <p:spPr>
            <a:xfrm>
              <a:off x="0" y="-19050"/>
              <a:ext cx="24384000" cy="1453654"/>
            </a:xfrm>
            <a:prstGeom prst="rect">
              <a:avLst/>
            </a:prstGeom>
          </p:spPr>
          <p:txBody>
            <a:bodyPr anchor="ctr" rtlCol="false" tIns="0" lIns="0" bIns="0" rIns="0"/>
            <a:lstStyle/>
            <a:p>
              <a:pPr algn="ctr">
                <a:lnSpc>
                  <a:spcPts val="6239"/>
                </a:lnSpc>
              </a:pPr>
              <a:r>
                <a:rPr lang="en-US" b="true" sz="5199">
                  <a:solidFill>
                    <a:srgbClr val="FFFFFF"/>
                  </a:solidFill>
                  <a:latin typeface="Arial Bold"/>
                  <a:ea typeface="Arial Bold"/>
                  <a:cs typeface="Arial Bold"/>
                  <a:sym typeface="Arial Bold"/>
                </a:rPr>
                <a:t>Schém</a:t>
              </a:r>
              <a:r>
                <a:rPr lang="en-US" b="true" sz="5199">
                  <a:solidFill>
                    <a:srgbClr val="FFFFFF"/>
                  </a:solidFill>
                  <a:latin typeface="Arial Bold"/>
                  <a:ea typeface="Arial Bold"/>
                  <a:cs typeface="Arial Bold"/>
                  <a:sym typeface="Arial Bold"/>
                </a:rPr>
                <a:t>a de base de données (simplifié)</a:t>
              </a:r>
            </a:p>
          </p:txBody>
        </p:sp>
      </p:grpSp>
      <p:sp>
        <p:nvSpPr>
          <p:cNvPr name="Freeform 7" id="7"/>
          <p:cNvSpPr/>
          <p:nvPr/>
        </p:nvSpPr>
        <p:spPr>
          <a:xfrm flipH="false" flipV="false" rot="0">
            <a:off x="3256506" y="1256904"/>
            <a:ext cx="11296174" cy="9030096"/>
          </a:xfrm>
          <a:custGeom>
            <a:avLst/>
            <a:gdLst/>
            <a:ahLst/>
            <a:cxnLst/>
            <a:rect r="r" b="b" t="t" l="l"/>
            <a:pathLst>
              <a:path h="9030096" w="11296174">
                <a:moveTo>
                  <a:pt x="0" y="0"/>
                </a:moveTo>
                <a:lnTo>
                  <a:pt x="11296174" y="0"/>
                </a:lnTo>
                <a:lnTo>
                  <a:pt x="11296174" y="9030096"/>
                </a:lnTo>
                <a:lnTo>
                  <a:pt x="0" y="9030096"/>
                </a:lnTo>
                <a:lnTo>
                  <a:pt x="0" y="0"/>
                </a:lnTo>
                <a:close/>
              </a:path>
            </a:pathLst>
          </a:custGeom>
          <a:blipFill>
            <a:blip r:embed="rId4"/>
            <a:stretch>
              <a:fillRect l="-414" t="-285" r="0" b="-283"/>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E8EEFC"/>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1579883"/>
            <a:chOff x="0" y="0"/>
            <a:chExt cx="24417871" cy="2106511"/>
          </a:xfrm>
        </p:grpSpPr>
        <p:sp>
          <p:nvSpPr>
            <p:cNvPr name="Freeform 3" id="3"/>
            <p:cNvSpPr/>
            <p:nvPr/>
          </p:nvSpPr>
          <p:spPr>
            <a:xfrm flipH="false" flipV="false" rot="0">
              <a:off x="0" y="0"/>
              <a:ext cx="24417910" cy="2106549"/>
            </a:xfrm>
            <a:custGeom>
              <a:avLst/>
              <a:gdLst/>
              <a:ahLst/>
              <a:cxnLst/>
              <a:rect r="r" b="b" t="t" l="l"/>
              <a:pathLst>
                <a:path h="2106549" w="24417910">
                  <a:moveTo>
                    <a:pt x="0" y="0"/>
                  </a:moveTo>
                  <a:lnTo>
                    <a:pt x="24417910" y="0"/>
                  </a:lnTo>
                  <a:lnTo>
                    <a:pt x="24417910" y="2106549"/>
                  </a:lnTo>
                  <a:lnTo>
                    <a:pt x="0" y="2106549"/>
                  </a:lnTo>
                  <a:close/>
                </a:path>
              </a:pathLst>
            </a:custGeom>
            <a:solidFill>
              <a:srgbClr val="1E2761"/>
            </a:solidFill>
            <a:ln w="25400" cap="sq">
              <a:solidFill>
                <a:srgbClr val="1E2761"/>
              </a:solidFill>
              <a:prstDash val="solid"/>
              <a:miter/>
            </a:ln>
          </p:spPr>
        </p:sp>
      </p:grpSp>
      <p:grpSp>
        <p:nvGrpSpPr>
          <p:cNvPr name="Group 4" id="4"/>
          <p:cNvGrpSpPr/>
          <p:nvPr/>
        </p:nvGrpSpPr>
        <p:grpSpPr>
          <a:xfrm rot="0">
            <a:off x="0" y="0"/>
            <a:ext cx="18288000" cy="1554480"/>
            <a:chOff x="0" y="0"/>
            <a:chExt cx="24384000" cy="2072640"/>
          </a:xfrm>
        </p:grpSpPr>
        <p:sp>
          <p:nvSpPr>
            <p:cNvPr name="Freeform 5" id="5"/>
            <p:cNvSpPr/>
            <p:nvPr/>
          </p:nvSpPr>
          <p:spPr>
            <a:xfrm flipH="false" flipV="false" rot="0">
              <a:off x="0" y="0"/>
              <a:ext cx="24384000" cy="2072640"/>
            </a:xfrm>
            <a:custGeom>
              <a:avLst/>
              <a:gdLst/>
              <a:ahLst/>
              <a:cxnLst/>
              <a:rect r="r" b="b" t="t" l="l"/>
              <a:pathLst>
                <a:path h="2072640" w="24384000">
                  <a:moveTo>
                    <a:pt x="0" y="0"/>
                  </a:moveTo>
                  <a:lnTo>
                    <a:pt x="24384000" y="0"/>
                  </a:lnTo>
                  <a:lnTo>
                    <a:pt x="24384000" y="2072640"/>
                  </a:lnTo>
                  <a:lnTo>
                    <a:pt x="0" y="2072640"/>
                  </a:lnTo>
                  <a:close/>
                </a:path>
              </a:pathLst>
            </a:custGeom>
            <a:blipFill>
              <a:blip r:embed="rId3">
                <a:alphaModFix amt="0"/>
              </a:blip>
              <a:stretch>
                <a:fillRect l="0" t="-179235" r="0" b="-179235"/>
              </a:stretch>
            </a:blipFill>
          </p:spPr>
        </p:sp>
        <p:sp>
          <p:nvSpPr>
            <p:cNvPr name="TextBox 6" id="6"/>
            <p:cNvSpPr txBox="true"/>
            <p:nvPr/>
          </p:nvSpPr>
          <p:spPr>
            <a:xfrm>
              <a:off x="0" y="-19050"/>
              <a:ext cx="24384000" cy="2091690"/>
            </a:xfrm>
            <a:prstGeom prst="rect">
              <a:avLst/>
            </a:prstGeom>
          </p:spPr>
          <p:txBody>
            <a:bodyPr anchor="ctr" rtlCol="false" tIns="0" lIns="0" bIns="0" rIns="0"/>
            <a:lstStyle/>
            <a:p>
              <a:pPr algn="ctr">
                <a:lnSpc>
                  <a:spcPts val="6239"/>
                </a:lnSpc>
              </a:pPr>
              <a:r>
                <a:rPr lang="en-US" b="true" sz="5199">
                  <a:solidFill>
                    <a:srgbClr val="FFFFFF"/>
                  </a:solidFill>
                  <a:latin typeface="Arial Bold"/>
                  <a:ea typeface="Arial Bold"/>
                  <a:cs typeface="Arial Bold"/>
                  <a:sym typeface="Arial Bold"/>
                </a:rPr>
                <a:t>Portail client : ​​Flux clés</a:t>
              </a:r>
            </a:p>
          </p:txBody>
        </p:sp>
      </p:grpSp>
      <p:grpSp>
        <p:nvGrpSpPr>
          <p:cNvPr name="Group 7" id="7"/>
          <p:cNvGrpSpPr/>
          <p:nvPr/>
        </p:nvGrpSpPr>
        <p:grpSpPr>
          <a:xfrm rot="0">
            <a:off x="1206988" y="2103120"/>
            <a:ext cx="1305563" cy="1305563"/>
            <a:chOff x="0" y="0"/>
            <a:chExt cx="1740751" cy="1740751"/>
          </a:xfrm>
        </p:grpSpPr>
        <p:sp>
          <p:nvSpPr>
            <p:cNvPr name="Freeform 8" id="8"/>
            <p:cNvSpPr/>
            <p:nvPr/>
          </p:nvSpPr>
          <p:spPr>
            <a:xfrm flipH="false" flipV="false" rot="0">
              <a:off x="0" y="0"/>
              <a:ext cx="1740662" cy="1740662"/>
            </a:xfrm>
            <a:custGeom>
              <a:avLst/>
              <a:gdLst/>
              <a:ahLst/>
              <a:cxnLst/>
              <a:rect r="r" b="b" t="t" l="l"/>
              <a:pathLst>
                <a:path h="1740662" w="1740662">
                  <a:moveTo>
                    <a:pt x="0" y="870331"/>
                  </a:moveTo>
                  <a:cubicBezTo>
                    <a:pt x="0" y="389636"/>
                    <a:pt x="389636" y="0"/>
                    <a:pt x="870331" y="0"/>
                  </a:cubicBezTo>
                  <a:cubicBezTo>
                    <a:pt x="1351026" y="0"/>
                    <a:pt x="1740662" y="389636"/>
                    <a:pt x="1740662" y="870331"/>
                  </a:cubicBezTo>
                  <a:cubicBezTo>
                    <a:pt x="1740662" y="1351026"/>
                    <a:pt x="1351026" y="1740662"/>
                    <a:pt x="870331" y="1740662"/>
                  </a:cubicBezTo>
                  <a:cubicBezTo>
                    <a:pt x="389636" y="1740662"/>
                    <a:pt x="0" y="1351026"/>
                    <a:pt x="0" y="870331"/>
                  </a:cubicBezTo>
                  <a:close/>
                </a:path>
              </a:pathLst>
            </a:custGeom>
            <a:solidFill>
              <a:srgbClr val="3B82F6"/>
            </a:solidFill>
            <a:ln w="25400" cap="sq">
              <a:solidFill>
                <a:srgbClr val="3B82F6"/>
              </a:solidFill>
              <a:prstDash val="solid"/>
              <a:miter/>
            </a:ln>
          </p:spPr>
        </p:sp>
      </p:grpSp>
      <p:grpSp>
        <p:nvGrpSpPr>
          <p:cNvPr name="Group 9" id="9"/>
          <p:cNvGrpSpPr/>
          <p:nvPr/>
        </p:nvGrpSpPr>
        <p:grpSpPr>
          <a:xfrm rot="0">
            <a:off x="1206988" y="2103120"/>
            <a:ext cx="1280160" cy="1280160"/>
            <a:chOff x="0" y="0"/>
            <a:chExt cx="1706880" cy="1706880"/>
          </a:xfrm>
        </p:grpSpPr>
        <p:sp>
          <p:nvSpPr>
            <p:cNvPr name="Freeform 10" id="10"/>
            <p:cNvSpPr/>
            <p:nvPr/>
          </p:nvSpPr>
          <p:spPr>
            <a:xfrm flipH="false" flipV="false" rot="0">
              <a:off x="0" y="0"/>
              <a:ext cx="1706880" cy="1706880"/>
            </a:xfrm>
            <a:custGeom>
              <a:avLst/>
              <a:gdLst/>
              <a:ahLst/>
              <a:cxnLst/>
              <a:rect r="r" b="b" t="t" l="l"/>
              <a:pathLst>
                <a:path h="1706880" w="1706880">
                  <a:moveTo>
                    <a:pt x="0" y="0"/>
                  </a:moveTo>
                  <a:lnTo>
                    <a:pt x="1706880" y="0"/>
                  </a:lnTo>
                  <a:lnTo>
                    <a:pt x="1706880" y="1706880"/>
                  </a:lnTo>
                  <a:lnTo>
                    <a:pt x="0" y="1706880"/>
                  </a:lnTo>
                  <a:close/>
                </a:path>
              </a:pathLst>
            </a:custGeom>
            <a:blipFill>
              <a:blip r:embed="rId3">
                <a:alphaModFix amt="0"/>
              </a:blip>
              <a:stretch>
                <a:fillRect l="-78303" t="0" r="-78303" b="0"/>
              </a:stretch>
            </a:blipFill>
          </p:spPr>
        </p:sp>
        <p:sp>
          <p:nvSpPr>
            <p:cNvPr name="TextBox 11" id="11"/>
            <p:cNvSpPr txBox="true"/>
            <p:nvPr/>
          </p:nvSpPr>
          <p:spPr>
            <a:xfrm>
              <a:off x="0" y="-19050"/>
              <a:ext cx="1706880" cy="1725930"/>
            </a:xfrm>
            <a:prstGeom prst="rect">
              <a:avLst/>
            </a:prstGeom>
          </p:spPr>
          <p:txBody>
            <a:bodyPr anchor="ctr" rtlCol="false" tIns="0" lIns="0" bIns="0" rIns="0"/>
            <a:lstStyle/>
            <a:p>
              <a:pPr algn="ctr">
                <a:lnSpc>
                  <a:spcPts val="5280"/>
                </a:lnSpc>
              </a:pPr>
              <a:r>
                <a:rPr lang="en-US" b="true" sz="4400">
                  <a:solidFill>
                    <a:srgbClr val="FFFFFF"/>
                  </a:solidFill>
                  <a:latin typeface="Arial Bold"/>
                  <a:ea typeface="Arial Bold"/>
                  <a:cs typeface="Arial Bold"/>
                  <a:sym typeface="Arial Bold"/>
                </a:rPr>
                <a:t>1</a:t>
              </a:r>
            </a:p>
          </p:txBody>
        </p:sp>
      </p:grpSp>
      <p:grpSp>
        <p:nvGrpSpPr>
          <p:cNvPr name="Group 12" id="12"/>
          <p:cNvGrpSpPr/>
          <p:nvPr/>
        </p:nvGrpSpPr>
        <p:grpSpPr>
          <a:xfrm rot="0">
            <a:off x="147808" y="4063365"/>
            <a:ext cx="3398520" cy="939803"/>
            <a:chOff x="0" y="0"/>
            <a:chExt cx="4531360" cy="1253071"/>
          </a:xfrm>
        </p:grpSpPr>
        <p:sp>
          <p:nvSpPr>
            <p:cNvPr name="Freeform 13" id="13"/>
            <p:cNvSpPr/>
            <p:nvPr/>
          </p:nvSpPr>
          <p:spPr>
            <a:xfrm flipH="false" flipV="false" rot="0">
              <a:off x="0" y="0"/>
              <a:ext cx="4531398" cy="1253109"/>
            </a:xfrm>
            <a:custGeom>
              <a:avLst/>
              <a:gdLst/>
              <a:ahLst/>
              <a:cxnLst/>
              <a:rect r="r" b="b" t="t" l="l"/>
              <a:pathLst>
                <a:path h="1253109" w="4531398">
                  <a:moveTo>
                    <a:pt x="0" y="0"/>
                  </a:moveTo>
                  <a:lnTo>
                    <a:pt x="4531398" y="0"/>
                  </a:lnTo>
                  <a:lnTo>
                    <a:pt x="4531398" y="1253109"/>
                  </a:lnTo>
                  <a:lnTo>
                    <a:pt x="0" y="1253109"/>
                  </a:lnTo>
                  <a:close/>
                </a:path>
              </a:pathLst>
            </a:custGeom>
            <a:solidFill>
              <a:srgbClr val="3B82F6"/>
            </a:solidFill>
            <a:ln w="25400" cap="sq">
              <a:solidFill>
                <a:srgbClr val="3B82F6"/>
              </a:solidFill>
              <a:prstDash val="solid"/>
              <a:miter/>
            </a:ln>
          </p:spPr>
        </p:sp>
      </p:grpSp>
      <p:grpSp>
        <p:nvGrpSpPr>
          <p:cNvPr name="Group 14" id="14"/>
          <p:cNvGrpSpPr/>
          <p:nvPr/>
        </p:nvGrpSpPr>
        <p:grpSpPr>
          <a:xfrm rot="0">
            <a:off x="703490" y="4187192"/>
            <a:ext cx="2312559" cy="784227"/>
            <a:chOff x="0" y="0"/>
            <a:chExt cx="3083412" cy="1045635"/>
          </a:xfrm>
        </p:grpSpPr>
        <p:sp>
          <p:nvSpPr>
            <p:cNvPr name="Freeform 15" id="15"/>
            <p:cNvSpPr/>
            <p:nvPr/>
          </p:nvSpPr>
          <p:spPr>
            <a:xfrm flipH="false" flipV="false" rot="0">
              <a:off x="0" y="0"/>
              <a:ext cx="3083412" cy="1045635"/>
            </a:xfrm>
            <a:custGeom>
              <a:avLst/>
              <a:gdLst/>
              <a:ahLst/>
              <a:cxnLst/>
              <a:rect r="r" b="b" t="t" l="l"/>
              <a:pathLst>
                <a:path h="1045635" w="3083412">
                  <a:moveTo>
                    <a:pt x="0" y="0"/>
                  </a:moveTo>
                  <a:lnTo>
                    <a:pt x="3083412" y="0"/>
                  </a:lnTo>
                  <a:lnTo>
                    <a:pt x="3083412" y="1045635"/>
                  </a:lnTo>
                  <a:lnTo>
                    <a:pt x="0" y="1045635"/>
                  </a:lnTo>
                  <a:close/>
                </a:path>
              </a:pathLst>
            </a:custGeom>
            <a:blipFill>
              <a:blip r:embed="rId3">
                <a:alphaModFix amt="0"/>
              </a:blip>
              <a:stretch>
                <a:fillRect l="0" t="-28034" r="-50254" b="-44633"/>
              </a:stretch>
            </a:blipFill>
          </p:spPr>
        </p:sp>
        <p:sp>
          <p:nvSpPr>
            <p:cNvPr name="TextBox 16" id="16"/>
            <p:cNvSpPr txBox="true"/>
            <p:nvPr/>
          </p:nvSpPr>
          <p:spPr>
            <a:xfrm>
              <a:off x="0" y="-19050"/>
              <a:ext cx="3083412" cy="1064685"/>
            </a:xfrm>
            <a:prstGeom prst="rect">
              <a:avLst/>
            </a:prstGeom>
          </p:spPr>
          <p:txBody>
            <a:bodyPr anchor="ctr" rtlCol="false" tIns="0" lIns="0" bIns="0" rIns="0"/>
            <a:lstStyle/>
            <a:p>
              <a:pPr algn="ctr">
                <a:lnSpc>
                  <a:spcPts val="2639"/>
                </a:lnSpc>
              </a:pPr>
              <a:r>
                <a:rPr lang="en-US" b="true" sz="2199">
                  <a:solidFill>
                    <a:srgbClr val="FFFFFF"/>
                  </a:solidFill>
                  <a:latin typeface="Arial Bold"/>
                  <a:ea typeface="Arial Bold"/>
                  <a:cs typeface="Arial Bold"/>
                  <a:sym typeface="Arial Bold"/>
                </a:rPr>
                <a:t>A</a:t>
              </a:r>
              <a:r>
                <a:rPr lang="en-US" b="true" sz="2199">
                  <a:solidFill>
                    <a:srgbClr val="FFFFFF"/>
                  </a:solidFill>
                  <a:latin typeface="Arial Bold"/>
                  <a:ea typeface="Arial Bold"/>
                  <a:cs typeface="Arial Bold"/>
                  <a:sym typeface="Arial Bold"/>
                </a:rPr>
                <a:t>ccueil</a:t>
              </a:r>
            </a:p>
          </p:txBody>
        </p:sp>
      </p:grpSp>
      <p:grpSp>
        <p:nvGrpSpPr>
          <p:cNvPr name="Group 17" id="17"/>
          <p:cNvGrpSpPr/>
          <p:nvPr/>
        </p:nvGrpSpPr>
        <p:grpSpPr>
          <a:xfrm rot="0">
            <a:off x="160509" y="4971419"/>
            <a:ext cx="3398520" cy="2448220"/>
            <a:chOff x="0" y="0"/>
            <a:chExt cx="4531360" cy="3264293"/>
          </a:xfrm>
        </p:grpSpPr>
        <p:sp>
          <p:nvSpPr>
            <p:cNvPr name="Freeform 18" id="18"/>
            <p:cNvSpPr/>
            <p:nvPr/>
          </p:nvSpPr>
          <p:spPr>
            <a:xfrm flipH="false" flipV="false" rot="0">
              <a:off x="0" y="0"/>
              <a:ext cx="4531360" cy="3264293"/>
            </a:xfrm>
            <a:custGeom>
              <a:avLst/>
              <a:gdLst/>
              <a:ahLst/>
              <a:cxnLst/>
              <a:rect r="r" b="b" t="t" l="l"/>
              <a:pathLst>
                <a:path h="3264293" w="4531360">
                  <a:moveTo>
                    <a:pt x="0" y="0"/>
                  </a:moveTo>
                  <a:lnTo>
                    <a:pt x="4531360" y="0"/>
                  </a:lnTo>
                  <a:lnTo>
                    <a:pt x="4531360" y="3264293"/>
                  </a:lnTo>
                  <a:lnTo>
                    <a:pt x="0" y="3264293"/>
                  </a:lnTo>
                  <a:close/>
                </a:path>
              </a:pathLst>
            </a:custGeom>
            <a:solidFill>
              <a:srgbClr val="FFFFFF"/>
            </a:solidFill>
            <a:ln w="19050" cap="sq">
              <a:solidFill>
                <a:srgbClr val="94A3B8"/>
              </a:solidFill>
              <a:prstDash val="solid"/>
              <a:miter/>
            </a:ln>
          </p:spPr>
        </p:sp>
      </p:grpSp>
      <p:sp>
        <p:nvSpPr>
          <p:cNvPr name="AutoShape 19" id="19"/>
          <p:cNvSpPr/>
          <p:nvPr/>
        </p:nvSpPr>
        <p:spPr>
          <a:xfrm rot="983400">
            <a:off x="4001567" y="6391275"/>
            <a:ext cx="135026" cy="0"/>
          </a:xfrm>
          <a:prstGeom prst="line">
            <a:avLst/>
          </a:prstGeom>
          <a:ln cap="rnd" w="19050">
            <a:solidFill>
              <a:srgbClr val="64748B"/>
            </a:solidFill>
            <a:prstDash val="solid"/>
            <a:headEnd type="none" len="sm" w="sm"/>
            <a:tailEnd type="triangle" len="med" w="lg"/>
          </a:ln>
        </p:spPr>
      </p:sp>
      <p:grpSp>
        <p:nvGrpSpPr>
          <p:cNvPr name="Group 20" id="20"/>
          <p:cNvGrpSpPr/>
          <p:nvPr/>
        </p:nvGrpSpPr>
        <p:grpSpPr>
          <a:xfrm rot="0">
            <a:off x="4838461" y="2077717"/>
            <a:ext cx="1305563" cy="1305563"/>
            <a:chOff x="0" y="0"/>
            <a:chExt cx="1740751" cy="1740751"/>
          </a:xfrm>
        </p:grpSpPr>
        <p:sp>
          <p:nvSpPr>
            <p:cNvPr name="Freeform 21" id="21"/>
            <p:cNvSpPr/>
            <p:nvPr/>
          </p:nvSpPr>
          <p:spPr>
            <a:xfrm flipH="false" flipV="false" rot="0">
              <a:off x="0" y="0"/>
              <a:ext cx="1740662" cy="1740662"/>
            </a:xfrm>
            <a:custGeom>
              <a:avLst/>
              <a:gdLst/>
              <a:ahLst/>
              <a:cxnLst/>
              <a:rect r="r" b="b" t="t" l="l"/>
              <a:pathLst>
                <a:path h="1740662" w="1740662">
                  <a:moveTo>
                    <a:pt x="0" y="870331"/>
                  </a:moveTo>
                  <a:cubicBezTo>
                    <a:pt x="0" y="389636"/>
                    <a:pt x="389636" y="0"/>
                    <a:pt x="870331" y="0"/>
                  </a:cubicBezTo>
                  <a:cubicBezTo>
                    <a:pt x="1351026" y="0"/>
                    <a:pt x="1740662" y="389636"/>
                    <a:pt x="1740662" y="870331"/>
                  </a:cubicBezTo>
                  <a:cubicBezTo>
                    <a:pt x="1740662" y="1351026"/>
                    <a:pt x="1351026" y="1740662"/>
                    <a:pt x="870331" y="1740662"/>
                  </a:cubicBezTo>
                  <a:cubicBezTo>
                    <a:pt x="389636" y="1740662"/>
                    <a:pt x="0" y="1351026"/>
                    <a:pt x="0" y="870331"/>
                  </a:cubicBezTo>
                  <a:close/>
                </a:path>
              </a:pathLst>
            </a:custGeom>
            <a:solidFill>
              <a:srgbClr val="8B5CF6"/>
            </a:solidFill>
            <a:ln w="25400" cap="sq">
              <a:solidFill>
                <a:srgbClr val="8B5CF6"/>
              </a:solidFill>
              <a:prstDash val="solid"/>
              <a:miter/>
            </a:ln>
          </p:spPr>
        </p:sp>
      </p:grpSp>
      <p:grpSp>
        <p:nvGrpSpPr>
          <p:cNvPr name="Group 22" id="22"/>
          <p:cNvGrpSpPr/>
          <p:nvPr/>
        </p:nvGrpSpPr>
        <p:grpSpPr>
          <a:xfrm rot="0">
            <a:off x="4863864" y="2128523"/>
            <a:ext cx="1280160" cy="1280160"/>
            <a:chOff x="0" y="0"/>
            <a:chExt cx="1706880" cy="1706880"/>
          </a:xfrm>
        </p:grpSpPr>
        <p:sp>
          <p:nvSpPr>
            <p:cNvPr name="Freeform 23" id="23"/>
            <p:cNvSpPr/>
            <p:nvPr/>
          </p:nvSpPr>
          <p:spPr>
            <a:xfrm flipH="false" flipV="false" rot="0">
              <a:off x="0" y="0"/>
              <a:ext cx="1706880" cy="1706880"/>
            </a:xfrm>
            <a:custGeom>
              <a:avLst/>
              <a:gdLst/>
              <a:ahLst/>
              <a:cxnLst/>
              <a:rect r="r" b="b" t="t" l="l"/>
              <a:pathLst>
                <a:path h="1706880" w="1706880">
                  <a:moveTo>
                    <a:pt x="0" y="0"/>
                  </a:moveTo>
                  <a:lnTo>
                    <a:pt x="1706880" y="0"/>
                  </a:lnTo>
                  <a:lnTo>
                    <a:pt x="1706880" y="1706880"/>
                  </a:lnTo>
                  <a:lnTo>
                    <a:pt x="0" y="1706880"/>
                  </a:lnTo>
                  <a:close/>
                </a:path>
              </a:pathLst>
            </a:custGeom>
            <a:blipFill>
              <a:blip r:embed="rId3">
                <a:alphaModFix amt="0"/>
              </a:blip>
              <a:stretch>
                <a:fillRect l="-78303" t="0" r="-78303" b="0"/>
              </a:stretch>
            </a:blipFill>
          </p:spPr>
        </p:sp>
        <p:sp>
          <p:nvSpPr>
            <p:cNvPr name="TextBox 24" id="24"/>
            <p:cNvSpPr txBox="true"/>
            <p:nvPr/>
          </p:nvSpPr>
          <p:spPr>
            <a:xfrm>
              <a:off x="0" y="-19050"/>
              <a:ext cx="1706880" cy="1725930"/>
            </a:xfrm>
            <a:prstGeom prst="rect">
              <a:avLst/>
            </a:prstGeom>
          </p:spPr>
          <p:txBody>
            <a:bodyPr anchor="ctr" rtlCol="false" tIns="0" lIns="0" bIns="0" rIns="0"/>
            <a:lstStyle/>
            <a:p>
              <a:pPr algn="ctr">
                <a:lnSpc>
                  <a:spcPts val="5280"/>
                </a:lnSpc>
              </a:pPr>
              <a:r>
                <a:rPr lang="en-US" b="true" sz="4400">
                  <a:solidFill>
                    <a:srgbClr val="FFFFFF"/>
                  </a:solidFill>
                  <a:latin typeface="Arial Bold"/>
                  <a:ea typeface="Arial Bold"/>
                  <a:cs typeface="Arial Bold"/>
                  <a:sym typeface="Arial Bold"/>
                </a:rPr>
                <a:t>2</a:t>
              </a:r>
            </a:p>
          </p:txBody>
        </p:sp>
      </p:grpSp>
      <p:grpSp>
        <p:nvGrpSpPr>
          <p:cNvPr name="Group 25" id="25"/>
          <p:cNvGrpSpPr/>
          <p:nvPr/>
        </p:nvGrpSpPr>
        <p:grpSpPr>
          <a:xfrm rot="0">
            <a:off x="3774609" y="4063365"/>
            <a:ext cx="3404065" cy="939803"/>
            <a:chOff x="0" y="0"/>
            <a:chExt cx="4538753" cy="1253071"/>
          </a:xfrm>
        </p:grpSpPr>
        <p:sp>
          <p:nvSpPr>
            <p:cNvPr name="Freeform 26" id="26"/>
            <p:cNvSpPr/>
            <p:nvPr/>
          </p:nvSpPr>
          <p:spPr>
            <a:xfrm flipH="false" flipV="false" rot="0">
              <a:off x="0" y="0"/>
              <a:ext cx="4538791" cy="1253109"/>
            </a:xfrm>
            <a:custGeom>
              <a:avLst/>
              <a:gdLst/>
              <a:ahLst/>
              <a:cxnLst/>
              <a:rect r="r" b="b" t="t" l="l"/>
              <a:pathLst>
                <a:path h="1253109" w="4538791">
                  <a:moveTo>
                    <a:pt x="0" y="0"/>
                  </a:moveTo>
                  <a:lnTo>
                    <a:pt x="4538791" y="0"/>
                  </a:lnTo>
                  <a:lnTo>
                    <a:pt x="4538791" y="1253109"/>
                  </a:lnTo>
                  <a:lnTo>
                    <a:pt x="0" y="1253109"/>
                  </a:lnTo>
                  <a:close/>
                </a:path>
              </a:pathLst>
            </a:custGeom>
            <a:solidFill>
              <a:srgbClr val="8B5CF6"/>
            </a:solidFill>
            <a:ln w="25400" cap="sq">
              <a:solidFill>
                <a:srgbClr val="8B5CF6"/>
              </a:solidFill>
              <a:prstDash val="solid"/>
              <a:miter/>
            </a:ln>
          </p:spPr>
        </p:sp>
      </p:grpSp>
      <p:grpSp>
        <p:nvGrpSpPr>
          <p:cNvPr name="Group 27" id="27"/>
          <p:cNvGrpSpPr/>
          <p:nvPr/>
        </p:nvGrpSpPr>
        <p:grpSpPr>
          <a:xfrm rot="0">
            <a:off x="3801912" y="4214181"/>
            <a:ext cx="3122295" cy="850892"/>
            <a:chOff x="0" y="0"/>
            <a:chExt cx="4163060" cy="1134523"/>
          </a:xfrm>
        </p:grpSpPr>
        <p:sp>
          <p:nvSpPr>
            <p:cNvPr name="Freeform 28" id="28"/>
            <p:cNvSpPr/>
            <p:nvPr/>
          </p:nvSpPr>
          <p:spPr>
            <a:xfrm flipH="false" flipV="false" rot="0">
              <a:off x="0" y="0"/>
              <a:ext cx="4163060" cy="1134523"/>
            </a:xfrm>
            <a:custGeom>
              <a:avLst/>
              <a:gdLst/>
              <a:ahLst/>
              <a:cxnLst/>
              <a:rect r="r" b="b" t="t" l="l"/>
              <a:pathLst>
                <a:path h="1134523" w="4163060">
                  <a:moveTo>
                    <a:pt x="0" y="0"/>
                  </a:moveTo>
                  <a:lnTo>
                    <a:pt x="4163060" y="0"/>
                  </a:lnTo>
                  <a:lnTo>
                    <a:pt x="4163060" y="1134523"/>
                  </a:lnTo>
                  <a:lnTo>
                    <a:pt x="0" y="1134523"/>
                  </a:lnTo>
                  <a:close/>
                </a:path>
              </a:pathLst>
            </a:custGeom>
            <a:blipFill>
              <a:blip r:embed="rId3">
                <a:alphaModFix amt="0"/>
              </a:blip>
              <a:stretch>
                <a:fillRect l="0" t="-25837" r="-11287" b="-33301"/>
              </a:stretch>
            </a:blipFill>
          </p:spPr>
        </p:sp>
        <p:sp>
          <p:nvSpPr>
            <p:cNvPr name="TextBox 29" id="29"/>
            <p:cNvSpPr txBox="true"/>
            <p:nvPr/>
          </p:nvSpPr>
          <p:spPr>
            <a:xfrm>
              <a:off x="0" y="-19050"/>
              <a:ext cx="4163060" cy="1153573"/>
            </a:xfrm>
            <a:prstGeom prst="rect">
              <a:avLst/>
            </a:prstGeom>
          </p:spPr>
          <p:txBody>
            <a:bodyPr anchor="ctr" rtlCol="false" tIns="0" lIns="0" bIns="0" rIns="0"/>
            <a:lstStyle/>
            <a:p>
              <a:pPr algn="ctr">
                <a:lnSpc>
                  <a:spcPts val="2639"/>
                </a:lnSpc>
              </a:pPr>
              <a:r>
                <a:rPr lang="en-US" b="true" sz="2199">
                  <a:solidFill>
                    <a:srgbClr val="FFFFFF"/>
                  </a:solidFill>
                  <a:latin typeface="Arial Bold"/>
                  <a:ea typeface="Arial Bold"/>
                  <a:cs typeface="Arial Bold"/>
                  <a:sym typeface="Arial Bold"/>
                </a:rPr>
                <a:t>Tabl</a:t>
              </a:r>
              <a:r>
                <a:rPr lang="en-US" b="true" sz="2199">
                  <a:solidFill>
                    <a:srgbClr val="FFFFFF"/>
                  </a:solidFill>
                  <a:latin typeface="Arial Bold"/>
                  <a:ea typeface="Arial Bold"/>
                  <a:cs typeface="Arial Bold"/>
                  <a:sym typeface="Arial Bold"/>
                </a:rPr>
                <a:t>eau de bord</a:t>
              </a:r>
            </a:p>
            <a:p>
              <a:pPr algn="ctr">
                <a:lnSpc>
                  <a:spcPts val="2639"/>
                </a:lnSpc>
              </a:pPr>
            </a:p>
          </p:txBody>
        </p:sp>
      </p:grpSp>
      <p:grpSp>
        <p:nvGrpSpPr>
          <p:cNvPr name="Group 30" id="30"/>
          <p:cNvGrpSpPr/>
          <p:nvPr/>
        </p:nvGrpSpPr>
        <p:grpSpPr>
          <a:xfrm rot="0">
            <a:off x="3774928" y="5003168"/>
            <a:ext cx="3417570" cy="2416471"/>
            <a:chOff x="0" y="0"/>
            <a:chExt cx="4556760" cy="3221961"/>
          </a:xfrm>
        </p:grpSpPr>
        <p:sp>
          <p:nvSpPr>
            <p:cNvPr name="Freeform 31" id="31"/>
            <p:cNvSpPr/>
            <p:nvPr/>
          </p:nvSpPr>
          <p:spPr>
            <a:xfrm flipH="false" flipV="false" rot="0">
              <a:off x="0" y="0"/>
              <a:ext cx="4556760" cy="3221961"/>
            </a:xfrm>
            <a:custGeom>
              <a:avLst/>
              <a:gdLst/>
              <a:ahLst/>
              <a:cxnLst/>
              <a:rect r="r" b="b" t="t" l="l"/>
              <a:pathLst>
                <a:path h="3221961" w="4556760">
                  <a:moveTo>
                    <a:pt x="0" y="0"/>
                  </a:moveTo>
                  <a:lnTo>
                    <a:pt x="4556760" y="0"/>
                  </a:lnTo>
                  <a:lnTo>
                    <a:pt x="4556760" y="3221961"/>
                  </a:lnTo>
                  <a:lnTo>
                    <a:pt x="0" y="3221961"/>
                  </a:lnTo>
                  <a:close/>
                </a:path>
              </a:pathLst>
            </a:custGeom>
            <a:solidFill>
              <a:srgbClr val="FFFFFF"/>
            </a:solidFill>
            <a:ln w="19050" cap="sq">
              <a:solidFill>
                <a:srgbClr val="94A3B8"/>
              </a:solidFill>
              <a:prstDash val="solid"/>
              <a:miter/>
            </a:ln>
          </p:spPr>
        </p:sp>
      </p:grpSp>
      <p:sp>
        <p:nvSpPr>
          <p:cNvPr name="AutoShape 32" id="32"/>
          <p:cNvSpPr/>
          <p:nvPr/>
        </p:nvSpPr>
        <p:spPr>
          <a:xfrm rot="983400">
            <a:off x="7567727" y="6391275"/>
            <a:ext cx="135026" cy="0"/>
          </a:xfrm>
          <a:prstGeom prst="line">
            <a:avLst/>
          </a:prstGeom>
          <a:ln cap="rnd" w="19050">
            <a:solidFill>
              <a:srgbClr val="64748B"/>
            </a:solidFill>
            <a:prstDash val="solid"/>
            <a:headEnd type="none" len="sm" w="sm"/>
            <a:tailEnd type="triangle" len="med" w="lg"/>
          </a:ln>
        </p:spPr>
      </p:sp>
      <p:grpSp>
        <p:nvGrpSpPr>
          <p:cNvPr name="Group 33" id="33"/>
          <p:cNvGrpSpPr/>
          <p:nvPr/>
        </p:nvGrpSpPr>
        <p:grpSpPr>
          <a:xfrm rot="0">
            <a:off x="8525274" y="2090423"/>
            <a:ext cx="1305563" cy="1305563"/>
            <a:chOff x="0" y="0"/>
            <a:chExt cx="1740751" cy="1740751"/>
          </a:xfrm>
        </p:grpSpPr>
        <p:sp>
          <p:nvSpPr>
            <p:cNvPr name="Freeform 34" id="34"/>
            <p:cNvSpPr/>
            <p:nvPr/>
          </p:nvSpPr>
          <p:spPr>
            <a:xfrm flipH="false" flipV="false" rot="0">
              <a:off x="0" y="0"/>
              <a:ext cx="1740662" cy="1740662"/>
            </a:xfrm>
            <a:custGeom>
              <a:avLst/>
              <a:gdLst/>
              <a:ahLst/>
              <a:cxnLst/>
              <a:rect r="r" b="b" t="t" l="l"/>
              <a:pathLst>
                <a:path h="1740662" w="1740662">
                  <a:moveTo>
                    <a:pt x="0" y="870331"/>
                  </a:moveTo>
                  <a:cubicBezTo>
                    <a:pt x="0" y="389636"/>
                    <a:pt x="389636" y="0"/>
                    <a:pt x="870331" y="0"/>
                  </a:cubicBezTo>
                  <a:cubicBezTo>
                    <a:pt x="1351026" y="0"/>
                    <a:pt x="1740662" y="389636"/>
                    <a:pt x="1740662" y="870331"/>
                  </a:cubicBezTo>
                  <a:cubicBezTo>
                    <a:pt x="1740662" y="1351026"/>
                    <a:pt x="1351026" y="1740662"/>
                    <a:pt x="870331" y="1740662"/>
                  </a:cubicBezTo>
                  <a:cubicBezTo>
                    <a:pt x="389636" y="1740662"/>
                    <a:pt x="0" y="1351026"/>
                    <a:pt x="0" y="870331"/>
                  </a:cubicBezTo>
                  <a:close/>
                </a:path>
              </a:pathLst>
            </a:custGeom>
            <a:solidFill>
              <a:srgbClr val="10B981"/>
            </a:solidFill>
            <a:ln w="25400" cap="sq">
              <a:solidFill>
                <a:srgbClr val="10B981"/>
              </a:solidFill>
              <a:prstDash val="solid"/>
              <a:miter/>
            </a:ln>
          </p:spPr>
        </p:sp>
      </p:grpSp>
      <p:grpSp>
        <p:nvGrpSpPr>
          <p:cNvPr name="Group 35" id="35"/>
          <p:cNvGrpSpPr/>
          <p:nvPr/>
        </p:nvGrpSpPr>
        <p:grpSpPr>
          <a:xfrm rot="0">
            <a:off x="8496699" y="2103120"/>
            <a:ext cx="1280160" cy="1280160"/>
            <a:chOff x="0" y="0"/>
            <a:chExt cx="1706880" cy="1706880"/>
          </a:xfrm>
        </p:grpSpPr>
        <p:sp>
          <p:nvSpPr>
            <p:cNvPr name="Freeform 36" id="36"/>
            <p:cNvSpPr/>
            <p:nvPr/>
          </p:nvSpPr>
          <p:spPr>
            <a:xfrm flipH="false" flipV="false" rot="0">
              <a:off x="0" y="0"/>
              <a:ext cx="1706880" cy="1706880"/>
            </a:xfrm>
            <a:custGeom>
              <a:avLst/>
              <a:gdLst/>
              <a:ahLst/>
              <a:cxnLst/>
              <a:rect r="r" b="b" t="t" l="l"/>
              <a:pathLst>
                <a:path h="1706880" w="1706880">
                  <a:moveTo>
                    <a:pt x="0" y="0"/>
                  </a:moveTo>
                  <a:lnTo>
                    <a:pt x="1706880" y="0"/>
                  </a:lnTo>
                  <a:lnTo>
                    <a:pt x="1706880" y="1706880"/>
                  </a:lnTo>
                  <a:lnTo>
                    <a:pt x="0" y="1706880"/>
                  </a:lnTo>
                  <a:close/>
                </a:path>
              </a:pathLst>
            </a:custGeom>
            <a:blipFill>
              <a:blip r:embed="rId3">
                <a:alphaModFix amt="0"/>
              </a:blip>
              <a:stretch>
                <a:fillRect l="-78303" t="0" r="-78303" b="0"/>
              </a:stretch>
            </a:blipFill>
          </p:spPr>
        </p:sp>
        <p:sp>
          <p:nvSpPr>
            <p:cNvPr name="TextBox 37" id="37"/>
            <p:cNvSpPr txBox="true"/>
            <p:nvPr/>
          </p:nvSpPr>
          <p:spPr>
            <a:xfrm>
              <a:off x="0" y="-19050"/>
              <a:ext cx="1706880" cy="1725930"/>
            </a:xfrm>
            <a:prstGeom prst="rect">
              <a:avLst/>
            </a:prstGeom>
          </p:spPr>
          <p:txBody>
            <a:bodyPr anchor="ctr" rtlCol="false" tIns="0" lIns="0" bIns="0" rIns="0"/>
            <a:lstStyle/>
            <a:p>
              <a:pPr algn="ctr">
                <a:lnSpc>
                  <a:spcPts val="5280"/>
                </a:lnSpc>
              </a:pPr>
              <a:r>
                <a:rPr lang="en-US" b="true" sz="4400">
                  <a:solidFill>
                    <a:srgbClr val="FFFFFF"/>
                  </a:solidFill>
                  <a:latin typeface="Arial Bold"/>
                  <a:ea typeface="Arial Bold"/>
                  <a:cs typeface="Arial Bold"/>
                  <a:sym typeface="Arial Bold"/>
                </a:rPr>
                <a:t>3</a:t>
              </a:r>
            </a:p>
          </p:txBody>
        </p:sp>
      </p:grpSp>
      <p:grpSp>
        <p:nvGrpSpPr>
          <p:cNvPr name="Group 38" id="38"/>
          <p:cNvGrpSpPr/>
          <p:nvPr/>
        </p:nvGrpSpPr>
        <p:grpSpPr>
          <a:xfrm rot="0">
            <a:off x="7435848" y="4063365"/>
            <a:ext cx="3500123" cy="908054"/>
            <a:chOff x="0" y="0"/>
            <a:chExt cx="4666831" cy="1210739"/>
          </a:xfrm>
        </p:grpSpPr>
        <p:sp>
          <p:nvSpPr>
            <p:cNvPr name="Freeform 39" id="39"/>
            <p:cNvSpPr/>
            <p:nvPr/>
          </p:nvSpPr>
          <p:spPr>
            <a:xfrm flipH="false" flipV="false" rot="0">
              <a:off x="0" y="0"/>
              <a:ext cx="4666869" cy="1210777"/>
            </a:xfrm>
            <a:custGeom>
              <a:avLst/>
              <a:gdLst/>
              <a:ahLst/>
              <a:cxnLst/>
              <a:rect r="r" b="b" t="t" l="l"/>
              <a:pathLst>
                <a:path h="1210777" w="4666869">
                  <a:moveTo>
                    <a:pt x="0" y="0"/>
                  </a:moveTo>
                  <a:lnTo>
                    <a:pt x="4666869" y="0"/>
                  </a:lnTo>
                  <a:lnTo>
                    <a:pt x="4666869" y="1210777"/>
                  </a:lnTo>
                  <a:lnTo>
                    <a:pt x="0" y="1210777"/>
                  </a:lnTo>
                  <a:close/>
                </a:path>
              </a:pathLst>
            </a:custGeom>
            <a:solidFill>
              <a:srgbClr val="10B981"/>
            </a:solidFill>
            <a:ln w="25400" cap="sq">
              <a:solidFill>
                <a:srgbClr val="10B981"/>
              </a:solidFill>
              <a:prstDash val="solid"/>
              <a:miter/>
            </a:ln>
          </p:spPr>
        </p:sp>
      </p:grpSp>
      <p:grpSp>
        <p:nvGrpSpPr>
          <p:cNvPr name="Group 40" id="40"/>
          <p:cNvGrpSpPr/>
          <p:nvPr/>
        </p:nvGrpSpPr>
        <p:grpSpPr>
          <a:xfrm rot="0">
            <a:off x="7453627" y="4088768"/>
            <a:ext cx="3401063" cy="914400"/>
            <a:chOff x="0" y="0"/>
            <a:chExt cx="4534751" cy="1219200"/>
          </a:xfrm>
        </p:grpSpPr>
        <p:sp>
          <p:nvSpPr>
            <p:cNvPr name="Freeform 41" id="41"/>
            <p:cNvSpPr/>
            <p:nvPr/>
          </p:nvSpPr>
          <p:spPr>
            <a:xfrm flipH="false" flipV="false" rot="0">
              <a:off x="0" y="0"/>
              <a:ext cx="4534751" cy="1219200"/>
            </a:xfrm>
            <a:custGeom>
              <a:avLst/>
              <a:gdLst/>
              <a:ahLst/>
              <a:cxnLst/>
              <a:rect r="r" b="b" t="t" l="l"/>
              <a:pathLst>
                <a:path h="1219200" w="4534751">
                  <a:moveTo>
                    <a:pt x="0" y="0"/>
                  </a:moveTo>
                  <a:lnTo>
                    <a:pt x="4534751" y="0"/>
                  </a:lnTo>
                  <a:lnTo>
                    <a:pt x="4534751" y="1219200"/>
                  </a:lnTo>
                  <a:lnTo>
                    <a:pt x="0" y="1219200"/>
                  </a:lnTo>
                  <a:close/>
                </a:path>
              </a:pathLst>
            </a:custGeom>
            <a:blipFill>
              <a:blip r:embed="rId3">
                <a:alphaModFix amt="0"/>
              </a:blip>
              <a:stretch>
                <a:fillRect l="0" t="-24043" r="-2165" b="-24043"/>
              </a:stretch>
            </a:blipFill>
          </p:spPr>
        </p:sp>
        <p:sp>
          <p:nvSpPr>
            <p:cNvPr name="TextBox 42" id="42"/>
            <p:cNvSpPr txBox="true"/>
            <p:nvPr/>
          </p:nvSpPr>
          <p:spPr>
            <a:xfrm>
              <a:off x="0" y="-19050"/>
              <a:ext cx="4534751" cy="1238250"/>
            </a:xfrm>
            <a:prstGeom prst="rect">
              <a:avLst/>
            </a:prstGeom>
          </p:spPr>
          <p:txBody>
            <a:bodyPr anchor="ctr" rtlCol="false" tIns="0" lIns="0" bIns="0" rIns="0"/>
            <a:lstStyle/>
            <a:p>
              <a:pPr algn="ctr">
                <a:lnSpc>
                  <a:spcPts val="2639"/>
                </a:lnSpc>
              </a:pPr>
              <a:r>
                <a:rPr lang="en-US" b="true" sz="2199">
                  <a:solidFill>
                    <a:srgbClr val="FFFFFF"/>
                  </a:solidFill>
                  <a:latin typeface="Arial Bold"/>
                  <a:ea typeface="Arial Bold"/>
                  <a:cs typeface="Arial Bold"/>
                  <a:sym typeface="Arial Bold"/>
                </a:rPr>
                <a:t>Nouv</a:t>
              </a:r>
              <a:r>
                <a:rPr lang="en-US" b="true" sz="2199">
                  <a:solidFill>
                    <a:srgbClr val="FFFFFF"/>
                  </a:solidFill>
                  <a:latin typeface="Arial Bold"/>
                  <a:ea typeface="Arial Bold"/>
                  <a:cs typeface="Arial Bold"/>
                  <a:sym typeface="Arial Bold"/>
                </a:rPr>
                <a:t>elle demande</a:t>
              </a:r>
            </a:p>
            <a:p>
              <a:pPr algn="ctr">
                <a:lnSpc>
                  <a:spcPts val="2639"/>
                </a:lnSpc>
              </a:pPr>
            </a:p>
          </p:txBody>
        </p:sp>
      </p:grpSp>
      <p:grpSp>
        <p:nvGrpSpPr>
          <p:cNvPr name="Group 43" id="43"/>
          <p:cNvGrpSpPr/>
          <p:nvPr/>
        </p:nvGrpSpPr>
        <p:grpSpPr>
          <a:xfrm rot="0">
            <a:off x="7421098" y="4920613"/>
            <a:ext cx="3514874" cy="2499026"/>
            <a:chOff x="0" y="0"/>
            <a:chExt cx="4686499" cy="3332035"/>
          </a:xfrm>
        </p:grpSpPr>
        <p:sp>
          <p:nvSpPr>
            <p:cNvPr name="Freeform 44" id="44"/>
            <p:cNvSpPr/>
            <p:nvPr/>
          </p:nvSpPr>
          <p:spPr>
            <a:xfrm flipH="false" flipV="false" rot="0">
              <a:off x="0" y="0"/>
              <a:ext cx="4686498" cy="3332035"/>
            </a:xfrm>
            <a:custGeom>
              <a:avLst/>
              <a:gdLst/>
              <a:ahLst/>
              <a:cxnLst/>
              <a:rect r="r" b="b" t="t" l="l"/>
              <a:pathLst>
                <a:path h="3332035" w="4686498">
                  <a:moveTo>
                    <a:pt x="0" y="0"/>
                  </a:moveTo>
                  <a:lnTo>
                    <a:pt x="4686498" y="0"/>
                  </a:lnTo>
                  <a:lnTo>
                    <a:pt x="4686498" y="3332035"/>
                  </a:lnTo>
                  <a:lnTo>
                    <a:pt x="0" y="3332035"/>
                  </a:lnTo>
                  <a:close/>
                </a:path>
              </a:pathLst>
            </a:custGeom>
            <a:solidFill>
              <a:srgbClr val="FFFFFF"/>
            </a:solidFill>
            <a:ln w="19050" cap="sq">
              <a:solidFill>
                <a:srgbClr val="94A3B8"/>
              </a:solidFill>
              <a:prstDash val="solid"/>
              <a:miter/>
            </a:ln>
          </p:spPr>
        </p:sp>
      </p:grpSp>
      <p:sp>
        <p:nvSpPr>
          <p:cNvPr name="AutoShape 45" id="45"/>
          <p:cNvSpPr/>
          <p:nvPr/>
        </p:nvSpPr>
        <p:spPr>
          <a:xfrm rot="983400">
            <a:off x="11133887" y="6391275"/>
            <a:ext cx="135026" cy="0"/>
          </a:xfrm>
          <a:prstGeom prst="line">
            <a:avLst/>
          </a:prstGeom>
          <a:ln cap="rnd" w="19050">
            <a:solidFill>
              <a:srgbClr val="64748B"/>
            </a:solidFill>
            <a:prstDash val="solid"/>
            <a:headEnd type="none" len="sm" w="sm"/>
            <a:tailEnd type="triangle" len="med" w="lg"/>
          </a:ln>
        </p:spPr>
      </p:sp>
      <p:grpSp>
        <p:nvGrpSpPr>
          <p:cNvPr name="Group 46" id="46"/>
          <p:cNvGrpSpPr/>
          <p:nvPr/>
        </p:nvGrpSpPr>
        <p:grpSpPr>
          <a:xfrm rot="0">
            <a:off x="12203111" y="2090423"/>
            <a:ext cx="1305563" cy="1305563"/>
            <a:chOff x="0" y="0"/>
            <a:chExt cx="1740751" cy="1740751"/>
          </a:xfrm>
        </p:grpSpPr>
        <p:sp>
          <p:nvSpPr>
            <p:cNvPr name="Freeform 47" id="47"/>
            <p:cNvSpPr/>
            <p:nvPr/>
          </p:nvSpPr>
          <p:spPr>
            <a:xfrm flipH="false" flipV="false" rot="0">
              <a:off x="0" y="0"/>
              <a:ext cx="1740662" cy="1740662"/>
            </a:xfrm>
            <a:custGeom>
              <a:avLst/>
              <a:gdLst/>
              <a:ahLst/>
              <a:cxnLst/>
              <a:rect r="r" b="b" t="t" l="l"/>
              <a:pathLst>
                <a:path h="1740662" w="1740662">
                  <a:moveTo>
                    <a:pt x="0" y="870331"/>
                  </a:moveTo>
                  <a:cubicBezTo>
                    <a:pt x="0" y="389636"/>
                    <a:pt x="389636" y="0"/>
                    <a:pt x="870331" y="0"/>
                  </a:cubicBezTo>
                  <a:cubicBezTo>
                    <a:pt x="1351026" y="0"/>
                    <a:pt x="1740662" y="389636"/>
                    <a:pt x="1740662" y="870331"/>
                  </a:cubicBezTo>
                  <a:cubicBezTo>
                    <a:pt x="1740662" y="1351026"/>
                    <a:pt x="1351026" y="1740662"/>
                    <a:pt x="870331" y="1740662"/>
                  </a:cubicBezTo>
                  <a:cubicBezTo>
                    <a:pt x="389636" y="1740662"/>
                    <a:pt x="0" y="1351026"/>
                    <a:pt x="0" y="870331"/>
                  </a:cubicBezTo>
                  <a:close/>
                </a:path>
              </a:pathLst>
            </a:custGeom>
            <a:solidFill>
              <a:srgbClr val="F59E0B"/>
            </a:solidFill>
            <a:ln w="25400" cap="sq">
              <a:solidFill>
                <a:srgbClr val="F59E0B"/>
              </a:solidFill>
              <a:prstDash val="solid"/>
              <a:miter/>
            </a:ln>
          </p:spPr>
        </p:sp>
      </p:grpSp>
      <p:grpSp>
        <p:nvGrpSpPr>
          <p:cNvPr name="Group 48" id="48"/>
          <p:cNvGrpSpPr/>
          <p:nvPr/>
        </p:nvGrpSpPr>
        <p:grpSpPr>
          <a:xfrm rot="0">
            <a:off x="12215812" y="2103120"/>
            <a:ext cx="1280160" cy="1280160"/>
            <a:chOff x="0" y="0"/>
            <a:chExt cx="1706880" cy="1706880"/>
          </a:xfrm>
        </p:grpSpPr>
        <p:sp>
          <p:nvSpPr>
            <p:cNvPr name="Freeform 49" id="49"/>
            <p:cNvSpPr/>
            <p:nvPr/>
          </p:nvSpPr>
          <p:spPr>
            <a:xfrm flipH="false" flipV="false" rot="0">
              <a:off x="0" y="0"/>
              <a:ext cx="1706880" cy="1706880"/>
            </a:xfrm>
            <a:custGeom>
              <a:avLst/>
              <a:gdLst/>
              <a:ahLst/>
              <a:cxnLst/>
              <a:rect r="r" b="b" t="t" l="l"/>
              <a:pathLst>
                <a:path h="1706880" w="1706880">
                  <a:moveTo>
                    <a:pt x="0" y="0"/>
                  </a:moveTo>
                  <a:lnTo>
                    <a:pt x="1706880" y="0"/>
                  </a:lnTo>
                  <a:lnTo>
                    <a:pt x="1706880" y="1706880"/>
                  </a:lnTo>
                  <a:lnTo>
                    <a:pt x="0" y="1706880"/>
                  </a:lnTo>
                  <a:close/>
                </a:path>
              </a:pathLst>
            </a:custGeom>
            <a:blipFill>
              <a:blip r:embed="rId3">
                <a:alphaModFix amt="0"/>
              </a:blip>
              <a:stretch>
                <a:fillRect l="-78303" t="0" r="-78303" b="0"/>
              </a:stretch>
            </a:blipFill>
          </p:spPr>
        </p:sp>
        <p:sp>
          <p:nvSpPr>
            <p:cNvPr name="TextBox 50" id="50"/>
            <p:cNvSpPr txBox="true"/>
            <p:nvPr/>
          </p:nvSpPr>
          <p:spPr>
            <a:xfrm>
              <a:off x="0" y="-19050"/>
              <a:ext cx="1706880" cy="1725930"/>
            </a:xfrm>
            <a:prstGeom prst="rect">
              <a:avLst/>
            </a:prstGeom>
          </p:spPr>
          <p:txBody>
            <a:bodyPr anchor="ctr" rtlCol="false" tIns="0" lIns="0" bIns="0" rIns="0"/>
            <a:lstStyle/>
            <a:p>
              <a:pPr algn="ctr">
                <a:lnSpc>
                  <a:spcPts val="5280"/>
                </a:lnSpc>
              </a:pPr>
              <a:r>
                <a:rPr lang="en-US" b="true" sz="4400">
                  <a:solidFill>
                    <a:srgbClr val="FFFFFF"/>
                  </a:solidFill>
                  <a:latin typeface="Arial Bold"/>
                  <a:ea typeface="Arial Bold"/>
                  <a:cs typeface="Arial Bold"/>
                  <a:sym typeface="Arial Bold"/>
                </a:rPr>
                <a:t>4</a:t>
              </a:r>
            </a:p>
          </p:txBody>
        </p:sp>
      </p:grpSp>
      <p:grpSp>
        <p:nvGrpSpPr>
          <p:cNvPr name="Group 51" id="51"/>
          <p:cNvGrpSpPr/>
          <p:nvPr/>
        </p:nvGrpSpPr>
        <p:grpSpPr>
          <a:xfrm rot="0">
            <a:off x="11159173" y="4063365"/>
            <a:ext cx="3237548" cy="939803"/>
            <a:chOff x="0" y="0"/>
            <a:chExt cx="4316730" cy="1253071"/>
          </a:xfrm>
        </p:grpSpPr>
        <p:sp>
          <p:nvSpPr>
            <p:cNvPr name="Freeform 52" id="52"/>
            <p:cNvSpPr/>
            <p:nvPr/>
          </p:nvSpPr>
          <p:spPr>
            <a:xfrm flipH="false" flipV="false" rot="0">
              <a:off x="0" y="0"/>
              <a:ext cx="4316768" cy="1253109"/>
            </a:xfrm>
            <a:custGeom>
              <a:avLst/>
              <a:gdLst/>
              <a:ahLst/>
              <a:cxnLst/>
              <a:rect r="r" b="b" t="t" l="l"/>
              <a:pathLst>
                <a:path h="1253109" w="4316768">
                  <a:moveTo>
                    <a:pt x="0" y="0"/>
                  </a:moveTo>
                  <a:lnTo>
                    <a:pt x="4316768" y="0"/>
                  </a:lnTo>
                  <a:lnTo>
                    <a:pt x="4316768" y="1253109"/>
                  </a:lnTo>
                  <a:lnTo>
                    <a:pt x="0" y="1253109"/>
                  </a:lnTo>
                  <a:close/>
                </a:path>
              </a:pathLst>
            </a:custGeom>
            <a:solidFill>
              <a:srgbClr val="F59E0B"/>
            </a:solidFill>
            <a:ln w="25400" cap="sq">
              <a:solidFill>
                <a:srgbClr val="F59E0B"/>
              </a:solidFill>
              <a:prstDash val="solid"/>
              <a:miter/>
            </a:ln>
          </p:spPr>
        </p:sp>
      </p:grpSp>
      <p:grpSp>
        <p:nvGrpSpPr>
          <p:cNvPr name="Group 53" id="53"/>
          <p:cNvGrpSpPr/>
          <p:nvPr/>
        </p:nvGrpSpPr>
        <p:grpSpPr>
          <a:xfrm rot="0">
            <a:off x="11064240" y="4047488"/>
            <a:ext cx="3346133" cy="971557"/>
            <a:chOff x="0" y="0"/>
            <a:chExt cx="4461510" cy="1295410"/>
          </a:xfrm>
        </p:grpSpPr>
        <p:sp>
          <p:nvSpPr>
            <p:cNvPr name="Freeform 54" id="54"/>
            <p:cNvSpPr/>
            <p:nvPr/>
          </p:nvSpPr>
          <p:spPr>
            <a:xfrm flipH="false" flipV="false" rot="0">
              <a:off x="0" y="0"/>
              <a:ext cx="4461510" cy="1295409"/>
            </a:xfrm>
            <a:custGeom>
              <a:avLst/>
              <a:gdLst/>
              <a:ahLst/>
              <a:cxnLst/>
              <a:rect r="r" b="b" t="t" l="l"/>
              <a:pathLst>
                <a:path h="1295409" w="4461510">
                  <a:moveTo>
                    <a:pt x="0" y="0"/>
                  </a:moveTo>
                  <a:lnTo>
                    <a:pt x="4461510" y="0"/>
                  </a:lnTo>
                  <a:lnTo>
                    <a:pt x="4461510" y="1295409"/>
                  </a:lnTo>
                  <a:lnTo>
                    <a:pt x="0" y="1295409"/>
                  </a:lnTo>
                  <a:close/>
                </a:path>
              </a:pathLst>
            </a:custGeom>
            <a:blipFill>
              <a:blip r:embed="rId3">
                <a:alphaModFix amt="0"/>
              </a:blip>
              <a:stretch>
                <a:fillRect l="0" t="-22628" r="-3842" b="-16745"/>
              </a:stretch>
            </a:blipFill>
          </p:spPr>
        </p:sp>
        <p:sp>
          <p:nvSpPr>
            <p:cNvPr name="TextBox 55" id="55"/>
            <p:cNvSpPr txBox="true"/>
            <p:nvPr/>
          </p:nvSpPr>
          <p:spPr>
            <a:xfrm>
              <a:off x="0" y="-19050"/>
              <a:ext cx="4461510" cy="1314460"/>
            </a:xfrm>
            <a:prstGeom prst="rect">
              <a:avLst/>
            </a:prstGeom>
          </p:spPr>
          <p:txBody>
            <a:bodyPr anchor="ctr" rtlCol="false" tIns="0" lIns="0" bIns="0" rIns="0"/>
            <a:lstStyle/>
            <a:p>
              <a:pPr algn="ctr">
                <a:lnSpc>
                  <a:spcPts val="2639"/>
                </a:lnSpc>
              </a:pPr>
              <a:r>
                <a:rPr lang="en-US" b="true" sz="2199">
                  <a:solidFill>
                    <a:srgbClr val="FFFFFF"/>
                  </a:solidFill>
                  <a:latin typeface="Arial Bold"/>
                  <a:ea typeface="Arial Bold"/>
                  <a:cs typeface="Arial Bold"/>
                  <a:sym typeface="Arial Bold"/>
                </a:rPr>
                <a:t>Dét</a:t>
              </a:r>
              <a:r>
                <a:rPr lang="en-US" b="true" sz="2199">
                  <a:solidFill>
                    <a:srgbClr val="FFFFFF"/>
                  </a:solidFill>
                  <a:latin typeface="Arial Bold"/>
                  <a:ea typeface="Arial Bold"/>
                  <a:cs typeface="Arial Bold"/>
                  <a:sym typeface="Arial Bold"/>
                </a:rPr>
                <a:t>ail</a:t>
              </a:r>
            </a:p>
          </p:txBody>
        </p:sp>
      </p:grpSp>
      <p:grpSp>
        <p:nvGrpSpPr>
          <p:cNvPr name="Group 56" id="56"/>
          <p:cNvGrpSpPr/>
          <p:nvPr/>
        </p:nvGrpSpPr>
        <p:grpSpPr>
          <a:xfrm rot="0">
            <a:off x="11155047" y="4920613"/>
            <a:ext cx="3237547" cy="2470451"/>
            <a:chOff x="0" y="0"/>
            <a:chExt cx="4316730" cy="3293935"/>
          </a:xfrm>
        </p:grpSpPr>
        <p:sp>
          <p:nvSpPr>
            <p:cNvPr name="Freeform 57" id="57"/>
            <p:cNvSpPr/>
            <p:nvPr/>
          </p:nvSpPr>
          <p:spPr>
            <a:xfrm flipH="false" flipV="false" rot="0">
              <a:off x="0" y="0"/>
              <a:ext cx="4316730" cy="3293935"/>
            </a:xfrm>
            <a:custGeom>
              <a:avLst/>
              <a:gdLst/>
              <a:ahLst/>
              <a:cxnLst/>
              <a:rect r="r" b="b" t="t" l="l"/>
              <a:pathLst>
                <a:path h="3293935" w="4316730">
                  <a:moveTo>
                    <a:pt x="0" y="0"/>
                  </a:moveTo>
                  <a:lnTo>
                    <a:pt x="4316730" y="0"/>
                  </a:lnTo>
                  <a:lnTo>
                    <a:pt x="4316730" y="3293935"/>
                  </a:lnTo>
                  <a:lnTo>
                    <a:pt x="0" y="3293935"/>
                  </a:lnTo>
                  <a:close/>
                </a:path>
              </a:pathLst>
            </a:custGeom>
            <a:solidFill>
              <a:srgbClr val="FFFFFF"/>
            </a:solidFill>
            <a:ln w="19050" cap="sq">
              <a:solidFill>
                <a:srgbClr val="94A3B8"/>
              </a:solidFill>
              <a:prstDash val="solid"/>
              <a:miter/>
            </a:ln>
          </p:spPr>
        </p:sp>
      </p:grpSp>
      <p:sp>
        <p:nvSpPr>
          <p:cNvPr name="AutoShape 58" id="58"/>
          <p:cNvSpPr/>
          <p:nvPr/>
        </p:nvSpPr>
        <p:spPr>
          <a:xfrm rot="983400">
            <a:off x="14700047" y="6391275"/>
            <a:ext cx="135026" cy="0"/>
          </a:xfrm>
          <a:prstGeom prst="line">
            <a:avLst/>
          </a:prstGeom>
          <a:ln cap="rnd" w="19050">
            <a:solidFill>
              <a:srgbClr val="64748B"/>
            </a:solidFill>
            <a:prstDash val="solid"/>
            <a:headEnd type="none" len="sm" w="sm"/>
            <a:tailEnd type="triangle" len="med" w="lg"/>
          </a:ln>
        </p:spPr>
      </p:sp>
      <p:grpSp>
        <p:nvGrpSpPr>
          <p:cNvPr name="Group 59" id="59"/>
          <p:cNvGrpSpPr/>
          <p:nvPr/>
        </p:nvGrpSpPr>
        <p:grpSpPr>
          <a:xfrm rot="0">
            <a:off x="15765291" y="2065020"/>
            <a:ext cx="1305563" cy="1305563"/>
            <a:chOff x="0" y="0"/>
            <a:chExt cx="1740751" cy="1740751"/>
          </a:xfrm>
        </p:grpSpPr>
        <p:sp>
          <p:nvSpPr>
            <p:cNvPr name="Freeform 60" id="60"/>
            <p:cNvSpPr/>
            <p:nvPr/>
          </p:nvSpPr>
          <p:spPr>
            <a:xfrm flipH="false" flipV="false" rot="0">
              <a:off x="0" y="0"/>
              <a:ext cx="1740662" cy="1740662"/>
            </a:xfrm>
            <a:custGeom>
              <a:avLst/>
              <a:gdLst/>
              <a:ahLst/>
              <a:cxnLst/>
              <a:rect r="r" b="b" t="t" l="l"/>
              <a:pathLst>
                <a:path h="1740662" w="1740662">
                  <a:moveTo>
                    <a:pt x="0" y="870331"/>
                  </a:moveTo>
                  <a:cubicBezTo>
                    <a:pt x="0" y="389636"/>
                    <a:pt x="389636" y="0"/>
                    <a:pt x="870331" y="0"/>
                  </a:cubicBezTo>
                  <a:cubicBezTo>
                    <a:pt x="1351026" y="0"/>
                    <a:pt x="1740662" y="389636"/>
                    <a:pt x="1740662" y="870331"/>
                  </a:cubicBezTo>
                  <a:cubicBezTo>
                    <a:pt x="1740662" y="1351026"/>
                    <a:pt x="1351026" y="1740662"/>
                    <a:pt x="870331" y="1740662"/>
                  </a:cubicBezTo>
                  <a:cubicBezTo>
                    <a:pt x="389636" y="1740662"/>
                    <a:pt x="0" y="1351026"/>
                    <a:pt x="0" y="870331"/>
                  </a:cubicBezTo>
                  <a:close/>
                </a:path>
              </a:pathLst>
            </a:custGeom>
            <a:solidFill>
              <a:srgbClr val="DC2626"/>
            </a:solidFill>
            <a:ln w="25400" cap="sq">
              <a:solidFill>
                <a:srgbClr val="DC2626"/>
              </a:solidFill>
              <a:prstDash val="solid"/>
              <a:miter/>
            </a:ln>
          </p:spPr>
        </p:sp>
      </p:grpSp>
      <p:grpSp>
        <p:nvGrpSpPr>
          <p:cNvPr name="Group 61" id="61"/>
          <p:cNvGrpSpPr/>
          <p:nvPr/>
        </p:nvGrpSpPr>
        <p:grpSpPr>
          <a:xfrm rot="0">
            <a:off x="15745777" y="2090423"/>
            <a:ext cx="1280160" cy="1280160"/>
            <a:chOff x="0" y="0"/>
            <a:chExt cx="1706880" cy="1706880"/>
          </a:xfrm>
        </p:grpSpPr>
        <p:sp>
          <p:nvSpPr>
            <p:cNvPr name="Freeform 62" id="62"/>
            <p:cNvSpPr/>
            <p:nvPr/>
          </p:nvSpPr>
          <p:spPr>
            <a:xfrm flipH="false" flipV="false" rot="0">
              <a:off x="0" y="0"/>
              <a:ext cx="1706880" cy="1706880"/>
            </a:xfrm>
            <a:custGeom>
              <a:avLst/>
              <a:gdLst/>
              <a:ahLst/>
              <a:cxnLst/>
              <a:rect r="r" b="b" t="t" l="l"/>
              <a:pathLst>
                <a:path h="1706880" w="1706880">
                  <a:moveTo>
                    <a:pt x="0" y="0"/>
                  </a:moveTo>
                  <a:lnTo>
                    <a:pt x="1706880" y="0"/>
                  </a:lnTo>
                  <a:lnTo>
                    <a:pt x="1706880" y="1706880"/>
                  </a:lnTo>
                  <a:lnTo>
                    <a:pt x="0" y="1706880"/>
                  </a:lnTo>
                  <a:close/>
                </a:path>
              </a:pathLst>
            </a:custGeom>
            <a:blipFill>
              <a:blip r:embed="rId3">
                <a:alphaModFix amt="0"/>
              </a:blip>
              <a:stretch>
                <a:fillRect l="-78303" t="0" r="-78303" b="0"/>
              </a:stretch>
            </a:blipFill>
          </p:spPr>
        </p:sp>
        <p:sp>
          <p:nvSpPr>
            <p:cNvPr name="TextBox 63" id="63"/>
            <p:cNvSpPr txBox="true"/>
            <p:nvPr/>
          </p:nvSpPr>
          <p:spPr>
            <a:xfrm>
              <a:off x="0" y="-19050"/>
              <a:ext cx="1706880" cy="1725930"/>
            </a:xfrm>
            <a:prstGeom prst="rect">
              <a:avLst/>
            </a:prstGeom>
          </p:spPr>
          <p:txBody>
            <a:bodyPr anchor="ctr" rtlCol="false" tIns="0" lIns="0" bIns="0" rIns="0"/>
            <a:lstStyle/>
            <a:p>
              <a:pPr algn="ctr">
                <a:lnSpc>
                  <a:spcPts val="5280"/>
                </a:lnSpc>
              </a:pPr>
              <a:r>
                <a:rPr lang="en-US" b="true" sz="4400">
                  <a:solidFill>
                    <a:srgbClr val="FFFFFF"/>
                  </a:solidFill>
                  <a:latin typeface="Arial Bold"/>
                  <a:ea typeface="Arial Bold"/>
                  <a:cs typeface="Arial Bold"/>
                  <a:sym typeface="Arial Bold"/>
                </a:rPr>
                <a:t>5</a:t>
              </a:r>
            </a:p>
          </p:txBody>
        </p:sp>
      </p:grpSp>
      <p:grpSp>
        <p:nvGrpSpPr>
          <p:cNvPr name="Group 64" id="64"/>
          <p:cNvGrpSpPr/>
          <p:nvPr/>
        </p:nvGrpSpPr>
        <p:grpSpPr>
          <a:xfrm rot="0">
            <a:off x="14667548" y="4088768"/>
            <a:ext cx="3436620" cy="831844"/>
            <a:chOff x="0" y="0"/>
            <a:chExt cx="4582160" cy="1109126"/>
          </a:xfrm>
        </p:grpSpPr>
        <p:sp>
          <p:nvSpPr>
            <p:cNvPr name="Freeform 65" id="65"/>
            <p:cNvSpPr/>
            <p:nvPr/>
          </p:nvSpPr>
          <p:spPr>
            <a:xfrm flipH="false" flipV="false" rot="0">
              <a:off x="0" y="0"/>
              <a:ext cx="4582198" cy="1109164"/>
            </a:xfrm>
            <a:custGeom>
              <a:avLst/>
              <a:gdLst/>
              <a:ahLst/>
              <a:cxnLst/>
              <a:rect r="r" b="b" t="t" l="l"/>
              <a:pathLst>
                <a:path h="1109164" w="4582198">
                  <a:moveTo>
                    <a:pt x="0" y="0"/>
                  </a:moveTo>
                  <a:lnTo>
                    <a:pt x="4582198" y="0"/>
                  </a:lnTo>
                  <a:lnTo>
                    <a:pt x="4582198" y="1109164"/>
                  </a:lnTo>
                  <a:lnTo>
                    <a:pt x="0" y="1109164"/>
                  </a:lnTo>
                  <a:close/>
                </a:path>
              </a:pathLst>
            </a:custGeom>
            <a:solidFill>
              <a:srgbClr val="DC2626"/>
            </a:solidFill>
            <a:ln w="25400" cap="sq">
              <a:solidFill>
                <a:srgbClr val="DC2626"/>
              </a:solidFill>
              <a:prstDash val="solid"/>
              <a:miter/>
            </a:ln>
          </p:spPr>
        </p:sp>
      </p:grpSp>
      <p:grpSp>
        <p:nvGrpSpPr>
          <p:cNvPr name="Group 66" id="66"/>
          <p:cNvGrpSpPr/>
          <p:nvPr/>
        </p:nvGrpSpPr>
        <p:grpSpPr>
          <a:xfrm rot="0">
            <a:off x="14967349" y="3964936"/>
            <a:ext cx="2901447" cy="914400"/>
            <a:chOff x="0" y="0"/>
            <a:chExt cx="3868596" cy="1219200"/>
          </a:xfrm>
        </p:grpSpPr>
        <p:sp>
          <p:nvSpPr>
            <p:cNvPr name="Freeform 67" id="67"/>
            <p:cNvSpPr/>
            <p:nvPr/>
          </p:nvSpPr>
          <p:spPr>
            <a:xfrm flipH="false" flipV="false" rot="0">
              <a:off x="0" y="0"/>
              <a:ext cx="3868596" cy="1219200"/>
            </a:xfrm>
            <a:custGeom>
              <a:avLst/>
              <a:gdLst/>
              <a:ahLst/>
              <a:cxnLst/>
              <a:rect r="r" b="b" t="t" l="l"/>
              <a:pathLst>
                <a:path h="1219200" w="3868596">
                  <a:moveTo>
                    <a:pt x="0" y="0"/>
                  </a:moveTo>
                  <a:lnTo>
                    <a:pt x="3868596" y="0"/>
                  </a:lnTo>
                  <a:lnTo>
                    <a:pt x="3868596" y="1219200"/>
                  </a:lnTo>
                  <a:lnTo>
                    <a:pt x="0" y="1219200"/>
                  </a:lnTo>
                  <a:close/>
                </a:path>
              </a:pathLst>
            </a:custGeom>
            <a:blipFill>
              <a:blip r:embed="rId3">
                <a:alphaModFix amt="0"/>
              </a:blip>
              <a:stretch>
                <a:fillRect l="0" t="-24043" r="-19758" b="-24043"/>
              </a:stretch>
            </a:blipFill>
          </p:spPr>
        </p:sp>
        <p:sp>
          <p:nvSpPr>
            <p:cNvPr name="TextBox 68" id="68"/>
            <p:cNvSpPr txBox="true"/>
            <p:nvPr/>
          </p:nvSpPr>
          <p:spPr>
            <a:xfrm>
              <a:off x="0" y="-19050"/>
              <a:ext cx="3868596" cy="1238250"/>
            </a:xfrm>
            <a:prstGeom prst="rect">
              <a:avLst/>
            </a:prstGeom>
          </p:spPr>
          <p:txBody>
            <a:bodyPr anchor="ctr" rtlCol="false" tIns="0" lIns="0" bIns="0" rIns="0"/>
            <a:lstStyle/>
            <a:p>
              <a:pPr algn="ctr">
                <a:lnSpc>
                  <a:spcPts val="2639"/>
                </a:lnSpc>
              </a:pPr>
              <a:r>
                <a:rPr lang="en-US" b="true" sz="2199">
                  <a:solidFill>
                    <a:srgbClr val="FFFFFF"/>
                  </a:solidFill>
                  <a:latin typeface="Arial Bold"/>
                  <a:ea typeface="Arial Bold"/>
                  <a:cs typeface="Arial Bold"/>
                  <a:sym typeface="Arial Bold"/>
                </a:rPr>
                <a:t>R</a:t>
              </a:r>
              <a:r>
                <a:rPr lang="en-US" b="true" sz="2199">
                  <a:solidFill>
                    <a:srgbClr val="FFFFFF"/>
                  </a:solidFill>
                  <a:latin typeface="Arial Bold"/>
                  <a:ea typeface="Arial Bold"/>
                  <a:cs typeface="Arial Bold"/>
                  <a:sym typeface="Arial Bold"/>
                </a:rPr>
                <a:t>apport</a:t>
              </a:r>
            </a:p>
          </p:txBody>
        </p:sp>
      </p:grpSp>
      <p:grpSp>
        <p:nvGrpSpPr>
          <p:cNvPr name="Group 69" id="69"/>
          <p:cNvGrpSpPr/>
          <p:nvPr/>
        </p:nvGrpSpPr>
        <p:grpSpPr>
          <a:xfrm rot="0">
            <a:off x="14667548" y="4879336"/>
            <a:ext cx="3446145" cy="2511728"/>
            <a:chOff x="0" y="0"/>
            <a:chExt cx="4594860" cy="3348970"/>
          </a:xfrm>
        </p:grpSpPr>
        <p:sp>
          <p:nvSpPr>
            <p:cNvPr name="Freeform 70" id="70"/>
            <p:cNvSpPr/>
            <p:nvPr/>
          </p:nvSpPr>
          <p:spPr>
            <a:xfrm flipH="false" flipV="false" rot="0">
              <a:off x="0" y="0"/>
              <a:ext cx="4594860" cy="3348970"/>
            </a:xfrm>
            <a:custGeom>
              <a:avLst/>
              <a:gdLst/>
              <a:ahLst/>
              <a:cxnLst/>
              <a:rect r="r" b="b" t="t" l="l"/>
              <a:pathLst>
                <a:path h="3348970" w="4594860">
                  <a:moveTo>
                    <a:pt x="0" y="0"/>
                  </a:moveTo>
                  <a:lnTo>
                    <a:pt x="4594860" y="0"/>
                  </a:lnTo>
                  <a:lnTo>
                    <a:pt x="4594860" y="3348970"/>
                  </a:lnTo>
                  <a:lnTo>
                    <a:pt x="0" y="3348970"/>
                  </a:lnTo>
                  <a:close/>
                </a:path>
              </a:pathLst>
            </a:custGeom>
            <a:solidFill>
              <a:srgbClr val="FFFFFF"/>
            </a:solidFill>
            <a:ln w="19050" cap="sq">
              <a:solidFill>
                <a:srgbClr val="94A3B8"/>
              </a:solidFill>
              <a:prstDash val="solid"/>
              <a:miter/>
            </a:ln>
          </p:spPr>
        </p:sp>
      </p:grpSp>
      <p:grpSp>
        <p:nvGrpSpPr>
          <p:cNvPr name="Group 71" id="71"/>
          <p:cNvGrpSpPr/>
          <p:nvPr/>
        </p:nvGrpSpPr>
        <p:grpSpPr>
          <a:xfrm rot="0">
            <a:off x="0" y="9784080"/>
            <a:ext cx="18288000" cy="457200"/>
            <a:chOff x="0" y="0"/>
            <a:chExt cx="24384000" cy="609600"/>
          </a:xfrm>
        </p:grpSpPr>
        <p:sp>
          <p:nvSpPr>
            <p:cNvPr name="Freeform 72" id="72"/>
            <p:cNvSpPr/>
            <p:nvPr/>
          </p:nvSpPr>
          <p:spPr>
            <a:xfrm flipH="false" flipV="false" rot="0">
              <a:off x="0" y="0"/>
              <a:ext cx="24384000" cy="609600"/>
            </a:xfrm>
            <a:custGeom>
              <a:avLst/>
              <a:gdLst/>
              <a:ahLst/>
              <a:cxnLst/>
              <a:rect r="r" b="b" t="t" l="l"/>
              <a:pathLst>
                <a:path h="609600" w="24384000">
                  <a:moveTo>
                    <a:pt x="0" y="0"/>
                  </a:moveTo>
                  <a:lnTo>
                    <a:pt x="24384000" y="0"/>
                  </a:lnTo>
                  <a:lnTo>
                    <a:pt x="24384000" y="609600"/>
                  </a:lnTo>
                  <a:lnTo>
                    <a:pt x="0" y="609600"/>
                  </a:lnTo>
                  <a:close/>
                </a:path>
              </a:pathLst>
            </a:custGeom>
            <a:blipFill>
              <a:blip r:embed="rId3">
                <a:alphaModFix amt="0"/>
              </a:blip>
              <a:stretch>
                <a:fillRect l="0" t="-729401" r="0" b="-729401"/>
              </a:stretch>
            </a:blipFill>
          </p:spPr>
        </p:sp>
        <p:sp>
          <p:nvSpPr>
            <p:cNvPr name="TextBox 73" id="73"/>
            <p:cNvSpPr txBox="true"/>
            <p:nvPr/>
          </p:nvSpPr>
          <p:spPr>
            <a:xfrm>
              <a:off x="0" y="-19050"/>
              <a:ext cx="24384000" cy="628650"/>
            </a:xfrm>
            <a:prstGeom prst="rect">
              <a:avLst/>
            </a:prstGeom>
          </p:spPr>
          <p:txBody>
            <a:bodyPr anchor="ctr" rtlCol="false" tIns="0" lIns="0" bIns="0" rIns="0"/>
            <a:lstStyle/>
            <a:p>
              <a:pPr algn="ctr">
                <a:lnSpc>
                  <a:spcPts val="2160"/>
                </a:lnSpc>
              </a:pPr>
              <a:r>
                <a:rPr lang="en-US" sz="1800" i="true">
                  <a:solidFill>
                    <a:srgbClr val="94A3B8"/>
                  </a:solidFill>
                  <a:latin typeface="Arial Italics"/>
                  <a:ea typeface="Arial Italics"/>
                  <a:cs typeface="Arial Italics"/>
                  <a:sym typeface="Arial Italics"/>
                </a:rPr>
                <a:t>CyberAudit &amp; Solutions · Tommy JOUHANS &amp; James ROUSSEL · 8/14</a:t>
              </a:r>
            </a:p>
          </p:txBody>
        </p:sp>
      </p:grpSp>
      <p:sp>
        <p:nvSpPr>
          <p:cNvPr name="Freeform 74" id="74"/>
          <p:cNvSpPr/>
          <p:nvPr/>
        </p:nvSpPr>
        <p:spPr>
          <a:xfrm flipH="false" flipV="false" rot="0">
            <a:off x="685182" y="7500477"/>
            <a:ext cx="2025181" cy="2025181"/>
          </a:xfrm>
          <a:custGeom>
            <a:avLst/>
            <a:gdLst/>
            <a:ahLst/>
            <a:cxnLst/>
            <a:rect r="r" b="b" t="t" l="l"/>
            <a:pathLst>
              <a:path h="2025181" w="2025181">
                <a:moveTo>
                  <a:pt x="0" y="0"/>
                </a:moveTo>
                <a:lnTo>
                  <a:pt x="2025181" y="0"/>
                </a:lnTo>
                <a:lnTo>
                  <a:pt x="2025181" y="2025181"/>
                </a:lnTo>
                <a:lnTo>
                  <a:pt x="0" y="2025181"/>
                </a:lnTo>
                <a:lnTo>
                  <a:pt x="0" y="0"/>
                </a:lnTo>
                <a:close/>
              </a:path>
            </a:pathLst>
          </a:custGeom>
          <a:blipFill>
            <a:blip r:embed="rId4"/>
            <a:stretch>
              <a:fillRect l="0" t="0" r="0" b="0"/>
            </a:stretch>
          </a:blipFill>
        </p:spPr>
      </p:sp>
      <p:sp>
        <p:nvSpPr>
          <p:cNvPr name="Freeform 75" id="75"/>
          <p:cNvSpPr/>
          <p:nvPr/>
        </p:nvSpPr>
        <p:spPr>
          <a:xfrm flipH="false" flipV="false" rot="0">
            <a:off x="4455009" y="7500477"/>
            <a:ext cx="2043263" cy="2025181"/>
          </a:xfrm>
          <a:custGeom>
            <a:avLst/>
            <a:gdLst/>
            <a:ahLst/>
            <a:cxnLst/>
            <a:rect r="r" b="b" t="t" l="l"/>
            <a:pathLst>
              <a:path h="2025181" w="2043263">
                <a:moveTo>
                  <a:pt x="0" y="0"/>
                </a:moveTo>
                <a:lnTo>
                  <a:pt x="2043264" y="0"/>
                </a:lnTo>
                <a:lnTo>
                  <a:pt x="2043264" y="2025181"/>
                </a:lnTo>
                <a:lnTo>
                  <a:pt x="0" y="2025181"/>
                </a:lnTo>
                <a:lnTo>
                  <a:pt x="0" y="0"/>
                </a:lnTo>
                <a:close/>
              </a:path>
            </a:pathLst>
          </a:custGeom>
          <a:blipFill>
            <a:blip r:embed="rId5"/>
            <a:stretch>
              <a:fillRect l="0" t="0" r="0" b="0"/>
            </a:stretch>
          </a:blipFill>
        </p:spPr>
      </p:sp>
      <p:sp>
        <p:nvSpPr>
          <p:cNvPr name="Freeform 76" id="76"/>
          <p:cNvSpPr/>
          <p:nvPr/>
        </p:nvSpPr>
        <p:spPr>
          <a:xfrm flipH="false" flipV="false" rot="0">
            <a:off x="8089153" y="7570593"/>
            <a:ext cx="1955065" cy="1955065"/>
          </a:xfrm>
          <a:custGeom>
            <a:avLst/>
            <a:gdLst/>
            <a:ahLst/>
            <a:cxnLst/>
            <a:rect r="r" b="b" t="t" l="l"/>
            <a:pathLst>
              <a:path h="1955065" w="1955065">
                <a:moveTo>
                  <a:pt x="0" y="0"/>
                </a:moveTo>
                <a:lnTo>
                  <a:pt x="1955064" y="0"/>
                </a:lnTo>
                <a:lnTo>
                  <a:pt x="1955064" y="1955065"/>
                </a:lnTo>
                <a:lnTo>
                  <a:pt x="0" y="1955065"/>
                </a:lnTo>
                <a:lnTo>
                  <a:pt x="0" y="0"/>
                </a:lnTo>
                <a:close/>
              </a:path>
            </a:pathLst>
          </a:custGeom>
          <a:blipFill>
            <a:blip r:embed="rId6"/>
            <a:stretch>
              <a:fillRect l="0" t="0" r="0" b="0"/>
            </a:stretch>
          </a:blipFill>
        </p:spPr>
      </p:sp>
      <p:sp>
        <p:nvSpPr>
          <p:cNvPr name="Freeform 77" id="77"/>
          <p:cNvSpPr/>
          <p:nvPr/>
        </p:nvSpPr>
        <p:spPr>
          <a:xfrm flipH="false" flipV="false" rot="0">
            <a:off x="11787292" y="7570593"/>
            <a:ext cx="1972521" cy="1955065"/>
          </a:xfrm>
          <a:custGeom>
            <a:avLst/>
            <a:gdLst/>
            <a:ahLst/>
            <a:cxnLst/>
            <a:rect r="r" b="b" t="t" l="l"/>
            <a:pathLst>
              <a:path h="1955065" w="1972521">
                <a:moveTo>
                  <a:pt x="0" y="0"/>
                </a:moveTo>
                <a:lnTo>
                  <a:pt x="1972521" y="0"/>
                </a:lnTo>
                <a:lnTo>
                  <a:pt x="1972521" y="1955065"/>
                </a:lnTo>
                <a:lnTo>
                  <a:pt x="0" y="1955065"/>
                </a:lnTo>
                <a:lnTo>
                  <a:pt x="0" y="0"/>
                </a:lnTo>
                <a:close/>
              </a:path>
            </a:pathLst>
          </a:custGeom>
          <a:blipFill>
            <a:blip r:embed="rId7"/>
            <a:stretch>
              <a:fillRect l="0" t="0" r="0" b="0"/>
            </a:stretch>
          </a:blipFill>
        </p:spPr>
      </p:sp>
      <p:sp>
        <p:nvSpPr>
          <p:cNvPr name="Freeform 78" id="78"/>
          <p:cNvSpPr/>
          <p:nvPr/>
        </p:nvSpPr>
        <p:spPr>
          <a:xfrm flipH="false" flipV="false" rot="0">
            <a:off x="15443590" y="7576693"/>
            <a:ext cx="1948965" cy="1948965"/>
          </a:xfrm>
          <a:custGeom>
            <a:avLst/>
            <a:gdLst/>
            <a:ahLst/>
            <a:cxnLst/>
            <a:rect r="r" b="b" t="t" l="l"/>
            <a:pathLst>
              <a:path h="1948965" w="1948965">
                <a:moveTo>
                  <a:pt x="0" y="0"/>
                </a:moveTo>
                <a:lnTo>
                  <a:pt x="1948965" y="0"/>
                </a:lnTo>
                <a:lnTo>
                  <a:pt x="1948965" y="1948965"/>
                </a:lnTo>
                <a:lnTo>
                  <a:pt x="0" y="1948965"/>
                </a:lnTo>
                <a:lnTo>
                  <a:pt x="0" y="0"/>
                </a:lnTo>
                <a:close/>
              </a:path>
            </a:pathLst>
          </a:custGeom>
          <a:blipFill>
            <a:blip r:embed="rId8"/>
            <a:stretch>
              <a:fillRect l="0" t="0" r="0" b="0"/>
            </a:stretch>
          </a:blipFill>
        </p:spPr>
      </p:sp>
      <p:sp>
        <p:nvSpPr>
          <p:cNvPr name="TextBox 79" id="79"/>
          <p:cNvSpPr txBox="true"/>
          <p:nvPr/>
        </p:nvSpPr>
        <p:spPr>
          <a:xfrm rot="0">
            <a:off x="342118" y="5669918"/>
            <a:ext cx="2956560" cy="1228725"/>
          </a:xfrm>
          <a:prstGeom prst="rect">
            <a:avLst/>
          </a:prstGeom>
        </p:spPr>
        <p:txBody>
          <a:bodyPr anchor="t" rtlCol="false" tIns="0" lIns="0" bIns="0" rIns="0">
            <a:spAutoFit/>
          </a:bodyPr>
          <a:lstStyle/>
          <a:p>
            <a:pPr algn="ctr">
              <a:lnSpc>
                <a:spcPts val="2400"/>
              </a:lnSpc>
            </a:pPr>
            <a:r>
              <a:rPr lang="en-US" b="true" sz="2000">
                <a:solidFill>
                  <a:srgbClr val="1E2761"/>
                </a:solidFill>
                <a:latin typeface="Arial Bold"/>
                <a:ea typeface="Arial Bold"/>
                <a:cs typeface="Arial Bold"/>
                <a:sym typeface="Arial Bold"/>
              </a:rPr>
              <a:t>P</a:t>
            </a:r>
            <a:r>
              <a:rPr lang="en-US" b="true" sz="2000">
                <a:solidFill>
                  <a:srgbClr val="1E2761"/>
                </a:solidFill>
                <a:latin typeface="Arial Bold"/>
                <a:ea typeface="Arial Bold"/>
                <a:cs typeface="Arial Bold"/>
                <a:sym typeface="Arial Bold"/>
              </a:rPr>
              <a:t>age publique : inscription ou connexion</a:t>
            </a:r>
          </a:p>
          <a:p>
            <a:pPr algn="ctr">
              <a:lnSpc>
                <a:spcPts val="2400"/>
              </a:lnSpc>
            </a:pPr>
          </a:p>
        </p:txBody>
      </p:sp>
      <p:sp>
        <p:nvSpPr>
          <p:cNvPr name="TextBox 80" id="80"/>
          <p:cNvSpPr txBox="true"/>
          <p:nvPr/>
        </p:nvSpPr>
        <p:spPr>
          <a:xfrm rot="0">
            <a:off x="3978763" y="5627049"/>
            <a:ext cx="3108960" cy="923925"/>
          </a:xfrm>
          <a:prstGeom prst="rect">
            <a:avLst/>
          </a:prstGeom>
        </p:spPr>
        <p:txBody>
          <a:bodyPr anchor="t" rtlCol="false" tIns="0" lIns="0" bIns="0" rIns="0">
            <a:spAutoFit/>
          </a:bodyPr>
          <a:lstStyle/>
          <a:p>
            <a:pPr algn="ctr">
              <a:lnSpc>
                <a:spcPts val="2400"/>
              </a:lnSpc>
            </a:pPr>
            <a:r>
              <a:rPr lang="en-US" sz="2000" b="true">
                <a:solidFill>
                  <a:srgbClr val="1E2761"/>
                </a:solidFill>
                <a:latin typeface="Arial Bold"/>
                <a:ea typeface="Arial Bold"/>
                <a:cs typeface="Arial Bold"/>
                <a:sym typeface="Arial Bold"/>
              </a:rPr>
              <a:t>Liste des demandes, statut coloré</a:t>
            </a:r>
          </a:p>
          <a:p>
            <a:pPr algn="ctr">
              <a:lnSpc>
                <a:spcPts val="2400"/>
              </a:lnSpc>
            </a:pPr>
          </a:p>
        </p:txBody>
      </p:sp>
      <p:sp>
        <p:nvSpPr>
          <p:cNvPr name="TextBox 81" id="81"/>
          <p:cNvSpPr txBox="true"/>
          <p:nvPr/>
        </p:nvSpPr>
        <p:spPr>
          <a:xfrm rot="0">
            <a:off x="7653508" y="5660393"/>
            <a:ext cx="3108960" cy="923925"/>
          </a:xfrm>
          <a:prstGeom prst="rect">
            <a:avLst/>
          </a:prstGeom>
        </p:spPr>
        <p:txBody>
          <a:bodyPr anchor="t" rtlCol="false" tIns="0" lIns="0" bIns="0" rIns="0">
            <a:spAutoFit/>
          </a:bodyPr>
          <a:lstStyle/>
          <a:p>
            <a:pPr algn="ctr">
              <a:lnSpc>
                <a:spcPts val="2400"/>
              </a:lnSpc>
            </a:pPr>
            <a:r>
              <a:rPr lang="en-US" sz="2000" b="true">
                <a:solidFill>
                  <a:srgbClr val="1E2761"/>
                </a:solidFill>
                <a:latin typeface="Arial Bold"/>
                <a:ea typeface="Arial Bold"/>
                <a:cs typeface="Arial Bold"/>
                <a:sym typeface="Arial Bold"/>
              </a:rPr>
              <a:t>Choix de la formule, notes de périmètre</a:t>
            </a:r>
          </a:p>
          <a:p>
            <a:pPr algn="ctr">
              <a:lnSpc>
                <a:spcPts val="2400"/>
              </a:lnSpc>
            </a:pPr>
          </a:p>
        </p:txBody>
      </p:sp>
      <p:sp>
        <p:nvSpPr>
          <p:cNvPr name="TextBox 82" id="82"/>
          <p:cNvSpPr txBox="true"/>
          <p:nvPr/>
        </p:nvSpPr>
        <p:spPr>
          <a:xfrm rot="0">
            <a:off x="11223467" y="5744679"/>
            <a:ext cx="3108960" cy="923925"/>
          </a:xfrm>
          <a:prstGeom prst="rect">
            <a:avLst/>
          </a:prstGeom>
        </p:spPr>
        <p:txBody>
          <a:bodyPr anchor="t" rtlCol="false" tIns="0" lIns="0" bIns="0" rIns="0">
            <a:spAutoFit/>
          </a:bodyPr>
          <a:lstStyle/>
          <a:p>
            <a:pPr algn="ctr">
              <a:lnSpc>
                <a:spcPts val="2400"/>
              </a:lnSpc>
            </a:pPr>
            <a:r>
              <a:rPr lang="en-US" b="true" sz="2000">
                <a:solidFill>
                  <a:srgbClr val="1E2761"/>
                </a:solidFill>
                <a:latin typeface="Arial Bold"/>
                <a:ea typeface="Arial Bold"/>
                <a:cs typeface="Arial Bold"/>
                <a:sym typeface="Arial Bold"/>
              </a:rPr>
              <a:t>Hi</a:t>
            </a:r>
            <a:r>
              <a:rPr lang="en-US" b="true" sz="2000">
                <a:solidFill>
                  <a:srgbClr val="1E2761"/>
                </a:solidFill>
                <a:latin typeface="Arial Bold"/>
                <a:ea typeface="Arial Bold"/>
                <a:cs typeface="Arial Bold"/>
                <a:sym typeface="Arial Bold"/>
              </a:rPr>
              <a:t>storique et statut en temps réel</a:t>
            </a:r>
          </a:p>
          <a:p>
            <a:pPr algn="ctr">
              <a:lnSpc>
                <a:spcPts val="2400"/>
              </a:lnSpc>
            </a:pPr>
          </a:p>
        </p:txBody>
      </p:sp>
      <p:sp>
        <p:nvSpPr>
          <p:cNvPr name="TextBox 83" id="83"/>
          <p:cNvSpPr txBox="true"/>
          <p:nvPr/>
        </p:nvSpPr>
        <p:spPr>
          <a:xfrm rot="0">
            <a:off x="15311267" y="5660393"/>
            <a:ext cx="2259160" cy="923925"/>
          </a:xfrm>
          <a:prstGeom prst="rect">
            <a:avLst/>
          </a:prstGeom>
        </p:spPr>
        <p:txBody>
          <a:bodyPr anchor="t" rtlCol="false" tIns="0" lIns="0" bIns="0" rIns="0">
            <a:spAutoFit/>
          </a:bodyPr>
          <a:lstStyle/>
          <a:p>
            <a:pPr algn="ctr">
              <a:lnSpc>
                <a:spcPts val="2400"/>
              </a:lnSpc>
            </a:pPr>
            <a:r>
              <a:rPr lang="en-US" b="true" sz="2000">
                <a:solidFill>
                  <a:srgbClr val="1E2761"/>
                </a:solidFill>
                <a:latin typeface="Arial Bold"/>
                <a:ea typeface="Arial Bold"/>
                <a:cs typeface="Arial Bold"/>
                <a:sym typeface="Arial Bold"/>
              </a:rPr>
              <a:t>Té</a:t>
            </a:r>
            <a:r>
              <a:rPr lang="en-US" b="true" sz="2000">
                <a:solidFill>
                  <a:srgbClr val="1E2761"/>
                </a:solidFill>
                <a:latin typeface="Arial Bold"/>
                <a:ea typeface="Arial Bold"/>
                <a:cs typeface="Arial Bold"/>
                <a:sym typeface="Arial Bold"/>
              </a:rPr>
              <a:t>léchargement une fois généré</a:t>
            </a:r>
          </a:p>
          <a:p>
            <a:pPr algn="ctr">
              <a:lnSpc>
                <a:spcPts val="2400"/>
              </a:lnSpc>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1E2761"/>
        </a:solidFill>
      </p:bgPr>
    </p:bg>
    <p:spTree>
      <p:nvGrpSpPr>
        <p:cNvPr id="1" name=""/>
        <p:cNvGrpSpPr/>
        <p:nvPr/>
      </p:nvGrpSpPr>
      <p:grpSpPr>
        <a:xfrm>
          <a:off x="0" y="0"/>
          <a:ext cx="0" cy="0"/>
          <a:chOff x="0" y="0"/>
          <a:chExt cx="0" cy="0"/>
        </a:xfrm>
      </p:grpSpPr>
      <p:grpSp>
        <p:nvGrpSpPr>
          <p:cNvPr name="Group 2" id="2"/>
          <p:cNvGrpSpPr/>
          <p:nvPr/>
        </p:nvGrpSpPr>
        <p:grpSpPr>
          <a:xfrm rot="0">
            <a:off x="0" y="457200"/>
            <a:ext cx="18288000" cy="1155055"/>
            <a:chOff x="0" y="0"/>
            <a:chExt cx="24384000" cy="1540074"/>
          </a:xfrm>
        </p:grpSpPr>
        <p:sp>
          <p:nvSpPr>
            <p:cNvPr name="Freeform 3" id="3"/>
            <p:cNvSpPr/>
            <p:nvPr/>
          </p:nvSpPr>
          <p:spPr>
            <a:xfrm flipH="false" flipV="false" rot="0">
              <a:off x="0" y="0"/>
              <a:ext cx="24384000" cy="1540074"/>
            </a:xfrm>
            <a:custGeom>
              <a:avLst/>
              <a:gdLst/>
              <a:ahLst/>
              <a:cxnLst/>
              <a:rect r="r" b="b" t="t" l="l"/>
              <a:pathLst>
                <a:path h="1540074" w="24384000">
                  <a:moveTo>
                    <a:pt x="0" y="0"/>
                  </a:moveTo>
                  <a:lnTo>
                    <a:pt x="24384000" y="0"/>
                  </a:lnTo>
                  <a:lnTo>
                    <a:pt x="24384000" y="1540074"/>
                  </a:lnTo>
                  <a:lnTo>
                    <a:pt x="0" y="1540074"/>
                  </a:lnTo>
                  <a:close/>
                </a:path>
              </a:pathLst>
            </a:custGeom>
            <a:blipFill>
              <a:blip r:embed="rId3">
                <a:alphaModFix amt="0"/>
              </a:blip>
              <a:stretch>
                <a:fillRect l="0" t="-264966" r="0" b="-252047"/>
              </a:stretch>
            </a:blipFill>
          </p:spPr>
        </p:sp>
        <p:sp>
          <p:nvSpPr>
            <p:cNvPr name="TextBox 4" id="4"/>
            <p:cNvSpPr txBox="true"/>
            <p:nvPr/>
          </p:nvSpPr>
          <p:spPr>
            <a:xfrm>
              <a:off x="0" y="-38100"/>
              <a:ext cx="24384000" cy="1578174"/>
            </a:xfrm>
            <a:prstGeom prst="rect">
              <a:avLst/>
            </a:prstGeom>
          </p:spPr>
          <p:txBody>
            <a:bodyPr anchor="ctr" rtlCol="false" tIns="0" lIns="0" bIns="0" rIns="0"/>
            <a:lstStyle/>
            <a:p>
              <a:pPr algn="ctr">
                <a:lnSpc>
                  <a:spcPts val="6720"/>
                </a:lnSpc>
              </a:pPr>
              <a:r>
                <a:rPr lang="en-US" b="true" sz="5600">
                  <a:solidFill>
                    <a:srgbClr val="FFFFFF"/>
                  </a:solidFill>
                  <a:latin typeface="Arial Bold"/>
                  <a:ea typeface="Arial Bold"/>
                  <a:cs typeface="Arial Bold"/>
                  <a:sym typeface="Arial Bold"/>
                </a:rPr>
                <a:t>Vue opérateur </a:t>
              </a:r>
              <a:r>
                <a:rPr lang="en-US" b="true" sz="5600">
                  <a:solidFill>
                    <a:srgbClr val="FFFFFF"/>
                  </a:solidFill>
                  <a:latin typeface="Arial Bold"/>
                  <a:ea typeface="Arial Bold"/>
                  <a:cs typeface="Arial Bold"/>
                  <a:sym typeface="Arial Bold"/>
                </a:rPr>
                <a:t>du portail d'administration</a:t>
              </a:r>
            </a:p>
          </p:txBody>
        </p:sp>
      </p:grpSp>
      <p:grpSp>
        <p:nvGrpSpPr>
          <p:cNvPr name="Group 5" id="5"/>
          <p:cNvGrpSpPr/>
          <p:nvPr/>
        </p:nvGrpSpPr>
        <p:grpSpPr>
          <a:xfrm rot="0">
            <a:off x="2240280" y="2834640"/>
            <a:ext cx="3566160" cy="914400"/>
            <a:chOff x="0" y="0"/>
            <a:chExt cx="4754880" cy="1219200"/>
          </a:xfrm>
        </p:grpSpPr>
        <p:sp>
          <p:nvSpPr>
            <p:cNvPr name="Freeform 6" id="6"/>
            <p:cNvSpPr/>
            <p:nvPr/>
          </p:nvSpPr>
          <p:spPr>
            <a:xfrm flipH="false" flipV="false" rot="0">
              <a:off x="0" y="0"/>
              <a:ext cx="4754880" cy="1219200"/>
            </a:xfrm>
            <a:custGeom>
              <a:avLst/>
              <a:gdLst/>
              <a:ahLst/>
              <a:cxnLst/>
              <a:rect r="r" b="b" t="t" l="l"/>
              <a:pathLst>
                <a:path h="1219200" w="4754880">
                  <a:moveTo>
                    <a:pt x="0" y="0"/>
                  </a:moveTo>
                  <a:lnTo>
                    <a:pt x="4754880" y="0"/>
                  </a:lnTo>
                  <a:lnTo>
                    <a:pt x="4754880" y="1219200"/>
                  </a:lnTo>
                  <a:lnTo>
                    <a:pt x="0" y="1219200"/>
                  </a:lnTo>
                  <a:close/>
                </a:path>
              </a:pathLst>
            </a:custGeom>
            <a:blipFill>
              <a:blip r:embed="rId3">
                <a:alphaModFix amt="0"/>
              </a:blip>
              <a:stretch>
                <a:fillRect l="0" t="-25991" r="0" b="-25991"/>
              </a:stretch>
            </a:blipFill>
          </p:spPr>
        </p:sp>
        <p:sp>
          <p:nvSpPr>
            <p:cNvPr name="TextBox 7" id="7"/>
            <p:cNvSpPr txBox="true"/>
            <p:nvPr/>
          </p:nvSpPr>
          <p:spPr>
            <a:xfrm>
              <a:off x="0" y="-19050"/>
              <a:ext cx="4754880" cy="1238250"/>
            </a:xfrm>
            <a:prstGeom prst="rect">
              <a:avLst/>
            </a:prstGeom>
          </p:spPr>
          <p:txBody>
            <a:bodyPr anchor="ctr" rtlCol="false" tIns="0" lIns="0" bIns="0" rIns="0"/>
            <a:lstStyle/>
            <a:p>
              <a:pPr algn="l">
                <a:lnSpc>
                  <a:spcPts val="3120"/>
                </a:lnSpc>
              </a:pPr>
              <a:r>
                <a:rPr lang="en-US" b="true" sz="2600">
                  <a:solidFill>
                    <a:srgbClr val="1E2761"/>
                  </a:solidFill>
                  <a:latin typeface="Arial Bold"/>
                  <a:ea typeface="Arial Bold"/>
                  <a:cs typeface="Arial Bold"/>
                  <a:sym typeface="Arial Bold"/>
                </a:rPr>
                <a:t>Dashboard KPIs</a:t>
              </a:r>
            </a:p>
          </p:txBody>
        </p:sp>
      </p:grpSp>
      <p:grpSp>
        <p:nvGrpSpPr>
          <p:cNvPr name="Group 8" id="8"/>
          <p:cNvGrpSpPr/>
          <p:nvPr/>
        </p:nvGrpSpPr>
        <p:grpSpPr>
          <a:xfrm rot="0">
            <a:off x="7909560" y="2834640"/>
            <a:ext cx="3566160" cy="914400"/>
            <a:chOff x="0" y="0"/>
            <a:chExt cx="4754880" cy="1219200"/>
          </a:xfrm>
        </p:grpSpPr>
        <p:sp>
          <p:nvSpPr>
            <p:cNvPr name="Freeform 9" id="9"/>
            <p:cNvSpPr/>
            <p:nvPr/>
          </p:nvSpPr>
          <p:spPr>
            <a:xfrm flipH="false" flipV="false" rot="0">
              <a:off x="0" y="0"/>
              <a:ext cx="4754880" cy="1219200"/>
            </a:xfrm>
            <a:custGeom>
              <a:avLst/>
              <a:gdLst/>
              <a:ahLst/>
              <a:cxnLst/>
              <a:rect r="r" b="b" t="t" l="l"/>
              <a:pathLst>
                <a:path h="1219200" w="4754880">
                  <a:moveTo>
                    <a:pt x="0" y="0"/>
                  </a:moveTo>
                  <a:lnTo>
                    <a:pt x="4754880" y="0"/>
                  </a:lnTo>
                  <a:lnTo>
                    <a:pt x="4754880" y="1219200"/>
                  </a:lnTo>
                  <a:lnTo>
                    <a:pt x="0" y="1219200"/>
                  </a:lnTo>
                  <a:close/>
                </a:path>
              </a:pathLst>
            </a:custGeom>
            <a:blipFill>
              <a:blip r:embed="rId3">
                <a:alphaModFix amt="0"/>
              </a:blip>
              <a:stretch>
                <a:fillRect l="0" t="-25991" r="0" b="-25991"/>
              </a:stretch>
            </a:blipFill>
          </p:spPr>
        </p:sp>
        <p:sp>
          <p:nvSpPr>
            <p:cNvPr name="TextBox 10" id="10"/>
            <p:cNvSpPr txBox="true"/>
            <p:nvPr/>
          </p:nvSpPr>
          <p:spPr>
            <a:xfrm>
              <a:off x="0" y="-19050"/>
              <a:ext cx="4754880" cy="1238250"/>
            </a:xfrm>
            <a:prstGeom prst="rect">
              <a:avLst/>
            </a:prstGeom>
          </p:spPr>
          <p:txBody>
            <a:bodyPr anchor="ctr" rtlCol="false" tIns="0" lIns="0" bIns="0" rIns="0"/>
            <a:lstStyle/>
            <a:p>
              <a:pPr algn="l">
                <a:lnSpc>
                  <a:spcPts val="3120"/>
                </a:lnSpc>
              </a:pPr>
              <a:r>
                <a:rPr lang="en-US" b="true" sz="2600">
                  <a:solidFill>
                    <a:srgbClr val="1E2761"/>
                  </a:solidFill>
                  <a:latin typeface="Arial Bold"/>
                  <a:ea typeface="Arial Bold"/>
                  <a:cs typeface="Arial Bold"/>
                  <a:sym typeface="Arial Bold"/>
                </a:rPr>
                <a:t>Request Management</a:t>
              </a:r>
            </a:p>
          </p:txBody>
        </p:sp>
      </p:grpSp>
      <p:grpSp>
        <p:nvGrpSpPr>
          <p:cNvPr name="Group 11" id="11"/>
          <p:cNvGrpSpPr/>
          <p:nvPr/>
        </p:nvGrpSpPr>
        <p:grpSpPr>
          <a:xfrm rot="0">
            <a:off x="13578840" y="2834640"/>
            <a:ext cx="3566160" cy="914400"/>
            <a:chOff x="0" y="0"/>
            <a:chExt cx="4754880" cy="1219200"/>
          </a:xfrm>
        </p:grpSpPr>
        <p:sp>
          <p:nvSpPr>
            <p:cNvPr name="Freeform 12" id="12"/>
            <p:cNvSpPr/>
            <p:nvPr/>
          </p:nvSpPr>
          <p:spPr>
            <a:xfrm flipH="false" flipV="false" rot="0">
              <a:off x="0" y="0"/>
              <a:ext cx="4754880" cy="1219200"/>
            </a:xfrm>
            <a:custGeom>
              <a:avLst/>
              <a:gdLst/>
              <a:ahLst/>
              <a:cxnLst/>
              <a:rect r="r" b="b" t="t" l="l"/>
              <a:pathLst>
                <a:path h="1219200" w="4754880">
                  <a:moveTo>
                    <a:pt x="0" y="0"/>
                  </a:moveTo>
                  <a:lnTo>
                    <a:pt x="4754880" y="0"/>
                  </a:lnTo>
                  <a:lnTo>
                    <a:pt x="4754880" y="1219200"/>
                  </a:lnTo>
                  <a:lnTo>
                    <a:pt x="0" y="1219200"/>
                  </a:lnTo>
                  <a:close/>
                </a:path>
              </a:pathLst>
            </a:custGeom>
            <a:blipFill>
              <a:blip r:embed="rId3">
                <a:alphaModFix amt="0"/>
              </a:blip>
              <a:stretch>
                <a:fillRect l="0" t="-25991" r="0" b="-25991"/>
              </a:stretch>
            </a:blipFill>
          </p:spPr>
        </p:sp>
        <p:sp>
          <p:nvSpPr>
            <p:cNvPr name="TextBox 13" id="13"/>
            <p:cNvSpPr txBox="true"/>
            <p:nvPr/>
          </p:nvSpPr>
          <p:spPr>
            <a:xfrm>
              <a:off x="0" y="-19050"/>
              <a:ext cx="4754880" cy="1238250"/>
            </a:xfrm>
            <a:prstGeom prst="rect">
              <a:avLst/>
            </a:prstGeom>
          </p:spPr>
          <p:txBody>
            <a:bodyPr anchor="ctr" rtlCol="false" tIns="0" lIns="0" bIns="0" rIns="0"/>
            <a:lstStyle/>
            <a:p>
              <a:pPr algn="l">
                <a:lnSpc>
                  <a:spcPts val="3120"/>
                </a:lnSpc>
              </a:pPr>
              <a:r>
                <a:rPr lang="en-US" b="true" sz="2600">
                  <a:solidFill>
                    <a:srgbClr val="1E2761"/>
                  </a:solidFill>
                  <a:latin typeface="Arial Bold"/>
                  <a:ea typeface="Arial Bold"/>
                  <a:cs typeface="Arial Bold"/>
                  <a:sym typeface="Arial Bold"/>
                </a:rPr>
                <a:t>Client Notifications</a:t>
              </a:r>
            </a:p>
          </p:txBody>
        </p:sp>
      </p:grpSp>
      <p:grpSp>
        <p:nvGrpSpPr>
          <p:cNvPr name="Group 14" id="14"/>
          <p:cNvGrpSpPr/>
          <p:nvPr/>
        </p:nvGrpSpPr>
        <p:grpSpPr>
          <a:xfrm rot="0">
            <a:off x="13578840" y="5943600"/>
            <a:ext cx="3566160" cy="914400"/>
            <a:chOff x="0" y="0"/>
            <a:chExt cx="4754880" cy="1219200"/>
          </a:xfrm>
        </p:grpSpPr>
        <p:sp>
          <p:nvSpPr>
            <p:cNvPr name="Freeform 15" id="15"/>
            <p:cNvSpPr/>
            <p:nvPr/>
          </p:nvSpPr>
          <p:spPr>
            <a:xfrm flipH="false" flipV="false" rot="0">
              <a:off x="0" y="0"/>
              <a:ext cx="4754880" cy="1219200"/>
            </a:xfrm>
            <a:custGeom>
              <a:avLst/>
              <a:gdLst/>
              <a:ahLst/>
              <a:cxnLst/>
              <a:rect r="r" b="b" t="t" l="l"/>
              <a:pathLst>
                <a:path h="1219200" w="4754880">
                  <a:moveTo>
                    <a:pt x="0" y="0"/>
                  </a:moveTo>
                  <a:lnTo>
                    <a:pt x="4754880" y="0"/>
                  </a:lnTo>
                  <a:lnTo>
                    <a:pt x="4754880" y="1219200"/>
                  </a:lnTo>
                  <a:lnTo>
                    <a:pt x="0" y="1219200"/>
                  </a:lnTo>
                  <a:close/>
                </a:path>
              </a:pathLst>
            </a:custGeom>
            <a:blipFill>
              <a:blip r:embed="rId3">
                <a:alphaModFix amt="0"/>
              </a:blip>
              <a:stretch>
                <a:fillRect l="0" t="-25991" r="0" b="-25991"/>
              </a:stretch>
            </a:blipFill>
          </p:spPr>
        </p:sp>
        <p:sp>
          <p:nvSpPr>
            <p:cNvPr name="TextBox 16" id="16"/>
            <p:cNvSpPr txBox="true"/>
            <p:nvPr/>
          </p:nvSpPr>
          <p:spPr>
            <a:xfrm>
              <a:off x="0" y="-19050"/>
              <a:ext cx="4754880" cy="1238250"/>
            </a:xfrm>
            <a:prstGeom prst="rect">
              <a:avLst/>
            </a:prstGeom>
          </p:spPr>
          <p:txBody>
            <a:bodyPr anchor="ctr" rtlCol="false" tIns="0" lIns="0" bIns="0" rIns="0"/>
            <a:lstStyle/>
            <a:p>
              <a:pPr algn="l">
                <a:lnSpc>
                  <a:spcPts val="3120"/>
                </a:lnSpc>
              </a:pPr>
              <a:r>
                <a:rPr lang="en-US" b="true" sz="2600">
                  <a:solidFill>
                    <a:srgbClr val="1E2761"/>
                  </a:solidFill>
                  <a:latin typeface="Arial Bold"/>
                  <a:ea typeface="Arial Bold"/>
                  <a:cs typeface="Arial Bold"/>
                  <a:sym typeface="Arial Bold"/>
                </a:rPr>
                <a:t>Role-Based Access</a:t>
              </a:r>
            </a:p>
          </p:txBody>
        </p:sp>
      </p:grpSp>
      <p:sp>
        <p:nvSpPr>
          <p:cNvPr name="Freeform 17" id="17"/>
          <p:cNvSpPr/>
          <p:nvPr/>
        </p:nvSpPr>
        <p:spPr>
          <a:xfrm flipH="false" flipV="false" rot="0">
            <a:off x="356162" y="2046206"/>
            <a:ext cx="17726466" cy="8010147"/>
          </a:xfrm>
          <a:custGeom>
            <a:avLst/>
            <a:gdLst/>
            <a:ahLst/>
            <a:cxnLst/>
            <a:rect r="r" b="b" t="t" l="l"/>
            <a:pathLst>
              <a:path h="8010147" w="17726466">
                <a:moveTo>
                  <a:pt x="0" y="0"/>
                </a:moveTo>
                <a:lnTo>
                  <a:pt x="17726466" y="0"/>
                </a:lnTo>
                <a:lnTo>
                  <a:pt x="17726466" y="8010146"/>
                </a:lnTo>
                <a:lnTo>
                  <a:pt x="0" y="8010146"/>
                </a:lnTo>
                <a:lnTo>
                  <a:pt x="0" y="0"/>
                </a:lnTo>
                <a:close/>
              </a:path>
            </a:pathLst>
          </a:custGeom>
          <a:blipFill>
            <a:blip r:embed="rId4"/>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1E2761"/>
        </a:solidFill>
      </p:bgPr>
    </p:bg>
    <p:spTree>
      <p:nvGrpSpPr>
        <p:cNvPr id="1" name=""/>
        <p:cNvGrpSpPr/>
        <p:nvPr/>
      </p:nvGrpSpPr>
      <p:grpSpPr>
        <a:xfrm>
          <a:off x="0" y="0"/>
          <a:ext cx="0" cy="0"/>
          <a:chOff x="0" y="0"/>
          <a:chExt cx="0" cy="0"/>
        </a:xfrm>
      </p:grpSpPr>
      <p:grpSp>
        <p:nvGrpSpPr>
          <p:cNvPr name="Group 2" id="2"/>
          <p:cNvGrpSpPr/>
          <p:nvPr/>
        </p:nvGrpSpPr>
        <p:grpSpPr>
          <a:xfrm rot="0">
            <a:off x="0" y="548640"/>
            <a:ext cx="18288000" cy="1075953"/>
            <a:chOff x="0" y="0"/>
            <a:chExt cx="24384000" cy="1434604"/>
          </a:xfrm>
        </p:grpSpPr>
        <p:sp>
          <p:nvSpPr>
            <p:cNvPr name="Freeform 3" id="3"/>
            <p:cNvSpPr/>
            <p:nvPr/>
          </p:nvSpPr>
          <p:spPr>
            <a:xfrm flipH="false" flipV="false" rot="0">
              <a:off x="0" y="0"/>
              <a:ext cx="24384000" cy="1434604"/>
            </a:xfrm>
            <a:custGeom>
              <a:avLst/>
              <a:gdLst/>
              <a:ahLst/>
              <a:cxnLst/>
              <a:rect r="r" b="b" t="t" l="l"/>
              <a:pathLst>
                <a:path h="1434604" w="24384000">
                  <a:moveTo>
                    <a:pt x="0" y="0"/>
                  </a:moveTo>
                  <a:lnTo>
                    <a:pt x="24384000" y="0"/>
                  </a:lnTo>
                  <a:lnTo>
                    <a:pt x="24384000" y="1434604"/>
                  </a:lnTo>
                  <a:lnTo>
                    <a:pt x="0" y="1434604"/>
                  </a:lnTo>
                  <a:close/>
                </a:path>
              </a:pathLst>
            </a:custGeom>
            <a:blipFill>
              <a:blip r:embed="rId3">
                <a:alphaModFix amt="0"/>
              </a:blip>
              <a:stretch>
                <a:fillRect l="0" t="-284445" r="0" b="-277929"/>
              </a:stretch>
            </a:blipFill>
          </p:spPr>
        </p:sp>
        <p:sp>
          <p:nvSpPr>
            <p:cNvPr name="TextBox 4" id="4"/>
            <p:cNvSpPr txBox="true"/>
            <p:nvPr/>
          </p:nvSpPr>
          <p:spPr>
            <a:xfrm>
              <a:off x="0" y="-19050"/>
              <a:ext cx="24384000" cy="1453654"/>
            </a:xfrm>
            <a:prstGeom prst="rect">
              <a:avLst/>
            </a:prstGeom>
          </p:spPr>
          <p:txBody>
            <a:bodyPr anchor="ctr" rtlCol="false" tIns="0" lIns="0" bIns="0" rIns="0"/>
            <a:lstStyle/>
            <a:p>
              <a:pPr algn="ctr">
                <a:lnSpc>
                  <a:spcPts val="6239"/>
                </a:lnSpc>
              </a:pPr>
              <a:r>
                <a:rPr lang="en-US" b="true" sz="5199">
                  <a:solidFill>
                    <a:srgbClr val="FFFFFF"/>
                  </a:solidFill>
                  <a:latin typeface="Arial Bold"/>
                  <a:ea typeface="Arial Bold"/>
                  <a:cs typeface="Arial Bold"/>
                  <a:sym typeface="Arial Bold"/>
                </a:rPr>
                <a:t>Déploiement et infrastructure</a:t>
              </a:r>
            </a:p>
          </p:txBody>
        </p:sp>
      </p:grpSp>
      <p:grpSp>
        <p:nvGrpSpPr>
          <p:cNvPr name="Group 5" id="5"/>
          <p:cNvGrpSpPr/>
          <p:nvPr/>
        </p:nvGrpSpPr>
        <p:grpSpPr>
          <a:xfrm rot="0">
            <a:off x="914400" y="1645920"/>
            <a:ext cx="16459200" cy="719361"/>
            <a:chOff x="0" y="0"/>
            <a:chExt cx="21945600" cy="959148"/>
          </a:xfrm>
        </p:grpSpPr>
        <p:sp>
          <p:nvSpPr>
            <p:cNvPr name="Freeform 6" id="6"/>
            <p:cNvSpPr/>
            <p:nvPr/>
          </p:nvSpPr>
          <p:spPr>
            <a:xfrm flipH="false" flipV="false" rot="0">
              <a:off x="0" y="0"/>
              <a:ext cx="21945600" cy="959148"/>
            </a:xfrm>
            <a:custGeom>
              <a:avLst/>
              <a:gdLst/>
              <a:ahLst/>
              <a:cxnLst/>
              <a:rect r="r" b="b" t="t" l="l"/>
              <a:pathLst>
                <a:path h="959148" w="21945600">
                  <a:moveTo>
                    <a:pt x="0" y="0"/>
                  </a:moveTo>
                  <a:lnTo>
                    <a:pt x="21945600" y="0"/>
                  </a:lnTo>
                  <a:lnTo>
                    <a:pt x="21945600" y="959148"/>
                  </a:lnTo>
                  <a:lnTo>
                    <a:pt x="0" y="959148"/>
                  </a:lnTo>
                  <a:close/>
                </a:path>
              </a:pathLst>
            </a:custGeom>
            <a:blipFill>
              <a:blip r:embed="rId3">
                <a:alphaModFix amt="0"/>
              </a:blip>
              <a:stretch>
                <a:fillRect l="0" t="-407689" r="0" b="-383957"/>
              </a:stretch>
            </a:blipFill>
          </p:spPr>
        </p:sp>
        <p:sp>
          <p:nvSpPr>
            <p:cNvPr name="TextBox 7" id="7"/>
            <p:cNvSpPr txBox="true"/>
            <p:nvPr/>
          </p:nvSpPr>
          <p:spPr>
            <a:xfrm>
              <a:off x="0" y="-9525"/>
              <a:ext cx="21945600" cy="968673"/>
            </a:xfrm>
            <a:prstGeom prst="rect">
              <a:avLst/>
            </a:prstGeom>
          </p:spPr>
          <p:txBody>
            <a:bodyPr anchor="ctr" rtlCol="false" tIns="0" lIns="0" bIns="0" rIns="0"/>
            <a:lstStyle/>
            <a:p>
              <a:pPr algn="ctr">
                <a:lnSpc>
                  <a:spcPts val="2400"/>
                </a:lnSpc>
              </a:pPr>
              <a:r>
                <a:rPr lang="en-US" sz="2000" i="true">
                  <a:solidFill>
                    <a:srgbClr val="00C2D7"/>
                  </a:solidFill>
                  <a:latin typeface="Arial Italics"/>
                  <a:ea typeface="Arial Italics"/>
                  <a:cs typeface="Arial Italics"/>
                  <a:sym typeface="Arial Italics"/>
                </a:rPr>
                <a:t>Tous </a:t>
              </a:r>
              <a:r>
                <a:rPr lang="en-US" sz="2000" i="true">
                  <a:solidFill>
                    <a:srgbClr val="00C2D7"/>
                  </a:solidFill>
                  <a:latin typeface="Arial Italics"/>
                  <a:ea typeface="Arial Italics"/>
                  <a:cs typeface="Arial Italics"/>
                  <a:sym typeface="Arial Italics"/>
                </a:rPr>
                <a:t>les services communiquent via des variables d'environnement · Aucune information d'identification dans le code source</a:t>
              </a:r>
            </a:p>
            <a:p>
              <a:pPr algn="ctr">
                <a:lnSpc>
                  <a:spcPts val="2400"/>
                </a:lnSpc>
              </a:pPr>
            </a:p>
          </p:txBody>
        </p:sp>
      </p:grpSp>
      <p:sp>
        <p:nvSpPr>
          <p:cNvPr name="Freeform 8" id="8"/>
          <p:cNvSpPr/>
          <p:nvPr/>
        </p:nvSpPr>
        <p:spPr>
          <a:xfrm flipH="false" flipV="false" rot="0">
            <a:off x="449171" y="2608430"/>
            <a:ext cx="17452861" cy="6762984"/>
          </a:xfrm>
          <a:custGeom>
            <a:avLst/>
            <a:gdLst/>
            <a:ahLst/>
            <a:cxnLst/>
            <a:rect r="r" b="b" t="t" l="l"/>
            <a:pathLst>
              <a:path h="6762984" w="17452861">
                <a:moveTo>
                  <a:pt x="0" y="0"/>
                </a:moveTo>
                <a:lnTo>
                  <a:pt x="17452861" y="0"/>
                </a:lnTo>
                <a:lnTo>
                  <a:pt x="17452861" y="6762984"/>
                </a:lnTo>
                <a:lnTo>
                  <a:pt x="0" y="6762984"/>
                </a:lnTo>
                <a:lnTo>
                  <a:pt x="0" y="0"/>
                </a:lnTo>
                <a:close/>
              </a:path>
            </a:pathLst>
          </a:custGeom>
          <a:blipFill>
            <a:blip r:embed="rId4"/>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1E2761"/>
        </a:solidFill>
      </p:bgPr>
    </p:bg>
    <p:spTree>
      <p:nvGrpSpPr>
        <p:cNvPr id="1" name=""/>
        <p:cNvGrpSpPr/>
        <p:nvPr/>
      </p:nvGrpSpPr>
      <p:grpSpPr>
        <a:xfrm>
          <a:off x="0" y="0"/>
          <a:ext cx="0" cy="0"/>
          <a:chOff x="0" y="0"/>
          <a:chExt cx="0" cy="0"/>
        </a:xfrm>
      </p:grpSpPr>
      <p:grpSp>
        <p:nvGrpSpPr>
          <p:cNvPr name="Group 2" id="2"/>
          <p:cNvGrpSpPr/>
          <p:nvPr/>
        </p:nvGrpSpPr>
        <p:grpSpPr>
          <a:xfrm rot="0">
            <a:off x="5212080" y="457200"/>
            <a:ext cx="822960" cy="822960"/>
            <a:chOff x="0" y="0"/>
            <a:chExt cx="1097280" cy="1097280"/>
          </a:xfrm>
        </p:grpSpPr>
        <p:sp>
          <p:nvSpPr>
            <p:cNvPr name="Freeform 3" id="3" descr="preencoded.png"/>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lnTo>
                    <a:pt x="0" y="0"/>
                  </a:lnTo>
                  <a:close/>
                </a:path>
              </a:pathLst>
            </a:custGeom>
            <a:blipFill>
              <a:blip r:embed="rId3"/>
              <a:stretch>
                <a:fillRect l="0" t="0" r="0" b="0"/>
              </a:stretch>
            </a:blipFill>
          </p:spPr>
        </p:sp>
      </p:grpSp>
      <p:grpSp>
        <p:nvGrpSpPr>
          <p:cNvPr name="Group 4" id="4"/>
          <p:cNvGrpSpPr/>
          <p:nvPr/>
        </p:nvGrpSpPr>
        <p:grpSpPr>
          <a:xfrm rot="0">
            <a:off x="6126480" y="365760"/>
            <a:ext cx="8229600" cy="1075953"/>
            <a:chOff x="0" y="0"/>
            <a:chExt cx="10972800" cy="1434604"/>
          </a:xfrm>
        </p:grpSpPr>
        <p:sp>
          <p:nvSpPr>
            <p:cNvPr name="Freeform 5" id="5"/>
            <p:cNvSpPr/>
            <p:nvPr/>
          </p:nvSpPr>
          <p:spPr>
            <a:xfrm flipH="false" flipV="false" rot="0">
              <a:off x="0" y="0"/>
              <a:ext cx="10972800" cy="1434604"/>
            </a:xfrm>
            <a:custGeom>
              <a:avLst/>
              <a:gdLst/>
              <a:ahLst/>
              <a:cxnLst/>
              <a:rect r="r" b="b" t="t" l="l"/>
              <a:pathLst>
                <a:path h="1434604" w="10972800">
                  <a:moveTo>
                    <a:pt x="0" y="0"/>
                  </a:moveTo>
                  <a:lnTo>
                    <a:pt x="10972800" y="0"/>
                  </a:lnTo>
                  <a:lnTo>
                    <a:pt x="10972800" y="1434604"/>
                  </a:lnTo>
                  <a:lnTo>
                    <a:pt x="0" y="1434604"/>
                  </a:lnTo>
                  <a:close/>
                </a:path>
              </a:pathLst>
            </a:custGeom>
            <a:blipFill>
              <a:blip r:embed="rId4">
                <a:alphaModFix amt="0"/>
              </a:blip>
              <a:stretch>
                <a:fillRect l="0" t="-102292" r="0" b="-95776"/>
              </a:stretch>
            </a:blipFill>
          </p:spPr>
        </p:sp>
        <p:sp>
          <p:nvSpPr>
            <p:cNvPr name="TextBox 6" id="6"/>
            <p:cNvSpPr txBox="true"/>
            <p:nvPr/>
          </p:nvSpPr>
          <p:spPr>
            <a:xfrm>
              <a:off x="0" y="-19050"/>
              <a:ext cx="10972800" cy="1453654"/>
            </a:xfrm>
            <a:prstGeom prst="rect">
              <a:avLst/>
            </a:prstGeom>
          </p:spPr>
          <p:txBody>
            <a:bodyPr anchor="ctr" rtlCol="false" tIns="0" lIns="0" bIns="0" rIns="0"/>
            <a:lstStyle/>
            <a:p>
              <a:pPr algn="l">
                <a:lnSpc>
                  <a:spcPts val="6239"/>
                </a:lnSpc>
              </a:pPr>
              <a:r>
                <a:rPr lang="en-US" b="true" sz="5199">
                  <a:solidFill>
                    <a:srgbClr val="FFFFFF"/>
                  </a:solidFill>
                  <a:latin typeface="Arial Bold"/>
                  <a:ea typeface="Arial Bold"/>
                  <a:cs typeface="Arial Bold"/>
                  <a:sym typeface="Arial Bold"/>
                </a:rPr>
                <a:t>Points clés d</a:t>
              </a:r>
              <a:r>
                <a:rPr lang="en-US" b="true" sz="5199">
                  <a:solidFill>
                    <a:srgbClr val="FFFFFF"/>
                  </a:solidFill>
                  <a:latin typeface="Arial Bold"/>
                  <a:ea typeface="Arial Bold"/>
                  <a:cs typeface="Arial Bold"/>
                  <a:sym typeface="Arial Bold"/>
                </a:rPr>
                <a:t>e la sécurité</a:t>
              </a:r>
            </a:p>
          </p:txBody>
        </p:sp>
      </p:grpSp>
      <p:grpSp>
        <p:nvGrpSpPr>
          <p:cNvPr name="Group 7" id="7"/>
          <p:cNvGrpSpPr/>
          <p:nvPr/>
        </p:nvGrpSpPr>
        <p:grpSpPr>
          <a:xfrm rot="0">
            <a:off x="914400" y="1426464"/>
            <a:ext cx="16459200" cy="548640"/>
            <a:chOff x="0" y="0"/>
            <a:chExt cx="21945600" cy="731520"/>
          </a:xfrm>
        </p:grpSpPr>
        <p:sp>
          <p:nvSpPr>
            <p:cNvPr name="Freeform 8" id="8"/>
            <p:cNvSpPr/>
            <p:nvPr/>
          </p:nvSpPr>
          <p:spPr>
            <a:xfrm flipH="false" flipV="false" rot="0">
              <a:off x="0" y="0"/>
              <a:ext cx="21945600" cy="731520"/>
            </a:xfrm>
            <a:custGeom>
              <a:avLst/>
              <a:gdLst/>
              <a:ahLst/>
              <a:cxnLst/>
              <a:rect r="r" b="b" t="t" l="l"/>
              <a:pathLst>
                <a:path h="731520" w="21945600">
                  <a:moveTo>
                    <a:pt x="0" y="0"/>
                  </a:moveTo>
                  <a:lnTo>
                    <a:pt x="21945600" y="0"/>
                  </a:lnTo>
                  <a:lnTo>
                    <a:pt x="21945600" y="731520"/>
                  </a:lnTo>
                  <a:lnTo>
                    <a:pt x="0" y="731520"/>
                  </a:lnTo>
                  <a:close/>
                </a:path>
              </a:pathLst>
            </a:custGeom>
            <a:blipFill>
              <a:blip r:embed="rId4">
                <a:alphaModFix amt="0"/>
              </a:blip>
              <a:stretch>
                <a:fillRect l="0" t="-534551" r="0" b="-534551"/>
              </a:stretch>
            </a:blipFill>
          </p:spPr>
        </p:sp>
        <p:sp>
          <p:nvSpPr>
            <p:cNvPr name="TextBox 9" id="9"/>
            <p:cNvSpPr txBox="true"/>
            <p:nvPr/>
          </p:nvSpPr>
          <p:spPr>
            <a:xfrm>
              <a:off x="0" y="-19050"/>
              <a:ext cx="21945600" cy="750570"/>
            </a:xfrm>
            <a:prstGeom prst="rect">
              <a:avLst/>
            </a:prstGeom>
          </p:spPr>
          <p:txBody>
            <a:bodyPr anchor="ctr" rtlCol="false" tIns="0" lIns="0" bIns="0" rIns="0"/>
            <a:lstStyle/>
            <a:p>
              <a:pPr algn="ctr">
                <a:lnSpc>
                  <a:spcPts val="2639"/>
                </a:lnSpc>
              </a:pPr>
              <a:r>
                <a:rPr lang="en-US" sz="2199" i="true">
                  <a:solidFill>
                    <a:srgbClr val="22C7C7"/>
                  </a:solidFill>
                  <a:latin typeface="Arial Italics"/>
                  <a:ea typeface="Arial Italics"/>
                  <a:cs typeface="Arial Italics"/>
                  <a:sym typeface="Arial Italics"/>
                </a:rPr>
                <a:t>Défense en profondeur  du navigateur à la base de données</a:t>
              </a:r>
            </a:p>
          </p:txBody>
        </p:sp>
      </p:grpSp>
      <p:grpSp>
        <p:nvGrpSpPr>
          <p:cNvPr name="Group 10" id="10"/>
          <p:cNvGrpSpPr/>
          <p:nvPr/>
        </p:nvGrpSpPr>
        <p:grpSpPr>
          <a:xfrm rot="0">
            <a:off x="993143" y="2181863"/>
            <a:ext cx="7889243" cy="848363"/>
            <a:chOff x="0" y="0"/>
            <a:chExt cx="10518991" cy="1131151"/>
          </a:xfrm>
        </p:grpSpPr>
        <p:sp>
          <p:nvSpPr>
            <p:cNvPr name="Freeform 11" id="11"/>
            <p:cNvSpPr/>
            <p:nvPr/>
          </p:nvSpPr>
          <p:spPr>
            <a:xfrm flipH="false" flipV="false" rot="0">
              <a:off x="0" y="0"/>
              <a:ext cx="10519029" cy="1131189"/>
            </a:xfrm>
            <a:custGeom>
              <a:avLst/>
              <a:gdLst/>
              <a:ahLst/>
              <a:cxnLst/>
              <a:rect r="r" b="b" t="t" l="l"/>
              <a:pathLst>
                <a:path h="1131189" w="10519029">
                  <a:moveTo>
                    <a:pt x="0" y="0"/>
                  </a:moveTo>
                  <a:lnTo>
                    <a:pt x="10519029" y="0"/>
                  </a:lnTo>
                  <a:lnTo>
                    <a:pt x="10519029" y="1131189"/>
                  </a:lnTo>
                  <a:lnTo>
                    <a:pt x="0" y="1131189"/>
                  </a:lnTo>
                  <a:close/>
                </a:path>
              </a:pathLst>
            </a:custGeom>
            <a:solidFill>
              <a:srgbClr val="22C7C7"/>
            </a:solidFill>
            <a:ln w="25400" cap="sq">
              <a:solidFill>
                <a:srgbClr val="22C7C7"/>
              </a:solidFill>
              <a:prstDash val="solid"/>
              <a:miter/>
            </a:ln>
          </p:spPr>
        </p:sp>
      </p:grpSp>
      <p:grpSp>
        <p:nvGrpSpPr>
          <p:cNvPr name="Group 12" id="12"/>
          <p:cNvGrpSpPr/>
          <p:nvPr/>
        </p:nvGrpSpPr>
        <p:grpSpPr>
          <a:xfrm rot="0">
            <a:off x="1005840" y="2194560"/>
            <a:ext cx="7863840" cy="822960"/>
            <a:chOff x="0" y="0"/>
            <a:chExt cx="10485120" cy="1097280"/>
          </a:xfrm>
        </p:grpSpPr>
        <p:sp>
          <p:nvSpPr>
            <p:cNvPr name="Freeform 13" id="13"/>
            <p:cNvSpPr/>
            <p:nvPr/>
          </p:nvSpPr>
          <p:spPr>
            <a:xfrm flipH="false" flipV="false" rot="0">
              <a:off x="0" y="0"/>
              <a:ext cx="10485120" cy="1097280"/>
            </a:xfrm>
            <a:custGeom>
              <a:avLst/>
              <a:gdLst/>
              <a:ahLst/>
              <a:cxnLst/>
              <a:rect r="r" b="b" t="t" l="l"/>
              <a:pathLst>
                <a:path h="1097280" w="10485120">
                  <a:moveTo>
                    <a:pt x="0" y="0"/>
                  </a:moveTo>
                  <a:lnTo>
                    <a:pt x="10485120" y="0"/>
                  </a:lnTo>
                  <a:lnTo>
                    <a:pt x="10485120" y="1097280"/>
                  </a:lnTo>
                  <a:lnTo>
                    <a:pt x="0" y="1097280"/>
                  </a:lnTo>
                  <a:close/>
                </a:path>
              </a:pathLst>
            </a:custGeom>
            <a:blipFill>
              <a:blip r:embed="rId4">
                <a:alphaModFix amt="0"/>
              </a:blip>
              <a:stretch>
                <a:fillRect l="0" t="-136190" r="0" b="-136190"/>
              </a:stretch>
            </a:blipFill>
          </p:spPr>
        </p:sp>
        <p:sp>
          <p:nvSpPr>
            <p:cNvPr name="TextBox 14" id="14"/>
            <p:cNvSpPr txBox="true"/>
            <p:nvPr/>
          </p:nvSpPr>
          <p:spPr>
            <a:xfrm>
              <a:off x="0" y="-19050"/>
              <a:ext cx="10485120" cy="1116330"/>
            </a:xfrm>
            <a:prstGeom prst="rect">
              <a:avLst/>
            </a:prstGeom>
          </p:spPr>
          <p:txBody>
            <a:bodyPr anchor="ctr" rtlCol="false" tIns="0" lIns="0" bIns="0" rIns="0"/>
            <a:lstStyle/>
            <a:p>
              <a:pPr algn="ctr">
                <a:lnSpc>
                  <a:spcPts val="3600"/>
                </a:lnSpc>
              </a:pPr>
              <a:r>
                <a:rPr lang="en-US" b="true" sz="3000">
                  <a:solidFill>
                    <a:srgbClr val="FFFFFF"/>
                  </a:solidFill>
                  <a:latin typeface="Arial Bold"/>
                  <a:ea typeface="Arial Bold"/>
                  <a:cs typeface="Arial Bold"/>
                  <a:sym typeface="Arial Bold"/>
                </a:rPr>
                <a:t>FRONTEND</a:t>
              </a:r>
            </a:p>
          </p:txBody>
        </p:sp>
      </p:grpSp>
      <p:grpSp>
        <p:nvGrpSpPr>
          <p:cNvPr name="Group 15" id="15"/>
          <p:cNvGrpSpPr/>
          <p:nvPr/>
        </p:nvGrpSpPr>
        <p:grpSpPr>
          <a:xfrm rot="0">
            <a:off x="996315" y="3007995"/>
            <a:ext cx="7882890" cy="4672965"/>
            <a:chOff x="0" y="0"/>
            <a:chExt cx="10510520" cy="6230620"/>
          </a:xfrm>
        </p:grpSpPr>
        <p:sp>
          <p:nvSpPr>
            <p:cNvPr name="Freeform 16" id="16"/>
            <p:cNvSpPr/>
            <p:nvPr/>
          </p:nvSpPr>
          <p:spPr>
            <a:xfrm flipH="false" flipV="false" rot="0">
              <a:off x="0" y="0"/>
              <a:ext cx="10510520" cy="6230620"/>
            </a:xfrm>
            <a:custGeom>
              <a:avLst/>
              <a:gdLst/>
              <a:ahLst/>
              <a:cxnLst/>
              <a:rect r="r" b="b" t="t" l="l"/>
              <a:pathLst>
                <a:path h="6230620" w="10510520">
                  <a:moveTo>
                    <a:pt x="0" y="0"/>
                  </a:moveTo>
                  <a:lnTo>
                    <a:pt x="10510520" y="0"/>
                  </a:lnTo>
                  <a:lnTo>
                    <a:pt x="10510520" y="6230620"/>
                  </a:lnTo>
                  <a:lnTo>
                    <a:pt x="0" y="6230620"/>
                  </a:lnTo>
                  <a:close/>
                </a:path>
              </a:pathLst>
            </a:custGeom>
            <a:blipFill>
              <a:blip r:embed="rId5"/>
              <a:stretch>
                <a:fillRect l="-4171" t="0" r="-4171" b="0"/>
              </a:stretch>
            </a:blipFill>
            <a:ln w="19050" cap="sq">
              <a:solidFill>
                <a:srgbClr val="22C7C7"/>
              </a:solidFill>
              <a:prstDash val="solid"/>
              <a:miter/>
            </a:ln>
          </p:spPr>
        </p:sp>
      </p:grpSp>
      <p:grpSp>
        <p:nvGrpSpPr>
          <p:cNvPr name="Group 17" id="17"/>
          <p:cNvGrpSpPr/>
          <p:nvPr/>
        </p:nvGrpSpPr>
        <p:grpSpPr>
          <a:xfrm rot="0">
            <a:off x="9405623" y="2181863"/>
            <a:ext cx="7889243" cy="848363"/>
            <a:chOff x="0" y="0"/>
            <a:chExt cx="10518991" cy="1131151"/>
          </a:xfrm>
        </p:grpSpPr>
        <p:sp>
          <p:nvSpPr>
            <p:cNvPr name="Freeform 18" id="18"/>
            <p:cNvSpPr/>
            <p:nvPr/>
          </p:nvSpPr>
          <p:spPr>
            <a:xfrm flipH="false" flipV="false" rot="0">
              <a:off x="0" y="0"/>
              <a:ext cx="10519029" cy="1131189"/>
            </a:xfrm>
            <a:custGeom>
              <a:avLst/>
              <a:gdLst/>
              <a:ahLst/>
              <a:cxnLst/>
              <a:rect r="r" b="b" t="t" l="l"/>
              <a:pathLst>
                <a:path h="1131189" w="10519029">
                  <a:moveTo>
                    <a:pt x="0" y="0"/>
                  </a:moveTo>
                  <a:lnTo>
                    <a:pt x="10519029" y="0"/>
                  </a:lnTo>
                  <a:lnTo>
                    <a:pt x="10519029" y="1131189"/>
                  </a:lnTo>
                  <a:lnTo>
                    <a:pt x="0" y="1131189"/>
                  </a:lnTo>
                  <a:close/>
                </a:path>
              </a:pathLst>
            </a:custGeom>
            <a:solidFill>
              <a:srgbClr val="A855F7"/>
            </a:solidFill>
            <a:ln w="25400" cap="sq">
              <a:solidFill>
                <a:srgbClr val="A855F7"/>
              </a:solidFill>
              <a:prstDash val="solid"/>
              <a:miter/>
            </a:ln>
          </p:spPr>
        </p:sp>
      </p:grpSp>
      <p:grpSp>
        <p:nvGrpSpPr>
          <p:cNvPr name="Group 19" id="19"/>
          <p:cNvGrpSpPr/>
          <p:nvPr/>
        </p:nvGrpSpPr>
        <p:grpSpPr>
          <a:xfrm rot="0">
            <a:off x="9418320" y="2194560"/>
            <a:ext cx="7863840" cy="822960"/>
            <a:chOff x="0" y="0"/>
            <a:chExt cx="10485120" cy="1097280"/>
          </a:xfrm>
        </p:grpSpPr>
        <p:sp>
          <p:nvSpPr>
            <p:cNvPr name="Freeform 20" id="20"/>
            <p:cNvSpPr/>
            <p:nvPr/>
          </p:nvSpPr>
          <p:spPr>
            <a:xfrm flipH="false" flipV="false" rot="0">
              <a:off x="0" y="0"/>
              <a:ext cx="10485120" cy="1097280"/>
            </a:xfrm>
            <a:custGeom>
              <a:avLst/>
              <a:gdLst/>
              <a:ahLst/>
              <a:cxnLst/>
              <a:rect r="r" b="b" t="t" l="l"/>
              <a:pathLst>
                <a:path h="1097280" w="10485120">
                  <a:moveTo>
                    <a:pt x="0" y="0"/>
                  </a:moveTo>
                  <a:lnTo>
                    <a:pt x="10485120" y="0"/>
                  </a:lnTo>
                  <a:lnTo>
                    <a:pt x="10485120" y="1097280"/>
                  </a:lnTo>
                  <a:lnTo>
                    <a:pt x="0" y="1097280"/>
                  </a:lnTo>
                  <a:close/>
                </a:path>
              </a:pathLst>
            </a:custGeom>
            <a:blipFill>
              <a:blip r:embed="rId4">
                <a:alphaModFix amt="0"/>
              </a:blip>
              <a:stretch>
                <a:fillRect l="0" t="-136190" r="0" b="-136190"/>
              </a:stretch>
            </a:blipFill>
          </p:spPr>
        </p:sp>
        <p:sp>
          <p:nvSpPr>
            <p:cNvPr name="TextBox 21" id="21"/>
            <p:cNvSpPr txBox="true"/>
            <p:nvPr/>
          </p:nvSpPr>
          <p:spPr>
            <a:xfrm>
              <a:off x="0" y="-19050"/>
              <a:ext cx="10485120" cy="1116330"/>
            </a:xfrm>
            <a:prstGeom prst="rect">
              <a:avLst/>
            </a:prstGeom>
          </p:spPr>
          <p:txBody>
            <a:bodyPr anchor="ctr" rtlCol="false" tIns="0" lIns="0" bIns="0" rIns="0"/>
            <a:lstStyle/>
            <a:p>
              <a:pPr algn="ctr">
                <a:lnSpc>
                  <a:spcPts val="3600"/>
                </a:lnSpc>
              </a:pPr>
              <a:r>
                <a:rPr lang="en-US" b="true" sz="3000">
                  <a:solidFill>
                    <a:srgbClr val="FFFFFF"/>
                  </a:solidFill>
                  <a:latin typeface="Arial Bold"/>
                  <a:ea typeface="Arial Bold"/>
                  <a:cs typeface="Arial Bold"/>
                  <a:sym typeface="Arial Bold"/>
                </a:rPr>
                <a:t>BACKEND</a:t>
              </a:r>
            </a:p>
          </p:txBody>
        </p:sp>
      </p:grpSp>
      <p:grpSp>
        <p:nvGrpSpPr>
          <p:cNvPr name="Group 22" id="22"/>
          <p:cNvGrpSpPr/>
          <p:nvPr/>
        </p:nvGrpSpPr>
        <p:grpSpPr>
          <a:xfrm rot="0">
            <a:off x="9408795" y="3007995"/>
            <a:ext cx="7882890" cy="4672965"/>
            <a:chOff x="0" y="0"/>
            <a:chExt cx="10510520" cy="6230620"/>
          </a:xfrm>
        </p:grpSpPr>
        <p:sp>
          <p:nvSpPr>
            <p:cNvPr name="Freeform 23" id="23"/>
            <p:cNvSpPr/>
            <p:nvPr/>
          </p:nvSpPr>
          <p:spPr>
            <a:xfrm flipH="false" flipV="false" rot="0">
              <a:off x="0" y="0"/>
              <a:ext cx="10510520" cy="6230620"/>
            </a:xfrm>
            <a:custGeom>
              <a:avLst/>
              <a:gdLst/>
              <a:ahLst/>
              <a:cxnLst/>
              <a:rect r="r" b="b" t="t" l="l"/>
              <a:pathLst>
                <a:path h="6230620" w="10510520">
                  <a:moveTo>
                    <a:pt x="0" y="0"/>
                  </a:moveTo>
                  <a:lnTo>
                    <a:pt x="10510520" y="0"/>
                  </a:lnTo>
                  <a:lnTo>
                    <a:pt x="10510520" y="6230620"/>
                  </a:lnTo>
                  <a:lnTo>
                    <a:pt x="0" y="6230620"/>
                  </a:lnTo>
                  <a:close/>
                </a:path>
              </a:pathLst>
            </a:custGeom>
            <a:blipFill>
              <a:blip r:embed="rId6"/>
              <a:stretch>
                <a:fillRect l="-4171" t="0" r="-4171" b="0"/>
              </a:stretch>
            </a:blipFill>
            <a:ln w="19050" cap="sq">
              <a:solidFill>
                <a:srgbClr val="A855F7"/>
              </a:solidFill>
              <a:prstDash val="solid"/>
              <a:miter/>
            </a:ln>
          </p:spPr>
        </p:sp>
      </p:grpSp>
      <p:grpSp>
        <p:nvGrpSpPr>
          <p:cNvPr name="Group 24" id="24"/>
          <p:cNvGrpSpPr/>
          <p:nvPr/>
        </p:nvGrpSpPr>
        <p:grpSpPr>
          <a:xfrm rot="0">
            <a:off x="914400" y="7680960"/>
            <a:ext cx="16459200" cy="548640"/>
            <a:chOff x="0" y="0"/>
            <a:chExt cx="21945600" cy="731520"/>
          </a:xfrm>
        </p:grpSpPr>
        <p:sp>
          <p:nvSpPr>
            <p:cNvPr name="Freeform 25" id="25"/>
            <p:cNvSpPr/>
            <p:nvPr/>
          </p:nvSpPr>
          <p:spPr>
            <a:xfrm flipH="false" flipV="false" rot="0">
              <a:off x="0" y="0"/>
              <a:ext cx="21945600" cy="731520"/>
            </a:xfrm>
            <a:custGeom>
              <a:avLst/>
              <a:gdLst/>
              <a:ahLst/>
              <a:cxnLst/>
              <a:rect r="r" b="b" t="t" l="l"/>
              <a:pathLst>
                <a:path h="731520" w="21945600">
                  <a:moveTo>
                    <a:pt x="0" y="0"/>
                  </a:moveTo>
                  <a:lnTo>
                    <a:pt x="21945600" y="0"/>
                  </a:lnTo>
                  <a:lnTo>
                    <a:pt x="21945600" y="731520"/>
                  </a:lnTo>
                  <a:lnTo>
                    <a:pt x="0" y="731520"/>
                  </a:lnTo>
                  <a:close/>
                </a:path>
              </a:pathLst>
            </a:custGeom>
            <a:blipFill>
              <a:blip r:embed="rId4">
                <a:alphaModFix amt="0"/>
              </a:blip>
              <a:stretch>
                <a:fillRect l="0" t="-534551" r="0" b="-534551"/>
              </a:stretch>
            </a:blipFill>
          </p:spPr>
        </p:sp>
        <p:sp>
          <p:nvSpPr>
            <p:cNvPr name="TextBox 26" id="26"/>
            <p:cNvSpPr txBox="true"/>
            <p:nvPr/>
          </p:nvSpPr>
          <p:spPr>
            <a:xfrm>
              <a:off x="0" y="-9525"/>
              <a:ext cx="21945600" cy="741045"/>
            </a:xfrm>
            <a:prstGeom prst="rect">
              <a:avLst/>
            </a:prstGeom>
          </p:spPr>
          <p:txBody>
            <a:bodyPr anchor="ctr" rtlCol="false" tIns="0" lIns="0" bIns="0" rIns="0"/>
            <a:lstStyle/>
            <a:p>
              <a:pPr algn="ctr">
                <a:lnSpc>
                  <a:spcPts val="2879"/>
                </a:lnSpc>
              </a:pPr>
              <a:r>
                <a:rPr lang="en-US" b="true" sz="2400" i="true">
                  <a:solidFill>
                    <a:srgbClr val="22C7C7"/>
                  </a:solidFill>
                  <a:latin typeface="Arial Bold Italics"/>
                  <a:ea typeface="Arial Bold Italics"/>
                  <a:cs typeface="Arial Bold Italics"/>
                  <a:sym typeface="Arial Bold Italics"/>
                </a:rPr>
                <a:t>Tests</a:t>
              </a:r>
              <a:r>
                <a:rPr lang="en-US" b="true" sz="2400" i="true">
                  <a:solidFill>
                    <a:srgbClr val="22C7C7"/>
                  </a:solidFill>
                  <a:latin typeface="Arial Bold Italics"/>
                  <a:ea typeface="Arial Bold Italics"/>
                  <a:cs typeface="Arial Bold Italics"/>
                  <a:sym typeface="Arial Bold Italics"/>
                </a:rPr>
                <a:t> d'intrusion manuels  ·  Toutes les attaques bloquées</a:t>
              </a:r>
            </a:p>
          </p:txBody>
        </p:sp>
      </p:grpSp>
      <p:grpSp>
        <p:nvGrpSpPr>
          <p:cNvPr name="Group 27" id="27"/>
          <p:cNvGrpSpPr/>
          <p:nvPr/>
        </p:nvGrpSpPr>
        <p:grpSpPr>
          <a:xfrm rot="0">
            <a:off x="1907543" y="8399783"/>
            <a:ext cx="6974843" cy="1397003"/>
            <a:chOff x="0" y="0"/>
            <a:chExt cx="9299791" cy="1862671"/>
          </a:xfrm>
        </p:grpSpPr>
        <p:sp>
          <p:nvSpPr>
            <p:cNvPr name="Freeform 28" id="28"/>
            <p:cNvSpPr/>
            <p:nvPr/>
          </p:nvSpPr>
          <p:spPr>
            <a:xfrm flipH="false" flipV="false" rot="0">
              <a:off x="0" y="0"/>
              <a:ext cx="9299829" cy="1862709"/>
            </a:xfrm>
            <a:custGeom>
              <a:avLst/>
              <a:gdLst/>
              <a:ahLst/>
              <a:cxnLst/>
              <a:rect r="r" b="b" t="t" l="l"/>
              <a:pathLst>
                <a:path h="1862709" w="9299829">
                  <a:moveTo>
                    <a:pt x="0" y="248412"/>
                  </a:moveTo>
                  <a:cubicBezTo>
                    <a:pt x="0" y="111252"/>
                    <a:pt x="111252" y="0"/>
                    <a:pt x="248412" y="0"/>
                  </a:cubicBezTo>
                  <a:lnTo>
                    <a:pt x="9051417" y="0"/>
                  </a:lnTo>
                  <a:cubicBezTo>
                    <a:pt x="9188577" y="0"/>
                    <a:pt x="9299829" y="111252"/>
                    <a:pt x="9299829" y="248412"/>
                  </a:cubicBezTo>
                  <a:lnTo>
                    <a:pt x="9299829" y="1614297"/>
                  </a:lnTo>
                  <a:cubicBezTo>
                    <a:pt x="9299829" y="1751457"/>
                    <a:pt x="9188577" y="1862709"/>
                    <a:pt x="9051417" y="1862709"/>
                  </a:cubicBezTo>
                  <a:lnTo>
                    <a:pt x="248412" y="1862709"/>
                  </a:lnTo>
                  <a:cubicBezTo>
                    <a:pt x="111252" y="1862709"/>
                    <a:pt x="0" y="1751457"/>
                    <a:pt x="0" y="1614297"/>
                  </a:cubicBezTo>
                  <a:close/>
                </a:path>
              </a:pathLst>
            </a:custGeom>
            <a:solidFill>
              <a:srgbClr val="10B981"/>
            </a:solidFill>
            <a:ln w="25400" cap="sq">
              <a:solidFill>
                <a:srgbClr val="10B981"/>
              </a:solidFill>
              <a:prstDash val="solid"/>
              <a:miter/>
            </a:ln>
          </p:spPr>
        </p:sp>
      </p:grpSp>
      <p:grpSp>
        <p:nvGrpSpPr>
          <p:cNvPr name="Group 29" id="29"/>
          <p:cNvGrpSpPr/>
          <p:nvPr/>
        </p:nvGrpSpPr>
        <p:grpSpPr>
          <a:xfrm rot="0">
            <a:off x="2286000" y="8741664"/>
            <a:ext cx="731520" cy="731520"/>
            <a:chOff x="0" y="0"/>
            <a:chExt cx="975360" cy="975360"/>
          </a:xfrm>
        </p:grpSpPr>
        <p:sp>
          <p:nvSpPr>
            <p:cNvPr name="Freeform 30" id="30" descr="preencoded.png"/>
            <p:cNvSpPr/>
            <p:nvPr/>
          </p:nvSpPr>
          <p:spPr>
            <a:xfrm flipH="false" flipV="false" rot="0">
              <a:off x="0" y="0"/>
              <a:ext cx="975360" cy="975360"/>
            </a:xfrm>
            <a:custGeom>
              <a:avLst/>
              <a:gdLst/>
              <a:ahLst/>
              <a:cxnLst/>
              <a:rect r="r" b="b" t="t" l="l"/>
              <a:pathLst>
                <a:path h="975360" w="975360">
                  <a:moveTo>
                    <a:pt x="0" y="0"/>
                  </a:moveTo>
                  <a:lnTo>
                    <a:pt x="975360" y="0"/>
                  </a:lnTo>
                  <a:lnTo>
                    <a:pt x="975360" y="975360"/>
                  </a:lnTo>
                  <a:lnTo>
                    <a:pt x="0" y="975360"/>
                  </a:lnTo>
                  <a:lnTo>
                    <a:pt x="0" y="0"/>
                  </a:lnTo>
                  <a:close/>
                </a:path>
              </a:pathLst>
            </a:custGeom>
            <a:blipFill>
              <a:blip r:embed="rId7"/>
              <a:stretch>
                <a:fillRect l="0" t="0" r="0" b="0"/>
              </a:stretch>
            </a:blipFill>
          </p:spPr>
        </p:sp>
      </p:grpSp>
      <p:grpSp>
        <p:nvGrpSpPr>
          <p:cNvPr name="Group 31" id="31"/>
          <p:cNvGrpSpPr/>
          <p:nvPr/>
        </p:nvGrpSpPr>
        <p:grpSpPr>
          <a:xfrm rot="0">
            <a:off x="3200400" y="8503920"/>
            <a:ext cx="5394960" cy="640080"/>
            <a:chOff x="0" y="0"/>
            <a:chExt cx="7193280" cy="853440"/>
          </a:xfrm>
        </p:grpSpPr>
        <p:sp>
          <p:nvSpPr>
            <p:cNvPr name="Freeform 32" id="32"/>
            <p:cNvSpPr/>
            <p:nvPr/>
          </p:nvSpPr>
          <p:spPr>
            <a:xfrm flipH="false" flipV="false" rot="0">
              <a:off x="0" y="0"/>
              <a:ext cx="7193280" cy="853440"/>
            </a:xfrm>
            <a:custGeom>
              <a:avLst/>
              <a:gdLst/>
              <a:ahLst/>
              <a:cxnLst/>
              <a:rect r="r" b="b" t="t" l="l"/>
              <a:pathLst>
                <a:path h="853440" w="7193280">
                  <a:moveTo>
                    <a:pt x="0" y="0"/>
                  </a:moveTo>
                  <a:lnTo>
                    <a:pt x="7193280" y="0"/>
                  </a:lnTo>
                  <a:lnTo>
                    <a:pt x="7193280" y="853440"/>
                  </a:lnTo>
                  <a:lnTo>
                    <a:pt x="0" y="853440"/>
                  </a:lnTo>
                  <a:close/>
                </a:path>
              </a:pathLst>
            </a:custGeom>
            <a:blipFill>
              <a:blip r:embed="rId4">
                <a:alphaModFix amt="0"/>
              </a:blip>
              <a:stretch>
                <a:fillRect l="0" t="-114231" r="0" b="-114231"/>
              </a:stretch>
            </a:blipFill>
          </p:spPr>
        </p:sp>
        <p:sp>
          <p:nvSpPr>
            <p:cNvPr name="TextBox 33" id="33"/>
            <p:cNvSpPr txBox="true"/>
            <p:nvPr/>
          </p:nvSpPr>
          <p:spPr>
            <a:xfrm>
              <a:off x="0" y="-19050"/>
              <a:ext cx="7193280" cy="872490"/>
            </a:xfrm>
            <a:prstGeom prst="rect">
              <a:avLst/>
            </a:prstGeom>
          </p:spPr>
          <p:txBody>
            <a:bodyPr anchor="ctr" rtlCol="false" tIns="0" lIns="0" bIns="0" rIns="0"/>
            <a:lstStyle/>
            <a:p>
              <a:pPr algn="l">
                <a:lnSpc>
                  <a:spcPts val="3359"/>
                </a:lnSpc>
              </a:pPr>
              <a:r>
                <a:rPr lang="en-US" b="true" sz="2799">
                  <a:solidFill>
                    <a:srgbClr val="FFFFFF"/>
                  </a:solidFill>
                  <a:latin typeface="Arial Bold"/>
                  <a:ea typeface="Arial Bold"/>
                  <a:cs typeface="Arial Bold"/>
                  <a:sym typeface="Arial Bold"/>
                </a:rPr>
                <a:t>Attaque </a:t>
              </a:r>
              <a:r>
                <a:rPr lang="en-US" b="true" sz="2799">
                  <a:solidFill>
                    <a:srgbClr val="FFFFFF"/>
                  </a:solidFill>
                  <a:latin typeface="Arial Bold"/>
                  <a:ea typeface="Arial Bold"/>
                  <a:cs typeface="Arial Bold"/>
                  <a:sym typeface="Arial Bold"/>
                </a:rPr>
                <a:t>XSS</a:t>
              </a:r>
            </a:p>
          </p:txBody>
        </p:sp>
      </p:grpSp>
      <p:grpSp>
        <p:nvGrpSpPr>
          <p:cNvPr name="Group 34" id="34"/>
          <p:cNvGrpSpPr/>
          <p:nvPr/>
        </p:nvGrpSpPr>
        <p:grpSpPr>
          <a:xfrm rot="0">
            <a:off x="3200400" y="9107424"/>
            <a:ext cx="5394960" cy="548640"/>
            <a:chOff x="0" y="0"/>
            <a:chExt cx="7193280" cy="731520"/>
          </a:xfrm>
        </p:grpSpPr>
        <p:sp>
          <p:nvSpPr>
            <p:cNvPr name="Freeform 35" id="35"/>
            <p:cNvSpPr/>
            <p:nvPr/>
          </p:nvSpPr>
          <p:spPr>
            <a:xfrm flipH="false" flipV="false" rot="0">
              <a:off x="0" y="0"/>
              <a:ext cx="7193280" cy="731520"/>
            </a:xfrm>
            <a:custGeom>
              <a:avLst/>
              <a:gdLst/>
              <a:ahLst/>
              <a:cxnLst/>
              <a:rect r="r" b="b" t="t" l="l"/>
              <a:pathLst>
                <a:path h="731520" w="7193280">
                  <a:moveTo>
                    <a:pt x="0" y="0"/>
                  </a:moveTo>
                  <a:lnTo>
                    <a:pt x="7193280" y="0"/>
                  </a:lnTo>
                  <a:lnTo>
                    <a:pt x="7193280" y="731520"/>
                  </a:lnTo>
                  <a:lnTo>
                    <a:pt x="0" y="731520"/>
                  </a:lnTo>
                  <a:close/>
                </a:path>
              </a:pathLst>
            </a:custGeom>
            <a:blipFill>
              <a:blip r:embed="rId4">
                <a:alphaModFix amt="0"/>
              </a:blip>
              <a:stretch>
                <a:fillRect l="0" t="-141602" r="0" b="-141602"/>
              </a:stretch>
            </a:blipFill>
          </p:spPr>
        </p:sp>
        <p:sp>
          <p:nvSpPr>
            <p:cNvPr name="TextBox 36" id="36"/>
            <p:cNvSpPr txBox="true"/>
            <p:nvPr/>
          </p:nvSpPr>
          <p:spPr>
            <a:xfrm>
              <a:off x="0" y="-9525"/>
              <a:ext cx="7193280" cy="741045"/>
            </a:xfrm>
            <a:prstGeom prst="rect">
              <a:avLst/>
            </a:prstGeom>
          </p:spPr>
          <p:txBody>
            <a:bodyPr anchor="ctr" rtlCol="false" tIns="0" lIns="0" bIns="0" rIns="0"/>
            <a:lstStyle/>
            <a:p>
              <a:pPr algn="l">
                <a:lnSpc>
                  <a:spcPts val="2400"/>
                </a:lnSpc>
              </a:pPr>
              <a:r>
                <a:rPr lang="en-US" sz="2000" i="true">
                  <a:solidFill>
                    <a:srgbClr val="FFFFFF"/>
                  </a:solidFill>
                  <a:latin typeface="Arial Italics"/>
                  <a:ea typeface="Arial Italics"/>
                  <a:cs typeface="Arial Italics"/>
                  <a:sym typeface="Arial Italics"/>
                </a:rPr>
                <a:t>React + DOMPurify </a:t>
              </a:r>
            </a:p>
          </p:txBody>
        </p:sp>
      </p:grpSp>
      <p:grpSp>
        <p:nvGrpSpPr>
          <p:cNvPr name="Group 37" id="37"/>
          <p:cNvGrpSpPr/>
          <p:nvPr/>
        </p:nvGrpSpPr>
        <p:grpSpPr>
          <a:xfrm rot="0">
            <a:off x="9405623" y="8399783"/>
            <a:ext cx="6974843" cy="1397003"/>
            <a:chOff x="0" y="0"/>
            <a:chExt cx="9299791" cy="1862671"/>
          </a:xfrm>
        </p:grpSpPr>
        <p:sp>
          <p:nvSpPr>
            <p:cNvPr name="Freeform 38" id="38"/>
            <p:cNvSpPr/>
            <p:nvPr/>
          </p:nvSpPr>
          <p:spPr>
            <a:xfrm flipH="false" flipV="false" rot="0">
              <a:off x="0" y="0"/>
              <a:ext cx="9299829" cy="1862709"/>
            </a:xfrm>
            <a:custGeom>
              <a:avLst/>
              <a:gdLst/>
              <a:ahLst/>
              <a:cxnLst/>
              <a:rect r="r" b="b" t="t" l="l"/>
              <a:pathLst>
                <a:path h="1862709" w="9299829">
                  <a:moveTo>
                    <a:pt x="0" y="248412"/>
                  </a:moveTo>
                  <a:cubicBezTo>
                    <a:pt x="0" y="111252"/>
                    <a:pt x="111252" y="0"/>
                    <a:pt x="248412" y="0"/>
                  </a:cubicBezTo>
                  <a:lnTo>
                    <a:pt x="9051417" y="0"/>
                  </a:lnTo>
                  <a:cubicBezTo>
                    <a:pt x="9188577" y="0"/>
                    <a:pt x="9299829" y="111252"/>
                    <a:pt x="9299829" y="248412"/>
                  </a:cubicBezTo>
                  <a:lnTo>
                    <a:pt x="9299829" y="1614297"/>
                  </a:lnTo>
                  <a:cubicBezTo>
                    <a:pt x="9299829" y="1751457"/>
                    <a:pt x="9188577" y="1862709"/>
                    <a:pt x="9051417" y="1862709"/>
                  </a:cubicBezTo>
                  <a:lnTo>
                    <a:pt x="248412" y="1862709"/>
                  </a:lnTo>
                  <a:cubicBezTo>
                    <a:pt x="111252" y="1862709"/>
                    <a:pt x="0" y="1751457"/>
                    <a:pt x="0" y="1614297"/>
                  </a:cubicBezTo>
                  <a:close/>
                </a:path>
              </a:pathLst>
            </a:custGeom>
            <a:solidFill>
              <a:srgbClr val="10B981"/>
            </a:solidFill>
            <a:ln w="25400" cap="sq">
              <a:solidFill>
                <a:srgbClr val="10B981"/>
              </a:solidFill>
              <a:prstDash val="solid"/>
              <a:miter/>
            </a:ln>
          </p:spPr>
        </p:sp>
      </p:grpSp>
      <p:grpSp>
        <p:nvGrpSpPr>
          <p:cNvPr name="Group 39" id="39"/>
          <p:cNvGrpSpPr/>
          <p:nvPr/>
        </p:nvGrpSpPr>
        <p:grpSpPr>
          <a:xfrm rot="0">
            <a:off x="9784080" y="8741664"/>
            <a:ext cx="731520" cy="731520"/>
            <a:chOff x="0" y="0"/>
            <a:chExt cx="975360" cy="975360"/>
          </a:xfrm>
        </p:grpSpPr>
        <p:sp>
          <p:nvSpPr>
            <p:cNvPr name="Freeform 40" id="40" descr="preencoded.png"/>
            <p:cNvSpPr/>
            <p:nvPr/>
          </p:nvSpPr>
          <p:spPr>
            <a:xfrm flipH="false" flipV="false" rot="0">
              <a:off x="0" y="0"/>
              <a:ext cx="975360" cy="975360"/>
            </a:xfrm>
            <a:custGeom>
              <a:avLst/>
              <a:gdLst/>
              <a:ahLst/>
              <a:cxnLst/>
              <a:rect r="r" b="b" t="t" l="l"/>
              <a:pathLst>
                <a:path h="975360" w="975360">
                  <a:moveTo>
                    <a:pt x="0" y="0"/>
                  </a:moveTo>
                  <a:lnTo>
                    <a:pt x="975360" y="0"/>
                  </a:lnTo>
                  <a:lnTo>
                    <a:pt x="975360" y="975360"/>
                  </a:lnTo>
                  <a:lnTo>
                    <a:pt x="0" y="975360"/>
                  </a:lnTo>
                  <a:lnTo>
                    <a:pt x="0" y="0"/>
                  </a:lnTo>
                  <a:close/>
                </a:path>
              </a:pathLst>
            </a:custGeom>
            <a:blipFill>
              <a:blip r:embed="rId7"/>
              <a:stretch>
                <a:fillRect l="0" t="0" r="0" b="0"/>
              </a:stretch>
            </a:blipFill>
          </p:spPr>
        </p:sp>
      </p:grpSp>
      <p:grpSp>
        <p:nvGrpSpPr>
          <p:cNvPr name="Group 41" id="41"/>
          <p:cNvGrpSpPr/>
          <p:nvPr/>
        </p:nvGrpSpPr>
        <p:grpSpPr>
          <a:xfrm rot="0">
            <a:off x="10698480" y="8503920"/>
            <a:ext cx="5394960" cy="640080"/>
            <a:chOff x="0" y="0"/>
            <a:chExt cx="7193280" cy="853440"/>
          </a:xfrm>
        </p:grpSpPr>
        <p:sp>
          <p:nvSpPr>
            <p:cNvPr name="Freeform 42" id="42"/>
            <p:cNvSpPr/>
            <p:nvPr/>
          </p:nvSpPr>
          <p:spPr>
            <a:xfrm flipH="false" flipV="false" rot="0">
              <a:off x="0" y="0"/>
              <a:ext cx="7193280" cy="853440"/>
            </a:xfrm>
            <a:custGeom>
              <a:avLst/>
              <a:gdLst/>
              <a:ahLst/>
              <a:cxnLst/>
              <a:rect r="r" b="b" t="t" l="l"/>
              <a:pathLst>
                <a:path h="853440" w="7193280">
                  <a:moveTo>
                    <a:pt x="0" y="0"/>
                  </a:moveTo>
                  <a:lnTo>
                    <a:pt x="7193280" y="0"/>
                  </a:lnTo>
                  <a:lnTo>
                    <a:pt x="7193280" y="853440"/>
                  </a:lnTo>
                  <a:lnTo>
                    <a:pt x="0" y="853440"/>
                  </a:lnTo>
                  <a:close/>
                </a:path>
              </a:pathLst>
            </a:custGeom>
            <a:blipFill>
              <a:blip r:embed="rId4">
                <a:alphaModFix amt="0"/>
              </a:blip>
              <a:stretch>
                <a:fillRect l="0" t="-114231" r="0" b="-114231"/>
              </a:stretch>
            </a:blipFill>
          </p:spPr>
        </p:sp>
        <p:sp>
          <p:nvSpPr>
            <p:cNvPr name="TextBox 43" id="43"/>
            <p:cNvSpPr txBox="true"/>
            <p:nvPr/>
          </p:nvSpPr>
          <p:spPr>
            <a:xfrm>
              <a:off x="0" y="-19050"/>
              <a:ext cx="7193280" cy="872490"/>
            </a:xfrm>
            <a:prstGeom prst="rect">
              <a:avLst/>
            </a:prstGeom>
          </p:spPr>
          <p:txBody>
            <a:bodyPr anchor="ctr" rtlCol="false" tIns="0" lIns="0" bIns="0" rIns="0"/>
            <a:lstStyle/>
            <a:p>
              <a:pPr algn="l">
                <a:lnSpc>
                  <a:spcPts val="3359"/>
                </a:lnSpc>
              </a:pPr>
              <a:r>
                <a:rPr lang="en-US" b="true" sz="2799">
                  <a:solidFill>
                    <a:srgbClr val="FFFFFF"/>
                  </a:solidFill>
                  <a:latin typeface="Arial Bold"/>
                  <a:ea typeface="Arial Bold"/>
                  <a:cs typeface="Arial Bold"/>
                  <a:sym typeface="Arial Bold"/>
                </a:rPr>
                <a:t> Injection SQL</a:t>
              </a:r>
            </a:p>
          </p:txBody>
        </p:sp>
      </p:grpSp>
      <p:grpSp>
        <p:nvGrpSpPr>
          <p:cNvPr name="Group 44" id="44"/>
          <p:cNvGrpSpPr/>
          <p:nvPr/>
        </p:nvGrpSpPr>
        <p:grpSpPr>
          <a:xfrm rot="0">
            <a:off x="10698480" y="9107424"/>
            <a:ext cx="5394960" cy="548640"/>
            <a:chOff x="0" y="0"/>
            <a:chExt cx="7193280" cy="731520"/>
          </a:xfrm>
        </p:grpSpPr>
        <p:sp>
          <p:nvSpPr>
            <p:cNvPr name="Freeform 45" id="45"/>
            <p:cNvSpPr/>
            <p:nvPr/>
          </p:nvSpPr>
          <p:spPr>
            <a:xfrm flipH="false" flipV="false" rot="0">
              <a:off x="0" y="0"/>
              <a:ext cx="7193280" cy="731520"/>
            </a:xfrm>
            <a:custGeom>
              <a:avLst/>
              <a:gdLst/>
              <a:ahLst/>
              <a:cxnLst/>
              <a:rect r="r" b="b" t="t" l="l"/>
              <a:pathLst>
                <a:path h="731520" w="7193280">
                  <a:moveTo>
                    <a:pt x="0" y="0"/>
                  </a:moveTo>
                  <a:lnTo>
                    <a:pt x="7193280" y="0"/>
                  </a:lnTo>
                  <a:lnTo>
                    <a:pt x="7193280" y="731520"/>
                  </a:lnTo>
                  <a:lnTo>
                    <a:pt x="0" y="731520"/>
                  </a:lnTo>
                  <a:close/>
                </a:path>
              </a:pathLst>
            </a:custGeom>
            <a:blipFill>
              <a:blip r:embed="rId4">
                <a:alphaModFix amt="0"/>
              </a:blip>
              <a:stretch>
                <a:fillRect l="0" t="-141602" r="0" b="-141602"/>
              </a:stretch>
            </a:blipFill>
          </p:spPr>
        </p:sp>
        <p:sp>
          <p:nvSpPr>
            <p:cNvPr name="TextBox 46" id="46"/>
            <p:cNvSpPr txBox="true"/>
            <p:nvPr/>
          </p:nvSpPr>
          <p:spPr>
            <a:xfrm>
              <a:off x="0" y="-9525"/>
              <a:ext cx="7193280" cy="741045"/>
            </a:xfrm>
            <a:prstGeom prst="rect">
              <a:avLst/>
            </a:prstGeom>
          </p:spPr>
          <p:txBody>
            <a:bodyPr anchor="ctr" rtlCol="false" tIns="0" lIns="0" bIns="0" rIns="0"/>
            <a:lstStyle/>
            <a:p>
              <a:pPr algn="l">
                <a:lnSpc>
                  <a:spcPts val="2400"/>
                </a:lnSpc>
              </a:pPr>
              <a:r>
                <a:rPr lang="en-US" sz="2000" i="true">
                  <a:solidFill>
                    <a:srgbClr val="FFFFFF"/>
                  </a:solidFill>
                  <a:latin typeface="Arial Italics"/>
                  <a:ea typeface="Arial Italics"/>
                  <a:cs typeface="Arial Italics"/>
                  <a:sym typeface="Arial Italics"/>
                </a:rPr>
                <a:t>Django ORM</a:t>
              </a:r>
            </a:p>
          </p:txBody>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1E2761"/>
        </a:solidFill>
      </p:bgPr>
    </p:bg>
    <p:spTree>
      <p:nvGrpSpPr>
        <p:cNvPr id="1" name=""/>
        <p:cNvGrpSpPr/>
        <p:nvPr/>
      </p:nvGrpSpPr>
      <p:grpSpPr>
        <a:xfrm>
          <a:off x="0" y="0"/>
          <a:ext cx="0" cy="0"/>
          <a:chOff x="0" y="0"/>
          <a:chExt cx="0" cy="0"/>
        </a:xfrm>
      </p:grpSpPr>
      <p:grpSp>
        <p:nvGrpSpPr>
          <p:cNvPr name="Group 2" id="2"/>
          <p:cNvGrpSpPr/>
          <p:nvPr/>
        </p:nvGrpSpPr>
        <p:grpSpPr>
          <a:xfrm rot="0">
            <a:off x="3383280" y="365036"/>
            <a:ext cx="822255" cy="822255"/>
            <a:chOff x="0" y="0"/>
            <a:chExt cx="548170" cy="548170"/>
          </a:xfrm>
        </p:grpSpPr>
        <p:sp>
          <p:nvSpPr>
            <p:cNvPr name="Freeform 3" id="3" descr="preencoded.png"/>
            <p:cNvSpPr/>
            <p:nvPr/>
          </p:nvSpPr>
          <p:spPr>
            <a:xfrm flipH="false" flipV="false" rot="0">
              <a:off x="0" y="0"/>
              <a:ext cx="548132" cy="548132"/>
            </a:xfrm>
            <a:custGeom>
              <a:avLst/>
              <a:gdLst/>
              <a:ahLst/>
              <a:cxnLst/>
              <a:rect r="r" b="b" t="t" l="l"/>
              <a:pathLst>
                <a:path h="548132" w="548132">
                  <a:moveTo>
                    <a:pt x="0" y="0"/>
                  </a:moveTo>
                  <a:lnTo>
                    <a:pt x="548132" y="0"/>
                  </a:lnTo>
                  <a:lnTo>
                    <a:pt x="548132" y="548132"/>
                  </a:lnTo>
                  <a:lnTo>
                    <a:pt x="0" y="548132"/>
                  </a:lnTo>
                  <a:lnTo>
                    <a:pt x="0" y="0"/>
                  </a:lnTo>
                  <a:close/>
                </a:path>
              </a:pathLst>
            </a:custGeom>
            <a:blipFill>
              <a:blip r:embed="rId3"/>
              <a:stretch>
                <a:fillRect l="0" t="0" r="-6" b="-6"/>
              </a:stretch>
            </a:blipFill>
          </p:spPr>
        </p:sp>
      </p:grpSp>
      <p:sp>
        <p:nvSpPr>
          <p:cNvPr name="Freeform 4" id="4"/>
          <p:cNvSpPr/>
          <p:nvPr/>
        </p:nvSpPr>
        <p:spPr>
          <a:xfrm flipH="false" flipV="false" rot="0">
            <a:off x="591922" y="1780642"/>
            <a:ext cx="8416652" cy="1101452"/>
          </a:xfrm>
          <a:custGeom>
            <a:avLst/>
            <a:gdLst/>
            <a:ahLst/>
            <a:cxnLst/>
            <a:rect r="r" b="b" t="t" l="l"/>
            <a:pathLst>
              <a:path h="1101452" w="8416652">
                <a:moveTo>
                  <a:pt x="0" y="0"/>
                </a:moveTo>
                <a:lnTo>
                  <a:pt x="8416652" y="0"/>
                </a:lnTo>
                <a:lnTo>
                  <a:pt x="8416652" y="1101452"/>
                </a:lnTo>
                <a:lnTo>
                  <a:pt x="0" y="11014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5" id="5"/>
          <p:cNvGrpSpPr/>
          <p:nvPr/>
        </p:nvGrpSpPr>
        <p:grpSpPr>
          <a:xfrm rot="0">
            <a:off x="3108960" y="2065687"/>
            <a:ext cx="547935" cy="547935"/>
            <a:chOff x="0" y="0"/>
            <a:chExt cx="365290" cy="365290"/>
          </a:xfrm>
        </p:grpSpPr>
        <p:sp>
          <p:nvSpPr>
            <p:cNvPr name="Freeform 6" id="6" descr="preencoded.png"/>
            <p:cNvSpPr/>
            <p:nvPr/>
          </p:nvSpPr>
          <p:spPr>
            <a:xfrm flipH="false" flipV="false" rot="0">
              <a:off x="0" y="0"/>
              <a:ext cx="365252" cy="365252"/>
            </a:xfrm>
            <a:custGeom>
              <a:avLst/>
              <a:gdLst/>
              <a:ahLst/>
              <a:cxnLst/>
              <a:rect r="r" b="b" t="t" l="l"/>
              <a:pathLst>
                <a:path h="365252" w="365252">
                  <a:moveTo>
                    <a:pt x="0" y="0"/>
                  </a:moveTo>
                  <a:lnTo>
                    <a:pt x="365252" y="0"/>
                  </a:lnTo>
                  <a:lnTo>
                    <a:pt x="365252" y="365252"/>
                  </a:lnTo>
                  <a:lnTo>
                    <a:pt x="0" y="365252"/>
                  </a:lnTo>
                  <a:lnTo>
                    <a:pt x="0" y="0"/>
                  </a:lnTo>
                  <a:close/>
                </a:path>
              </a:pathLst>
            </a:custGeom>
            <a:blipFill>
              <a:blip r:embed="rId6"/>
              <a:stretch>
                <a:fillRect l="0" t="0" r="-10" b="-10"/>
              </a:stretch>
            </a:blipFill>
          </p:spPr>
        </p:sp>
      </p:grpSp>
      <p:grpSp>
        <p:nvGrpSpPr>
          <p:cNvPr name="Group 7" id="7"/>
          <p:cNvGrpSpPr/>
          <p:nvPr/>
        </p:nvGrpSpPr>
        <p:grpSpPr>
          <a:xfrm rot="0">
            <a:off x="572395" y="2634463"/>
            <a:ext cx="8455685" cy="6900501"/>
            <a:chOff x="0" y="0"/>
            <a:chExt cx="5637124" cy="4600334"/>
          </a:xfrm>
        </p:grpSpPr>
        <p:sp>
          <p:nvSpPr>
            <p:cNvPr name="Freeform 8" id="8"/>
            <p:cNvSpPr/>
            <p:nvPr/>
          </p:nvSpPr>
          <p:spPr>
            <a:xfrm flipH="false" flipV="false" rot="0">
              <a:off x="0" y="0"/>
              <a:ext cx="5637149" cy="4600321"/>
            </a:xfrm>
            <a:custGeom>
              <a:avLst/>
              <a:gdLst/>
              <a:ahLst/>
              <a:cxnLst/>
              <a:rect r="r" b="b" t="t" l="l"/>
              <a:pathLst>
                <a:path h="4600321" w="5637149">
                  <a:moveTo>
                    <a:pt x="0" y="0"/>
                  </a:moveTo>
                  <a:lnTo>
                    <a:pt x="5637149" y="0"/>
                  </a:lnTo>
                  <a:lnTo>
                    <a:pt x="5637149" y="4600321"/>
                  </a:lnTo>
                  <a:lnTo>
                    <a:pt x="0" y="4600321"/>
                  </a:lnTo>
                  <a:lnTo>
                    <a:pt x="0" y="0"/>
                  </a:lnTo>
                  <a:close/>
                </a:path>
              </a:pathLst>
            </a:custGeom>
            <a:blipFill>
              <a:blip r:embed="rId7">
                <a:alphaModFix amt="10000"/>
              </a:blip>
              <a:stretch>
                <a:fillRect l="0" t="-10" r="0" b="0"/>
              </a:stretch>
            </a:blipFill>
          </p:spPr>
        </p:sp>
      </p:grpSp>
      <p:sp>
        <p:nvSpPr>
          <p:cNvPr name="Freeform 9" id="9"/>
          <p:cNvSpPr/>
          <p:nvPr/>
        </p:nvSpPr>
        <p:spPr>
          <a:xfrm flipH="false" flipV="false" rot="0">
            <a:off x="598037" y="2609012"/>
            <a:ext cx="8404403" cy="6849904"/>
          </a:xfrm>
          <a:custGeom>
            <a:avLst/>
            <a:gdLst/>
            <a:ahLst/>
            <a:cxnLst/>
            <a:rect r="r" b="b" t="t" l="l"/>
            <a:pathLst>
              <a:path h="6849904" w="8404403">
                <a:moveTo>
                  <a:pt x="0" y="0"/>
                </a:moveTo>
                <a:lnTo>
                  <a:pt x="8404402" y="0"/>
                </a:lnTo>
                <a:lnTo>
                  <a:pt x="8404402" y="6849904"/>
                </a:lnTo>
                <a:lnTo>
                  <a:pt x="0" y="684990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10" id="10"/>
          <p:cNvGrpSpPr/>
          <p:nvPr/>
        </p:nvGrpSpPr>
        <p:grpSpPr>
          <a:xfrm rot="0">
            <a:off x="906780" y="3837775"/>
            <a:ext cx="767505" cy="767505"/>
            <a:chOff x="0" y="0"/>
            <a:chExt cx="511670" cy="511670"/>
          </a:xfrm>
        </p:grpSpPr>
        <p:sp>
          <p:nvSpPr>
            <p:cNvPr name="Freeform 11" id="11" descr="preencoded.png"/>
            <p:cNvSpPr/>
            <p:nvPr/>
          </p:nvSpPr>
          <p:spPr>
            <a:xfrm flipH="false" flipV="false" rot="0">
              <a:off x="0" y="0"/>
              <a:ext cx="511683" cy="511683"/>
            </a:xfrm>
            <a:custGeom>
              <a:avLst/>
              <a:gdLst/>
              <a:ahLst/>
              <a:cxnLst/>
              <a:rect r="r" b="b" t="t" l="l"/>
              <a:pathLst>
                <a:path h="511683" w="511683">
                  <a:moveTo>
                    <a:pt x="0" y="0"/>
                  </a:moveTo>
                  <a:lnTo>
                    <a:pt x="511683" y="0"/>
                  </a:lnTo>
                  <a:lnTo>
                    <a:pt x="511683" y="511683"/>
                  </a:lnTo>
                  <a:lnTo>
                    <a:pt x="0" y="511683"/>
                  </a:lnTo>
                  <a:lnTo>
                    <a:pt x="0" y="0"/>
                  </a:lnTo>
                  <a:close/>
                </a:path>
              </a:pathLst>
            </a:custGeom>
            <a:blipFill>
              <a:blip r:embed="rId10"/>
              <a:stretch>
                <a:fillRect l="0" t="0" r="2" b="2"/>
              </a:stretch>
            </a:blipFill>
          </p:spPr>
        </p:sp>
      </p:grpSp>
      <p:grpSp>
        <p:nvGrpSpPr>
          <p:cNvPr name="Group 12" id="12"/>
          <p:cNvGrpSpPr/>
          <p:nvPr/>
        </p:nvGrpSpPr>
        <p:grpSpPr>
          <a:xfrm rot="0">
            <a:off x="906780" y="5911901"/>
            <a:ext cx="767505" cy="767505"/>
            <a:chOff x="0" y="0"/>
            <a:chExt cx="511670" cy="511670"/>
          </a:xfrm>
        </p:grpSpPr>
        <p:sp>
          <p:nvSpPr>
            <p:cNvPr name="Freeform 13" id="13" descr="preencoded.png"/>
            <p:cNvSpPr/>
            <p:nvPr/>
          </p:nvSpPr>
          <p:spPr>
            <a:xfrm flipH="false" flipV="false" rot="0">
              <a:off x="0" y="0"/>
              <a:ext cx="511683" cy="511683"/>
            </a:xfrm>
            <a:custGeom>
              <a:avLst/>
              <a:gdLst/>
              <a:ahLst/>
              <a:cxnLst/>
              <a:rect r="r" b="b" t="t" l="l"/>
              <a:pathLst>
                <a:path h="511683" w="511683">
                  <a:moveTo>
                    <a:pt x="0" y="0"/>
                  </a:moveTo>
                  <a:lnTo>
                    <a:pt x="511683" y="0"/>
                  </a:lnTo>
                  <a:lnTo>
                    <a:pt x="511683" y="511683"/>
                  </a:lnTo>
                  <a:lnTo>
                    <a:pt x="0" y="511683"/>
                  </a:lnTo>
                  <a:lnTo>
                    <a:pt x="0" y="0"/>
                  </a:lnTo>
                  <a:close/>
                </a:path>
              </a:pathLst>
            </a:custGeom>
            <a:blipFill>
              <a:blip r:embed="rId11"/>
              <a:stretch>
                <a:fillRect l="0" t="0" r="2" b="2"/>
              </a:stretch>
            </a:blipFill>
          </p:spPr>
        </p:sp>
      </p:grpSp>
      <p:sp>
        <p:nvSpPr>
          <p:cNvPr name="Freeform 14" id="14"/>
          <p:cNvSpPr/>
          <p:nvPr/>
        </p:nvSpPr>
        <p:spPr>
          <a:xfrm flipH="false" flipV="false" rot="0">
            <a:off x="9278722" y="1780642"/>
            <a:ext cx="8416652" cy="1101452"/>
          </a:xfrm>
          <a:custGeom>
            <a:avLst/>
            <a:gdLst/>
            <a:ahLst/>
            <a:cxnLst/>
            <a:rect r="r" b="b" t="t" l="l"/>
            <a:pathLst>
              <a:path h="1101452" w="8416652">
                <a:moveTo>
                  <a:pt x="0" y="0"/>
                </a:moveTo>
                <a:lnTo>
                  <a:pt x="8416652" y="0"/>
                </a:lnTo>
                <a:lnTo>
                  <a:pt x="8416652" y="1101452"/>
                </a:lnTo>
                <a:lnTo>
                  <a:pt x="0" y="110145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grpSp>
        <p:nvGrpSpPr>
          <p:cNvPr name="Group 15" id="15"/>
          <p:cNvGrpSpPr/>
          <p:nvPr/>
        </p:nvGrpSpPr>
        <p:grpSpPr>
          <a:xfrm rot="0">
            <a:off x="11795760" y="2065687"/>
            <a:ext cx="547935" cy="547935"/>
            <a:chOff x="0" y="0"/>
            <a:chExt cx="365290" cy="365290"/>
          </a:xfrm>
        </p:grpSpPr>
        <p:sp>
          <p:nvSpPr>
            <p:cNvPr name="Freeform 16" id="16" descr="preencoded.png"/>
            <p:cNvSpPr/>
            <p:nvPr/>
          </p:nvSpPr>
          <p:spPr>
            <a:xfrm flipH="false" flipV="false" rot="0">
              <a:off x="0" y="0"/>
              <a:ext cx="365252" cy="365252"/>
            </a:xfrm>
            <a:custGeom>
              <a:avLst/>
              <a:gdLst/>
              <a:ahLst/>
              <a:cxnLst/>
              <a:rect r="r" b="b" t="t" l="l"/>
              <a:pathLst>
                <a:path h="365252" w="365252">
                  <a:moveTo>
                    <a:pt x="0" y="0"/>
                  </a:moveTo>
                  <a:lnTo>
                    <a:pt x="365252" y="0"/>
                  </a:lnTo>
                  <a:lnTo>
                    <a:pt x="365252" y="365252"/>
                  </a:lnTo>
                  <a:lnTo>
                    <a:pt x="0" y="365252"/>
                  </a:lnTo>
                  <a:lnTo>
                    <a:pt x="0" y="0"/>
                  </a:lnTo>
                  <a:close/>
                </a:path>
              </a:pathLst>
            </a:custGeom>
            <a:blipFill>
              <a:blip r:embed="rId14"/>
              <a:stretch>
                <a:fillRect l="0" t="0" r="-10" b="-10"/>
              </a:stretch>
            </a:blipFill>
          </p:spPr>
        </p:sp>
      </p:grpSp>
      <p:grpSp>
        <p:nvGrpSpPr>
          <p:cNvPr name="Group 17" id="17"/>
          <p:cNvGrpSpPr/>
          <p:nvPr/>
        </p:nvGrpSpPr>
        <p:grpSpPr>
          <a:xfrm rot="0">
            <a:off x="9259195" y="2634463"/>
            <a:ext cx="8455685" cy="6900501"/>
            <a:chOff x="0" y="0"/>
            <a:chExt cx="5637124" cy="4600334"/>
          </a:xfrm>
        </p:grpSpPr>
        <p:sp>
          <p:nvSpPr>
            <p:cNvPr name="Freeform 18" id="18"/>
            <p:cNvSpPr/>
            <p:nvPr/>
          </p:nvSpPr>
          <p:spPr>
            <a:xfrm flipH="false" flipV="false" rot="0">
              <a:off x="0" y="0"/>
              <a:ext cx="5637149" cy="4600321"/>
            </a:xfrm>
            <a:custGeom>
              <a:avLst/>
              <a:gdLst/>
              <a:ahLst/>
              <a:cxnLst/>
              <a:rect r="r" b="b" t="t" l="l"/>
              <a:pathLst>
                <a:path h="4600321" w="5637149">
                  <a:moveTo>
                    <a:pt x="0" y="0"/>
                  </a:moveTo>
                  <a:lnTo>
                    <a:pt x="5637149" y="0"/>
                  </a:lnTo>
                  <a:lnTo>
                    <a:pt x="5637149" y="4600321"/>
                  </a:lnTo>
                  <a:lnTo>
                    <a:pt x="0" y="4600321"/>
                  </a:lnTo>
                  <a:lnTo>
                    <a:pt x="0" y="0"/>
                  </a:lnTo>
                  <a:close/>
                </a:path>
              </a:pathLst>
            </a:custGeom>
            <a:blipFill>
              <a:blip r:embed="rId7">
                <a:alphaModFix amt="10000"/>
              </a:blip>
              <a:stretch>
                <a:fillRect l="0" t="-10" r="0" b="0"/>
              </a:stretch>
            </a:blipFill>
          </p:spPr>
        </p:sp>
      </p:grpSp>
      <p:sp>
        <p:nvSpPr>
          <p:cNvPr name="Freeform 19" id="19"/>
          <p:cNvSpPr/>
          <p:nvPr/>
        </p:nvSpPr>
        <p:spPr>
          <a:xfrm flipH="false" flipV="false" rot="0">
            <a:off x="9284837" y="2609012"/>
            <a:ext cx="8404403" cy="6849904"/>
          </a:xfrm>
          <a:custGeom>
            <a:avLst/>
            <a:gdLst/>
            <a:ahLst/>
            <a:cxnLst/>
            <a:rect r="r" b="b" t="t" l="l"/>
            <a:pathLst>
              <a:path h="6849904" w="8404403">
                <a:moveTo>
                  <a:pt x="0" y="0"/>
                </a:moveTo>
                <a:lnTo>
                  <a:pt x="8404402" y="0"/>
                </a:lnTo>
                <a:lnTo>
                  <a:pt x="8404402" y="6849904"/>
                </a:lnTo>
                <a:lnTo>
                  <a:pt x="0" y="6849904"/>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grpSp>
        <p:nvGrpSpPr>
          <p:cNvPr name="Group 20" id="20"/>
          <p:cNvGrpSpPr/>
          <p:nvPr/>
        </p:nvGrpSpPr>
        <p:grpSpPr>
          <a:xfrm rot="0">
            <a:off x="9521433" y="4062150"/>
            <a:ext cx="767505" cy="767505"/>
            <a:chOff x="0" y="0"/>
            <a:chExt cx="511670" cy="511670"/>
          </a:xfrm>
        </p:grpSpPr>
        <p:sp>
          <p:nvSpPr>
            <p:cNvPr name="Freeform 21" id="21" descr="preencoded.png"/>
            <p:cNvSpPr/>
            <p:nvPr/>
          </p:nvSpPr>
          <p:spPr>
            <a:xfrm flipH="false" flipV="false" rot="0">
              <a:off x="0" y="0"/>
              <a:ext cx="511683" cy="511683"/>
            </a:xfrm>
            <a:custGeom>
              <a:avLst/>
              <a:gdLst/>
              <a:ahLst/>
              <a:cxnLst/>
              <a:rect r="r" b="b" t="t" l="l"/>
              <a:pathLst>
                <a:path h="511683" w="511683">
                  <a:moveTo>
                    <a:pt x="0" y="0"/>
                  </a:moveTo>
                  <a:lnTo>
                    <a:pt x="511683" y="0"/>
                  </a:lnTo>
                  <a:lnTo>
                    <a:pt x="511683" y="511683"/>
                  </a:lnTo>
                  <a:lnTo>
                    <a:pt x="0" y="511683"/>
                  </a:lnTo>
                  <a:lnTo>
                    <a:pt x="0" y="0"/>
                  </a:lnTo>
                  <a:close/>
                </a:path>
              </a:pathLst>
            </a:custGeom>
            <a:blipFill>
              <a:blip r:embed="rId17"/>
              <a:stretch>
                <a:fillRect l="0" t="0" r="2" b="2"/>
              </a:stretch>
            </a:blipFill>
          </p:spPr>
        </p:sp>
      </p:grpSp>
      <p:grpSp>
        <p:nvGrpSpPr>
          <p:cNvPr name="Group 22" id="22"/>
          <p:cNvGrpSpPr/>
          <p:nvPr/>
        </p:nvGrpSpPr>
        <p:grpSpPr>
          <a:xfrm rot="0">
            <a:off x="9569648" y="6033964"/>
            <a:ext cx="767505" cy="767505"/>
            <a:chOff x="0" y="0"/>
            <a:chExt cx="511670" cy="511670"/>
          </a:xfrm>
        </p:grpSpPr>
        <p:sp>
          <p:nvSpPr>
            <p:cNvPr name="Freeform 23" id="23" descr="preencoded.png"/>
            <p:cNvSpPr/>
            <p:nvPr/>
          </p:nvSpPr>
          <p:spPr>
            <a:xfrm flipH="false" flipV="false" rot="0">
              <a:off x="0" y="0"/>
              <a:ext cx="511683" cy="511683"/>
            </a:xfrm>
            <a:custGeom>
              <a:avLst/>
              <a:gdLst/>
              <a:ahLst/>
              <a:cxnLst/>
              <a:rect r="r" b="b" t="t" l="l"/>
              <a:pathLst>
                <a:path h="511683" w="511683">
                  <a:moveTo>
                    <a:pt x="0" y="0"/>
                  </a:moveTo>
                  <a:lnTo>
                    <a:pt x="511683" y="0"/>
                  </a:lnTo>
                  <a:lnTo>
                    <a:pt x="511683" y="511683"/>
                  </a:lnTo>
                  <a:lnTo>
                    <a:pt x="0" y="511683"/>
                  </a:lnTo>
                  <a:lnTo>
                    <a:pt x="0" y="0"/>
                  </a:lnTo>
                  <a:close/>
                </a:path>
              </a:pathLst>
            </a:custGeom>
            <a:blipFill>
              <a:blip r:embed="rId18"/>
              <a:stretch>
                <a:fillRect l="0" t="0" r="2" b="2"/>
              </a:stretch>
            </a:blipFill>
          </p:spPr>
        </p:sp>
      </p:grpSp>
      <p:sp>
        <p:nvSpPr>
          <p:cNvPr name="Freeform 24" id="24"/>
          <p:cNvSpPr/>
          <p:nvPr/>
        </p:nvSpPr>
        <p:spPr>
          <a:xfrm flipH="false" flipV="false" rot="0">
            <a:off x="499034" y="9369457"/>
            <a:ext cx="17287780" cy="865270"/>
          </a:xfrm>
          <a:custGeom>
            <a:avLst/>
            <a:gdLst/>
            <a:ahLst/>
            <a:cxnLst/>
            <a:rect r="r" b="b" t="t" l="l"/>
            <a:pathLst>
              <a:path h="865270" w="17287780">
                <a:moveTo>
                  <a:pt x="0" y="0"/>
                </a:moveTo>
                <a:lnTo>
                  <a:pt x="17287780" y="0"/>
                </a:lnTo>
                <a:lnTo>
                  <a:pt x="17287780" y="865270"/>
                </a:lnTo>
                <a:lnTo>
                  <a:pt x="0" y="865270"/>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TextBox 25" id="25"/>
          <p:cNvSpPr txBox="true"/>
          <p:nvPr/>
        </p:nvSpPr>
        <p:spPr>
          <a:xfrm rot="0">
            <a:off x="5792571" y="303747"/>
            <a:ext cx="6811328" cy="830534"/>
          </a:xfrm>
          <a:prstGeom prst="rect">
            <a:avLst/>
          </a:prstGeom>
        </p:spPr>
        <p:txBody>
          <a:bodyPr anchor="t" rtlCol="false" tIns="0" lIns="0" bIns="0" rIns="0">
            <a:spAutoFit/>
          </a:bodyPr>
          <a:lstStyle/>
          <a:p>
            <a:pPr algn="l">
              <a:lnSpc>
                <a:spcPts val="6722"/>
              </a:lnSpc>
            </a:pPr>
            <a:r>
              <a:rPr lang="en-US" b="true" sz="4801">
                <a:solidFill>
                  <a:srgbClr val="FFFFFF"/>
                </a:solidFill>
                <a:latin typeface="Liberation Sans Bold"/>
                <a:ea typeface="Liberation Sans Bold"/>
                <a:cs typeface="Liberation Sans Bold"/>
                <a:sym typeface="Liberation Sans Bold"/>
              </a:rPr>
              <a:t>Défi</a:t>
            </a:r>
            <a:r>
              <a:rPr lang="en-US" b="true" sz="4801">
                <a:solidFill>
                  <a:srgbClr val="FFFFFF"/>
                </a:solidFill>
                <a:latin typeface="Liberation Sans Bold"/>
                <a:ea typeface="Liberation Sans Bold"/>
                <a:cs typeface="Liberation Sans Bold"/>
                <a:sym typeface="Liberation Sans Bold"/>
              </a:rPr>
              <a:t>s et enseignements</a:t>
            </a:r>
          </a:p>
        </p:txBody>
      </p:sp>
      <p:sp>
        <p:nvSpPr>
          <p:cNvPr name="TextBox 26" id="26"/>
          <p:cNvSpPr txBox="true"/>
          <p:nvPr/>
        </p:nvSpPr>
        <p:spPr>
          <a:xfrm rot="0">
            <a:off x="5085521" y="1322161"/>
            <a:ext cx="8871823" cy="382280"/>
          </a:xfrm>
          <a:prstGeom prst="rect">
            <a:avLst/>
          </a:prstGeom>
        </p:spPr>
        <p:txBody>
          <a:bodyPr anchor="t" rtlCol="false" tIns="0" lIns="0" bIns="0" rIns="0">
            <a:spAutoFit/>
          </a:bodyPr>
          <a:lstStyle/>
          <a:p>
            <a:pPr algn="l">
              <a:lnSpc>
                <a:spcPts val="3079"/>
              </a:lnSpc>
            </a:pPr>
            <a:r>
              <a:rPr lang="en-US" sz="2199" i="true" spc="2">
                <a:solidFill>
                  <a:srgbClr val="00C2D7"/>
                </a:solidFill>
                <a:latin typeface="Liberation Sans Italics"/>
                <a:ea typeface="Liberation Sans Italics"/>
                <a:cs typeface="Liberation Sans Italics"/>
                <a:sym typeface="Liberation Sans Italics"/>
              </a:rPr>
              <a:t>L</a:t>
            </a:r>
            <a:r>
              <a:rPr lang="en-US" sz="2199" i="true" spc="2">
                <a:solidFill>
                  <a:srgbClr val="00C2D7"/>
                </a:solidFill>
                <a:latin typeface="Liberation Sans Italics"/>
                <a:ea typeface="Liberation Sans Italics"/>
                <a:cs typeface="Liberation Sans Italics"/>
                <a:sym typeface="Liberation Sans Italics"/>
              </a:rPr>
              <a:t>es coulisses de la réalisation : les défis rencontrés et les choix retenus</a:t>
            </a:r>
          </a:p>
        </p:txBody>
      </p:sp>
      <p:sp>
        <p:nvSpPr>
          <p:cNvPr name="TextBox 27" id="27"/>
          <p:cNvSpPr txBox="true"/>
          <p:nvPr/>
        </p:nvSpPr>
        <p:spPr>
          <a:xfrm rot="0">
            <a:off x="3748335" y="2123199"/>
            <a:ext cx="1121807" cy="504851"/>
          </a:xfrm>
          <a:prstGeom prst="rect">
            <a:avLst/>
          </a:prstGeom>
        </p:spPr>
        <p:txBody>
          <a:bodyPr anchor="t" rtlCol="false" tIns="0" lIns="0" bIns="0" rIns="0">
            <a:spAutoFit/>
          </a:bodyPr>
          <a:lstStyle/>
          <a:p>
            <a:pPr algn="l">
              <a:lnSpc>
                <a:spcPts val="4198"/>
              </a:lnSpc>
            </a:pPr>
            <a:r>
              <a:rPr lang="en-US" b="true" sz="2998">
                <a:solidFill>
                  <a:srgbClr val="FFFFFF"/>
                </a:solidFill>
                <a:latin typeface="Liberation Sans Bold"/>
                <a:ea typeface="Liberation Sans Bold"/>
                <a:cs typeface="Liberation Sans Bold"/>
                <a:sym typeface="Liberation Sans Bold"/>
              </a:rPr>
              <a:t>DÉFI</a:t>
            </a:r>
            <a:r>
              <a:rPr lang="en-US" b="true" sz="2998">
                <a:solidFill>
                  <a:srgbClr val="FFFFFF"/>
                </a:solidFill>
                <a:latin typeface="Liberation Sans Bold"/>
                <a:ea typeface="Liberation Sans Bold"/>
                <a:cs typeface="Liberation Sans Bold"/>
                <a:sym typeface="Liberation Sans Bold"/>
              </a:rPr>
              <a:t>S</a:t>
            </a:r>
          </a:p>
        </p:txBody>
      </p:sp>
      <p:sp>
        <p:nvSpPr>
          <p:cNvPr name="TextBox 28" id="28"/>
          <p:cNvSpPr txBox="true"/>
          <p:nvPr/>
        </p:nvSpPr>
        <p:spPr>
          <a:xfrm rot="0">
            <a:off x="12435135" y="2123199"/>
            <a:ext cx="3068479" cy="504851"/>
          </a:xfrm>
          <a:prstGeom prst="rect">
            <a:avLst/>
          </a:prstGeom>
        </p:spPr>
        <p:txBody>
          <a:bodyPr anchor="t" rtlCol="false" tIns="0" lIns="0" bIns="0" rIns="0">
            <a:spAutoFit/>
          </a:bodyPr>
          <a:lstStyle/>
          <a:p>
            <a:pPr algn="l">
              <a:lnSpc>
                <a:spcPts val="4198"/>
              </a:lnSpc>
            </a:pPr>
            <a:r>
              <a:rPr lang="en-US" b="true" sz="2998">
                <a:solidFill>
                  <a:srgbClr val="FFFFFF"/>
                </a:solidFill>
                <a:latin typeface="Liberation Sans Bold"/>
                <a:ea typeface="Liberation Sans Bold"/>
                <a:cs typeface="Liberation Sans Bold"/>
                <a:sym typeface="Liberation Sans Bold"/>
              </a:rPr>
              <a:t>LEÇONS TIRÉES</a:t>
            </a:r>
          </a:p>
        </p:txBody>
      </p:sp>
      <p:sp>
        <p:nvSpPr>
          <p:cNvPr name="TextBox 29" id="29"/>
          <p:cNvSpPr txBox="true"/>
          <p:nvPr/>
        </p:nvSpPr>
        <p:spPr>
          <a:xfrm rot="0">
            <a:off x="1907591" y="5957764"/>
            <a:ext cx="3900011" cy="500365"/>
          </a:xfrm>
          <a:prstGeom prst="rect">
            <a:avLst/>
          </a:prstGeom>
        </p:spPr>
        <p:txBody>
          <a:bodyPr anchor="t" rtlCol="false" tIns="0" lIns="0" bIns="0" rIns="0">
            <a:spAutoFit/>
          </a:bodyPr>
          <a:lstStyle/>
          <a:p>
            <a:pPr algn="l">
              <a:lnSpc>
                <a:spcPts val="3920"/>
              </a:lnSpc>
            </a:pPr>
            <a:r>
              <a:rPr lang="en-US" b="true" sz="2800" spc="2">
                <a:solidFill>
                  <a:srgbClr val="FFFFFF"/>
                </a:solidFill>
                <a:latin typeface="Liberation Sans Bold"/>
                <a:ea typeface="Liberation Sans Bold"/>
                <a:cs typeface="Liberation Sans Bold"/>
                <a:sym typeface="Liberation Sans Bold"/>
              </a:rPr>
              <a:t>Sessions m</a:t>
            </a:r>
            <a:r>
              <a:rPr lang="en-US" b="true" sz="2800" spc="2">
                <a:solidFill>
                  <a:srgbClr val="FFFFFF"/>
                </a:solidFill>
                <a:latin typeface="Liberation Sans Bold"/>
                <a:ea typeface="Liberation Sans Bold"/>
                <a:cs typeface="Liberation Sans Bold"/>
                <a:sym typeface="Liberation Sans Bold"/>
              </a:rPr>
              <a:t>ulti-onglets</a:t>
            </a:r>
          </a:p>
        </p:txBody>
      </p:sp>
      <p:sp>
        <p:nvSpPr>
          <p:cNvPr name="TextBox 30" id="30"/>
          <p:cNvSpPr txBox="true"/>
          <p:nvPr/>
        </p:nvSpPr>
        <p:spPr>
          <a:xfrm rot="0">
            <a:off x="3454908" y="5636533"/>
            <a:ext cx="71799" cy="347339"/>
          </a:xfrm>
          <a:prstGeom prst="rect">
            <a:avLst/>
          </a:prstGeom>
        </p:spPr>
        <p:txBody>
          <a:bodyPr anchor="t" rtlCol="false" tIns="0" lIns="0" bIns="0" rIns="0">
            <a:spAutoFit/>
          </a:bodyPr>
          <a:lstStyle/>
          <a:p>
            <a:pPr algn="l">
              <a:lnSpc>
                <a:spcPts val="2801"/>
              </a:lnSpc>
            </a:pPr>
            <a:r>
              <a:rPr lang="en-US" sz="2001">
                <a:solidFill>
                  <a:srgbClr val="E8EEFC"/>
                </a:solidFill>
                <a:latin typeface="Liberation Sans"/>
                <a:ea typeface="Liberation Sans"/>
                <a:cs typeface="Liberation Sans"/>
                <a:sym typeface="Liberation Sans"/>
              </a:rPr>
              <a:t> </a:t>
            </a:r>
          </a:p>
        </p:txBody>
      </p:sp>
      <p:sp>
        <p:nvSpPr>
          <p:cNvPr name="TextBox 31" id="31"/>
          <p:cNvSpPr txBox="true"/>
          <p:nvPr/>
        </p:nvSpPr>
        <p:spPr>
          <a:xfrm rot="0">
            <a:off x="3299879" y="7648213"/>
            <a:ext cx="71799" cy="347339"/>
          </a:xfrm>
          <a:prstGeom prst="rect">
            <a:avLst/>
          </a:prstGeom>
        </p:spPr>
        <p:txBody>
          <a:bodyPr anchor="t" rtlCol="false" tIns="0" lIns="0" bIns="0" rIns="0">
            <a:spAutoFit/>
          </a:bodyPr>
          <a:lstStyle/>
          <a:p>
            <a:pPr algn="l">
              <a:lnSpc>
                <a:spcPts val="2801"/>
              </a:lnSpc>
            </a:pPr>
            <a:r>
              <a:rPr lang="en-US" sz="2001">
                <a:solidFill>
                  <a:srgbClr val="E8EEFC"/>
                </a:solidFill>
                <a:latin typeface="Liberation Sans"/>
                <a:ea typeface="Liberation Sans"/>
                <a:cs typeface="Liberation Sans"/>
                <a:sym typeface="Liberation Sans"/>
              </a:rPr>
              <a:t> </a:t>
            </a:r>
          </a:p>
        </p:txBody>
      </p:sp>
      <p:sp>
        <p:nvSpPr>
          <p:cNvPr name="TextBox 32" id="32"/>
          <p:cNvSpPr txBox="true"/>
          <p:nvPr/>
        </p:nvSpPr>
        <p:spPr>
          <a:xfrm rot="0">
            <a:off x="1928031" y="3895992"/>
            <a:ext cx="5128498" cy="500365"/>
          </a:xfrm>
          <a:prstGeom prst="rect">
            <a:avLst/>
          </a:prstGeom>
        </p:spPr>
        <p:txBody>
          <a:bodyPr anchor="t" rtlCol="false" tIns="0" lIns="0" bIns="0" rIns="0">
            <a:spAutoFit/>
          </a:bodyPr>
          <a:lstStyle/>
          <a:p>
            <a:pPr algn="l">
              <a:lnSpc>
                <a:spcPts val="3920"/>
              </a:lnSpc>
            </a:pPr>
            <a:r>
              <a:rPr lang="en-US" b="true" sz="2800" spc="2">
                <a:solidFill>
                  <a:srgbClr val="FFFFFF"/>
                </a:solidFill>
                <a:latin typeface="Liberation Sans Bold"/>
                <a:ea typeface="Liberation Sans Bold"/>
                <a:cs typeface="Liberation Sans Bold"/>
                <a:sym typeface="Liberation Sans Bold"/>
              </a:rPr>
              <a:t>Systè</a:t>
            </a:r>
            <a:r>
              <a:rPr lang="en-US" b="true" sz="2800" spc="2">
                <a:solidFill>
                  <a:srgbClr val="FFFFFF"/>
                </a:solidFill>
                <a:latin typeface="Liberation Sans Bold"/>
                <a:ea typeface="Liberation Sans Bold"/>
                <a:cs typeface="Liberation Sans Bold"/>
                <a:sym typeface="Liberation Sans Bold"/>
              </a:rPr>
              <a:t>me de fichiers éphémère</a:t>
            </a:r>
          </a:p>
        </p:txBody>
      </p:sp>
      <p:sp>
        <p:nvSpPr>
          <p:cNvPr name="TextBox 33" id="33"/>
          <p:cNvSpPr txBox="true"/>
          <p:nvPr/>
        </p:nvSpPr>
        <p:spPr>
          <a:xfrm rot="0">
            <a:off x="2933910" y="3624853"/>
            <a:ext cx="71799" cy="347339"/>
          </a:xfrm>
          <a:prstGeom prst="rect">
            <a:avLst/>
          </a:prstGeom>
        </p:spPr>
        <p:txBody>
          <a:bodyPr anchor="t" rtlCol="false" tIns="0" lIns="0" bIns="0" rIns="0">
            <a:spAutoFit/>
          </a:bodyPr>
          <a:lstStyle/>
          <a:p>
            <a:pPr algn="l">
              <a:lnSpc>
                <a:spcPts val="2801"/>
              </a:lnSpc>
            </a:pPr>
            <a:r>
              <a:rPr lang="en-US" sz="2001">
                <a:solidFill>
                  <a:srgbClr val="E8EEFC"/>
                </a:solidFill>
                <a:latin typeface="Liberation Sans"/>
                <a:ea typeface="Liberation Sans"/>
                <a:cs typeface="Liberation Sans"/>
                <a:sym typeface="Liberation Sans"/>
              </a:rPr>
              <a:t> </a:t>
            </a:r>
          </a:p>
        </p:txBody>
      </p:sp>
      <p:sp>
        <p:nvSpPr>
          <p:cNvPr name="TextBox 34" id="34"/>
          <p:cNvSpPr txBox="true"/>
          <p:nvPr/>
        </p:nvSpPr>
        <p:spPr>
          <a:xfrm rot="0">
            <a:off x="10780185" y="5957764"/>
            <a:ext cx="3880009" cy="500365"/>
          </a:xfrm>
          <a:prstGeom prst="rect">
            <a:avLst/>
          </a:prstGeom>
        </p:spPr>
        <p:txBody>
          <a:bodyPr anchor="t" rtlCol="false" tIns="0" lIns="0" bIns="0" rIns="0">
            <a:spAutoFit/>
          </a:bodyPr>
          <a:lstStyle/>
          <a:p>
            <a:pPr algn="l">
              <a:lnSpc>
                <a:spcPts val="3920"/>
              </a:lnSpc>
            </a:pPr>
            <a:r>
              <a:rPr lang="en-US" b="true" sz="2800" spc="2">
                <a:solidFill>
                  <a:srgbClr val="FFFFFF"/>
                </a:solidFill>
                <a:latin typeface="Liberation Sans Bold"/>
                <a:ea typeface="Liberation Sans Bold"/>
                <a:cs typeface="Liberation Sans Bold"/>
                <a:sym typeface="Liberation Sans Bold"/>
              </a:rPr>
              <a:t>Asynchrone par défaut</a:t>
            </a:r>
          </a:p>
        </p:txBody>
      </p:sp>
      <p:sp>
        <p:nvSpPr>
          <p:cNvPr name="TextBox 35" id="35"/>
          <p:cNvSpPr txBox="true"/>
          <p:nvPr/>
        </p:nvSpPr>
        <p:spPr>
          <a:xfrm rot="0">
            <a:off x="12282259" y="7648213"/>
            <a:ext cx="71799" cy="347339"/>
          </a:xfrm>
          <a:prstGeom prst="rect">
            <a:avLst/>
          </a:prstGeom>
        </p:spPr>
        <p:txBody>
          <a:bodyPr anchor="t" rtlCol="false" tIns="0" lIns="0" bIns="0" rIns="0">
            <a:spAutoFit/>
          </a:bodyPr>
          <a:lstStyle/>
          <a:p>
            <a:pPr algn="l">
              <a:lnSpc>
                <a:spcPts val="2801"/>
              </a:lnSpc>
            </a:pPr>
            <a:r>
              <a:rPr lang="en-US" sz="2001">
                <a:solidFill>
                  <a:srgbClr val="E8EEFC"/>
                </a:solidFill>
                <a:latin typeface="Liberation Sans"/>
                <a:ea typeface="Liberation Sans"/>
                <a:cs typeface="Liberation Sans"/>
                <a:sym typeface="Liberation Sans"/>
              </a:rPr>
              <a:t> </a:t>
            </a:r>
          </a:p>
        </p:txBody>
      </p:sp>
      <p:sp>
        <p:nvSpPr>
          <p:cNvPr name="TextBox 36" id="36"/>
          <p:cNvSpPr txBox="true"/>
          <p:nvPr/>
        </p:nvSpPr>
        <p:spPr>
          <a:xfrm rot="0">
            <a:off x="10485487" y="4030856"/>
            <a:ext cx="3899297" cy="500365"/>
          </a:xfrm>
          <a:prstGeom prst="rect">
            <a:avLst/>
          </a:prstGeom>
        </p:spPr>
        <p:txBody>
          <a:bodyPr anchor="t" rtlCol="false" tIns="0" lIns="0" bIns="0" rIns="0">
            <a:spAutoFit/>
          </a:bodyPr>
          <a:lstStyle/>
          <a:p>
            <a:pPr algn="l">
              <a:lnSpc>
                <a:spcPts val="3920"/>
              </a:lnSpc>
            </a:pPr>
            <a:r>
              <a:rPr lang="en-US" b="true" sz="2800" spc="2">
                <a:solidFill>
                  <a:srgbClr val="FFFFFF"/>
                </a:solidFill>
                <a:latin typeface="Liberation Sans Bold"/>
                <a:ea typeface="Liberation Sans Bold"/>
                <a:cs typeface="Liberation Sans Bold"/>
                <a:sym typeface="Liberation Sans Bold"/>
              </a:rPr>
              <a:t>Défense en profondeur</a:t>
            </a:r>
          </a:p>
        </p:txBody>
      </p:sp>
      <p:sp>
        <p:nvSpPr>
          <p:cNvPr name="TextBox 37" id="37"/>
          <p:cNvSpPr txBox="true"/>
          <p:nvPr/>
        </p:nvSpPr>
        <p:spPr>
          <a:xfrm rot="0">
            <a:off x="11213040" y="3624853"/>
            <a:ext cx="71799" cy="347339"/>
          </a:xfrm>
          <a:prstGeom prst="rect">
            <a:avLst/>
          </a:prstGeom>
        </p:spPr>
        <p:txBody>
          <a:bodyPr anchor="t" rtlCol="false" tIns="0" lIns="0" bIns="0" rIns="0">
            <a:spAutoFit/>
          </a:bodyPr>
          <a:lstStyle/>
          <a:p>
            <a:pPr algn="l">
              <a:lnSpc>
                <a:spcPts val="2801"/>
              </a:lnSpc>
            </a:pPr>
            <a:r>
              <a:rPr lang="en-US" sz="2001">
                <a:solidFill>
                  <a:srgbClr val="E8EEFC"/>
                </a:solidFill>
                <a:latin typeface="Liberation Sans"/>
                <a:ea typeface="Liberation Sans"/>
                <a:cs typeface="Liberation Sans"/>
                <a:sym typeface="Liberation Sans"/>
              </a:rPr>
              <a:t> </a:t>
            </a:r>
          </a:p>
        </p:txBody>
      </p:sp>
      <p:sp>
        <p:nvSpPr>
          <p:cNvPr name="TextBox 38" id="38"/>
          <p:cNvSpPr txBox="true"/>
          <p:nvPr/>
        </p:nvSpPr>
        <p:spPr>
          <a:xfrm rot="0">
            <a:off x="11929758" y="5636533"/>
            <a:ext cx="71799" cy="347339"/>
          </a:xfrm>
          <a:prstGeom prst="rect">
            <a:avLst/>
          </a:prstGeom>
        </p:spPr>
        <p:txBody>
          <a:bodyPr anchor="t" rtlCol="false" tIns="0" lIns="0" bIns="0" rIns="0">
            <a:spAutoFit/>
          </a:bodyPr>
          <a:lstStyle/>
          <a:p>
            <a:pPr algn="l">
              <a:lnSpc>
                <a:spcPts val="2801"/>
              </a:lnSpc>
            </a:pPr>
            <a:r>
              <a:rPr lang="en-US" sz="2001">
                <a:solidFill>
                  <a:srgbClr val="E8EEFC"/>
                </a:solidFill>
                <a:latin typeface="Liberation Sans"/>
                <a:ea typeface="Liberation Sans"/>
                <a:cs typeface="Liberation Sans"/>
                <a:sym typeface="Liberation Sans"/>
              </a:rPr>
              <a:t> </a:t>
            </a:r>
          </a:p>
        </p:txBody>
      </p:sp>
      <p:sp>
        <p:nvSpPr>
          <p:cNvPr name="TextBox 39" id="39"/>
          <p:cNvSpPr txBox="true"/>
          <p:nvPr/>
        </p:nvSpPr>
        <p:spPr>
          <a:xfrm rot="0">
            <a:off x="1706251" y="3971642"/>
            <a:ext cx="5614518" cy="926139"/>
          </a:xfrm>
          <a:prstGeom prst="rect">
            <a:avLst/>
          </a:prstGeom>
        </p:spPr>
        <p:txBody>
          <a:bodyPr anchor="t" rtlCol="false" tIns="0" lIns="0" bIns="0" rIns="0">
            <a:spAutoFit/>
          </a:bodyPr>
          <a:lstStyle/>
          <a:p>
            <a:pPr algn="l">
              <a:lnSpc>
                <a:spcPts val="3939"/>
              </a:lnSpc>
            </a:pPr>
          </a:p>
          <a:p>
            <a:pPr algn="l">
              <a:lnSpc>
                <a:spcPts val="3939"/>
              </a:lnSpc>
            </a:pPr>
            <a:r>
              <a:rPr lang="en-US" b="true" sz="2027" i="true">
                <a:solidFill>
                  <a:srgbClr val="F59E0B"/>
                </a:solidFill>
                <a:latin typeface="Liberation Sans Bold Italics"/>
                <a:ea typeface="Liberation Sans Bold Italics"/>
                <a:cs typeface="Liberation Sans Bold Italics"/>
                <a:sym typeface="Liberation Sans Bold Italics"/>
              </a:rPr>
              <a:t>→ Volume persistant monté sur /app/media</a:t>
            </a:r>
          </a:p>
        </p:txBody>
      </p:sp>
      <p:sp>
        <p:nvSpPr>
          <p:cNvPr name="TextBox 40" id="40"/>
          <p:cNvSpPr txBox="true"/>
          <p:nvPr/>
        </p:nvSpPr>
        <p:spPr>
          <a:xfrm rot="0">
            <a:off x="1687087" y="6076813"/>
            <a:ext cx="5984012" cy="1382790"/>
          </a:xfrm>
          <a:prstGeom prst="rect">
            <a:avLst/>
          </a:prstGeom>
        </p:spPr>
        <p:txBody>
          <a:bodyPr anchor="t" rtlCol="false" tIns="0" lIns="0" bIns="0" rIns="0">
            <a:spAutoFit/>
          </a:bodyPr>
          <a:lstStyle/>
          <a:p>
            <a:pPr algn="l">
              <a:lnSpc>
                <a:spcPts val="3888"/>
              </a:lnSpc>
            </a:pPr>
          </a:p>
          <a:p>
            <a:pPr algn="l">
              <a:lnSpc>
                <a:spcPts val="3888"/>
              </a:lnSpc>
            </a:pPr>
            <a:r>
              <a:rPr lang="en-US" b="true" sz="2001" i="true">
                <a:solidFill>
                  <a:srgbClr val="F59E0B"/>
                </a:solidFill>
                <a:latin typeface="Liberation Sans Bold Italics"/>
                <a:ea typeface="Liberation Sans Bold Italics"/>
                <a:cs typeface="Liberation Sans Bold Italics"/>
                <a:sym typeface="Liberation Sans Bold Italics"/>
              </a:rPr>
              <a:t>→ Déplacement du JWT vers sessionStorage (isolé par onglet)</a:t>
            </a:r>
          </a:p>
        </p:txBody>
      </p:sp>
      <p:sp>
        <p:nvSpPr>
          <p:cNvPr name="TextBox 41" id="41"/>
          <p:cNvSpPr txBox="true"/>
          <p:nvPr/>
        </p:nvSpPr>
        <p:spPr>
          <a:xfrm rot="0">
            <a:off x="10337154" y="4635996"/>
            <a:ext cx="6981587" cy="339695"/>
          </a:xfrm>
          <a:prstGeom prst="rect">
            <a:avLst/>
          </a:prstGeom>
        </p:spPr>
        <p:txBody>
          <a:bodyPr anchor="t" rtlCol="false" tIns="0" lIns="0" bIns="0" rIns="0">
            <a:spAutoFit/>
          </a:bodyPr>
          <a:lstStyle/>
          <a:p>
            <a:pPr algn="l">
              <a:lnSpc>
                <a:spcPts val="2801"/>
              </a:lnSpc>
            </a:pPr>
            <a:r>
              <a:rPr lang="en-US" b="true" sz="2001" i="true">
                <a:solidFill>
                  <a:srgbClr val="00C2D7"/>
                </a:solidFill>
                <a:latin typeface="Liberation Sans Bold Italics"/>
                <a:ea typeface="Liberation Sans Bold Italics"/>
                <a:cs typeface="Liberation Sans Bold Italics"/>
                <a:sym typeface="Liberation Sans Bold Italics"/>
              </a:rPr>
              <a:t>→ React + DOMPurify : ensemble contre les attaques XSS</a:t>
            </a:r>
          </a:p>
        </p:txBody>
      </p:sp>
      <p:sp>
        <p:nvSpPr>
          <p:cNvPr name="TextBox 42" id="42"/>
          <p:cNvSpPr txBox="true"/>
          <p:nvPr/>
        </p:nvSpPr>
        <p:spPr>
          <a:xfrm rot="0">
            <a:off x="10167833" y="6645986"/>
            <a:ext cx="7292102" cy="339695"/>
          </a:xfrm>
          <a:prstGeom prst="rect">
            <a:avLst/>
          </a:prstGeom>
        </p:spPr>
        <p:txBody>
          <a:bodyPr anchor="t" rtlCol="false" tIns="0" lIns="0" bIns="0" rIns="0">
            <a:spAutoFit/>
          </a:bodyPr>
          <a:lstStyle/>
          <a:p>
            <a:pPr algn="l">
              <a:lnSpc>
                <a:spcPts val="2801"/>
              </a:lnSpc>
            </a:pPr>
            <a:r>
              <a:rPr lang="en-US" b="true" sz="2001" i="true">
                <a:solidFill>
                  <a:srgbClr val="00C2D7"/>
                </a:solidFill>
                <a:latin typeface="Liberation Sans Bold Italics"/>
                <a:ea typeface="Liberation Sans Bold Italics"/>
                <a:cs typeface="Liberation Sans Bold Italics"/>
                <a:sym typeface="Liberation Sans Bold Italics"/>
              </a:rPr>
              <a:t>→ Celery + Redis pour les PDF et les notifications par e-mail</a:t>
            </a:r>
          </a:p>
        </p:txBody>
      </p:sp>
      <p:sp>
        <p:nvSpPr>
          <p:cNvPr name="TextBox 43" id="43"/>
          <p:cNvSpPr txBox="true"/>
          <p:nvPr/>
        </p:nvSpPr>
        <p:spPr>
          <a:xfrm rot="0">
            <a:off x="4465215" y="9630213"/>
            <a:ext cx="11405235" cy="415336"/>
          </a:xfrm>
          <a:prstGeom prst="rect">
            <a:avLst/>
          </a:prstGeom>
        </p:spPr>
        <p:txBody>
          <a:bodyPr anchor="t" rtlCol="false" tIns="0" lIns="0" bIns="0" rIns="0">
            <a:spAutoFit/>
          </a:bodyPr>
          <a:lstStyle/>
          <a:p>
            <a:pPr algn="l">
              <a:lnSpc>
                <a:spcPts val="3357"/>
              </a:lnSpc>
            </a:pPr>
            <a:r>
              <a:rPr lang="en-US" b="true" sz="2398">
                <a:solidFill>
                  <a:srgbClr val="1E2761"/>
                </a:solidFill>
                <a:latin typeface="Liberation Sans Bold"/>
                <a:ea typeface="Liberation Sans Bold"/>
                <a:cs typeface="Liberation Sans Bold"/>
                <a:sym typeface="Liberation Sans Bold"/>
              </a:rPr>
              <a:t>4 semaines · Plus de 20 améliorations · 1 véritable MVP prêt pour la production</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1E2761"/>
        </a:solidFill>
      </p:bgPr>
    </p:bg>
    <p:spTree>
      <p:nvGrpSpPr>
        <p:cNvPr id="1" name=""/>
        <p:cNvGrpSpPr/>
        <p:nvPr/>
      </p:nvGrpSpPr>
      <p:grpSpPr>
        <a:xfrm>
          <a:off x="0" y="0"/>
          <a:ext cx="0" cy="0"/>
          <a:chOff x="0" y="0"/>
          <a:chExt cx="0" cy="0"/>
        </a:xfrm>
      </p:grpSpPr>
      <p:sp>
        <p:nvSpPr>
          <p:cNvPr name="Freeform 2" id="2"/>
          <p:cNvSpPr/>
          <p:nvPr/>
        </p:nvSpPr>
        <p:spPr>
          <a:xfrm flipH="false" flipV="false" rot="0">
            <a:off x="233292" y="1737952"/>
            <a:ext cx="17821416" cy="6215204"/>
          </a:xfrm>
          <a:custGeom>
            <a:avLst/>
            <a:gdLst/>
            <a:ahLst/>
            <a:cxnLst/>
            <a:rect r="r" b="b" t="t" l="l"/>
            <a:pathLst>
              <a:path h="6215204" w="17821416">
                <a:moveTo>
                  <a:pt x="0" y="0"/>
                </a:moveTo>
                <a:lnTo>
                  <a:pt x="17821416" y="0"/>
                </a:lnTo>
                <a:lnTo>
                  <a:pt x="17821416" y="6215205"/>
                </a:lnTo>
                <a:lnTo>
                  <a:pt x="0" y="6215205"/>
                </a:lnTo>
                <a:lnTo>
                  <a:pt x="0" y="0"/>
                </a:lnTo>
                <a:close/>
              </a:path>
            </a:pathLst>
          </a:custGeom>
          <a:blipFill>
            <a:blip r:embed="rId3"/>
            <a:stretch>
              <a:fillRect l="0" t="0" r="0" b="-1433"/>
            </a:stretch>
          </a:blipFill>
        </p:spPr>
      </p:sp>
      <p:sp>
        <p:nvSpPr>
          <p:cNvPr name="TextBox 3" id="3"/>
          <p:cNvSpPr txBox="true"/>
          <p:nvPr/>
        </p:nvSpPr>
        <p:spPr>
          <a:xfrm rot="0">
            <a:off x="6558017" y="477728"/>
            <a:ext cx="5039796" cy="942975"/>
          </a:xfrm>
          <a:prstGeom prst="rect">
            <a:avLst/>
          </a:prstGeom>
        </p:spPr>
        <p:txBody>
          <a:bodyPr anchor="t" rtlCol="false" tIns="0" lIns="0" bIns="0" rIns="0">
            <a:spAutoFit/>
          </a:bodyPr>
          <a:lstStyle/>
          <a:p>
            <a:pPr algn="ctr">
              <a:lnSpc>
                <a:spcPts val="7200"/>
              </a:lnSpc>
              <a:spcBef>
                <a:spcPct val="0"/>
              </a:spcBef>
            </a:pPr>
            <a:r>
              <a:rPr lang="en-US" b="true" sz="6000">
                <a:solidFill>
                  <a:srgbClr val="FFFFFF"/>
                </a:solidFill>
                <a:latin typeface="Arial Bold"/>
                <a:ea typeface="Arial Bold"/>
                <a:cs typeface="Arial Bold"/>
                <a:sym typeface="Arial Bold"/>
              </a:rPr>
              <a:t>Rétrospective</a:t>
            </a:r>
          </a:p>
        </p:txBody>
      </p:sp>
      <p:grpSp>
        <p:nvGrpSpPr>
          <p:cNvPr name="Group 4" id="4"/>
          <p:cNvGrpSpPr/>
          <p:nvPr/>
        </p:nvGrpSpPr>
        <p:grpSpPr>
          <a:xfrm rot="0">
            <a:off x="485875" y="8270406"/>
            <a:ext cx="11699085" cy="949375"/>
            <a:chOff x="0" y="0"/>
            <a:chExt cx="3081240" cy="250041"/>
          </a:xfrm>
        </p:grpSpPr>
        <p:sp>
          <p:nvSpPr>
            <p:cNvPr name="Freeform 5" id="5"/>
            <p:cNvSpPr/>
            <p:nvPr/>
          </p:nvSpPr>
          <p:spPr>
            <a:xfrm flipH="false" flipV="false" rot="0">
              <a:off x="0" y="0"/>
              <a:ext cx="3081240" cy="250041"/>
            </a:xfrm>
            <a:custGeom>
              <a:avLst/>
              <a:gdLst/>
              <a:ahLst/>
              <a:cxnLst/>
              <a:rect r="r" b="b" t="t" l="l"/>
              <a:pathLst>
                <a:path h="250041" w="3081240">
                  <a:moveTo>
                    <a:pt x="11250" y="0"/>
                  </a:moveTo>
                  <a:lnTo>
                    <a:pt x="3069991" y="0"/>
                  </a:lnTo>
                  <a:cubicBezTo>
                    <a:pt x="3076204" y="0"/>
                    <a:pt x="3081240" y="5037"/>
                    <a:pt x="3081240" y="11250"/>
                  </a:cubicBezTo>
                  <a:lnTo>
                    <a:pt x="3081240" y="238791"/>
                  </a:lnTo>
                  <a:cubicBezTo>
                    <a:pt x="3081240" y="245004"/>
                    <a:pt x="3076204" y="250041"/>
                    <a:pt x="3069991" y="250041"/>
                  </a:cubicBezTo>
                  <a:lnTo>
                    <a:pt x="11250" y="250041"/>
                  </a:lnTo>
                  <a:cubicBezTo>
                    <a:pt x="5037" y="250041"/>
                    <a:pt x="0" y="245004"/>
                    <a:pt x="0" y="238791"/>
                  </a:cubicBezTo>
                  <a:lnTo>
                    <a:pt x="0" y="11250"/>
                  </a:lnTo>
                  <a:cubicBezTo>
                    <a:pt x="0" y="5037"/>
                    <a:pt x="5037" y="0"/>
                    <a:pt x="11250" y="0"/>
                  </a:cubicBezTo>
                  <a:close/>
                </a:path>
              </a:pathLst>
            </a:custGeom>
            <a:solidFill>
              <a:srgbClr val="E8EEFC"/>
            </a:solidFill>
          </p:spPr>
        </p:sp>
        <p:sp>
          <p:nvSpPr>
            <p:cNvPr name="TextBox 6" id="6"/>
            <p:cNvSpPr txBox="true"/>
            <p:nvPr/>
          </p:nvSpPr>
          <p:spPr>
            <a:xfrm>
              <a:off x="0" y="-47625"/>
              <a:ext cx="3081240" cy="297666"/>
            </a:xfrm>
            <a:prstGeom prst="rect">
              <a:avLst/>
            </a:prstGeom>
          </p:spPr>
          <p:txBody>
            <a:bodyPr anchor="ctr" rtlCol="false" tIns="50800" lIns="50800" bIns="50800" rIns="50800"/>
            <a:lstStyle/>
            <a:p>
              <a:pPr algn="ctr">
                <a:lnSpc>
                  <a:spcPts val="2801"/>
                </a:lnSpc>
              </a:pPr>
            </a:p>
          </p:txBody>
        </p:sp>
      </p:grpSp>
      <p:sp>
        <p:nvSpPr>
          <p:cNvPr name="TextBox 7" id="7"/>
          <p:cNvSpPr txBox="true"/>
          <p:nvPr/>
        </p:nvSpPr>
        <p:spPr>
          <a:xfrm rot="0">
            <a:off x="726515" y="8582691"/>
            <a:ext cx="7603902" cy="441295"/>
          </a:xfrm>
          <a:prstGeom prst="rect">
            <a:avLst/>
          </a:prstGeom>
        </p:spPr>
        <p:txBody>
          <a:bodyPr anchor="t" rtlCol="false" tIns="0" lIns="0" bIns="0" rIns="0">
            <a:spAutoFit/>
          </a:bodyPr>
          <a:lstStyle/>
          <a:p>
            <a:pPr algn="ctr">
              <a:lnSpc>
                <a:spcPts val="3501"/>
              </a:lnSpc>
              <a:spcBef>
                <a:spcPct val="0"/>
              </a:spcBef>
            </a:pPr>
            <a:r>
              <a:rPr lang="en-US" b="true" sz="2501">
                <a:solidFill>
                  <a:srgbClr val="1E2761"/>
                </a:solidFill>
                <a:latin typeface="Liberation Sans Bold"/>
                <a:ea typeface="Liberation Sans Bold"/>
                <a:cs typeface="Liberation Sans Bold"/>
                <a:sym typeface="Liberation Sans Bold"/>
              </a:rPr>
              <a:t>12 semaines · 95 % de vélocité · 0 bogue ouvert</a:t>
            </a:r>
          </a:p>
        </p:txBody>
      </p:sp>
      <p:sp>
        <p:nvSpPr>
          <p:cNvPr name="TextBox 8" id="8"/>
          <p:cNvSpPr txBox="true"/>
          <p:nvPr/>
        </p:nvSpPr>
        <p:spPr>
          <a:xfrm rot="0">
            <a:off x="8194150" y="8615712"/>
            <a:ext cx="3561159" cy="408275"/>
          </a:xfrm>
          <a:prstGeom prst="rect">
            <a:avLst/>
          </a:prstGeom>
        </p:spPr>
        <p:txBody>
          <a:bodyPr anchor="t" rtlCol="false" tIns="0" lIns="0" bIns="0" rIns="0">
            <a:spAutoFit/>
          </a:bodyPr>
          <a:lstStyle/>
          <a:p>
            <a:pPr algn="ctr">
              <a:lnSpc>
                <a:spcPts val="3221"/>
              </a:lnSpc>
              <a:spcBef>
                <a:spcPct val="0"/>
              </a:spcBef>
            </a:pPr>
            <a:r>
              <a:rPr lang="en-US" b="true" sz="2301">
                <a:solidFill>
                  <a:srgbClr val="1E2761"/>
                </a:solidFill>
                <a:latin typeface="Liberation Sans Bold"/>
                <a:ea typeface="Liberation Sans Bold"/>
                <a:cs typeface="Liberation Sans Bold"/>
                <a:sym typeface="Liberation Sans Bold"/>
              </a:rPr>
              <a:t>à l'issue de chaque sprint</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1E2761"/>
        </a:solidFill>
      </p:bgPr>
    </p:bg>
    <p:spTree>
      <p:nvGrpSpPr>
        <p:cNvPr id="1" name=""/>
        <p:cNvGrpSpPr/>
        <p:nvPr/>
      </p:nvGrpSpPr>
      <p:grpSpPr>
        <a:xfrm>
          <a:off x="0" y="0"/>
          <a:ext cx="0" cy="0"/>
          <a:chOff x="0" y="0"/>
          <a:chExt cx="0" cy="0"/>
        </a:xfrm>
      </p:grpSpPr>
      <p:grpSp>
        <p:nvGrpSpPr>
          <p:cNvPr name="Group 2" id="2"/>
          <p:cNvGrpSpPr/>
          <p:nvPr/>
        </p:nvGrpSpPr>
        <p:grpSpPr>
          <a:xfrm rot="0">
            <a:off x="738175" y="199578"/>
            <a:ext cx="11887200" cy="1658244"/>
            <a:chOff x="0" y="0"/>
            <a:chExt cx="15849600" cy="2210992"/>
          </a:xfrm>
        </p:grpSpPr>
        <p:sp>
          <p:nvSpPr>
            <p:cNvPr name="Freeform 3" id="3"/>
            <p:cNvSpPr/>
            <p:nvPr/>
          </p:nvSpPr>
          <p:spPr>
            <a:xfrm flipH="false" flipV="false" rot="0">
              <a:off x="0" y="0"/>
              <a:ext cx="15849600" cy="2210992"/>
            </a:xfrm>
            <a:custGeom>
              <a:avLst/>
              <a:gdLst/>
              <a:ahLst/>
              <a:cxnLst/>
              <a:rect r="r" b="b" t="t" l="l"/>
              <a:pathLst>
                <a:path h="2210992" w="15849600">
                  <a:moveTo>
                    <a:pt x="0" y="0"/>
                  </a:moveTo>
                  <a:lnTo>
                    <a:pt x="15849600" y="0"/>
                  </a:lnTo>
                  <a:lnTo>
                    <a:pt x="15849600" y="2210992"/>
                  </a:lnTo>
                  <a:lnTo>
                    <a:pt x="0" y="2210992"/>
                  </a:lnTo>
                  <a:close/>
                </a:path>
              </a:pathLst>
            </a:custGeom>
            <a:blipFill>
              <a:blip r:embed="rId3">
                <a:alphaModFix amt="0"/>
              </a:blip>
              <a:stretch>
                <a:fillRect l="0" t="-101079" r="0" b="-78279"/>
              </a:stretch>
            </a:blipFill>
          </p:spPr>
        </p:sp>
        <p:sp>
          <p:nvSpPr>
            <p:cNvPr name="TextBox 4" id="4"/>
            <p:cNvSpPr txBox="true"/>
            <p:nvPr/>
          </p:nvSpPr>
          <p:spPr>
            <a:xfrm>
              <a:off x="0" y="-38100"/>
              <a:ext cx="15849600" cy="2249092"/>
            </a:xfrm>
            <a:prstGeom prst="rect">
              <a:avLst/>
            </a:prstGeom>
          </p:spPr>
          <p:txBody>
            <a:bodyPr anchor="ctr" rtlCol="false" tIns="0" lIns="0" bIns="0" rIns="0"/>
            <a:lstStyle/>
            <a:p>
              <a:pPr algn="l">
                <a:lnSpc>
                  <a:spcPts val="9600"/>
                </a:lnSpc>
              </a:pPr>
              <a:r>
                <a:rPr lang="en-US" b="true" sz="8000">
                  <a:solidFill>
                    <a:srgbClr val="FFFFFF"/>
                  </a:solidFill>
                  <a:latin typeface="Arial Bold"/>
                  <a:ea typeface="Arial Bold"/>
                  <a:cs typeface="Arial Bold"/>
                  <a:sym typeface="Arial Bold"/>
                </a:rPr>
                <a:t>E</a:t>
              </a:r>
              <a:r>
                <a:rPr lang="en-US" b="true" sz="8000">
                  <a:solidFill>
                    <a:srgbClr val="FFFFFF"/>
                  </a:solidFill>
                  <a:latin typeface="Arial Bold"/>
                  <a:ea typeface="Arial Bold"/>
                  <a:cs typeface="Arial Bold"/>
                  <a:sym typeface="Arial Bold"/>
                </a:rPr>
                <a:t>t ensuite ?</a:t>
              </a:r>
            </a:p>
          </p:txBody>
        </p:sp>
      </p:grpSp>
      <p:grpSp>
        <p:nvGrpSpPr>
          <p:cNvPr name="Group 5" id="5"/>
          <p:cNvGrpSpPr/>
          <p:nvPr/>
        </p:nvGrpSpPr>
        <p:grpSpPr>
          <a:xfrm rot="0">
            <a:off x="738175" y="2024004"/>
            <a:ext cx="11887200" cy="548640"/>
            <a:chOff x="0" y="0"/>
            <a:chExt cx="15849600" cy="731520"/>
          </a:xfrm>
        </p:grpSpPr>
        <p:sp>
          <p:nvSpPr>
            <p:cNvPr name="Freeform 6" id="6"/>
            <p:cNvSpPr/>
            <p:nvPr/>
          </p:nvSpPr>
          <p:spPr>
            <a:xfrm flipH="false" flipV="false" rot="0">
              <a:off x="0" y="0"/>
              <a:ext cx="15849600" cy="731520"/>
            </a:xfrm>
            <a:custGeom>
              <a:avLst/>
              <a:gdLst/>
              <a:ahLst/>
              <a:cxnLst/>
              <a:rect r="r" b="b" t="t" l="l"/>
              <a:pathLst>
                <a:path h="731520" w="15849600">
                  <a:moveTo>
                    <a:pt x="0" y="0"/>
                  </a:moveTo>
                  <a:lnTo>
                    <a:pt x="15849600" y="0"/>
                  </a:lnTo>
                  <a:lnTo>
                    <a:pt x="15849600" y="731520"/>
                  </a:lnTo>
                  <a:lnTo>
                    <a:pt x="0" y="731520"/>
                  </a:lnTo>
                  <a:close/>
                </a:path>
              </a:pathLst>
            </a:custGeom>
            <a:blipFill>
              <a:blip r:embed="rId3">
                <a:alphaModFix amt="0"/>
              </a:blip>
              <a:stretch>
                <a:fillRect l="0" t="-372175" r="0" b="-372175"/>
              </a:stretch>
            </a:blipFill>
          </p:spPr>
        </p:sp>
        <p:sp>
          <p:nvSpPr>
            <p:cNvPr name="TextBox 7" id="7"/>
            <p:cNvSpPr txBox="true"/>
            <p:nvPr/>
          </p:nvSpPr>
          <p:spPr>
            <a:xfrm>
              <a:off x="0" y="-9525"/>
              <a:ext cx="15849600" cy="741045"/>
            </a:xfrm>
            <a:prstGeom prst="rect">
              <a:avLst/>
            </a:prstGeom>
          </p:spPr>
          <p:txBody>
            <a:bodyPr anchor="ctr" rtlCol="false" tIns="0" lIns="0" bIns="0" rIns="0"/>
            <a:lstStyle/>
            <a:p>
              <a:pPr algn="l">
                <a:lnSpc>
                  <a:spcPts val="2879"/>
                </a:lnSpc>
              </a:pPr>
              <a:r>
                <a:rPr lang="en-US" sz="2400" i="true">
                  <a:solidFill>
                    <a:srgbClr val="00C2D7"/>
                  </a:solidFill>
                  <a:latin typeface="Arial Italics"/>
                  <a:ea typeface="Arial Italics"/>
                  <a:cs typeface="Arial Italics"/>
                  <a:sym typeface="Arial Italics"/>
                </a:rPr>
                <a:t>Feuille </a:t>
              </a:r>
              <a:r>
                <a:rPr lang="en-US" sz="2400" i="true">
                  <a:solidFill>
                    <a:srgbClr val="00C2D7"/>
                  </a:solidFill>
                  <a:latin typeface="Arial Italics"/>
                  <a:ea typeface="Arial Italics"/>
                  <a:cs typeface="Arial Italics"/>
                  <a:sym typeface="Arial Italics"/>
                </a:rPr>
                <a:t>de route après le Titre RNCP 5 Développeur web et web mobile</a:t>
              </a:r>
            </a:p>
          </p:txBody>
        </p:sp>
      </p:grpSp>
      <p:sp>
        <p:nvSpPr>
          <p:cNvPr name="Freeform 8" id="8"/>
          <p:cNvSpPr/>
          <p:nvPr/>
        </p:nvSpPr>
        <p:spPr>
          <a:xfrm flipH="false" flipV="false" rot="0">
            <a:off x="385726" y="2812518"/>
            <a:ext cx="17403438" cy="7178918"/>
          </a:xfrm>
          <a:custGeom>
            <a:avLst/>
            <a:gdLst/>
            <a:ahLst/>
            <a:cxnLst/>
            <a:rect r="r" b="b" t="t" l="l"/>
            <a:pathLst>
              <a:path h="7178918" w="17403438">
                <a:moveTo>
                  <a:pt x="0" y="0"/>
                </a:moveTo>
                <a:lnTo>
                  <a:pt x="17403438" y="0"/>
                </a:lnTo>
                <a:lnTo>
                  <a:pt x="17403438" y="7178918"/>
                </a:lnTo>
                <a:lnTo>
                  <a:pt x="0" y="7178918"/>
                </a:lnTo>
                <a:lnTo>
                  <a:pt x="0" y="0"/>
                </a:lnTo>
                <a:close/>
              </a:path>
            </a:pathLst>
          </a:custGeom>
          <a:blipFill>
            <a:blip r:embed="rId4"/>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DAHMEm5duqU</dc:identifier>
  <dcterms:modified xsi:type="dcterms:W3CDTF">2011-08-01T06:04:30Z</dcterms:modified>
  <cp:revision>1</cp:revision>
  <dc:title>CyberAudit-V2.pptx</dc:title>
</cp:coreProperties>
</file>